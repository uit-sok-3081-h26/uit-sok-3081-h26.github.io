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4723" r:id="rId2"/>
    <p:sldId id="4797" r:id="rId3"/>
    <p:sldId id="4798" r:id="rId4"/>
    <p:sldId id="4799" r:id="rId5"/>
    <p:sldId id="4800" r:id="rId6"/>
    <p:sldId id="4801" r:id="rId7"/>
    <p:sldId id="4807" r:id="rId8"/>
    <p:sldId id="4802" r:id="rId9"/>
    <p:sldId id="4813" r:id="rId10"/>
    <p:sldId id="256" r:id="rId11"/>
    <p:sldId id="257" r:id="rId12"/>
    <p:sldId id="280" r:id="rId13"/>
    <p:sldId id="281" r:id="rId14"/>
    <p:sldId id="4803" r:id="rId15"/>
    <p:sldId id="282" r:id="rId16"/>
    <p:sldId id="4808" r:id="rId17"/>
    <p:sldId id="283" r:id="rId18"/>
    <p:sldId id="4805" r:id="rId19"/>
    <p:sldId id="4804" r:id="rId20"/>
    <p:sldId id="286" r:id="rId21"/>
    <p:sldId id="287" r:id="rId22"/>
    <p:sldId id="288" r:id="rId23"/>
    <p:sldId id="4791" r:id="rId24"/>
    <p:sldId id="284" r:id="rId25"/>
    <p:sldId id="4814" r:id="rId26"/>
    <p:sldId id="290" r:id="rId27"/>
    <p:sldId id="4809" r:id="rId28"/>
    <p:sldId id="4810" r:id="rId29"/>
    <p:sldId id="4811" r:id="rId30"/>
    <p:sldId id="285" r:id="rId31"/>
    <p:sldId id="291" r:id="rId32"/>
    <p:sldId id="4790" r:id="rId33"/>
    <p:sldId id="289" r:id="rId34"/>
    <p:sldId id="292" r:id="rId35"/>
    <p:sldId id="293" r:id="rId36"/>
    <p:sldId id="294" r:id="rId37"/>
    <p:sldId id="4792" r:id="rId38"/>
    <p:sldId id="258" r:id="rId39"/>
    <p:sldId id="4793" r:id="rId40"/>
    <p:sldId id="4794"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C3C003-A019-447A-A099-C2065E4067F4}" v="33" dt="2026-09-25T04:52:37.291"/>
    <p1510:client id="{097E6253-4100-4C2D-950D-78F01D9D9DDF}" v="9" dt="2026-09-24T12:49:05.035"/>
    <p1510:client id="{FC82A838-A4CF-4893-9DDB-C829F0887DFD}" v="152" dt="2026-09-25T03:37:09.360"/>
  </p1510:revLst>
</p1510:revInfo>
</file>

<file path=ppt/tableStyles.xml><?xml version="1.0" encoding="utf-8"?>
<a:tblStyleLst xmlns:a="http://schemas.openxmlformats.org/drawingml/2006/main" def="{5C22544A-7EE6-4342-B048-85BDC9FD1C3A}">
  <a:tblStyle styleId="{5C22544A-7EE6-4342-B048-85BDC9FD1C3A}" styleName="Middels stil 2 – uthev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8885" autoAdjust="0"/>
  </p:normalViewPr>
  <p:slideViewPr>
    <p:cSldViewPr snapToGrid="0" snapToObjects="1">
      <p:cViewPr varScale="1">
        <p:scale>
          <a:sx n="109" d="100"/>
          <a:sy n="109" d="100"/>
        </p:scale>
        <p:origin x="126" y="46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irik Eriksen Heen" userId="3e804305-1c07-417a-9ea8-d913585be88f" providerId="ADAL" clId="{1A8AB375-2C17-4B69-9219-6D6459D5CFE1}"/>
    <pc:docChg chg="undo custSel addSld delSld modSld sldOrd delMainMaster">
      <pc:chgData name="Eirik Eriksen Heen" userId="3e804305-1c07-417a-9ea8-d913585be88f" providerId="ADAL" clId="{1A8AB375-2C17-4B69-9219-6D6459D5CFE1}" dt="2026-09-25T04:52:44.919" v="616" actId="1076"/>
      <pc:docMkLst>
        <pc:docMk/>
      </pc:docMkLst>
      <pc:sldChg chg="modSp add del mod setBg">
        <pc:chgData name="Eirik Eriksen Heen" userId="3e804305-1c07-417a-9ea8-d913585be88f" providerId="ADAL" clId="{1A8AB375-2C17-4B69-9219-6D6459D5CFE1}" dt="2026-09-25T03:51:07.372" v="527" actId="20577"/>
        <pc:sldMkLst>
          <pc:docMk/>
          <pc:sldMk cId="0" sldId="256"/>
        </pc:sldMkLst>
        <pc:spChg chg="mod">
          <ac:chgData name="Eirik Eriksen Heen" userId="3e804305-1c07-417a-9ea8-d913585be88f" providerId="ADAL" clId="{1A8AB375-2C17-4B69-9219-6D6459D5CFE1}" dt="2026-09-25T03:51:07.372" v="527" actId="20577"/>
          <ac:spMkLst>
            <pc:docMk/>
            <pc:sldMk cId="0" sldId="256"/>
            <ac:spMk id="8" creationId="{00000000-0000-0000-0000-000000000000}"/>
          </ac:spMkLst>
        </pc:spChg>
      </pc:sldChg>
      <pc:sldChg chg="modSp add mod setBg">
        <pc:chgData name="Eirik Eriksen Heen" userId="3e804305-1c07-417a-9ea8-d913585be88f" providerId="ADAL" clId="{1A8AB375-2C17-4B69-9219-6D6459D5CFE1}" dt="2026-09-25T03:52:38.580" v="531" actId="20577"/>
        <pc:sldMkLst>
          <pc:docMk/>
          <pc:sldMk cId="0" sldId="257"/>
        </pc:sldMkLst>
        <pc:spChg chg="mod">
          <ac:chgData name="Eirik Eriksen Heen" userId="3e804305-1c07-417a-9ea8-d913585be88f" providerId="ADAL" clId="{1A8AB375-2C17-4B69-9219-6D6459D5CFE1}" dt="2026-09-25T03:52:38.580" v="531" actId="20577"/>
          <ac:spMkLst>
            <pc:docMk/>
            <pc:sldMk cId="0" sldId="257"/>
            <ac:spMk id="8" creationId="{00000000-0000-0000-0000-000000000000}"/>
          </ac:spMkLst>
        </pc:spChg>
      </pc:sldChg>
      <pc:sldChg chg="del">
        <pc:chgData name="Eirik Eriksen Heen" userId="3e804305-1c07-417a-9ea8-d913585be88f" providerId="ADAL" clId="{1A8AB375-2C17-4B69-9219-6D6459D5CFE1}" dt="2026-09-25T03:45:14.962" v="510" actId="47"/>
        <pc:sldMkLst>
          <pc:docMk/>
          <pc:sldMk cId="135501247" sldId="257"/>
        </pc:sldMkLst>
      </pc:sldChg>
      <pc:sldChg chg="del">
        <pc:chgData name="Eirik Eriksen Heen" userId="3e804305-1c07-417a-9ea8-d913585be88f" providerId="ADAL" clId="{1A8AB375-2C17-4B69-9219-6D6459D5CFE1}" dt="2026-09-25T03:45:14.962" v="510" actId="47"/>
        <pc:sldMkLst>
          <pc:docMk/>
          <pc:sldMk cId="2057578463" sldId="259"/>
        </pc:sldMkLst>
      </pc:sldChg>
      <pc:sldChg chg="del">
        <pc:chgData name="Eirik Eriksen Heen" userId="3e804305-1c07-417a-9ea8-d913585be88f" providerId="ADAL" clId="{1A8AB375-2C17-4B69-9219-6D6459D5CFE1}" dt="2026-09-25T03:45:14.962" v="510" actId="47"/>
        <pc:sldMkLst>
          <pc:docMk/>
          <pc:sldMk cId="1025693282" sldId="260"/>
        </pc:sldMkLst>
      </pc:sldChg>
      <pc:sldChg chg="del">
        <pc:chgData name="Eirik Eriksen Heen" userId="3e804305-1c07-417a-9ea8-d913585be88f" providerId="ADAL" clId="{1A8AB375-2C17-4B69-9219-6D6459D5CFE1}" dt="2026-09-25T03:45:14.962" v="510" actId="47"/>
        <pc:sldMkLst>
          <pc:docMk/>
          <pc:sldMk cId="2734606387" sldId="261"/>
        </pc:sldMkLst>
      </pc:sldChg>
      <pc:sldChg chg="del">
        <pc:chgData name="Eirik Eriksen Heen" userId="3e804305-1c07-417a-9ea8-d913585be88f" providerId="ADAL" clId="{1A8AB375-2C17-4B69-9219-6D6459D5CFE1}" dt="2026-09-25T03:45:14.962" v="510" actId="47"/>
        <pc:sldMkLst>
          <pc:docMk/>
          <pc:sldMk cId="657794776" sldId="262"/>
        </pc:sldMkLst>
      </pc:sldChg>
      <pc:sldChg chg="del">
        <pc:chgData name="Eirik Eriksen Heen" userId="3e804305-1c07-417a-9ea8-d913585be88f" providerId="ADAL" clId="{1A8AB375-2C17-4B69-9219-6D6459D5CFE1}" dt="2026-09-25T03:45:14.962" v="510" actId="47"/>
        <pc:sldMkLst>
          <pc:docMk/>
          <pc:sldMk cId="0" sldId="264"/>
        </pc:sldMkLst>
      </pc:sldChg>
      <pc:sldChg chg="del">
        <pc:chgData name="Eirik Eriksen Heen" userId="3e804305-1c07-417a-9ea8-d913585be88f" providerId="ADAL" clId="{1A8AB375-2C17-4B69-9219-6D6459D5CFE1}" dt="2026-09-25T03:45:14.962" v="510" actId="47"/>
        <pc:sldMkLst>
          <pc:docMk/>
          <pc:sldMk cId="0" sldId="265"/>
        </pc:sldMkLst>
      </pc:sldChg>
      <pc:sldChg chg="del">
        <pc:chgData name="Eirik Eriksen Heen" userId="3e804305-1c07-417a-9ea8-d913585be88f" providerId="ADAL" clId="{1A8AB375-2C17-4B69-9219-6D6459D5CFE1}" dt="2026-09-25T03:45:14.962" v="510" actId="47"/>
        <pc:sldMkLst>
          <pc:docMk/>
          <pc:sldMk cId="0" sldId="266"/>
        </pc:sldMkLst>
      </pc:sldChg>
      <pc:sldChg chg="del">
        <pc:chgData name="Eirik Eriksen Heen" userId="3e804305-1c07-417a-9ea8-d913585be88f" providerId="ADAL" clId="{1A8AB375-2C17-4B69-9219-6D6459D5CFE1}" dt="2026-09-25T03:45:14.962" v="510" actId="47"/>
        <pc:sldMkLst>
          <pc:docMk/>
          <pc:sldMk cId="0" sldId="267"/>
        </pc:sldMkLst>
      </pc:sldChg>
      <pc:sldChg chg="del">
        <pc:chgData name="Eirik Eriksen Heen" userId="3e804305-1c07-417a-9ea8-d913585be88f" providerId="ADAL" clId="{1A8AB375-2C17-4B69-9219-6D6459D5CFE1}" dt="2026-09-25T03:45:14.962" v="510" actId="47"/>
        <pc:sldMkLst>
          <pc:docMk/>
          <pc:sldMk cId="0" sldId="268"/>
        </pc:sldMkLst>
      </pc:sldChg>
      <pc:sldChg chg="del">
        <pc:chgData name="Eirik Eriksen Heen" userId="3e804305-1c07-417a-9ea8-d913585be88f" providerId="ADAL" clId="{1A8AB375-2C17-4B69-9219-6D6459D5CFE1}" dt="2026-09-25T03:45:14.962" v="510" actId="47"/>
        <pc:sldMkLst>
          <pc:docMk/>
          <pc:sldMk cId="0" sldId="269"/>
        </pc:sldMkLst>
      </pc:sldChg>
      <pc:sldChg chg="del">
        <pc:chgData name="Eirik Eriksen Heen" userId="3e804305-1c07-417a-9ea8-d913585be88f" providerId="ADAL" clId="{1A8AB375-2C17-4B69-9219-6D6459D5CFE1}" dt="2026-09-25T03:45:14.962" v="510" actId="47"/>
        <pc:sldMkLst>
          <pc:docMk/>
          <pc:sldMk cId="0" sldId="270"/>
        </pc:sldMkLst>
      </pc:sldChg>
      <pc:sldChg chg="del">
        <pc:chgData name="Eirik Eriksen Heen" userId="3e804305-1c07-417a-9ea8-d913585be88f" providerId="ADAL" clId="{1A8AB375-2C17-4B69-9219-6D6459D5CFE1}" dt="2026-09-25T03:45:14.962" v="510" actId="47"/>
        <pc:sldMkLst>
          <pc:docMk/>
          <pc:sldMk cId="0" sldId="271"/>
        </pc:sldMkLst>
      </pc:sldChg>
      <pc:sldChg chg="del">
        <pc:chgData name="Eirik Eriksen Heen" userId="3e804305-1c07-417a-9ea8-d913585be88f" providerId="ADAL" clId="{1A8AB375-2C17-4B69-9219-6D6459D5CFE1}" dt="2026-09-25T03:45:14.962" v="510" actId="47"/>
        <pc:sldMkLst>
          <pc:docMk/>
          <pc:sldMk cId="0" sldId="272"/>
        </pc:sldMkLst>
      </pc:sldChg>
      <pc:sldChg chg="del">
        <pc:chgData name="Eirik Eriksen Heen" userId="3e804305-1c07-417a-9ea8-d913585be88f" providerId="ADAL" clId="{1A8AB375-2C17-4B69-9219-6D6459D5CFE1}" dt="2026-09-25T03:45:14.962" v="510" actId="47"/>
        <pc:sldMkLst>
          <pc:docMk/>
          <pc:sldMk cId="0" sldId="273"/>
        </pc:sldMkLst>
      </pc:sldChg>
      <pc:sldChg chg="del">
        <pc:chgData name="Eirik Eriksen Heen" userId="3e804305-1c07-417a-9ea8-d913585be88f" providerId="ADAL" clId="{1A8AB375-2C17-4B69-9219-6D6459D5CFE1}" dt="2026-09-25T03:45:14.962" v="510" actId="47"/>
        <pc:sldMkLst>
          <pc:docMk/>
          <pc:sldMk cId="0" sldId="274"/>
        </pc:sldMkLst>
      </pc:sldChg>
      <pc:sldChg chg="del">
        <pc:chgData name="Eirik Eriksen Heen" userId="3e804305-1c07-417a-9ea8-d913585be88f" providerId="ADAL" clId="{1A8AB375-2C17-4B69-9219-6D6459D5CFE1}" dt="2026-09-25T03:45:14.962" v="510" actId="47"/>
        <pc:sldMkLst>
          <pc:docMk/>
          <pc:sldMk cId="0" sldId="275"/>
        </pc:sldMkLst>
      </pc:sldChg>
      <pc:sldChg chg="del">
        <pc:chgData name="Eirik Eriksen Heen" userId="3e804305-1c07-417a-9ea8-d913585be88f" providerId="ADAL" clId="{1A8AB375-2C17-4B69-9219-6D6459D5CFE1}" dt="2026-09-25T03:45:14.962" v="510" actId="47"/>
        <pc:sldMkLst>
          <pc:docMk/>
          <pc:sldMk cId="0" sldId="276"/>
        </pc:sldMkLst>
      </pc:sldChg>
      <pc:sldChg chg="del">
        <pc:chgData name="Eirik Eriksen Heen" userId="3e804305-1c07-417a-9ea8-d913585be88f" providerId="ADAL" clId="{1A8AB375-2C17-4B69-9219-6D6459D5CFE1}" dt="2026-09-25T03:45:14.962" v="510" actId="47"/>
        <pc:sldMkLst>
          <pc:docMk/>
          <pc:sldMk cId="0" sldId="277"/>
        </pc:sldMkLst>
      </pc:sldChg>
      <pc:sldChg chg="del">
        <pc:chgData name="Eirik Eriksen Heen" userId="3e804305-1c07-417a-9ea8-d913585be88f" providerId="ADAL" clId="{1A8AB375-2C17-4B69-9219-6D6459D5CFE1}" dt="2026-09-25T03:45:14.962" v="510" actId="47"/>
        <pc:sldMkLst>
          <pc:docMk/>
          <pc:sldMk cId="0" sldId="278"/>
        </pc:sldMkLst>
      </pc:sldChg>
      <pc:sldChg chg="del">
        <pc:chgData name="Eirik Eriksen Heen" userId="3e804305-1c07-417a-9ea8-d913585be88f" providerId="ADAL" clId="{1A8AB375-2C17-4B69-9219-6D6459D5CFE1}" dt="2026-09-25T03:46:46.179" v="521" actId="47"/>
        <pc:sldMkLst>
          <pc:docMk/>
          <pc:sldMk cId="0" sldId="279"/>
        </pc:sldMkLst>
      </pc:sldChg>
      <pc:sldChg chg="addSp modSp mod">
        <pc:chgData name="Eirik Eriksen Heen" userId="3e804305-1c07-417a-9ea8-d913585be88f" providerId="ADAL" clId="{1A8AB375-2C17-4B69-9219-6D6459D5CFE1}" dt="2026-09-24T21:48:51.760" v="349" actId="20577"/>
        <pc:sldMkLst>
          <pc:docMk/>
          <pc:sldMk cId="0" sldId="280"/>
        </pc:sldMkLst>
        <pc:spChg chg="mod">
          <ac:chgData name="Eirik Eriksen Heen" userId="3e804305-1c07-417a-9ea8-d913585be88f" providerId="ADAL" clId="{1A8AB375-2C17-4B69-9219-6D6459D5CFE1}" dt="2026-09-24T17:19:33.699" v="175" actId="14100"/>
          <ac:spMkLst>
            <pc:docMk/>
            <pc:sldMk cId="0" sldId="280"/>
            <ac:spMk id="13" creationId="{00000000-0000-0000-0000-000000000000}"/>
          </ac:spMkLst>
        </pc:spChg>
        <pc:spChg chg="add mod">
          <ac:chgData name="Eirik Eriksen Heen" userId="3e804305-1c07-417a-9ea8-d913585be88f" providerId="ADAL" clId="{1A8AB375-2C17-4B69-9219-6D6459D5CFE1}" dt="2026-09-24T21:48:51.760" v="349" actId="20577"/>
          <ac:spMkLst>
            <pc:docMk/>
            <pc:sldMk cId="0" sldId="280"/>
            <ac:spMk id="15" creationId="{0B45D5E3-6A6D-6CDC-1390-559B0F6EC3E3}"/>
          </ac:spMkLst>
        </pc:spChg>
      </pc:sldChg>
      <pc:sldChg chg="modSp mod">
        <pc:chgData name="Eirik Eriksen Heen" userId="3e804305-1c07-417a-9ea8-d913585be88f" providerId="ADAL" clId="{1A8AB375-2C17-4B69-9219-6D6459D5CFE1}" dt="2026-09-24T17:38:44.057" v="260" actId="1076"/>
        <pc:sldMkLst>
          <pc:docMk/>
          <pc:sldMk cId="0" sldId="281"/>
        </pc:sldMkLst>
        <pc:spChg chg="mod">
          <ac:chgData name="Eirik Eriksen Heen" userId="3e804305-1c07-417a-9ea8-d913585be88f" providerId="ADAL" clId="{1A8AB375-2C17-4B69-9219-6D6459D5CFE1}" dt="2026-09-24T17:38:41.399" v="259" actId="1076"/>
          <ac:spMkLst>
            <pc:docMk/>
            <pc:sldMk cId="0" sldId="281"/>
            <ac:spMk id="11" creationId="{00000000-0000-0000-0000-000000000000}"/>
          </ac:spMkLst>
        </pc:spChg>
        <pc:spChg chg="mod">
          <ac:chgData name="Eirik Eriksen Heen" userId="3e804305-1c07-417a-9ea8-d913585be88f" providerId="ADAL" clId="{1A8AB375-2C17-4B69-9219-6D6459D5CFE1}" dt="2026-09-24T17:38:44.057" v="260" actId="1076"/>
          <ac:spMkLst>
            <pc:docMk/>
            <pc:sldMk cId="0" sldId="281"/>
            <ac:spMk id="12" creationId="{00000000-0000-0000-0000-000000000000}"/>
          </ac:spMkLst>
        </pc:spChg>
      </pc:sldChg>
      <pc:sldChg chg="addSp delSp modSp mod">
        <pc:chgData name="Eirik Eriksen Heen" userId="3e804305-1c07-417a-9ea8-d913585be88f" providerId="ADAL" clId="{1A8AB375-2C17-4B69-9219-6D6459D5CFE1}" dt="2026-09-25T04:00:50.018" v="534" actId="21"/>
        <pc:sldMkLst>
          <pc:docMk/>
          <pc:sldMk cId="0" sldId="282"/>
        </pc:sldMkLst>
        <pc:spChg chg="add del mod">
          <ac:chgData name="Eirik Eriksen Heen" userId="3e804305-1c07-417a-9ea8-d913585be88f" providerId="ADAL" clId="{1A8AB375-2C17-4B69-9219-6D6459D5CFE1}" dt="2026-09-25T04:00:50.018" v="534" actId="21"/>
          <ac:spMkLst>
            <pc:docMk/>
            <pc:sldMk cId="0" sldId="282"/>
            <ac:spMk id="6" creationId="{9BC66F47-E306-7DC2-F6C7-A611138B5006}"/>
          </ac:spMkLst>
        </pc:spChg>
        <pc:spChg chg="mod">
          <ac:chgData name="Eirik Eriksen Heen" userId="3e804305-1c07-417a-9ea8-d913585be88f" providerId="ADAL" clId="{1A8AB375-2C17-4B69-9219-6D6459D5CFE1}" dt="2026-09-24T17:47:21.576" v="262" actId="14100"/>
          <ac:spMkLst>
            <pc:docMk/>
            <pc:sldMk cId="0" sldId="282"/>
            <ac:spMk id="17" creationId="{BDC45C08-6A61-A10B-F2BD-56E776FD3B36}"/>
          </ac:spMkLst>
        </pc:spChg>
      </pc:sldChg>
      <pc:sldChg chg="addSp delSp modSp mod">
        <pc:chgData name="Eirik Eriksen Heen" userId="3e804305-1c07-417a-9ea8-d913585be88f" providerId="ADAL" clId="{1A8AB375-2C17-4B69-9219-6D6459D5CFE1}" dt="2026-09-25T04:25:57.475" v="537" actId="21"/>
        <pc:sldMkLst>
          <pc:docMk/>
          <pc:sldMk cId="0" sldId="284"/>
        </pc:sldMkLst>
        <pc:spChg chg="add del mod">
          <ac:chgData name="Eirik Eriksen Heen" userId="3e804305-1c07-417a-9ea8-d913585be88f" providerId="ADAL" clId="{1A8AB375-2C17-4B69-9219-6D6459D5CFE1}" dt="2026-09-25T04:25:57.475" v="537" actId="21"/>
          <ac:spMkLst>
            <pc:docMk/>
            <pc:sldMk cId="0" sldId="284"/>
            <ac:spMk id="9" creationId="{67901DAC-C36A-4CFC-EC31-290420DDAA28}"/>
          </ac:spMkLst>
        </pc:spChg>
      </pc:sldChg>
      <pc:sldChg chg="addSp delSp modSp mod ord">
        <pc:chgData name="Eirik Eriksen Heen" userId="3e804305-1c07-417a-9ea8-d913585be88f" providerId="ADAL" clId="{1A8AB375-2C17-4B69-9219-6D6459D5CFE1}" dt="2026-09-25T04:46:21.683" v="590" actId="1076"/>
        <pc:sldMkLst>
          <pc:docMk/>
          <pc:sldMk cId="0" sldId="285"/>
        </pc:sldMkLst>
        <pc:spChg chg="add del mod">
          <ac:chgData name="Eirik Eriksen Heen" userId="3e804305-1c07-417a-9ea8-d913585be88f" providerId="ADAL" clId="{1A8AB375-2C17-4B69-9219-6D6459D5CFE1}" dt="2026-09-24T21:57:02.773" v="372" actId="478"/>
          <ac:spMkLst>
            <pc:docMk/>
            <pc:sldMk cId="0" sldId="285"/>
            <ac:spMk id="22" creationId="{16A18EB1-BBDE-ACA6-308D-DB60AA584F3B}"/>
          </ac:spMkLst>
        </pc:spChg>
        <pc:picChg chg="add mod">
          <ac:chgData name="Eirik Eriksen Heen" userId="3e804305-1c07-417a-9ea8-d913585be88f" providerId="ADAL" clId="{1A8AB375-2C17-4B69-9219-6D6459D5CFE1}" dt="2026-09-25T04:46:21.683" v="590" actId="1076"/>
          <ac:picMkLst>
            <pc:docMk/>
            <pc:sldMk cId="0" sldId="285"/>
            <ac:picMk id="22" creationId="{DAF636A9-447A-B5E9-D420-FD806A41DF71}"/>
          </ac:picMkLst>
        </pc:picChg>
      </pc:sldChg>
      <pc:sldChg chg="addSp delSp modSp mod ord">
        <pc:chgData name="Eirik Eriksen Heen" userId="3e804305-1c07-417a-9ea8-d913585be88f" providerId="ADAL" clId="{1A8AB375-2C17-4B69-9219-6D6459D5CFE1}" dt="2026-09-24T21:50:32.539" v="353" actId="20577"/>
        <pc:sldMkLst>
          <pc:docMk/>
          <pc:sldMk cId="0" sldId="286"/>
        </pc:sldMkLst>
        <pc:spChg chg="add mod">
          <ac:chgData name="Eirik Eriksen Heen" userId="3e804305-1c07-417a-9ea8-d913585be88f" providerId="ADAL" clId="{1A8AB375-2C17-4B69-9219-6D6459D5CFE1}" dt="2026-09-24T21:50:32.539" v="353" actId="20577"/>
          <ac:spMkLst>
            <pc:docMk/>
            <pc:sldMk cId="0" sldId="286"/>
            <ac:spMk id="15" creationId="{0912A02B-F8CA-2F56-D950-780017019DEA}"/>
          </ac:spMkLst>
        </pc:spChg>
        <pc:spChg chg="add del mod">
          <ac:chgData name="Eirik Eriksen Heen" userId="3e804305-1c07-417a-9ea8-d913585be88f" providerId="ADAL" clId="{1A8AB375-2C17-4B69-9219-6D6459D5CFE1}" dt="2026-09-24T17:48:25.394" v="266" actId="478"/>
          <ac:spMkLst>
            <pc:docMk/>
            <pc:sldMk cId="0" sldId="286"/>
            <ac:spMk id="15" creationId="{A4233855-0486-1FD5-5C93-695B2001F305}"/>
          </ac:spMkLst>
        </pc:spChg>
        <pc:spChg chg="add del mod">
          <ac:chgData name="Eirik Eriksen Heen" userId="3e804305-1c07-417a-9ea8-d913585be88f" providerId="ADAL" clId="{1A8AB375-2C17-4B69-9219-6D6459D5CFE1}" dt="2026-09-24T17:48:24.656" v="265" actId="478"/>
          <ac:spMkLst>
            <pc:docMk/>
            <pc:sldMk cId="0" sldId="286"/>
            <ac:spMk id="17" creationId="{DD624E2E-6B74-B715-396A-D29F7BEF4047}"/>
          </ac:spMkLst>
        </pc:spChg>
      </pc:sldChg>
      <pc:sldChg chg="addSp delSp modSp mod ord">
        <pc:chgData name="Eirik Eriksen Heen" userId="3e804305-1c07-417a-9ea8-d913585be88f" providerId="ADAL" clId="{1A8AB375-2C17-4B69-9219-6D6459D5CFE1}" dt="2026-09-24T21:55:46.825" v="365" actId="22"/>
        <pc:sldMkLst>
          <pc:docMk/>
          <pc:sldMk cId="0" sldId="287"/>
        </pc:sldMkLst>
        <pc:spChg chg="add mod">
          <ac:chgData name="Eirik Eriksen Heen" userId="3e804305-1c07-417a-9ea8-d913585be88f" providerId="ADAL" clId="{1A8AB375-2C17-4B69-9219-6D6459D5CFE1}" dt="2026-09-24T20:42:15.920" v="313" actId="1076"/>
          <ac:spMkLst>
            <pc:docMk/>
            <pc:sldMk cId="0" sldId="287"/>
            <ac:spMk id="13" creationId="{63FF1894-14BA-55D6-5864-306B0D254194}"/>
          </ac:spMkLst>
        </pc:spChg>
        <pc:spChg chg="add del mod">
          <ac:chgData name="Eirik Eriksen Heen" userId="3e804305-1c07-417a-9ea8-d913585be88f" providerId="ADAL" clId="{1A8AB375-2C17-4B69-9219-6D6459D5CFE1}" dt="2026-09-24T21:53:00.878" v="363" actId="478"/>
          <ac:spMkLst>
            <pc:docMk/>
            <pc:sldMk cId="0" sldId="287"/>
            <ac:spMk id="14" creationId="{7AE3DD3F-488F-B9EE-7784-434539380569}"/>
          </ac:spMkLst>
        </pc:spChg>
        <pc:spChg chg="add">
          <ac:chgData name="Eirik Eriksen Heen" userId="3e804305-1c07-417a-9ea8-d913585be88f" providerId="ADAL" clId="{1A8AB375-2C17-4B69-9219-6D6459D5CFE1}" dt="2026-09-24T21:55:46.825" v="365" actId="22"/>
          <ac:spMkLst>
            <pc:docMk/>
            <pc:sldMk cId="0" sldId="287"/>
            <ac:spMk id="16" creationId="{47DD1CCE-E9C2-A240-ECBB-F9D63EE2FB38}"/>
          </ac:spMkLst>
        </pc:spChg>
        <pc:cxnChg chg="add mod">
          <ac:chgData name="Eirik Eriksen Heen" userId="3e804305-1c07-417a-9ea8-d913585be88f" providerId="ADAL" clId="{1A8AB375-2C17-4B69-9219-6D6459D5CFE1}" dt="2026-09-24T20:40:55.712" v="296" actId="692"/>
          <ac:cxnSpMkLst>
            <pc:docMk/>
            <pc:sldMk cId="0" sldId="287"/>
            <ac:cxnSpMk id="12" creationId="{D055FE93-E917-38FA-D12F-260559677134}"/>
          </ac:cxnSpMkLst>
        </pc:cxnChg>
      </pc:sldChg>
      <pc:sldChg chg="addSp delSp modSp mod ord">
        <pc:chgData name="Eirik Eriksen Heen" userId="3e804305-1c07-417a-9ea8-d913585be88f" providerId="ADAL" clId="{1A8AB375-2C17-4B69-9219-6D6459D5CFE1}" dt="2026-09-24T21:52:33.928" v="362" actId="478"/>
        <pc:sldMkLst>
          <pc:docMk/>
          <pc:sldMk cId="0" sldId="288"/>
        </pc:sldMkLst>
        <pc:spChg chg="add del mod">
          <ac:chgData name="Eirik Eriksen Heen" userId="3e804305-1c07-417a-9ea8-d913585be88f" providerId="ADAL" clId="{1A8AB375-2C17-4B69-9219-6D6459D5CFE1}" dt="2026-09-24T21:52:33.928" v="362" actId="478"/>
          <ac:spMkLst>
            <pc:docMk/>
            <pc:sldMk cId="0" sldId="288"/>
            <ac:spMk id="14" creationId="{58BDD628-5756-A45F-30E3-3825E4BB80C3}"/>
          </ac:spMkLst>
        </pc:spChg>
      </pc:sldChg>
      <pc:sldChg chg="addSp modSp mod ord">
        <pc:chgData name="Eirik Eriksen Heen" userId="3e804305-1c07-417a-9ea8-d913585be88f" providerId="ADAL" clId="{1A8AB375-2C17-4B69-9219-6D6459D5CFE1}" dt="2026-09-25T04:42:05.338" v="584" actId="20577"/>
        <pc:sldMkLst>
          <pc:docMk/>
          <pc:sldMk cId="0" sldId="289"/>
        </pc:sldMkLst>
        <pc:spChg chg="add mod">
          <ac:chgData name="Eirik Eriksen Heen" userId="3e804305-1c07-417a-9ea8-d913585be88f" providerId="ADAL" clId="{1A8AB375-2C17-4B69-9219-6D6459D5CFE1}" dt="2026-09-25T04:42:05.338" v="584" actId="20577"/>
          <ac:spMkLst>
            <pc:docMk/>
            <pc:sldMk cId="0" sldId="289"/>
            <ac:spMk id="18" creationId="{F783A658-AE40-836F-7997-F92E5D69913E}"/>
          </ac:spMkLst>
        </pc:spChg>
        <pc:spChg chg="add mod">
          <ac:chgData name="Eirik Eriksen Heen" userId="3e804305-1c07-417a-9ea8-d913585be88f" providerId="ADAL" clId="{1A8AB375-2C17-4B69-9219-6D6459D5CFE1}" dt="2026-09-24T22:02:34.689" v="403" actId="20577"/>
          <ac:spMkLst>
            <pc:docMk/>
            <pc:sldMk cId="0" sldId="289"/>
            <ac:spMk id="19" creationId="{C9F56ED7-99BD-6DF6-53D1-076E0AA82FF8}"/>
          </ac:spMkLst>
        </pc:spChg>
      </pc:sldChg>
      <pc:sldChg chg="addSp delSp mod ord">
        <pc:chgData name="Eirik Eriksen Heen" userId="3e804305-1c07-417a-9ea8-d913585be88f" providerId="ADAL" clId="{1A8AB375-2C17-4B69-9219-6D6459D5CFE1}" dt="2026-09-25T04:28:48.191" v="539" actId="21"/>
        <pc:sldMkLst>
          <pc:docMk/>
          <pc:sldMk cId="0" sldId="290"/>
        </pc:sldMkLst>
        <pc:spChg chg="add del">
          <ac:chgData name="Eirik Eriksen Heen" userId="3e804305-1c07-417a-9ea8-d913585be88f" providerId="ADAL" clId="{1A8AB375-2C17-4B69-9219-6D6459D5CFE1}" dt="2026-09-25T04:28:48.191" v="539" actId="21"/>
          <ac:spMkLst>
            <pc:docMk/>
            <pc:sldMk cId="0" sldId="290"/>
            <ac:spMk id="15" creationId="{EA8B34FA-DA13-294D-F183-BDC237269BB8}"/>
          </ac:spMkLst>
        </pc:spChg>
      </pc:sldChg>
      <pc:sldChg chg="delSp mod">
        <pc:chgData name="Eirik Eriksen Heen" userId="3e804305-1c07-417a-9ea8-d913585be88f" providerId="ADAL" clId="{1A8AB375-2C17-4B69-9219-6D6459D5CFE1}" dt="2026-09-24T21:12:27.055" v="342" actId="478"/>
        <pc:sldMkLst>
          <pc:docMk/>
          <pc:sldMk cId="0" sldId="291"/>
        </pc:sldMkLst>
        <pc:spChg chg="del">
          <ac:chgData name="Eirik Eriksen Heen" userId="3e804305-1c07-417a-9ea8-d913585be88f" providerId="ADAL" clId="{1A8AB375-2C17-4B69-9219-6D6459D5CFE1}" dt="2026-09-24T21:12:27.055" v="342" actId="478"/>
          <ac:spMkLst>
            <pc:docMk/>
            <pc:sldMk cId="0" sldId="291"/>
            <ac:spMk id="12" creationId="{00000000-0000-0000-0000-000000000000}"/>
          </ac:spMkLst>
        </pc:spChg>
      </pc:sldChg>
      <pc:sldChg chg="modSp mod">
        <pc:chgData name="Eirik Eriksen Heen" userId="3e804305-1c07-417a-9ea8-d913585be88f" providerId="ADAL" clId="{1A8AB375-2C17-4B69-9219-6D6459D5CFE1}" dt="2026-09-25T04:49:19.730" v="596" actId="20577"/>
        <pc:sldMkLst>
          <pc:docMk/>
          <pc:sldMk cId="0" sldId="294"/>
        </pc:sldMkLst>
        <pc:spChg chg="mod">
          <ac:chgData name="Eirik Eriksen Heen" userId="3e804305-1c07-417a-9ea8-d913585be88f" providerId="ADAL" clId="{1A8AB375-2C17-4B69-9219-6D6459D5CFE1}" dt="2026-09-25T04:49:19.730" v="596" actId="20577"/>
          <ac:spMkLst>
            <pc:docMk/>
            <pc:sldMk cId="0" sldId="294"/>
            <ac:spMk id="18" creationId="{00000000-0000-0000-0000-000000000000}"/>
          </ac:spMkLst>
        </pc:spChg>
      </pc:sldChg>
      <pc:sldChg chg="del">
        <pc:chgData name="Eirik Eriksen Heen" userId="3e804305-1c07-417a-9ea8-d913585be88f" providerId="ADAL" clId="{1A8AB375-2C17-4B69-9219-6D6459D5CFE1}" dt="2026-09-25T03:45:14.962" v="510" actId="47"/>
        <pc:sldMkLst>
          <pc:docMk/>
          <pc:sldMk cId="0" sldId="295"/>
        </pc:sldMkLst>
      </pc:sldChg>
      <pc:sldChg chg="modSp add mod">
        <pc:chgData name="Eirik Eriksen Heen" userId="3e804305-1c07-417a-9ea8-d913585be88f" providerId="ADAL" clId="{1A8AB375-2C17-4B69-9219-6D6459D5CFE1}" dt="2026-09-25T03:46:36.425" v="520" actId="20577"/>
        <pc:sldMkLst>
          <pc:docMk/>
          <pc:sldMk cId="1407515244" sldId="4723"/>
        </pc:sldMkLst>
        <pc:spChg chg="mod">
          <ac:chgData name="Eirik Eriksen Heen" userId="3e804305-1c07-417a-9ea8-d913585be88f" providerId="ADAL" clId="{1A8AB375-2C17-4B69-9219-6D6459D5CFE1}" dt="2026-09-25T03:46:29.031" v="517" actId="120"/>
          <ac:spMkLst>
            <pc:docMk/>
            <pc:sldMk cId="1407515244" sldId="4723"/>
            <ac:spMk id="2" creationId="{627791FC-E0EA-6C14-AC4A-823EDB6CD583}"/>
          </ac:spMkLst>
        </pc:spChg>
        <pc:spChg chg="mod">
          <ac:chgData name="Eirik Eriksen Heen" userId="3e804305-1c07-417a-9ea8-d913585be88f" providerId="ADAL" clId="{1A8AB375-2C17-4B69-9219-6D6459D5CFE1}" dt="2026-09-25T03:46:36.425" v="520" actId="20577"/>
          <ac:spMkLst>
            <pc:docMk/>
            <pc:sldMk cId="1407515244" sldId="4723"/>
            <ac:spMk id="5" creationId="{95AD11E3-1ED0-02B1-5A28-928F899FCB2F}"/>
          </ac:spMkLst>
        </pc:spChg>
      </pc:sldChg>
      <pc:sldChg chg="del">
        <pc:chgData name="Eirik Eriksen Heen" userId="3e804305-1c07-417a-9ea8-d913585be88f" providerId="ADAL" clId="{1A8AB375-2C17-4B69-9219-6D6459D5CFE1}" dt="2026-09-25T03:45:14.962" v="510" actId="47"/>
        <pc:sldMkLst>
          <pc:docMk/>
          <pc:sldMk cId="2463853950" sldId="4781"/>
        </pc:sldMkLst>
      </pc:sldChg>
      <pc:sldChg chg="del">
        <pc:chgData name="Eirik Eriksen Heen" userId="3e804305-1c07-417a-9ea8-d913585be88f" providerId="ADAL" clId="{1A8AB375-2C17-4B69-9219-6D6459D5CFE1}" dt="2026-09-25T03:45:14.962" v="510" actId="47"/>
        <pc:sldMkLst>
          <pc:docMk/>
          <pc:sldMk cId="3665975221" sldId="4782"/>
        </pc:sldMkLst>
      </pc:sldChg>
      <pc:sldChg chg="del">
        <pc:chgData name="Eirik Eriksen Heen" userId="3e804305-1c07-417a-9ea8-d913585be88f" providerId="ADAL" clId="{1A8AB375-2C17-4B69-9219-6D6459D5CFE1}" dt="2026-09-25T03:45:14.962" v="510" actId="47"/>
        <pc:sldMkLst>
          <pc:docMk/>
          <pc:sldMk cId="3511940166" sldId="4789"/>
        </pc:sldMkLst>
      </pc:sldChg>
      <pc:sldChg chg="ord">
        <pc:chgData name="Eirik Eriksen Heen" userId="3e804305-1c07-417a-9ea8-d913585be88f" providerId="ADAL" clId="{1A8AB375-2C17-4B69-9219-6D6459D5CFE1}" dt="2026-09-24T21:12:34.958" v="344"/>
        <pc:sldMkLst>
          <pc:docMk/>
          <pc:sldMk cId="2054480680" sldId="4790"/>
        </pc:sldMkLst>
      </pc:sldChg>
      <pc:sldChg chg="addSp delSp modSp mod ord">
        <pc:chgData name="Eirik Eriksen Heen" userId="3e804305-1c07-417a-9ea8-d913585be88f" providerId="ADAL" clId="{1A8AB375-2C17-4B69-9219-6D6459D5CFE1}" dt="2026-09-25T04:25:25.065" v="536" actId="1076"/>
        <pc:sldMkLst>
          <pc:docMk/>
          <pc:sldMk cId="0" sldId="4791"/>
        </pc:sldMkLst>
        <pc:spChg chg="mod">
          <ac:chgData name="Eirik Eriksen Heen" userId="3e804305-1c07-417a-9ea8-d913585be88f" providerId="ADAL" clId="{1A8AB375-2C17-4B69-9219-6D6459D5CFE1}" dt="2026-09-25T04:25:25.065" v="536" actId="1076"/>
          <ac:spMkLst>
            <pc:docMk/>
            <pc:sldMk cId="0" sldId="4791"/>
            <ac:spMk id="18" creationId="{00000000-0000-0000-0000-000000000000}"/>
          </ac:spMkLst>
        </pc:spChg>
        <pc:spChg chg="add del mod">
          <ac:chgData name="Eirik Eriksen Heen" userId="3e804305-1c07-417a-9ea8-d913585be88f" providerId="ADAL" clId="{1A8AB375-2C17-4B69-9219-6D6459D5CFE1}" dt="2026-09-24T21:55:44.359" v="364" actId="21"/>
          <ac:spMkLst>
            <pc:docMk/>
            <pc:sldMk cId="0" sldId="4791"/>
            <ac:spMk id="20" creationId="{F3F23185-D70B-61B6-8573-6F1210648C6F}"/>
          </ac:spMkLst>
        </pc:spChg>
      </pc:sldChg>
      <pc:sldChg chg="addSp delSp modSp mod">
        <pc:chgData name="Eirik Eriksen Heen" userId="3e804305-1c07-417a-9ea8-d913585be88f" providerId="ADAL" clId="{1A8AB375-2C17-4B69-9219-6D6459D5CFE1}" dt="2026-09-25T04:52:44.919" v="616" actId="1076"/>
        <pc:sldMkLst>
          <pc:docMk/>
          <pc:sldMk cId="0" sldId="4792"/>
        </pc:sldMkLst>
        <pc:spChg chg="mod">
          <ac:chgData name="Eirik Eriksen Heen" userId="3e804305-1c07-417a-9ea8-d913585be88f" providerId="ADAL" clId="{1A8AB375-2C17-4B69-9219-6D6459D5CFE1}" dt="2026-09-25T04:52:44.919" v="616" actId="1076"/>
          <ac:spMkLst>
            <pc:docMk/>
            <pc:sldMk cId="0" sldId="4792"/>
            <ac:spMk id="18" creationId="{00000000-0000-0000-0000-000000000000}"/>
          </ac:spMkLst>
        </pc:spChg>
        <pc:spChg chg="add mod">
          <ac:chgData name="Eirik Eriksen Heen" userId="3e804305-1c07-417a-9ea8-d913585be88f" providerId="ADAL" clId="{1A8AB375-2C17-4B69-9219-6D6459D5CFE1}" dt="2026-09-25T04:50:16.938" v="599" actId="20577"/>
          <ac:spMkLst>
            <pc:docMk/>
            <pc:sldMk cId="0" sldId="4792"/>
            <ac:spMk id="21" creationId="{550B956F-429B-2248-B0D0-B5E65C3F368F}"/>
          </ac:spMkLst>
        </pc:spChg>
        <pc:spChg chg="add mod">
          <ac:chgData name="Eirik Eriksen Heen" userId="3e804305-1c07-417a-9ea8-d913585be88f" providerId="ADAL" clId="{1A8AB375-2C17-4B69-9219-6D6459D5CFE1}" dt="2026-09-25T04:52:40.913" v="615" actId="14100"/>
          <ac:spMkLst>
            <pc:docMk/>
            <pc:sldMk cId="0" sldId="4792"/>
            <ac:spMk id="22" creationId="{273CA75A-4AA1-99AB-241F-0F91AA4B9918}"/>
          </ac:spMkLst>
        </pc:spChg>
        <pc:graphicFrameChg chg="add mod">
          <ac:chgData name="Eirik Eriksen Heen" userId="3e804305-1c07-417a-9ea8-d913585be88f" providerId="ADAL" clId="{1A8AB375-2C17-4B69-9219-6D6459D5CFE1}" dt="2026-09-25T04:52:19.478" v="609"/>
          <ac:graphicFrameMkLst>
            <pc:docMk/>
            <pc:sldMk cId="0" sldId="4792"/>
            <ac:graphicFrameMk id="23" creationId="{A02BDAA4-5A2D-8128-F5E6-EF413E35988B}"/>
          </ac:graphicFrameMkLst>
        </pc:graphicFrameChg>
        <pc:graphicFrameChg chg="add mod">
          <ac:chgData name="Eirik Eriksen Heen" userId="3e804305-1c07-417a-9ea8-d913585be88f" providerId="ADAL" clId="{1A8AB375-2C17-4B69-9219-6D6459D5CFE1}" dt="2026-09-25T04:52:19.478" v="609"/>
          <ac:graphicFrameMkLst>
            <pc:docMk/>
            <pc:sldMk cId="0" sldId="4792"/>
            <ac:graphicFrameMk id="24" creationId="{76187D27-DACD-F612-7C0C-895B0526E730}"/>
          </ac:graphicFrameMkLst>
        </pc:graphicFrameChg>
        <pc:graphicFrameChg chg="add del mod">
          <ac:chgData name="Eirik Eriksen Heen" userId="3e804305-1c07-417a-9ea8-d913585be88f" providerId="ADAL" clId="{1A8AB375-2C17-4B69-9219-6D6459D5CFE1}" dt="2026-09-25T04:52:31.455" v="613" actId="478"/>
          <ac:graphicFrameMkLst>
            <pc:docMk/>
            <pc:sldMk cId="0" sldId="4792"/>
            <ac:graphicFrameMk id="26" creationId="{175D2BD4-2135-622D-03A7-41EF75F06125}"/>
          </ac:graphicFrameMkLst>
        </pc:graphicFrameChg>
        <pc:graphicFrameChg chg="add del mod">
          <ac:chgData name="Eirik Eriksen Heen" userId="3e804305-1c07-417a-9ea8-d913585be88f" providerId="ADAL" clId="{1A8AB375-2C17-4B69-9219-6D6459D5CFE1}" dt="2026-09-25T04:52:31.455" v="613" actId="478"/>
          <ac:graphicFrameMkLst>
            <pc:docMk/>
            <pc:sldMk cId="0" sldId="4792"/>
            <ac:graphicFrameMk id="27" creationId="{2770E59F-609F-38DD-6026-007CFC2EE37E}"/>
          </ac:graphicFrameMkLst>
        </pc:graphicFrameChg>
      </pc:sldChg>
      <pc:sldChg chg="del">
        <pc:chgData name="Eirik Eriksen Heen" userId="3e804305-1c07-417a-9ea8-d913585be88f" providerId="ADAL" clId="{1A8AB375-2C17-4B69-9219-6D6459D5CFE1}" dt="2026-09-25T03:45:14.962" v="510" actId="47"/>
        <pc:sldMkLst>
          <pc:docMk/>
          <pc:sldMk cId="2930294773" sldId="4796"/>
        </pc:sldMkLst>
      </pc:sldChg>
      <pc:sldChg chg="addSp delSp modSp add mod">
        <pc:chgData name="Eirik Eriksen Heen" userId="3e804305-1c07-417a-9ea8-d913585be88f" providerId="ADAL" clId="{1A8AB375-2C17-4B69-9219-6D6459D5CFE1}" dt="2026-09-24T21:48:23.970" v="347" actId="478"/>
        <pc:sldMkLst>
          <pc:docMk/>
          <pc:sldMk cId="0" sldId="4797"/>
        </pc:sldMkLst>
        <pc:spChg chg="del">
          <ac:chgData name="Eirik Eriksen Heen" userId="3e804305-1c07-417a-9ea8-d913585be88f" providerId="ADAL" clId="{1A8AB375-2C17-4B69-9219-6D6459D5CFE1}" dt="2026-09-24T16:50:25.244" v="27" actId="478"/>
          <ac:spMkLst>
            <pc:docMk/>
            <pc:sldMk cId="0" sldId="4797"/>
            <ac:spMk id="11" creationId="{00000000-0000-0000-0000-000000000000}"/>
          </ac:spMkLst>
        </pc:spChg>
        <pc:spChg chg="del">
          <ac:chgData name="Eirik Eriksen Heen" userId="3e804305-1c07-417a-9ea8-d913585be88f" providerId="ADAL" clId="{1A8AB375-2C17-4B69-9219-6D6459D5CFE1}" dt="2026-09-24T16:50:24.484" v="26" actId="478"/>
          <ac:spMkLst>
            <pc:docMk/>
            <pc:sldMk cId="0" sldId="4797"/>
            <ac:spMk id="12" creationId="{00000000-0000-0000-0000-000000000000}"/>
          </ac:spMkLst>
        </pc:spChg>
        <pc:spChg chg="add del">
          <ac:chgData name="Eirik Eriksen Heen" userId="3e804305-1c07-417a-9ea8-d913585be88f" providerId="ADAL" clId="{1A8AB375-2C17-4B69-9219-6D6459D5CFE1}" dt="2026-09-24T21:48:23.970" v="347" actId="478"/>
          <ac:spMkLst>
            <pc:docMk/>
            <pc:sldMk cId="0" sldId="4797"/>
            <ac:spMk id="12" creationId="{62CEAE89-5F32-A763-012B-5511AB101136}"/>
          </ac:spMkLst>
        </pc:spChg>
        <pc:spChg chg="mod">
          <ac:chgData name="Eirik Eriksen Heen" userId="3e804305-1c07-417a-9ea8-d913585be88f" providerId="ADAL" clId="{1A8AB375-2C17-4B69-9219-6D6459D5CFE1}" dt="2026-09-24T16:51:48.017" v="42" actId="6549"/>
          <ac:spMkLst>
            <pc:docMk/>
            <pc:sldMk cId="0" sldId="4797"/>
            <ac:spMk id="14" creationId="{00000000-0000-0000-0000-000000000000}"/>
          </ac:spMkLst>
        </pc:spChg>
        <pc:spChg chg="mod">
          <ac:chgData name="Eirik Eriksen Heen" userId="3e804305-1c07-417a-9ea8-d913585be88f" providerId="ADAL" clId="{1A8AB375-2C17-4B69-9219-6D6459D5CFE1}" dt="2026-09-24T16:49:47.920" v="18" actId="14100"/>
          <ac:spMkLst>
            <pc:docMk/>
            <pc:sldMk cId="0" sldId="4797"/>
            <ac:spMk id="15" creationId="{00000000-0000-0000-0000-000000000000}"/>
          </ac:spMkLst>
        </pc:spChg>
        <pc:spChg chg="del">
          <ac:chgData name="Eirik Eriksen Heen" userId="3e804305-1c07-417a-9ea8-d913585be88f" providerId="ADAL" clId="{1A8AB375-2C17-4B69-9219-6D6459D5CFE1}" dt="2026-09-24T16:52:17.110" v="45" actId="478"/>
          <ac:spMkLst>
            <pc:docMk/>
            <pc:sldMk cId="0" sldId="4797"/>
            <ac:spMk id="17" creationId="{00000000-0000-0000-0000-000000000000}"/>
          </ac:spMkLst>
        </pc:spChg>
        <pc:spChg chg="add mod">
          <ac:chgData name="Eirik Eriksen Heen" userId="3e804305-1c07-417a-9ea8-d913585be88f" providerId="ADAL" clId="{1A8AB375-2C17-4B69-9219-6D6459D5CFE1}" dt="2026-09-24T17:02:35.694" v="76" actId="1076"/>
          <ac:spMkLst>
            <pc:docMk/>
            <pc:sldMk cId="0" sldId="4797"/>
            <ac:spMk id="23" creationId="{902AE23C-6B0C-4C16-BBC3-699B35AD8F0C}"/>
          </ac:spMkLst>
        </pc:spChg>
        <pc:spChg chg="add mod">
          <ac:chgData name="Eirik Eriksen Heen" userId="3e804305-1c07-417a-9ea8-d913585be88f" providerId="ADAL" clId="{1A8AB375-2C17-4B69-9219-6D6459D5CFE1}" dt="2026-09-24T17:03:17.703" v="86" actId="20577"/>
          <ac:spMkLst>
            <pc:docMk/>
            <pc:sldMk cId="0" sldId="4797"/>
            <ac:spMk id="25" creationId="{6E8733D3-538C-6AFB-E704-6D9ACAE8864E}"/>
          </ac:spMkLst>
        </pc:spChg>
        <pc:picChg chg="add mod">
          <ac:chgData name="Eirik Eriksen Heen" userId="3e804305-1c07-417a-9ea8-d913585be88f" providerId="ADAL" clId="{1A8AB375-2C17-4B69-9219-6D6459D5CFE1}" dt="2026-09-24T16:50:20.601" v="25" actId="1076"/>
          <ac:picMkLst>
            <pc:docMk/>
            <pc:sldMk cId="0" sldId="4797"/>
            <ac:picMk id="19" creationId="{5EC276D0-30CD-3C24-1897-9EF04E646CEC}"/>
          </ac:picMkLst>
        </pc:picChg>
        <pc:picChg chg="add mod">
          <ac:chgData name="Eirik Eriksen Heen" userId="3e804305-1c07-417a-9ea8-d913585be88f" providerId="ADAL" clId="{1A8AB375-2C17-4B69-9219-6D6459D5CFE1}" dt="2026-09-24T16:52:18.683" v="47" actId="1076"/>
          <ac:picMkLst>
            <pc:docMk/>
            <pc:sldMk cId="0" sldId="4797"/>
            <ac:picMk id="21" creationId="{2C5058B8-163E-7F7C-4330-38F9C52B38DF}"/>
          </ac:picMkLst>
        </pc:picChg>
      </pc:sldChg>
      <pc:sldChg chg="addSp modSp new del mod modClrScheme chgLayout">
        <pc:chgData name="Eirik Eriksen Heen" userId="3e804305-1c07-417a-9ea8-d913585be88f" providerId="ADAL" clId="{1A8AB375-2C17-4B69-9219-6D6459D5CFE1}" dt="2026-09-24T16:13:02.523" v="16" actId="2696"/>
        <pc:sldMkLst>
          <pc:docMk/>
          <pc:sldMk cId="885035176" sldId="4797"/>
        </pc:sldMkLst>
        <pc:spChg chg="add mod">
          <ac:chgData name="Eirik Eriksen Heen" userId="3e804305-1c07-417a-9ea8-d913585be88f" providerId="ADAL" clId="{1A8AB375-2C17-4B69-9219-6D6459D5CFE1}" dt="2026-09-24T16:10:48.006" v="9"/>
          <ac:spMkLst>
            <pc:docMk/>
            <pc:sldMk cId="885035176" sldId="4797"/>
            <ac:spMk id="2" creationId="{90297081-9D49-8C10-7A65-E5BD793ED382}"/>
          </ac:spMkLst>
        </pc:spChg>
        <pc:spChg chg="add mod">
          <ac:chgData name="Eirik Eriksen Heen" userId="3e804305-1c07-417a-9ea8-d913585be88f" providerId="ADAL" clId="{1A8AB375-2C17-4B69-9219-6D6459D5CFE1}" dt="2026-09-24T16:10:58.804" v="13" actId="27636"/>
          <ac:spMkLst>
            <pc:docMk/>
            <pc:sldMk cId="885035176" sldId="4797"/>
            <ac:spMk id="3" creationId="{57F97FDA-3C2F-3D72-0AFC-DEB5F9FA04C8}"/>
          </ac:spMkLst>
        </pc:spChg>
        <pc:spChg chg="add mod">
          <ac:chgData name="Eirik Eriksen Heen" userId="3e804305-1c07-417a-9ea8-d913585be88f" providerId="ADAL" clId="{1A8AB375-2C17-4B69-9219-6D6459D5CFE1}" dt="2026-09-24T16:11:05.708" v="15"/>
          <ac:spMkLst>
            <pc:docMk/>
            <pc:sldMk cId="885035176" sldId="4797"/>
            <ac:spMk id="4" creationId="{E6238F7C-F663-413D-7EAF-CEDC9D9DE947}"/>
          </ac:spMkLst>
        </pc:spChg>
      </pc:sldChg>
      <pc:sldChg chg="delSp add del mod">
        <pc:chgData name="Eirik Eriksen Heen" userId="3e804305-1c07-417a-9ea8-d913585be88f" providerId="ADAL" clId="{1A8AB375-2C17-4B69-9219-6D6459D5CFE1}" dt="2026-09-24T16:10:19.385" v="6" actId="2696"/>
        <pc:sldMkLst>
          <pc:docMk/>
          <pc:sldMk cId="930406472" sldId="4797"/>
        </pc:sldMkLst>
        <pc:picChg chg="del">
          <ac:chgData name="Eirik Eriksen Heen" userId="3e804305-1c07-417a-9ea8-d913585be88f" providerId="ADAL" clId="{1A8AB375-2C17-4B69-9219-6D6459D5CFE1}" dt="2026-09-24T16:10:16.286" v="5" actId="478"/>
          <ac:picMkLst>
            <pc:docMk/>
            <pc:sldMk cId="930406472" sldId="4797"/>
            <ac:picMk id="2" creationId="{2F7C7FDD-BC11-882B-5F50-684C123EC7EB}"/>
          </ac:picMkLst>
        </pc:picChg>
      </pc:sldChg>
      <pc:sldChg chg="new del mod modClrScheme chgLayout">
        <pc:chgData name="Eirik Eriksen Heen" userId="3e804305-1c07-417a-9ea8-d913585be88f" providerId="ADAL" clId="{1A8AB375-2C17-4B69-9219-6D6459D5CFE1}" dt="2026-09-24T16:04:22.930" v="3" actId="680"/>
        <pc:sldMkLst>
          <pc:docMk/>
          <pc:sldMk cId="2148325606" sldId="4797"/>
        </pc:sldMkLst>
      </pc:sldChg>
      <pc:sldChg chg="addSp delSp modSp add mod">
        <pc:chgData name="Eirik Eriksen Heen" userId="3e804305-1c07-417a-9ea8-d913585be88f" providerId="ADAL" clId="{1A8AB375-2C17-4B69-9219-6D6459D5CFE1}" dt="2026-09-24T21:48:19.598" v="346" actId="22"/>
        <pc:sldMkLst>
          <pc:docMk/>
          <pc:sldMk cId="0" sldId="4798"/>
        </pc:sldMkLst>
        <pc:spChg chg="mod">
          <ac:chgData name="Eirik Eriksen Heen" userId="3e804305-1c07-417a-9ea8-d913585be88f" providerId="ADAL" clId="{1A8AB375-2C17-4B69-9219-6D6459D5CFE1}" dt="2026-09-24T17:10:38.317" v="143" actId="1076"/>
          <ac:spMkLst>
            <pc:docMk/>
            <pc:sldMk cId="0" sldId="4798"/>
            <ac:spMk id="5" creationId="{00000000-0000-0000-0000-000000000000}"/>
          </ac:spMkLst>
        </pc:spChg>
        <pc:spChg chg="mod">
          <ac:chgData name="Eirik Eriksen Heen" userId="3e804305-1c07-417a-9ea8-d913585be88f" providerId="ADAL" clId="{1A8AB375-2C17-4B69-9219-6D6459D5CFE1}" dt="2026-09-24T17:09:36.877" v="93" actId="20577"/>
          <ac:spMkLst>
            <pc:docMk/>
            <pc:sldMk cId="0" sldId="4798"/>
            <ac:spMk id="6" creationId="{00000000-0000-0000-0000-000000000000}"/>
          </ac:spMkLst>
        </pc:spChg>
        <pc:spChg chg="mod">
          <ac:chgData name="Eirik Eriksen Heen" userId="3e804305-1c07-417a-9ea8-d913585be88f" providerId="ADAL" clId="{1A8AB375-2C17-4B69-9219-6D6459D5CFE1}" dt="2026-09-24T20:27:12.026" v="281" actId="16959"/>
          <ac:spMkLst>
            <pc:docMk/>
            <pc:sldMk cId="0" sldId="4798"/>
            <ac:spMk id="7" creationId="{00000000-0000-0000-0000-000000000000}"/>
          </ac:spMkLst>
        </pc:spChg>
        <pc:spChg chg="mod">
          <ac:chgData name="Eirik Eriksen Heen" userId="3e804305-1c07-417a-9ea8-d913585be88f" providerId="ADAL" clId="{1A8AB375-2C17-4B69-9219-6D6459D5CFE1}" dt="2026-09-24T17:10:34.366" v="141" actId="1076"/>
          <ac:spMkLst>
            <pc:docMk/>
            <pc:sldMk cId="0" sldId="4798"/>
            <ac:spMk id="8" creationId="{00000000-0000-0000-0000-000000000000}"/>
          </ac:spMkLst>
        </pc:spChg>
        <pc:spChg chg="mod">
          <ac:chgData name="Eirik Eriksen Heen" userId="3e804305-1c07-417a-9ea8-d913585be88f" providerId="ADAL" clId="{1A8AB375-2C17-4B69-9219-6D6459D5CFE1}" dt="2026-09-24T20:27:14.646" v="282" actId="16959"/>
          <ac:spMkLst>
            <pc:docMk/>
            <pc:sldMk cId="0" sldId="4798"/>
            <ac:spMk id="11" creationId="{00000000-0000-0000-0000-000000000000}"/>
          </ac:spMkLst>
        </pc:spChg>
        <pc:spChg chg="mod">
          <ac:chgData name="Eirik Eriksen Heen" userId="3e804305-1c07-417a-9ea8-d913585be88f" providerId="ADAL" clId="{1A8AB375-2C17-4B69-9219-6D6459D5CFE1}" dt="2026-09-24T17:11:21.608" v="165" actId="1076"/>
          <ac:spMkLst>
            <pc:docMk/>
            <pc:sldMk cId="0" sldId="4798"/>
            <ac:spMk id="12" creationId="{00000000-0000-0000-0000-000000000000}"/>
          </ac:spMkLst>
        </pc:spChg>
        <pc:spChg chg="mod">
          <ac:chgData name="Eirik Eriksen Heen" userId="3e804305-1c07-417a-9ea8-d913585be88f" providerId="ADAL" clId="{1A8AB375-2C17-4B69-9219-6D6459D5CFE1}" dt="2026-09-24T20:27:54.662" v="284" actId="14100"/>
          <ac:spMkLst>
            <pc:docMk/>
            <pc:sldMk cId="0" sldId="4798"/>
            <ac:spMk id="13" creationId="{00000000-0000-0000-0000-000000000000}"/>
          </ac:spMkLst>
        </pc:spChg>
        <pc:spChg chg="del">
          <ac:chgData name="Eirik Eriksen Heen" userId="3e804305-1c07-417a-9ea8-d913585be88f" providerId="ADAL" clId="{1A8AB375-2C17-4B69-9219-6D6459D5CFE1}" dt="2026-09-24T16:51:08.593" v="32" actId="478"/>
          <ac:spMkLst>
            <pc:docMk/>
            <pc:sldMk cId="0" sldId="4798"/>
            <ac:spMk id="15" creationId="{00000000-0000-0000-0000-000000000000}"/>
          </ac:spMkLst>
        </pc:spChg>
        <pc:spChg chg="add">
          <ac:chgData name="Eirik Eriksen Heen" userId="3e804305-1c07-417a-9ea8-d913585be88f" providerId="ADAL" clId="{1A8AB375-2C17-4B69-9219-6D6459D5CFE1}" dt="2026-09-24T21:48:19.598" v="346" actId="22"/>
          <ac:spMkLst>
            <pc:docMk/>
            <pc:sldMk cId="0" sldId="4798"/>
            <ac:spMk id="16" creationId="{E212BC8B-A482-D701-6A08-46228B01C8E2}"/>
          </ac:spMkLst>
        </pc:spChg>
      </pc:sldChg>
      <pc:sldChg chg="addSp delSp modSp add mod">
        <pc:chgData name="Eirik Eriksen Heen" userId="3e804305-1c07-417a-9ea8-d913585be88f" providerId="ADAL" clId="{1A8AB375-2C17-4B69-9219-6D6459D5CFE1}" dt="2026-09-24T17:01:39.353" v="52" actId="22"/>
        <pc:sldMkLst>
          <pc:docMk/>
          <pc:sldMk cId="0" sldId="4799"/>
        </pc:sldMkLst>
        <pc:spChg chg="mod">
          <ac:chgData name="Eirik Eriksen Heen" userId="3e804305-1c07-417a-9ea8-d913585be88f" providerId="ADAL" clId="{1A8AB375-2C17-4B69-9219-6D6459D5CFE1}" dt="2026-09-24T16:57:00.520" v="50" actId="14100"/>
          <ac:spMkLst>
            <pc:docMk/>
            <pc:sldMk cId="0" sldId="4799"/>
            <ac:spMk id="15" creationId="{00000000-0000-0000-0000-000000000000}"/>
          </ac:spMkLst>
        </pc:spChg>
        <pc:spChg chg="del">
          <ac:chgData name="Eirik Eriksen Heen" userId="3e804305-1c07-417a-9ea8-d913585be88f" providerId="ADAL" clId="{1A8AB375-2C17-4B69-9219-6D6459D5CFE1}" dt="2026-09-24T16:51:11.674" v="33" actId="478"/>
          <ac:spMkLst>
            <pc:docMk/>
            <pc:sldMk cId="0" sldId="4799"/>
            <ac:spMk id="18" creationId="{00000000-0000-0000-0000-000000000000}"/>
          </ac:spMkLst>
        </pc:spChg>
        <pc:picChg chg="add del">
          <ac:chgData name="Eirik Eriksen Heen" userId="3e804305-1c07-417a-9ea8-d913585be88f" providerId="ADAL" clId="{1A8AB375-2C17-4B69-9219-6D6459D5CFE1}" dt="2026-09-24T17:01:39.353" v="52" actId="22"/>
          <ac:picMkLst>
            <pc:docMk/>
            <pc:sldMk cId="0" sldId="4799"/>
            <ac:picMk id="20" creationId="{726554D8-3CFC-6CB0-ABA4-A390F638A6DC}"/>
          </ac:picMkLst>
        </pc:picChg>
      </pc:sldChg>
      <pc:sldChg chg="delSp modSp add mod">
        <pc:chgData name="Eirik Eriksen Heen" userId="3e804305-1c07-417a-9ea8-d913585be88f" providerId="ADAL" clId="{1A8AB375-2C17-4B69-9219-6D6459D5CFE1}" dt="2026-09-24T17:04:59.976" v="92" actId="20577"/>
        <pc:sldMkLst>
          <pc:docMk/>
          <pc:sldMk cId="0" sldId="4800"/>
        </pc:sldMkLst>
        <pc:spChg chg="mod">
          <ac:chgData name="Eirik Eriksen Heen" userId="3e804305-1c07-417a-9ea8-d913585be88f" providerId="ADAL" clId="{1A8AB375-2C17-4B69-9219-6D6459D5CFE1}" dt="2026-09-24T17:04:59.976" v="92" actId="20577"/>
          <ac:spMkLst>
            <pc:docMk/>
            <pc:sldMk cId="0" sldId="4800"/>
            <ac:spMk id="3" creationId="{00000000-0000-0000-0000-000000000000}"/>
          </ac:spMkLst>
        </pc:spChg>
        <pc:spChg chg="mod">
          <ac:chgData name="Eirik Eriksen Heen" userId="3e804305-1c07-417a-9ea8-d913585be88f" providerId="ADAL" clId="{1A8AB375-2C17-4B69-9219-6D6459D5CFE1}" dt="2026-09-24T16:56:09.425" v="48" actId="20577"/>
          <ac:spMkLst>
            <pc:docMk/>
            <pc:sldMk cId="0" sldId="4800"/>
            <ac:spMk id="12" creationId="{00000000-0000-0000-0000-000000000000}"/>
          </ac:spMkLst>
        </pc:spChg>
        <pc:spChg chg="del">
          <ac:chgData name="Eirik Eriksen Heen" userId="3e804305-1c07-417a-9ea8-d913585be88f" providerId="ADAL" clId="{1A8AB375-2C17-4B69-9219-6D6459D5CFE1}" dt="2026-09-24T16:51:14.567" v="34" actId="478"/>
          <ac:spMkLst>
            <pc:docMk/>
            <pc:sldMk cId="0" sldId="4800"/>
            <ac:spMk id="15" creationId="{00000000-0000-0000-0000-000000000000}"/>
          </ac:spMkLst>
        </pc:spChg>
      </pc:sldChg>
      <pc:sldChg chg="delSp add mod">
        <pc:chgData name="Eirik Eriksen Heen" userId="3e804305-1c07-417a-9ea8-d913585be88f" providerId="ADAL" clId="{1A8AB375-2C17-4B69-9219-6D6459D5CFE1}" dt="2026-09-24T16:51:18.097" v="35" actId="478"/>
        <pc:sldMkLst>
          <pc:docMk/>
          <pc:sldMk cId="0" sldId="4801"/>
        </pc:sldMkLst>
        <pc:spChg chg="del">
          <ac:chgData name="Eirik Eriksen Heen" userId="3e804305-1c07-417a-9ea8-d913585be88f" providerId="ADAL" clId="{1A8AB375-2C17-4B69-9219-6D6459D5CFE1}" dt="2026-09-24T16:51:18.097" v="35" actId="478"/>
          <ac:spMkLst>
            <pc:docMk/>
            <pc:sldMk cId="0" sldId="4801"/>
            <ac:spMk id="11" creationId="{00000000-0000-0000-0000-000000000000}"/>
          </ac:spMkLst>
        </pc:spChg>
      </pc:sldChg>
      <pc:sldChg chg="addSp delSp modSp add mod">
        <pc:chgData name="Eirik Eriksen Heen" userId="3e804305-1c07-417a-9ea8-d913585be88f" providerId="ADAL" clId="{1A8AB375-2C17-4B69-9219-6D6459D5CFE1}" dt="2026-09-25T03:34:54.826" v="504"/>
        <pc:sldMkLst>
          <pc:docMk/>
          <pc:sldMk cId="0" sldId="4802"/>
        </pc:sldMkLst>
        <pc:spChg chg="mod">
          <ac:chgData name="Eirik Eriksen Heen" userId="3e804305-1c07-417a-9ea8-d913585be88f" providerId="ADAL" clId="{1A8AB375-2C17-4B69-9219-6D6459D5CFE1}" dt="2026-09-24T17:16:39.987" v="166" actId="20577"/>
          <ac:spMkLst>
            <pc:docMk/>
            <pc:sldMk cId="0" sldId="4802"/>
            <ac:spMk id="9" creationId="{00000000-0000-0000-0000-000000000000}"/>
          </ac:spMkLst>
        </pc:spChg>
        <pc:spChg chg="mod">
          <ac:chgData name="Eirik Eriksen Heen" userId="3e804305-1c07-417a-9ea8-d913585be88f" providerId="ADAL" clId="{1A8AB375-2C17-4B69-9219-6D6459D5CFE1}" dt="2026-09-24T17:16:48.887" v="167" actId="20577"/>
          <ac:spMkLst>
            <pc:docMk/>
            <pc:sldMk cId="0" sldId="4802"/>
            <ac:spMk id="14" creationId="{00000000-0000-0000-0000-000000000000}"/>
          </ac:spMkLst>
        </pc:spChg>
        <pc:spChg chg="mod">
          <ac:chgData name="Eirik Eriksen Heen" userId="3e804305-1c07-417a-9ea8-d913585be88f" providerId="ADAL" clId="{1A8AB375-2C17-4B69-9219-6D6459D5CFE1}" dt="2026-09-24T17:18:10.586" v="171" actId="14100"/>
          <ac:spMkLst>
            <pc:docMk/>
            <pc:sldMk cId="0" sldId="4802"/>
            <ac:spMk id="15" creationId="{00000000-0000-0000-0000-000000000000}"/>
          </ac:spMkLst>
        </pc:spChg>
        <pc:spChg chg="add del mod">
          <ac:chgData name="Eirik Eriksen Heen" userId="3e804305-1c07-417a-9ea8-d913585be88f" providerId="ADAL" clId="{1A8AB375-2C17-4B69-9219-6D6459D5CFE1}" dt="2026-09-24T20:34:32.601" v="288" actId="1076"/>
          <ac:spMkLst>
            <pc:docMk/>
            <pc:sldMk cId="0" sldId="4802"/>
            <ac:spMk id="16" creationId="{00000000-0000-0000-0000-000000000000}"/>
          </ac:spMkLst>
        </pc:spChg>
        <pc:spChg chg="del">
          <ac:chgData name="Eirik Eriksen Heen" userId="3e804305-1c07-417a-9ea8-d913585be88f" providerId="ADAL" clId="{1A8AB375-2C17-4B69-9219-6D6459D5CFE1}" dt="2026-09-24T17:18:26.124" v="172" actId="478"/>
          <ac:spMkLst>
            <pc:docMk/>
            <pc:sldMk cId="0" sldId="4802"/>
            <ac:spMk id="18" creationId="{00000000-0000-0000-0000-000000000000}"/>
          </ac:spMkLst>
        </pc:spChg>
        <pc:spChg chg="add mod">
          <ac:chgData name="Eirik Eriksen Heen" userId="3e804305-1c07-417a-9ea8-d913585be88f" providerId="ADAL" clId="{1A8AB375-2C17-4B69-9219-6D6459D5CFE1}" dt="2026-09-25T03:34:41.034" v="503" actId="1076"/>
          <ac:spMkLst>
            <pc:docMk/>
            <pc:sldMk cId="0" sldId="4802"/>
            <ac:spMk id="19" creationId="{F675CDBA-148E-D290-B707-244870DA48E9}"/>
          </ac:spMkLst>
        </pc:spChg>
        <pc:spChg chg="add mod">
          <ac:chgData name="Eirik Eriksen Heen" userId="3e804305-1c07-417a-9ea8-d913585be88f" providerId="ADAL" clId="{1A8AB375-2C17-4B69-9219-6D6459D5CFE1}" dt="2026-09-25T03:34:54.826" v="504"/>
          <ac:spMkLst>
            <pc:docMk/>
            <pc:sldMk cId="0" sldId="4802"/>
            <ac:spMk id="21" creationId="{790EA85A-3987-78E1-5311-2CBEE1D3E6FC}"/>
          </ac:spMkLst>
        </pc:spChg>
      </pc:sldChg>
      <pc:sldChg chg="delSp modSp add mod">
        <pc:chgData name="Eirik Eriksen Heen" userId="3e804305-1c07-417a-9ea8-d913585be88f" providerId="ADAL" clId="{1A8AB375-2C17-4B69-9219-6D6459D5CFE1}" dt="2026-09-24T17:32:47.293" v="195" actId="478"/>
        <pc:sldMkLst>
          <pc:docMk/>
          <pc:sldMk cId="0" sldId="4803"/>
        </pc:sldMkLst>
        <pc:spChg chg="mod">
          <ac:chgData name="Eirik Eriksen Heen" userId="3e804305-1c07-417a-9ea8-d913585be88f" providerId="ADAL" clId="{1A8AB375-2C17-4B69-9219-6D6459D5CFE1}" dt="2026-09-24T17:31:50.490" v="181" actId="20577"/>
          <ac:spMkLst>
            <pc:docMk/>
            <pc:sldMk cId="0" sldId="4803"/>
            <ac:spMk id="7" creationId="{00000000-0000-0000-0000-000000000000}"/>
          </ac:spMkLst>
        </pc:spChg>
        <pc:spChg chg="mod">
          <ac:chgData name="Eirik Eriksen Heen" userId="3e804305-1c07-417a-9ea8-d913585be88f" providerId="ADAL" clId="{1A8AB375-2C17-4B69-9219-6D6459D5CFE1}" dt="2026-09-24T17:31:52.724" v="182" actId="20577"/>
          <ac:spMkLst>
            <pc:docMk/>
            <pc:sldMk cId="0" sldId="4803"/>
            <ac:spMk id="8" creationId="{00000000-0000-0000-0000-000000000000}"/>
          </ac:spMkLst>
        </pc:spChg>
        <pc:spChg chg="mod">
          <ac:chgData name="Eirik Eriksen Heen" userId="3e804305-1c07-417a-9ea8-d913585be88f" providerId="ADAL" clId="{1A8AB375-2C17-4B69-9219-6D6459D5CFE1}" dt="2026-09-24T17:32:03.217" v="186" actId="20577"/>
          <ac:spMkLst>
            <pc:docMk/>
            <pc:sldMk cId="0" sldId="4803"/>
            <ac:spMk id="11" creationId="{00000000-0000-0000-0000-000000000000}"/>
          </ac:spMkLst>
        </pc:spChg>
        <pc:spChg chg="mod">
          <ac:chgData name="Eirik Eriksen Heen" userId="3e804305-1c07-417a-9ea8-d913585be88f" providerId="ADAL" clId="{1A8AB375-2C17-4B69-9219-6D6459D5CFE1}" dt="2026-09-24T17:32:09.366" v="188" actId="20577"/>
          <ac:spMkLst>
            <pc:docMk/>
            <pc:sldMk cId="0" sldId="4803"/>
            <ac:spMk id="15" creationId="{00000000-0000-0000-0000-000000000000}"/>
          </ac:spMkLst>
        </pc:spChg>
        <pc:spChg chg="mod">
          <ac:chgData name="Eirik Eriksen Heen" userId="3e804305-1c07-417a-9ea8-d913585be88f" providerId="ADAL" clId="{1A8AB375-2C17-4B69-9219-6D6459D5CFE1}" dt="2026-09-24T17:32:39.264" v="193" actId="14100"/>
          <ac:spMkLst>
            <pc:docMk/>
            <pc:sldMk cId="0" sldId="4803"/>
            <ac:spMk id="17" creationId="{00000000-0000-0000-0000-000000000000}"/>
          </ac:spMkLst>
        </pc:spChg>
        <pc:spChg chg="mod">
          <ac:chgData name="Eirik Eriksen Heen" userId="3e804305-1c07-417a-9ea8-d913585be88f" providerId="ADAL" clId="{1A8AB375-2C17-4B69-9219-6D6459D5CFE1}" dt="2026-09-24T17:32:41.606" v="194" actId="1076"/>
          <ac:spMkLst>
            <pc:docMk/>
            <pc:sldMk cId="0" sldId="4803"/>
            <ac:spMk id="18" creationId="{00000000-0000-0000-0000-000000000000}"/>
          </ac:spMkLst>
        </pc:spChg>
        <pc:spChg chg="del">
          <ac:chgData name="Eirik Eriksen Heen" userId="3e804305-1c07-417a-9ea8-d913585be88f" providerId="ADAL" clId="{1A8AB375-2C17-4B69-9219-6D6459D5CFE1}" dt="2026-09-24T17:32:47.293" v="195" actId="478"/>
          <ac:spMkLst>
            <pc:docMk/>
            <pc:sldMk cId="0" sldId="4803"/>
            <ac:spMk id="20" creationId="{00000000-0000-0000-0000-000000000000}"/>
          </ac:spMkLst>
        </pc:spChg>
      </pc:sldChg>
      <pc:sldChg chg="addSp delSp modSp add mod ord">
        <pc:chgData name="Eirik Eriksen Heen" userId="3e804305-1c07-417a-9ea8-d913585be88f" providerId="ADAL" clId="{1A8AB375-2C17-4B69-9219-6D6459D5CFE1}" dt="2026-09-24T17:36:38.529" v="253"/>
        <pc:sldMkLst>
          <pc:docMk/>
          <pc:sldMk cId="0" sldId="4804"/>
        </pc:sldMkLst>
        <pc:spChg chg="mod">
          <ac:chgData name="Eirik Eriksen Heen" userId="3e804305-1c07-417a-9ea8-d913585be88f" providerId="ADAL" clId="{1A8AB375-2C17-4B69-9219-6D6459D5CFE1}" dt="2026-09-24T17:33:39.786" v="211" actId="1076"/>
          <ac:spMkLst>
            <pc:docMk/>
            <pc:sldMk cId="0" sldId="4804"/>
            <ac:spMk id="5" creationId="{00000000-0000-0000-0000-000000000000}"/>
          </ac:spMkLst>
        </pc:spChg>
        <pc:spChg chg="mod">
          <ac:chgData name="Eirik Eriksen Heen" userId="3e804305-1c07-417a-9ea8-d913585be88f" providerId="ADAL" clId="{1A8AB375-2C17-4B69-9219-6D6459D5CFE1}" dt="2026-09-24T17:33:45.635" v="213" actId="20577"/>
          <ac:spMkLst>
            <pc:docMk/>
            <pc:sldMk cId="0" sldId="4804"/>
            <ac:spMk id="7" creationId="{00000000-0000-0000-0000-000000000000}"/>
          </ac:spMkLst>
        </pc:spChg>
        <pc:spChg chg="mod">
          <ac:chgData name="Eirik Eriksen Heen" userId="3e804305-1c07-417a-9ea8-d913585be88f" providerId="ADAL" clId="{1A8AB375-2C17-4B69-9219-6D6459D5CFE1}" dt="2026-09-24T17:33:33.062" v="207" actId="1076"/>
          <ac:spMkLst>
            <pc:docMk/>
            <pc:sldMk cId="0" sldId="4804"/>
            <ac:spMk id="8" creationId="{00000000-0000-0000-0000-000000000000}"/>
          </ac:spMkLst>
        </pc:spChg>
        <pc:spChg chg="mod">
          <ac:chgData name="Eirik Eriksen Heen" userId="3e804305-1c07-417a-9ea8-d913585be88f" providerId="ADAL" clId="{1A8AB375-2C17-4B69-9219-6D6459D5CFE1}" dt="2026-09-24T17:33:33.062" v="207" actId="1076"/>
          <ac:spMkLst>
            <pc:docMk/>
            <pc:sldMk cId="0" sldId="4804"/>
            <ac:spMk id="9" creationId="{00000000-0000-0000-0000-000000000000}"/>
          </ac:spMkLst>
        </pc:spChg>
        <pc:spChg chg="del">
          <ac:chgData name="Eirik Eriksen Heen" userId="3e804305-1c07-417a-9ea8-d913585be88f" providerId="ADAL" clId="{1A8AB375-2C17-4B69-9219-6D6459D5CFE1}" dt="2026-09-24T17:34:17.094" v="220" actId="478"/>
          <ac:spMkLst>
            <pc:docMk/>
            <pc:sldMk cId="0" sldId="4804"/>
            <ac:spMk id="12" creationId="{00000000-0000-0000-0000-000000000000}"/>
          </ac:spMkLst>
        </pc:spChg>
        <pc:spChg chg="mod">
          <ac:chgData name="Eirik Eriksen Heen" userId="3e804305-1c07-417a-9ea8-d913585be88f" providerId="ADAL" clId="{1A8AB375-2C17-4B69-9219-6D6459D5CFE1}" dt="2026-09-24T17:35:56.711" v="250" actId="1076"/>
          <ac:spMkLst>
            <pc:docMk/>
            <pc:sldMk cId="0" sldId="4804"/>
            <ac:spMk id="13" creationId="{00000000-0000-0000-0000-000000000000}"/>
          </ac:spMkLst>
        </pc:spChg>
        <pc:spChg chg="mod">
          <ac:chgData name="Eirik Eriksen Heen" userId="3e804305-1c07-417a-9ea8-d913585be88f" providerId="ADAL" clId="{1A8AB375-2C17-4B69-9219-6D6459D5CFE1}" dt="2026-09-24T17:35:53.850" v="249" actId="1076"/>
          <ac:spMkLst>
            <pc:docMk/>
            <pc:sldMk cId="0" sldId="4804"/>
            <ac:spMk id="14" creationId="{00000000-0000-0000-0000-000000000000}"/>
          </ac:spMkLst>
        </pc:spChg>
        <pc:spChg chg="add mod">
          <ac:chgData name="Eirik Eriksen Heen" userId="3e804305-1c07-417a-9ea8-d913585be88f" providerId="ADAL" clId="{1A8AB375-2C17-4B69-9219-6D6459D5CFE1}" dt="2026-09-24T17:36:03.969" v="251" actId="1076"/>
          <ac:spMkLst>
            <pc:docMk/>
            <pc:sldMk cId="0" sldId="4804"/>
            <ac:spMk id="20" creationId="{8A1D06E4-E42D-3F93-69B4-D381B1CF8E4A}"/>
          </ac:spMkLst>
        </pc:spChg>
        <pc:spChg chg="add mod">
          <ac:chgData name="Eirik Eriksen Heen" userId="3e804305-1c07-417a-9ea8-d913585be88f" providerId="ADAL" clId="{1A8AB375-2C17-4B69-9219-6D6459D5CFE1}" dt="2026-09-24T17:34:21.643" v="221" actId="1076"/>
          <ac:spMkLst>
            <pc:docMk/>
            <pc:sldMk cId="0" sldId="4804"/>
            <ac:spMk id="22" creationId="{AE0D278A-AB3C-27EE-EDD0-EDB5296472DD}"/>
          </ac:spMkLst>
        </pc:spChg>
      </pc:sldChg>
      <pc:sldChg chg="addSp delSp modSp new mod ord setBg">
        <pc:chgData name="Eirik Eriksen Heen" userId="3e804305-1c07-417a-9ea8-d913585be88f" providerId="ADAL" clId="{1A8AB375-2C17-4B69-9219-6D6459D5CFE1}" dt="2026-09-25T04:00:54.907" v="535" actId="22"/>
        <pc:sldMkLst>
          <pc:docMk/>
          <pc:sldMk cId="683700532" sldId="4805"/>
        </pc:sldMkLst>
        <pc:spChg chg="add">
          <ac:chgData name="Eirik Eriksen Heen" userId="3e804305-1c07-417a-9ea8-d913585be88f" providerId="ADAL" clId="{1A8AB375-2C17-4B69-9219-6D6459D5CFE1}" dt="2026-09-25T04:00:54.907" v="535" actId="22"/>
          <ac:spMkLst>
            <pc:docMk/>
            <pc:sldMk cId="683700532" sldId="4805"/>
            <ac:spMk id="3" creationId="{14EB877F-353E-12A8-B709-1057287B384A}"/>
          </ac:spMkLst>
        </pc:spChg>
        <pc:spChg chg="add">
          <ac:chgData name="Eirik Eriksen Heen" userId="3e804305-1c07-417a-9ea8-d913585be88f" providerId="ADAL" clId="{1A8AB375-2C17-4B69-9219-6D6459D5CFE1}" dt="2026-09-24T20:19:19.433" v="271" actId="26606"/>
          <ac:spMkLst>
            <pc:docMk/>
            <pc:sldMk cId="683700532" sldId="4805"/>
            <ac:spMk id="10" creationId="{42A4FC2C-047E-45A5-965D-8E1E3BF09BC6}"/>
          </ac:spMkLst>
        </pc:spChg>
        <pc:picChg chg="add del">
          <ac:chgData name="Eirik Eriksen Heen" userId="3e804305-1c07-417a-9ea8-d913585be88f" providerId="ADAL" clId="{1A8AB375-2C17-4B69-9219-6D6459D5CFE1}" dt="2026-09-24T20:19:05.737" v="269" actId="478"/>
          <ac:picMkLst>
            <pc:docMk/>
            <pc:sldMk cId="683700532" sldId="4805"/>
            <ac:picMk id="3" creationId="{64E28FC2-7CEA-E884-DDE7-2D9CB048BA11}"/>
          </ac:picMkLst>
        </pc:picChg>
        <pc:picChg chg="add del mod">
          <ac:chgData name="Eirik Eriksen Heen" userId="3e804305-1c07-417a-9ea8-d913585be88f" providerId="ADAL" clId="{1A8AB375-2C17-4B69-9219-6D6459D5CFE1}" dt="2026-09-24T20:37:35.852" v="291" actId="478"/>
          <ac:picMkLst>
            <pc:docMk/>
            <pc:sldMk cId="683700532" sldId="4805"/>
            <ac:picMk id="5" creationId="{F6777FF5-5FD7-012B-F13C-B4A567E104CF}"/>
          </ac:picMkLst>
        </pc:picChg>
        <pc:picChg chg="add mod">
          <ac:chgData name="Eirik Eriksen Heen" userId="3e804305-1c07-417a-9ea8-d913585be88f" providerId="ADAL" clId="{1A8AB375-2C17-4B69-9219-6D6459D5CFE1}" dt="2026-09-24T22:11:42.763" v="414" actId="14100"/>
          <ac:picMkLst>
            <pc:docMk/>
            <pc:sldMk cId="683700532" sldId="4805"/>
            <ac:picMk id="7" creationId="{5060708C-210F-8337-277D-AD02631C35F1}"/>
          </ac:picMkLst>
        </pc:picChg>
      </pc:sldChg>
      <pc:sldChg chg="addSp new del mod">
        <pc:chgData name="Eirik Eriksen Heen" userId="3e804305-1c07-417a-9ea8-d913585be88f" providerId="ADAL" clId="{1A8AB375-2C17-4B69-9219-6D6459D5CFE1}" dt="2026-09-24T20:22:01.214" v="278" actId="47"/>
        <pc:sldMkLst>
          <pc:docMk/>
          <pc:sldMk cId="4027322615" sldId="4806"/>
        </pc:sldMkLst>
        <pc:picChg chg="add">
          <ac:chgData name="Eirik Eriksen Heen" userId="3e804305-1c07-417a-9ea8-d913585be88f" providerId="ADAL" clId="{1A8AB375-2C17-4B69-9219-6D6459D5CFE1}" dt="2026-09-24T20:21:41.668" v="275" actId="22"/>
          <ac:picMkLst>
            <pc:docMk/>
            <pc:sldMk cId="4027322615" sldId="4806"/>
            <ac:picMk id="3" creationId="{00347FBB-6C81-363C-561C-281B78741ADE}"/>
          </ac:picMkLst>
        </pc:picChg>
      </pc:sldChg>
      <pc:sldChg chg="addSp new mod">
        <pc:chgData name="Eirik Eriksen Heen" userId="3e804305-1c07-417a-9ea8-d913585be88f" providerId="ADAL" clId="{1A8AB375-2C17-4B69-9219-6D6459D5CFE1}" dt="2026-09-24T20:21:57.035" v="277" actId="22"/>
        <pc:sldMkLst>
          <pc:docMk/>
          <pc:sldMk cId="3849553263" sldId="4807"/>
        </pc:sldMkLst>
        <pc:picChg chg="add">
          <ac:chgData name="Eirik Eriksen Heen" userId="3e804305-1c07-417a-9ea8-d913585be88f" providerId="ADAL" clId="{1A8AB375-2C17-4B69-9219-6D6459D5CFE1}" dt="2026-09-24T20:21:57.035" v="277" actId="22"/>
          <ac:picMkLst>
            <pc:docMk/>
            <pc:sldMk cId="3849553263" sldId="4807"/>
            <ac:picMk id="3" creationId="{98C7CDF0-A95D-838A-96E1-468FACE74D51}"/>
          </ac:picMkLst>
        </pc:picChg>
      </pc:sldChg>
      <pc:sldChg chg="addSp modSp new mod ord">
        <pc:chgData name="Eirik Eriksen Heen" userId="3e804305-1c07-417a-9ea8-d913585be88f" providerId="ADAL" clId="{1A8AB375-2C17-4B69-9219-6D6459D5CFE1}" dt="2026-09-25T03:59:02.432" v="533"/>
        <pc:sldMkLst>
          <pc:docMk/>
          <pc:sldMk cId="925395480" sldId="4808"/>
        </pc:sldMkLst>
        <pc:spChg chg="add mod">
          <ac:chgData name="Eirik Eriksen Heen" userId="3e804305-1c07-417a-9ea8-d913585be88f" providerId="ADAL" clId="{1A8AB375-2C17-4B69-9219-6D6459D5CFE1}" dt="2026-09-24T22:10:58.801" v="410" actId="1076"/>
          <ac:spMkLst>
            <pc:docMk/>
            <pc:sldMk cId="925395480" sldId="4808"/>
            <ac:spMk id="4" creationId="{9FEBE98B-8295-54E2-3B1A-6C953330C62E}"/>
          </ac:spMkLst>
        </pc:spChg>
        <pc:picChg chg="add mod">
          <ac:chgData name="Eirik Eriksen Heen" userId="3e804305-1c07-417a-9ea8-d913585be88f" providerId="ADAL" clId="{1A8AB375-2C17-4B69-9219-6D6459D5CFE1}" dt="2026-09-24T20:38:11.550" v="294" actId="14100"/>
          <ac:picMkLst>
            <pc:docMk/>
            <pc:sldMk cId="925395480" sldId="4808"/>
            <ac:picMk id="3" creationId="{90E9A1F2-D1C4-196C-A5B5-351512999F22}"/>
          </ac:picMkLst>
        </pc:picChg>
      </pc:sldChg>
      <pc:sldChg chg="addSp delSp modSp add mod">
        <pc:chgData name="Eirik Eriksen Heen" userId="3e804305-1c07-417a-9ea8-d913585be88f" providerId="ADAL" clId="{1A8AB375-2C17-4B69-9219-6D6459D5CFE1}" dt="2026-09-25T04:29:10.204" v="541" actId="21"/>
        <pc:sldMkLst>
          <pc:docMk/>
          <pc:sldMk cId="0" sldId="4809"/>
        </pc:sldMkLst>
        <pc:spChg chg="mod">
          <ac:chgData name="Eirik Eriksen Heen" userId="3e804305-1c07-417a-9ea8-d913585be88f" providerId="ADAL" clId="{1A8AB375-2C17-4B69-9219-6D6459D5CFE1}" dt="2026-09-24T21:03:12.694" v="315" actId="14100"/>
          <ac:spMkLst>
            <pc:docMk/>
            <pc:sldMk cId="0" sldId="4809"/>
            <ac:spMk id="12" creationId="{00000000-0000-0000-0000-000000000000}"/>
          </ac:spMkLst>
        </pc:spChg>
        <pc:spChg chg="mod">
          <ac:chgData name="Eirik Eriksen Heen" userId="3e804305-1c07-417a-9ea8-d913585be88f" providerId="ADAL" clId="{1A8AB375-2C17-4B69-9219-6D6459D5CFE1}" dt="2026-09-24T21:03:36.544" v="317" actId="1076"/>
          <ac:spMkLst>
            <pc:docMk/>
            <pc:sldMk cId="0" sldId="4809"/>
            <ac:spMk id="16" creationId="{00000000-0000-0000-0000-000000000000}"/>
          </ac:spMkLst>
        </pc:spChg>
        <pc:spChg chg="add del">
          <ac:chgData name="Eirik Eriksen Heen" userId="3e804305-1c07-417a-9ea8-d913585be88f" providerId="ADAL" clId="{1A8AB375-2C17-4B69-9219-6D6459D5CFE1}" dt="2026-09-25T04:29:10.204" v="541" actId="21"/>
          <ac:spMkLst>
            <pc:docMk/>
            <pc:sldMk cId="0" sldId="4809"/>
            <ac:spMk id="23" creationId="{1AA25776-C00C-7F53-F9E4-8693F64B1594}"/>
          </ac:spMkLst>
        </pc:spChg>
      </pc:sldChg>
      <pc:sldChg chg="addSp modSp add mod">
        <pc:chgData name="Eirik Eriksen Heen" userId="3e804305-1c07-417a-9ea8-d913585be88f" providerId="ADAL" clId="{1A8AB375-2C17-4B69-9219-6D6459D5CFE1}" dt="2026-09-25T04:29:13.517" v="542" actId="22"/>
        <pc:sldMkLst>
          <pc:docMk/>
          <pc:sldMk cId="0" sldId="4810"/>
        </pc:sldMkLst>
        <pc:spChg chg="mod">
          <ac:chgData name="Eirik Eriksen Heen" userId="3e804305-1c07-417a-9ea8-d913585be88f" providerId="ADAL" clId="{1A8AB375-2C17-4B69-9219-6D6459D5CFE1}" dt="2026-09-24T21:08:56.720" v="335" actId="14100"/>
          <ac:spMkLst>
            <pc:docMk/>
            <pc:sldMk cId="0" sldId="4810"/>
            <ac:spMk id="17" creationId="{00000000-0000-0000-0000-000000000000}"/>
          </ac:spMkLst>
        </pc:spChg>
        <pc:spChg chg="add">
          <ac:chgData name="Eirik Eriksen Heen" userId="3e804305-1c07-417a-9ea8-d913585be88f" providerId="ADAL" clId="{1A8AB375-2C17-4B69-9219-6D6459D5CFE1}" dt="2026-09-25T04:29:13.517" v="542" actId="22"/>
          <ac:spMkLst>
            <pc:docMk/>
            <pc:sldMk cId="0" sldId="4810"/>
            <ac:spMk id="22" creationId="{A3910E89-9333-8E40-46A8-A99CACBE3E4F}"/>
          </ac:spMkLst>
        </pc:spChg>
      </pc:sldChg>
      <pc:sldChg chg="addSp delSp modSp new mod setBg">
        <pc:chgData name="Eirik Eriksen Heen" userId="3e804305-1c07-417a-9ea8-d913585be88f" providerId="ADAL" clId="{1A8AB375-2C17-4B69-9219-6D6459D5CFE1}" dt="2026-09-25T04:40:51.833" v="582" actId="166"/>
        <pc:sldMkLst>
          <pc:docMk/>
          <pc:sldMk cId="2954826054" sldId="4811"/>
        </pc:sldMkLst>
        <pc:spChg chg="add del">
          <ac:chgData name="Eirik Eriksen Heen" userId="3e804305-1c07-417a-9ea8-d913585be88f" providerId="ADAL" clId="{1A8AB375-2C17-4B69-9219-6D6459D5CFE1}" dt="2026-09-24T21:06:43.569" v="320" actId="22"/>
          <ac:spMkLst>
            <pc:docMk/>
            <pc:sldMk cId="2954826054" sldId="4811"/>
            <ac:spMk id="3" creationId="{3784A2B6-A411-53D9-9D4B-3E1EFFF3170F}"/>
          </ac:spMkLst>
        </pc:spChg>
        <pc:spChg chg="add">
          <ac:chgData name="Eirik Eriksen Heen" userId="3e804305-1c07-417a-9ea8-d913585be88f" providerId="ADAL" clId="{1A8AB375-2C17-4B69-9219-6D6459D5CFE1}" dt="2026-09-24T21:07:31.777" v="333" actId="26606"/>
          <ac:spMkLst>
            <pc:docMk/>
            <pc:sldMk cId="2954826054" sldId="4811"/>
            <ac:spMk id="12" creationId="{A9F529C3-C941-49FD-8C67-82F134F64BDB}"/>
          </ac:spMkLst>
        </pc:spChg>
        <pc:spChg chg="add">
          <ac:chgData name="Eirik Eriksen Heen" userId="3e804305-1c07-417a-9ea8-d913585be88f" providerId="ADAL" clId="{1A8AB375-2C17-4B69-9219-6D6459D5CFE1}" dt="2026-09-24T21:07:31.777" v="333" actId="26606"/>
          <ac:spMkLst>
            <pc:docMk/>
            <pc:sldMk cId="2954826054" sldId="4811"/>
            <ac:spMk id="14" creationId="{20586029-32A0-47E5-9AEC-AE3ABA6B94D0}"/>
          </ac:spMkLst>
        </pc:spChg>
        <pc:picChg chg="add mod ord">
          <ac:chgData name="Eirik Eriksen Heen" userId="3e804305-1c07-417a-9ea8-d913585be88f" providerId="ADAL" clId="{1A8AB375-2C17-4B69-9219-6D6459D5CFE1}" dt="2026-09-25T04:40:51.833" v="582" actId="166"/>
          <ac:picMkLst>
            <pc:docMk/>
            <pc:sldMk cId="2954826054" sldId="4811"/>
            <ac:picMk id="5" creationId="{D4323394-3C2A-65E5-60CC-7952EA5536E1}"/>
          </ac:picMkLst>
        </pc:picChg>
        <pc:picChg chg="add mod ord">
          <ac:chgData name="Eirik Eriksen Heen" userId="3e804305-1c07-417a-9ea8-d913585be88f" providerId="ADAL" clId="{1A8AB375-2C17-4B69-9219-6D6459D5CFE1}" dt="2026-09-24T21:07:31.777" v="333" actId="26606"/>
          <ac:picMkLst>
            <pc:docMk/>
            <pc:sldMk cId="2954826054" sldId="4811"/>
            <ac:picMk id="7" creationId="{BF7E5A0E-E117-CCD4-AD61-6304FD8BBD4A}"/>
          </ac:picMkLst>
        </pc:picChg>
        <pc:cxnChg chg="add">
          <ac:chgData name="Eirik Eriksen Heen" userId="3e804305-1c07-417a-9ea8-d913585be88f" providerId="ADAL" clId="{1A8AB375-2C17-4B69-9219-6D6459D5CFE1}" dt="2026-09-24T21:07:31.777" v="333" actId="26606"/>
          <ac:cxnSpMkLst>
            <pc:docMk/>
            <pc:sldMk cId="2954826054" sldId="4811"/>
            <ac:cxnSpMk id="16" creationId="{8C730EAB-A532-4295-A302-FB4B90DB9F5E}"/>
          </ac:cxnSpMkLst>
        </pc:cxnChg>
      </pc:sldChg>
      <pc:sldChg chg="new del">
        <pc:chgData name="Eirik Eriksen Heen" userId="3e804305-1c07-417a-9ea8-d913585be88f" providerId="ADAL" clId="{1A8AB375-2C17-4B69-9219-6D6459D5CFE1}" dt="2026-09-25T03:50:34.601" v="523" actId="2696"/>
        <pc:sldMkLst>
          <pc:docMk/>
          <pc:sldMk cId="1516728642" sldId="4812"/>
        </pc:sldMkLst>
      </pc:sldChg>
      <pc:sldChg chg="modSp add mod setBg">
        <pc:chgData name="Eirik Eriksen Heen" userId="3e804305-1c07-417a-9ea8-d913585be88f" providerId="ADAL" clId="{1A8AB375-2C17-4B69-9219-6D6459D5CFE1}" dt="2026-09-25T03:37:33.326" v="509" actId="20577"/>
        <pc:sldMkLst>
          <pc:docMk/>
          <pc:sldMk cId="0" sldId="4813"/>
        </pc:sldMkLst>
        <pc:spChg chg="mod">
          <ac:chgData name="Eirik Eriksen Heen" userId="3e804305-1c07-417a-9ea8-d913585be88f" providerId="ADAL" clId="{1A8AB375-2C17-4B69-9219-6D6459D5CFE1}" dt="2026-09-25T03:37:22.645" v="507" actId="20577"/>
          <ac:spMkLst>
            <pc:docMk/>
            <pc:sldMk cId="0" sldId="4813"/>
            <ac:spMk id="7" creationId="{00000000-0000-0000-0000-000000000000}"/>
          </ac:spMkLst>
        </pc:spChg>
        <pc:spChg chg="mod">
          <ac:chgData name="Eirik Eriksen Heen" userId="3e804305-1c07-417a-9ea8-d913585be88f" providerId="ADAL" clId="{1A8AB375-2C17-4B69-9219-6D6459D5CFE1}" dt="2026-09-25T03:37:33.326" v="509" actId="20577"/>
          <ac:spMkLst>
            <pc:docMk/>
            <pc:sldMk cId="0" sldId="4813"/>
            <ac:spMk id="10" creationId="{00000000-0000-0000-0000-000000000000}"/>
          </ac:spMkLst>
        </pc:spChg>
      </pc:sldChg>
      <pc:sldChg chg="addSp modSp new mod">
        <pc:chgData name="Eirik Eriksen Heen" userId="3e804305-1c07-417a-9ea8-d913585be88f" providerId="ADAL" clId="{1A8AB375-2C17-4B69-9219-6D6459D5CFE1}" dt="2026-09-25T04:35:52.541" v="581" actId="1076"/>
        <pc:sldMkLst>
          <pc:docMk/>
          <pc:sldMk cId="484437184" sldId="4814"/>
        </pc:sldMkLst>
        <pc:graphicFrameChg chg="add mod modGraphic">
          <ac:chgData name="Eirik Eriksen Heen" userId="3e804305-1c07-417a-9ea8-d913585be88f" providerId="ADAL" clId="{1A8AB375-2C17-4B69-9219-6D6459D5CFE1}" dt="2026-09-25T04:35:52.541" v="581" actId="1076"/>
          <ac:graphicFrameMkLst>
            <pc:docMk/>
            <pc:sldMk cId="484437184" sldId="4814"/>
            <ac:graphicFrameMk id="2" creationId="{5E35182D-DB71-400D-5C65-8DABE63767E7}"/>
          </ac:graphicFrameMkLst>
        </pc:graphicFrameChg>
        <pc:picChg chg="add mod ord">
          <ac:chgData name="Eirik Eriksen Heen" userId="3e804305-1c07-417a-9ea8-d913585be88f" providerId="ADAL" clId="{1A8AB375-2C17-4B69-9219-6D6459D5CFE1}" dt="2026-09-25T04:35:52.541" v="581" actId="1076"/>
          <ac:picMkLst>
            <pc:docMk/>
            <pc:sldMk cId="484437184" sldId="4814"/>
            <ac:picMk id="4" creationId="{2D120880-DD6F-F686-AA02-C739D4281A99}"/>
          </ac:picMkLst>
        </pc:picChg>
      </pc:sldChg>
      <pc:sldMasterChg chg="del delSldLayout">
        <pc:chgData name="Eirik Eriksen Heen" userId="3e804305-1c07-417a-9ea8-d913585be88f" providerId="ADAL" clId="{1A8AB375-2C17-4B69-9219-6D6459D5CFE1}" dt="2026-09-25T03:45:14.962" v="510" actId="47"/>
        <pc:sldMasterMkLst>
          <pc:docMk/>
          <pc:sldMasterMk cId="2542167179" sldId="2147483652"/>
        </pc:sldMasterMkLst>
        <pc:sldLayoutChg chg="del">
          <pc:chgData name="Eirik Eriksen Heen" userId="3e804305-1c07-417a-9ea8-d913585be88f" providerId="ADAL" clId="{1A8AB375-2C17-4B69-9219-6D6459D5CFE1}" dt="2026-09-25T03:45:14.962" v="510" actId="47"/>
          <pc:sldLayoutMkLst>
            <pc:docMk/>
            <pc:sldMasterMk cId="2542167179" sldId="2147483652"/>
            <pc:sldLayoutMk cId="333508678" sldId="2147483653"/>
          </pc:sldLayoutMkLst>
        </pc:sldLayoutChg>
        <pc:sldLayoutChg chg="del">
          <pc:chgData name="Eirik Eriksen Heen" userId="3e804305-1c07-417a-9ea8-d913585be88f" providerId="ADAL" clId="{1A8AB375-2C17-4B69-9219-6D6459D5CFE1}" dt="2026-09-25T03:45:14.962" v="510" actId="47"/>
          <pc:sldLayoutMkLst>
            <pc:docMk/>
            <pc:sldMasterMk cId="2542167179" sldId="2147483652"/>
            <pc:sldLayoutMk cId="2959589028" sldId="2147483654"/>
          </pc:sldLayoutMkLst>
        </pc:sldLayoutChg>
        <pc:sldLayoutChg chg="del">
          <pc:chgData name="Eirik Eriksen Heen" userId="3e804305-1c07-417a-9ea8-d913585be88f" providerId="ADAL" clId="{1A8AB375-2C17-4B69-9219-6D6459D5CFE1}" dt="2026-09-25T03:45:14.962" v="510" actId="47"/>
          <pc:sldLayoutMkLst>
            <pc:docMk/>
            <pc:sldMasterMk cId="2542167179" sldId="2147483652"/>
            <pc:sldLayoutMk cId="3501713926" sldId="2147483655"/>
          </pc:sldLayoutMkLst>
        </pc:sldLayoutChg>
        <pc:sldLayoutChg chg="del">
          <pc:chgData name="Eirik Eriksen Heen" userId="3e804305-1c07-417a-9ea8-d913585be88f" providerId="ADAL" clId="{1A8AB375-2C17-4B69-9219-6D6459D5CFE1}" dt="2026-09-25T03:45:14.962" v="510" actId="47"/>
          <pc:sldLayoutMkLst>
            <pc:docMk/>
            <pc:sldMasterMk cId="2542167179" sldId="2147483652"/>
            <pc:sldLayoutMk cId="3459028622" sldId="2147483656"/>
          </pc:sldLayoutMkLst>
        </pc:sldLayoutChg>
        <pc:sldLayoutChg chg="del">
          <pc:chgData name="Eirik Eriksen Heen" userId="3e804305-1c07-417a-9ea8-d913585be88f" providerId="ADAL" clId="{1A8AB375-2C17-4B69-9219-6D6459D5CFE1}" dt="2026-09-25T03:45:14.962" v="510" actId="47"/>
          <pc:sldLayoutMkLst>
            <pc:docMk/>
            <pc:sldMasterMk cId="2542167179" sldId="2147483652"/>
            <pc:sldLayoutMk cId="3941589655" sldId="2147483657"/>
          </pc:sldLayoutMkLst>
        </pc:sldLayoutChg>
      </pc:sldMasterChg>
    </pc:docChg>
  </pc:docChgLst>
  <pc:docChgLst>
    <pc:chgData name="Eirik Eriksen Heen" userId="3e804305-1c07-417a-9ea8-d913585be88f" providerId="ADAL" clId="{86A7CD6A-BADF-46B5-A0EB-3EAA83991659}"/>
    <pc:docChg chg="undo redo custSel addSld delSld modSld sldOrd">
      <pc:chgData name="Eirik Eriksen Heen" userId="3e804305-1c07-417a-9ea8-d913585be88f" providerId="ADAL" clId="{86A7CD6A-BADF-46B5-A0EB-3EAA83991659}" dt="2026-09-24T12:54:20.630" v="762" actId="1076"/>
      <pc:docMkLst>
        <pc:docMk/>
      </pc:docMkLst>
      <pc:sldChg chg="add del">
        <pc:chgData name="Eirik Eriksen Heen" userId="3e804305-1c07-417a-9ea8-d913585be88f" providerId="ADAL" clId="{86A7CD6A-BADF-46B5-A0EB-3EAA83991659}" dt="2026-09-22T06:36:10.292" v="2" actId="47"/>
        <pc:sldMkLst>
          <pc:docMk/>
          <pc:sldMk cId="0" sldId="256"/>
        </pc:sldMkLst>
      </pc:sldChg>
      <pc:sldChg chg="modSp add del mod">
        <pc:chgData name="Eirik Eriksen Heen" userId="3e804305-1c07-417a-9ea8-d913585be88f" providerId="ADAL" clId="{86A7CD6A-BADF-46B5-A0EB-3EAA83991659}" dt="2026-09-22T08:44:36.820" v="551" actId="27636"/>
        <pc:sldMkLst>
          <pc:docMk/>
          <pc:sldMk cId="0" sldId="258"/>
        </pc:sldMkLst>
        <pc:spChg chg="mod">
          <ac:chgData name="Eirik Eriksen Heen" userId="3e804305-1c07-417a-9ea8-d913585be88f" providerId="ADAL" clId="{86A7CD6A-BADF-46B5-A0EB-3EAA83991659}" dt="2026-09-22T08:44:36.820" v="551" actId="27636"/>
          <ac:spMkLst>
            <pc:docMk/>
            <pc:sldMk cId="0" sldId="258"/>
            <ac:spMk id="19" creationId="{00000000-0000-0000-0000-000000000000}"/>
          </ac:spMkLst>
        </pc:spChg>
      </pc:sldChg>
      <pc:sldChg chg="modSp mod">
        <pc:chgData name="Eirik Eriksen Heen" userId="3e804305-1c07-417a-9ea8-d913585be88f" providerId="ADAL" clId="{86A7CD6A-BADF-46B5-A0EB-3EAA83991659}" dt="2026-09-22T07:46:05.774" v="288" actId="20577"/>
        <pc:sldMkLst>
          <pc:docMk/>
          <pc:sldMk cId="0" sldId="280"/>
        </pc:sldMkLst>
        <pc:spChg chg="mod">
          <ac:chgData name="Eirik Eriksen Heen" userId="3e804305-1c07-417a-9ea8-d913585be88f" providerId="ADAL" clId="{86A7CD6A-BADF-46B5-A0EB-3EAA83991659}" dt="2026-09-22T07:45:27.512" v="274" actId="114"/>
          <ac:spMkLst>
            <pc:docMk/>
            <pc:sldMk cId="0" sldId="280"/>
            <ac:spMk id="6" creationId="{00000000-0000-0000-0000-000000000000}"/>
          </ac:spMkLst>
        </pc:spChg>
        <pc:spChg chg="mod">
          <ac:chgData name="Eirik Eriksen Heen" userId="3e804305-1c07-417a-9ea8-d913585be88f" providerId="ADAL" clId="{86A7CD6A-BADF-46B5-A0EB-3EAA83991659}" dt="2026-09-22T07:45:54.756" v="279" actId="20577"/>
          <ac:spMkLst>
            <pc:docMk/>
            <pc:sldMk cId="0" sldId="280"/>
            <ac:spMk id="9" creationId="{00000000-0000-0000-0000-000000000000}"/>
          </ac:spMkLst>
        </pc:spChg>
        <pc:spChg chg="mod">
          <ac:chgData name="Eirik Eriksen Heen" userId="3e804305-1c07-417a-9ea8-d913585be88f" providerId="ADAL" clId="{86A7CD6A-BADF-46B5-A0EB-3EAA83991659}" dt="2026-09-22T07:46:05.774" v="288" actId="20577"/>
          <ac:spMkLst>
            <pc:docMk/>
            <pc:sldMk cId="0" sldId="280"/>
            <ac:spMk id="12" creationId="{00000000-0000-0000-0000-000000000000}"/>
          </ac:spMkLst>
        </pc:spChg>
      </pc:sldChg>
      <pc:sldChg chg="modSp mod">
        <pc:chgData name="Eirik Eriksen Heen" userId="3e804305-1c07-417a-9ea8-d913585be88f" providerId="ADAL" clId="{86A7CD6A-BADF-46B5-A0EB-3EAA83991659}" dt="2026-09-22T07:46:21.258" v="290" actId="114"/>
        <pc:sldMkLst>
          <pc:docMk/>
          <pc:sldMk cId="0" sldId="281"/>
        </pc:sldMkLst>
        <pc:spChg chg="mod">
          <ac:chgData name="Eirik Eriksen Heen" userId="3e804305-1c07-417a-9ea8-d913585be88f" providerId="ADAL" clId="{86A7CD6A-BADF-46B5-A0EB-3EAA83991659}" dt="2026-09-22T07:46:17.398" v="289" actId="114"/>
          <ac:spMkLst>
            <pc:docMk/>
            <pc:sldMk cId="0" sldId="281"/>
            <ac:spMk id="6" creationId="{00000000-0000-0000-0000-000000000000}"/>
          </ac:spMkLst>
        </pc:spChg>
        <pc:spChg chg="mod">
          <ac:chgData name="Eirik Eriksen Heen" userId="3e804305-1c07-417a-9ea8-d913585be88f" providerId="ADAL" clId="{86A7CD6A-BADF-46B5-A0EB-3EAA83991659}" dt="2026-09-22T07:46:21.258" v="290" actId="114"/>
          <ac:spMkLst>
            <pc:docMk/>
            <pc:sldMk cId="0" sldId="281"/>
            <ac:spMk id="8" creationId="{00000000-0000-0000-0000-000000000000}"/>
          </ac:spMkLst>
        </pc:spChg>
      </pc:sldChg>
      <pc:sldChg chg="addSp delSp modSp mod">
        <pc:chgData name="Eirik Eriksen Heen" userId="3e804305-1c07-417a-9ea8-d913585be88f" providerId="ADAL" clId="{86A7CD6A-BADF-46B5-A0EB-3EAA83991659}" dt="2026-09-22T07:47:29.310" v="303" actId="20577"/>
        <pc:sldMkLst>
          <pc:docMk/>
          <pc:sldMk cId="0" sldId="282"/>
        </pc:sldMkLst>
        <pc:spChg chg="add mod">
          <ac:chgData name="Eirik Eriksen Heen" userId="3e804305-1c07-417a-9ea8-d913585be88f" providerId="ADAL" clId="{86A7CD6A-BADF-46B5-A0EB-3EAA83991659}" dt="2026-09-22T07:47:29.310" v="303" actId="20577"/>
          <ac:spMkLst>
            <pc:docMk/>
            <pc:sldMk cId="0" sldId="282"/>
            <ac:spMk id="17" creationId="{BDC45C08-6A61-A10B-F2BD-56E776FD3B36}"/>
          </ac:spMkLst>
        </pc:spChg>
      </pc:sldChg>
      <pc:sldChg chg="delSp modSp mod">
        <pc:chgData name="Eirik Eriksen Heen" userId="3e804305-1c07-417a-9ea8-d913585be88f" providerId="ADAL" clId="{86A7CD6A-BADF-46B5-A0EB-3EAA83991659}" dt="2026-09-22T07:50:37.366" v="307" actId="207"/>
        <pc:sldMkLst>
          <pc:docMk/>
          <pc:sldMk cId="0" sldId="283"/>
        </pc:sldMkLst>
        <pc:spChg chg="mod">
          <ac:chgData name="Eirik Eriksen Heen" userId="3e804305-1c07-417a-9ea8-d913585be88f" providerId="ADAL" clId="{86A7CD6A-BADF-46B5-A0EB-3EAA83991659}" dt="2026-09-22T07:50:37.366" v="307" actId="207"/>
          <ac:spMkLst>
            <pc:docMk/>
            <pc:sldMk cId="0" sldId="283"/>
            <ac:spMk id="7" creationId="{00000000-0000-0000-0000-000000000000}"/>
          </ac:spMkLst>
        </pc:spChg>
      </pc:sldChg>
      <pc:sldChg chg="modSp mod">
        <pc:chgData name="Eirik Eriksen Heen" userId="3e804305-1c07-417a-9ea8-d913585be88f" providerId="ADAL" clId="{86A7CD6A-BADF-46B5-A0EB-3EAA83991659}" dt="2026-09-22T09:34:50.863" v="692" actId="16959"/>
        <pc:sldMkLst>
          <pc:docMk/>
          <pc:sldMk cId="0" sldId="285"/>
        </pc:sldMkLst>
        <pc:spChg chg="mod">
          <ac:chgData name="Eirik Eriksen Heen" userId="3e804305-1c07-417a-9ea8-d913585be88f" providerId="ADAL" clId="{86A7CD6A-BADF-46B5-A0EB-3EAA83991659}" dt="2026-09-22T09:33:05.404" v="673" actId="114"/>
          <ac:spMkLst>
            <pc:docMk/>
            <pc:sldMk cId="0" sldId="285"/>
            <ac:spMk id="7" creationId="{00000000-0000-0000-0000-000000000000}"/>
          </ac:spMkLst>
        </pc:spChg>
        <pc:spChg chg="mod">
          <ac:chgData name="Eirik Eriksen Heen" userId="3e804305-1c07-417a-9ea8-d913585be88f" providerId="ADAL" clId="{86A7CD6A-BADF-46B5-A0EB-3EAA83991659}" dt="2026-09-22T09:34:50.863" v="692" actId="16959"/>
          <ac:spMkLst>
            <pc:docMk/>
            <pc:sldMk cId="0" sldId="285"/>
            <ac:spMk id="13" creationId="{00000000-0000-0000-0000-000000000000}"/>
          </ac:spMkLst>
        </pc:spChg>
      </pc:sldChg>
      <pc:sldChg chg="addSp modSp mod">
        <pc:chgData name="Eirik Eriksen Heen" userId="3e804305-1c07-417a-9ea8-d913585be88f" providerId="ADAL" clId="{86A7CD6A-BADF-46B5-A0EB-3EAA83991659}" dt="2026-09-22T08:17:06.214" v="348" actId="1076"/>
        <pc:sldMkLst>
          <pc:docMk/>
          <pc:sldMk cId="0" sldId="287"/>
        </pc:sldMkLst>
        <pc:spChg chg="mod">
          <ac:chgData name="Eirik Eriksen Heen" userId="3e804305-1c07-417a-9ea8-d913585be88f" providerId="ADAL" clId="{86A7CD6A-BADF-46B5-A0EB-3EAA83991659}" dt="2026-09-22T08:15:08.473" v="341" actId="27636"/>
          <ac:spMkLst>
            <pc:docMk/>
            <pc:sldMk cId="0" sldId="287"/>
            <ac:spMk id="7" creationId="{00000000-0000-0000-0000-000000000000}"/>
          </ac:spMkLst>
        </pc:spChg>
        <pc:spChg chg="add mod">
          <ac:chgData name="Eirik Eriksen Heen" userId="3e804305-1c07-417a-9ea8-d913585be88f" providerId="ADAL" clId="{86A7CD6A-BADF-46B5-A0EB-3EAA83991659}" dt="2026-09-22T08:17:06.214" v="348" actId="1076"/>
          <ac:spMkLst>
            <pc:docMk/>
            <pc:sldMk cId="0" sldId="287"/>
            <ac:spMk id="11" creationId="{11A9DCC7-B948-0ABB-24F7-14077DCE1385}"/>
          </ac:spMkLst>
        </pc:spChg>
      </pc:sldChg>
      <pc:sldChg chg="modSp mod">
        <pc:chgData name="Eirik Eriksen Heen" userId="3e804305-1c07-417a-9ea8-d913585be88f" providerId="ADAL" clId="{86A7CD6A-BADF-46B5-A0EB-3EAA83991659}" dt="2026-09-22T09:34:23.611" v="689" actId="20577"/>
        <pc:sldMkLst>
          <pc:docMk/>
          <pc:sldMk cId="0" sldId="288"/>
        </pc:sldMkLst>
        <pc:spChg chg="mod">
          <ac:chgData name="Eirik Eriksen Heen" userId="3e804305-1c07-417a-9ea8-d913585be88f" providerId="ADAL" clId="{86A7CD6A-BADF-46B5-A0EB-3EAA83991659}" dt="2026-09-22T09:34:23.611" v="689" actId="20577"/>
          <ac:spMkLst>
            <pc:docMk/>
            <pc:sldMk cId="0" sldId="288"/>
            <ac:spMk id="9" creationId="{00000000-0000-0000-0000-000000000000}"/>
          </ac:spMkLst>
        </pc:spChg>
      </pc:sldChg>
      <pc:sldChg chg="ord">
        <pc:chgData name="Eirik Eriksen Heen" userId="3e804305-1c07-417a-9ea8-d913585be88f" providerId="ADAL" clId="{86A7CD6A-BADF-46B5-A0EB-3EAA83991659}" dt="2026-09-22T09:26:16.718" v="667" actId="20578"/>
        <pc:sldMkLst>
          <pc:docMk/>
          <pc:sldMk cId="0" sldId="290"/>
        </pc:sldMkLst>
      </pc:sldChg>
      <pc:sldChg chg="addSp delSp modSp new mod">
        <pc:chgData name="Eirik Eriksen Heen" userId="3e804305-1c07-417a-9ea8-d913585be88f" providerId="ADAL" clId="{86A7CD6A-BADF-46B5-A0EB-3EAA83991659}" dt="2026-09-24T12:51:42.491" v="743" actId="1076"/>
        <pc:sldMkLst>
          <pc:docMk/>
          <pc:sldMk cId="2054480680" sldId="4790"/>
        </pc:sldMkLst>
        <pc:spChg chg="add mod">
          <ac:chgData name="Eirik Eriksen Heen" userId="3e804305-1c07-417a-9ea8-d913585be88f" providerId="ADAL" clId="{86A7CD6A-BADF-46B5-A0EB-3EAA83991659}" dt="2026-09-22T08:26:33.711" v="394" actId="20577"/>
          <ac:spMkLst>
            <pc:docMk/>
            <pc:sldMk cId="2054480680" sldId="4790"/>
            <ac:spMk id="5" creationId="{F988A268-A3BF-0D3B-FC1F-1A111DFD0ED7}"/>
          </ac:spMkLst>
        </pc:spChg>
        <pc:spChg chg="add mod">
          <ac:chgData name="Eirik Eriksen Heen" userId="3e804305-1c07-417a-9ea8-d913585be88f" providerId="ADAL" clId="{86A7CD6A-BADF-46B5-A0EB-3EAA83991659}" dt="2026-09-22T08:32:33.004" v="547" actId="1076"/>
          <ac:spMkLst>
            <pc:docMk/>
            <pc:sldMk cId="2054480680" sldId="4790"/>
            <ac:spMk id="7" creationId="{558B9A19-E2C3-0431-90E6-DB353620524E}"/>
          </ac:spMkLst>
        </pc:spChg>
        <pc:spChg chg="add mod">
          <ac:chgData name="Eirik Eriksen Heen" userId="3e804305-1c07-417a-9ea8-d913585be88f" providerId="ADAL" clId="{86A7CD6A-BADF-46B5-A0EB-3EAA83991659}" dt="2026-09-24T12:51:42.491" v="743" actId="1076"/>
          <ac:spMkLst>
            <pc:docMk/>
            <pc:sldMk cId="2054480680" sldId="4790"/>
            <ac:spMk id="19" creationId="{C6E78B09-E0F2-DC55-29E9-DBFBBDA5BDD3}"/>
          </ac:spMkLst>
        </pc:spChg>
        <pc:spChg chg="add mod">
          <ac:chgData name="Eirik Eriksen Heen" userId="3e804305-1c07-417a-9ea8-d913585be88f" providerId="ADAL" clId="{86A7CD6A-BADF-46B5-A0EB-3EAA83991659}" dt="2026-09-24T12:51:40.206" v="742" actId="1076"/>
          <ac:spMkLst>
            <pc:docMk/>
            <pc:sldMk cId="2054480680" sldId="4790"/>
            <ac:spMk id="21" creationId="{147CF1C5-92EE-B327-5559-9C8D0CCD452D}"/>
          </ac:spMkLst>
        </pc:spChg>
        <pc:spChg chg="add mod">
          <ac:chgData name="Eirik Eriksen Heen" userId="3e804305-1c07-417a-9ea8-d913585be88f" providerId="ADAL" clId="{86A7CD6A-BADF-46B5-A0EB-3EAA83991659}" dt="2026-09-22T08:32:30.598" v="546" actId="1076"/>
          <ac:spMkLst>
            <pc:docMk/>
            <pc:sldMk cId="2054480680" sldId="4790"/>
            <ac:spMk id="23" creationId="{25A623F5-E3DC-5F31-DD8B-C5D9D22BC8A9}"/>
          </ac:spMkLst>
        </pc:spChg>
        <pc:spChg chg="add mod">
          <ac:chgData name="Eirik Eriksen Heen" userId="3e804305-1c07-417a-9ea8-d913585be88f" providerId="ADAL" clId="{86A7CD6A-BADF-46B5-A0EB-3EAA83991659}" dt="2026-09-22T08:32:57.766" v="548" actId="1076"/>
          <ac:spMkLst>
            <pc:docMk/>
            <pc:sldMk cId="2054480680" sldId="4790"/>
            <ac:spMk id="25" creationId="{DA7C99A1-9F7E-C757-F9E0-059D039E3AD2}"/>
          </ac:spMkLst>
        </pc:spChg>
        <pc:spChg chg="add mod">
          <ac:chgData name="Eirik Eriksen Heen" userId="3e804305-1c07-417a-9ea8-d913585be88f" providerId="ADAL" clId="{86A7CD6A-BADF-46B5-A0EB-3EAA83991659}" dt="2026-09-22T08:32:22.490" v="544" actId="1076"/>
          <ac:spMkLst>
            <pc:docMk/>
            <pc:sldMk cId="2054480680" sldId="4790"/>
            <ac:spMk id="27" creationId="{34629342-EA0B-9CA6-1215-ED47328E0D93}"/>
          </ac:spMkLst>
        </pc:spChg>
        <pc:picChg chg="add mod modCrop">
          <ac:chgData name="Eirik Eriksen Heen" userId="3e804305-1c07-417a-9ea8-d913585be88f" providerId="ADAL" clId="{86A7CD6A-BADF-46B5-A0EB-3EAA83991659}" dt="2026-09-22T08:32:30.598" v="546" actId="1076"/>
          <ac:picMkLst>
            <pc:docMk/>
            <pc:sldMk cId="2054480680" sldId="4790"/>
            <ac:picMk id="12" creationId="{B1A84C91-987A-61E0-781D-C355C04C841D}"/>
          </ac:picMkLst>
        </pc:picChg>
        <pc:cxnChg chg="add mod">
          <ac:chgData name="Eirik Eriksen Heen" userId="3e804305-1c07-417a-9ea8-d913585be88f" providerId="ADAL" clId="{86A7CD6A-BADF-46B5-A0EB-3EAA83991659}" dt="2026-09-22T08:32:30.598" v="546" actId="1076"/>
          <ac:cxnSpMkLst>
            <pc:docMk/>
            <pc:sldMk cId="2054480680" sldId="4790"/>
            <ac:cxnSpMk id="14" creationId="{93F94010-F7DF-3676-5D96-EA8B6B69E62B}"/>
          </ac:cxnSpMkLst>
        </pc:cxnChg>
        <pc:cxnChg chg="add mod">
          <ac:chgData name="Eirik Eriksen Heen" userId="3e804305-1c07-417a-9ea8-d913585be88f" providerId="ADAL" clId="{86A7CD6A-BADF-46B5-A0EB-3EAA83991659}" dt="2026-09-22T08:32:30.598" v="546" actId="1076"/>
          <ac:cxnSpMkLst>
            <pc:docMk/>
            <pc:sldMk cId="2054480680" sldId="4790"/>
            <ac:cxnSpMk id="15" creationId="{C104FE64-61E3-BA8B-9F45-3B324AE85CF5}"/>
          </ac:cxnSpMkLst>
        </pc:cxnChg>
      </pc:sldChg>
      <pc:sldChg chg="add ord">
        <pc:chgData name="Eirik Eriksen Heen" userId="3e804305-1c07-417a-9ea8-d913585be88f" providerId="ADAL" clId="{86A7CD6A-BADF-46B5-A0EB-3EAA83991659}" dt="2026-09-22T09:27:18.057" v="671"/>
        <pc:sldMkLst>
          <pc:docMk/>
          <pc:sldMk cId="0" sldId="4791"/>
        </pc:sldMkLst>
      </pc:sldChg>
      <pc:sldChg chg="add">
        <pc:chgData name="Eirik Eriksen Heen" userId="3e804305-1c07-417a-9ea8-d913585be88f" providerId="ADAL" clId="{86A7CD6A-BADF-46B5-A0EB-3EAA83991659}" dt="2026-09-22T08:44:36.747" v="550"/>
        <pc:sldMkLst>
          <pc:docMk/>
          <pc:sldMk cId="0" sldId="4792"/>
        </pc:sldMkLst>
      </pc:sldChg>
      <pc:sldChg chg="add">
        <pc:chgData name="Eirik Eriksen Heen" userId="3e804305-1c07-417a-9ea8-d913585be88f" providerId="ADAL" clId="{86A7CD6A-BADF-46B5-A0EB-3EAA83991659}" dt="2026-09-22T08:44:36.747" v="550"/>
        <pc:sldMkLst>
          <pc:docMk/>
          <pc:sldMk cId="0" sldId="4793"/>
        </pc:sldMkLst>
      </pc:sldChg>
      <pc:sldChg chg="add">
        <pc:chgData name="Eirik Eriksen Heen" userId="3e804305-1c07-417a-9ea8-d913585be88f" providerId="ADAL" clId="{86A7CD6A-BADF-46B5-A0EB-3EAA83991659}" dt="2026-09-22T08:44:36.747" v="550"/>
        <pc:sldMkLst>
          <pc:docMk/>
          <pc:sldMk cId="0" sldId="4794"/>
        </pc:sldMkLst>
      </pc:sldChg>
      <pc:sldChg chg="addSp delSp modSp new del mod modClrScheme chgLayout">
        <pc:chgData name="Eirik Eriksen Heen" userId="3e804305-1c07-417a-9ea8-d913585be88f" providerId="ADAL" clId="{86A7CD6A-BADF-46B5-A0EB-3EAA83991659}" dt="2026-09-24T12:49:12.723" v="735" actId="2696"/>
        <pc:sldMkLst>
          <pc:docMk/>
          <pc:sldMk cId="3073598113" sldId="4795"/>
        </pc:sldMkLst>
        <pc:spChg chg="add del mod">
          <ac:chgData name="Eirik Eriksen Heen" userId="3e804305-1c07-417a-9ea8-d913585be88f" providerId="ADAL" clId="{86A7CD6A-BADF-46B5-A0EB-3EAA83991659}" dt="2026-09-24T12:44:59.454" v="698" actId="700"/>
          <ac:spMkLst>
            <pc:docMk/>
            <pc:sldMk cId="3073598113" sldId="4795"/>
            <ac:spMk id="2" creationId="{41A838E3-86FA-E71C-5F84-D1B2CD94F50D}"/>
          </ac:spMkLst>
        </pc:spChg>
        <pc:spChg chg="add del mod">
          <ac:chgData name="Eirik Eriksen Heen" userId="3e804305-1c07-417a-9ea8-d913585be88f" providerId="ADAL" clId="{86A7CD6A-BADF-46B5-A0EB-3EAA83991659}" dt="2026-09-24T12:44:59.454" v="698" actId="700"/>
          <ac:spMkLst>
            <pc:docMk/>
            <pc:sldMk cId="3073598113" sldId="4795"/>
            <ac:spMk id="3" creationId="{73CBEC3A-8F39-65A3-79CB-5114AE774B23}"/>
          </ac:spMkLst>
        </pc:spChg>
      </pc:sldChg>
      <pc:sldChg chg="delSp modSp add mod">
        <pc:chgData name="Eirik Eriksen Heen" userId="3e804305-1c07-417a-9ea8-d913585be88f" providerId="ADAL" clId="{86A7CD6A-BADF-46B5-A0EB-3EAA83991659}" dt="2026-09-24T12:54:20.630" v="762" actId="1076"/>
        <pc:sldMkLst>
          <pc:docMk/>
          <pc:sldMk cId="2930294773" sldId="4796"/>
        </pc:sldMkLst>
        <pc:spChg chg="del">
          <ac:chgData name="Eirik Eriksen Heen" userId="3e804305-1c07-417a-9ea8-d913585be88f" providerId="ADAL" clId="{86A7CD6A-BADF-46B5-A0EB-3EAA83991659}" dt="2026-09-24T12:46:06.275" v="701" actId="478"/>
          <ac:spMkLst>
            <pc:docMk/>
            <pc:sldMk cId="2930294773" sldId="4796"/>
            <ac:spMk id="2" creationId="{D78A074D-8B13-55E7-89BD-3D62F2BCFA25}"/>
          </ac:spMkLst>
        </pc:spChg>
        <pc:spChg chg="mod">
          <ac:chgData name="Eirik Eriksen Heen" userId="3e804305-1c07-417a-9ea8-d913585be88f" providerId="ADAL" clId="{86A7CD6A-BADF-46B5-A0EB-3EAA83991659}" dt="2026-09-24T12:45:21.995" v="700"/>
          <ac:spMkLst>
            <pc:docMk/>
            <pc:sldMk cId="2930294773" sldId="4796"/>
            <ac:spMk id="3" creationId="{E9F23D7D-1421-9AC0-032B-B7EC1E964916}"/>
          </ac:spMkLst>
        </pc:spChg>
        <pc:spChg chg="mod">
          <ac:chgData name="Eirik Eriksen Heen" userId="3e804305-1c07-417a-9ea8-d913585be88f" providerId="ADAL" clId="{86A7CD6A-BADF-46B5-A0EB-3EAA83991659}" dt="2026-09-24T12:47:55.757" v="728" actId="14100"/>
          <ac:spMkLst>
            <pc:docMk/>
            <pc:sldMk cId="2930294773" sldId="4796"/>
            <ac:spMk id="5" creationId="{68833552-E744-0435-70A5-B0B3C2D4EE62}"/>
          </ac:spMkLst>
        </pc:spChg>
        <pc:spChg chg="del">
          <ac:chgData name="Eirik Eriksen Heen" userId="3e804305-1c07-417a-9ea8-d913585be88f" providerId="ADAL" clId="{86A7CD6A-BADF-46B5-A0EB-3EAA83991659}" dt="2026-09-24T12:47:03.727" v="712" actId="478"/>
          <ac:spMkLst>
            <pc:docMk/>
            <pc:sldMk cId="2930294773" sldId="4796"/>
            <ac:spMk id="6" creationId="{65FD1247-4634-2E03-5C7B-28EA1892576E}"/>
          </ac:spMkLst>
        </pc:spChg>
        <pc:spChg chg="del">
          <ac:chgData name="Eirik Eriksen Heen" userId="3e804305-1c07-417a-9ea8-d913585be88f" providerId="ADAL" clId="{86A7CD6A-BADF-46B5-A0EB-3EAA83991659}" dt="2026-09-24T12:47:01.776" v="711" actId="478"/>
          <ac:spMkLst>
            <pc:docMk/>
            <pc:sldMk cId="2930294773" sldId="4796"/>
            <ac:spMk id="7" creationId="{213CF3E4-F04E-B924-E190-DA5D8E3AF80D}"/>
          </ac:spMkLst>
        </pc:spChg>
        <pc:spChg chg="del">
          <ac:chgData name="Eirik Eriksen Heen" userId="3e804305-1c07-417a-9ea8-d913585be88f" providerId="ADAL" clId="{86A7CD6A-BADF-46B5-A0EB-3EAA83991659}" dt="2026-09-24T12:46:36.854" v="704" actId="478"/>
          <ac:spMkLst>
            <pc:docMk/>
            <pc:sldMk cId="2930294773" sldId="4796"/>
            <ac:spMk id="8" creationId="{6CC7E0F6-37D4-1F96-F7D9-43612B74D412}"/>
          </ac:spMkLst>
        </pc:spChg>
        <pc:spChg chg="del">
          <ac:chgData name="Eirik Eriksen Heen" userId="3e804305-1c07-417a-9ea8-d913585be88f" providerId="ADAL" clId="{86A7CD6A-BADF-46B5-A0EB-3EAA83991659}" dt="2026-09-24T12:46:38.650" v="705" actId="478"/>
          <ac:spMkLst>
            <pc:docMk/>
            <pc:sldMk cId="2930294773" sldId="4796"/>
            <ac:spMk id="9" creationId="{59AD7072-BEAA-56D4-501A-102041CF45B2}"/>
          </ac:spMkLst>
        </pc:spChg>
        <pc:spChg chg="del">
          <ac:chgData name="Eirik Eriksen Heen" userId="3e804305-1c07-417a-9ea8-d913585be88f" providerId="ADAL" clId="{86A7CD6A-BADF-46B5-A0EB-3EAA83991659}" dt="2026-09-24T12:46:41.240" v="706" actId="478"/>
          <ac:spMkLst>
            <pc:docMk/>
            <pc:sldMk cId="2930294773" sldId="4796"/>
            <ac:spMk id="10" creationId="{1A85FEA1-6B07-C3E2-4C9C-39A5F1965121}"/>
          </ac:spMkLst>
        </pc:spChg>
        <pc:spChg chg="del">
          <ac:chgData name="Eirik Eriksen Heen" userId="3e804305-1c07-417a-9ea8-d913585be88f" providerId="ADAL" clId="{86A7CD6A-BADF-46B5-A0EB-3EAA83991659}" dt="2026-09-24T12:46:42.131" v="707" actId="478"/>
          <ac:spMkLst>
            <pc:docMk/>
            <pc:sldMk cId="2930294773" sldId="4796"/>
            <ac:spMk id="11" creationId="{BBA38328-0DE1-B780-466F-61C58F424588}"/>
          </ac:spMkLst>
        </pc:spChg>
        <pc:spChg chg="del">
          <ac:chgData name="Eirik Eriksen Heen" userId="3e804305-1c07-417a-9ea8-d913585be88f" providerId="ADAL" clId="{86A7CD6A-BADF-46B5-A0EB-3EAA83991659}" dt="2026-09-24T12:47:07.314" v="714" actId="478"/>
          <ac:spMkLst>
            <pc:docMk/>
            <pc:sldMk cId="2930294773" sldId="4796"/>
            <ac:spMk id="12" creationId="{1C045F34-7775-5935-58B5-771032603D75}"/>
          </ac:spMkLst>
        </pc:spChg>
        <pc:spChg chg="del">
          <ac:chgData name="Eirik Eriksen Heen" userId="3e804305-1c07-417a-9ea8-d913585be88f" providerId="ADAL" clId="{86A7CD6A-BADF-46B5-A0EB-3EAA83991659}" dt="2026-09-24T12:47:09.082" v="715" actId="478"/>
          <ac:spMkLst>
            <pc:docMk/>
            <pc:sldMk cId="2930294773" sldId="4796"/>
            <ac:spMk id="13" creationId="{7E5F1B8D-854A-099E-3533-E4BEA361B131}"/>
          </ac:spMkLst>
        </pc:spChg>
        <pc:spChg chg="mod">
          <ac:chgData name="Eirik Eriksen Heen" userId="3e804305-1c07-417a-9ea8-d913585be88f" providerId="ADAL" clId="{86A7CD6A-BADF-46B5-A0EB-3EAA83991659}" dt="2026-09-24T12:48:20.823" v="730" actId="15"/>
          <ac:spMkLst>
            <pc:docMk/>
            <pc:sldMk cId="2930294773" sldId="4796"/>
            <ac:spMk id="14" creationId="{CCA92B88-9866-C6BA-2C6E-A17979813492}"/>
          </ac:spMkLst>
        </pc:spChg>
        <pc:spChg chg="mod">
          <ac:chgData name="Eirik Eriksen Heen" userId="3e804305-1c07-417a-9ea8-d913585be88f" providerId="ADAL" clId="{86A7CD6A-BADF-46B5-A0EB-3EAA83991659}" dt="2026-09-24T12:54:20.630" v="762" actId="1076"/>
          <ac:spMkLst>
            <pc:docMk/>
            <pc:sldMk cId="2930294773" sldId="4796"/>
            <ac:spMk id="15" creationId="{4B81726C-1807-687E-D652-E12924DB2490}"/>
          </ac:spMkLst>
        </pc:spChg>
      </pc:sldChg>
      <pc:sldMasterChg chg="delSldLayout">
        <pc:chgData name="Eirik Eriksen Heen" userId="3e804305-1c07-417a-9ea8-d913585be88f" providerId="ADAL" clId="{86A7CD6A-BADF-46B5-A0EB-3EAA83991659}" dt="2026-09-22T06:36:57.761" v="7" actId="47"/>
        <pc:sldMasterMkLst>
          <pc:docMk/>
          <pc:sldMasterMk cId="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4312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b-NO" dirty="0"/>
          </a:p>
        </p:txBody>
      </p:sp>
      <p:sp>
        <p:nvSpPr>
          <p:cNvPr id="4" name="Slide Number Placeholder 3"/>
          <p:cNvSpPr>
            <a:spLocks noGrp="1"/>
          </p:cNvSpPr>
          <p:nvPr>
            <p:ph type="sldNum" sz="quarter" idx="5"/>
          </p:nvPr>
        </p:nvSpPr>
        <p:spPr/>
        <p:txBody>
          <a:bodyPr/>
          <a:lstStyle/>
          <a:p>
            <a:fld id="{3FD4739E-9C57-4AE7-B15C-C6DCE23E91D8}" type="slidenum">
              <a:rPr lang="nb-NO" smtClean="0"/>
              <a:t>1</a:t>
            </a:fld>
            <a:endParaRPr lang="nb-NO"/>
          </a:p>
        </p:txBody>
      </p:sp>
    </p:spTree>
    <p:extLst>
      <p:ext uri="{BB962C8B-B14F-4D97-AF65-F5344CB8AC3E}">
        <p14:creationId xmlns:p14="http://schemas.microsoft.com/office/powerpoint/2010/main" val="19626563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nb-NO"/>
          </a:p>
        </p:txBody>
      </p:sp>
      <p:sp>
        <p:nvSpPr>
          <p:cNvPr id="3" name="Notes Placeholder 2"/>
          <p:cNvSpPr>
            <a:spLocks noGrp="1"/>
          </p:cNvSpPr>
          <p:nvPr>
            <p:ph type="body" sz="quarter" idx="3"/>
          </p:nvPr>
        </p:nvSpPr>
        <p:spPr/>
        <p:txBody>
          <a:bodyPr/>
          <a:lstStyle/>
          <a:p>
            <a:r>
              <a:t>Use the story only to introduce the logic of hypothesis testing. If the drawing is fair, Daniel should be selected with probability 1/4 each day. Do not introduce H0 and H1 yet. First ask how many unusual outcomes we are willing to tolerate before becoming suspicious.</a:t>
            </a:r>
          </a:p>
        </p:txBody>
      </p:sp>
      <p:sp>
        <p:nvSpPr>
          <p:cNvPr id="4" name="Slide Number Placeholder 3"/>
          <p:cNvSpPr>
            <a:spLocks noGrp="1"/>
          </p:cNvSpPr>
          <p:nvPr>
            <p:ph type="sldNum" sz="quarter" idx="5"/>
          </p:nvPr>
        </p:nvSpPr>
        <p:spPr/>
        <p:txBody>
          <a:bodyPr/>
          <a:lstStyle/>
          <a:p>
            <a:endParaRPr lang="nb-NO"/>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nb-NO"/>
          </a:p>
        </p:txBody>
      </p:sp>
      <p:sp>
        <p:nvSpPr>
          <p:cNvPr id="3" name="Notes Placeholder 2"/>
          <p:cNvSpPr>
            <a:spLocks noGrp="1"/>
          </p:cNvSpPr>
          <p:nvPr>
            <p:ph type="body" sz="quarter" idx="3"/>
          </p:nvPr>
        </p:nvSpPr>
        <p:spPr/>
        <p:txBody>
          <a:bodyPr/>
          <a:lstStyle/>
          <a:p>
            <a:r>
              <a:t>The point is not the exact arithmetic. The question is when an outcome becomes sufficiently unlikely under a fair drawing that we start questioning the assumption of fairness. This is the logic that later becomes a significance level and rejection rule.</a:t>
            </a:r>
          </a:p>
        </p:txBody>
      </p:sp>
      <p:sp>
        <p:nvSpPr>
          <p:cNvPr id="4" name="Slide Number Placeholder 3"/>
          <p:cNvSpPr>
            <a:spLocks noGrp="1"/>
          </p:cNvSpPr>
          <p:nvPr>
            <p:ph type="sldNum" sz="quarter" idx="5"/>
          </p:nvPr>
        </p:nvSpPr>
        <p:spPr/>
        <p:txBody>
          <a:bodyPr/>
          <a:lstStyle/>
          <a:p>
            <a:endParaRPr lang="nb-NO"/>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nb-NO"/>
          </a:p>
        </p:txBody>
      </p:sp>
      <p:sp>
        <p:nvSpPr>
          <p:cNvPr id="3" name="Notes Placeholder 2"/>
          <p:cNvSpPr>
            <a:spLocks noGrp="1"/>
          </p:cNvSpPr>
          <p:nvPr>
            <p:ph type="body" sz="quarter" idx="3"/>
          </p:nvPr>
        </p:nvSpPr>
        <p:spPr/>
        <p:txBody>
          <a:bodyPr/>
          <a:lstStyle/>
          <a:p>
            <a:r>
              <a:t>Under a fair draw, X follows a Binomial(100, 0.25) distribution. The probability of 22 or fewer is about 27%. Emphasize 'or fewer': hypothesis testing is not interested only in the exact observed outcome, but in the observed outcome and outcomes more extreme in the direction of the alternative.</a:t>
            </a:r>
          </a:p>
        </p:txBody>
      </p:sp>
      <p:sp>
        <p:nvSpPr>
          <p:cNvPr id="4" name="Slide Number Placeholder 3"/>
          <p:cNvSpPr>
            <a:spLocks noGrp="1"/>
          </p:cNvSpPr>
          <p:nvPr>
            <p:ph type="sldNum" sz="quarter" idx="5"/>
          </p:nvPr>
        </p:nvSpPr>
        <p:spPr/>
        <p:txBody>
          <a:bodyPr/>
          <a:lstStyle/>
          <a:p>
            <a:endParaRPr lang="nb-NO"/>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nb-NO"/>
          </a:p>
        </p:txBody>
      </p:sp>
      <p:sp>
        <p:nvSpPr>
          <p:cNvPr id="3" name="Notes Placeholder 2"/>
          <p:cNvSpPr>
            <a:spLocks noGrp="1"/>
          </p:cNvSpPr>
          <p:nvPr>
            <p:ph type="body" sz="quarter" idx="3"/>
          </p:nvPr>
        </p:nvSpPr>
        <p:spPr/>
        <p:txBody>
          <a:bodyPr/>
          <a:lstStyle/>
          <a:p>
            <a:r>
              <a:t>Now name the two competing explanations. For the one-sided formulation, H0 includes p &gt;= 0.25 and H1 is p &lt; 0.25; calculations use the boundary p = 0.25. Since a result at least this suspicious occurs about 27% of the time under the boundary null, we do not have strong evidence against H0.</a:t>
            </a:r>
          </a:p>
        </p:txBody>
      </p:sp>
      <p:sp>
        <p:nvSpPr>
          <p:cNvPr id="4" name="Slide Number Placeholder 3"/>
          <p:cNvSpPr>
            <a:spLocks noGrp="1"/>
          </p:cNvSpPr>
          <p:nvPr>
            <p:ph type="sldNum" sz="quarter" idx="5"/>
          </p:nvPr>
        </p:nvSpPr>
        <p:spPr/>
        <p:txBody>
          <a:bodyPr/>
          <a:lstStyle/>
          <a:p>
            <a:endParaRPr lang="nb-NO"/>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nb-NO"/>
          </a:p>
        </p:txBody>
      </p:sp>
      <p:sp>
        <p:nvSpPr>
          <p:cNvPr id="3" name="Notes Placeholder 2"/>
          <p:cNvSpPr>
            <a:spLocks noGrp="1"/>
          </p:cNvSpPr>
          <p:nvPr>
            <p:ph type="body" sz="quarter" idx="3"/>
          </p:nvPr>
        </p:nvSpPr>
        <p:spPr/>
        <p:txBody>
          <a:bodyPr/>
          <a:lstStyle/>
          <a:p>
            <a:r>
              <a:t>This is the same setup, but now the data are much harder to reconcile with the null. The probability of 14 or fewer under p = 0.25 is about 0.0054, or roughly half a percent. Do not yet call this a p-value if you prefer to introduce that term later; simply call it the probability of this result or something more extreme under the null.</a:t>
            </a:r>
          </a:p>
        </p:txBody>
      </p:sp>
      <p:sp>
        <p:nvSpPr>
          <p:cNvPr id="4" name="Slide Number Placeholder 3"/>
          <p:cNvSpPr>
            <a:spLocks noGrp="1"/>
          </p:cNvSpPr>
          <p:nvPr>
            <p:ph type="sldNum" sz="quarter" idx="5"/>
          </p:nvPr>
        </p:nvSpPr>
        <p:spPr/>
        <p:txBody>
          <a:bodyPr/>
          <a:lstStyle/>
          <a:p>
            <a:endParaRPr lang="nb-NO"/>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nb-NO"/>
          </a:p>
        </p:txBody>
      </p:sp>
      <p:sp>
        <p:nvSpPr>
          <p:cNvPr id="3" name="Notes Placeholder 2"/>
          <p:cNvSpPr>
            <a:spLocks noGrp="1"/>
          </p:cNvSpPr>
          <p:nvPr>
            <p:ph type="body" sz="quarter" idx="3"/>
          </p:nvPr>
        </p:nvSpPr>
        <p:spPr/>
        <p:txBody>
          <a:bodyPr/>
          <a:lstStyle/>
          <a:p>
            <a:r>
              <a:rPr dirty="0"/>
              <a:t>This is the bridge into the formal material. A rare result under H0 does not logically prove H0 is false; rare events can happen. But statistical testing gives us a rule for how much evidence we require before rejecting H0. From here move to your supermarket example and formal notation. The story has already introduced the central logic: specify a null, identify outcomes that are difficult to reconcile with it, and decide how unusual is unusual enough.</a:t>
            </a:r>
          </a:p>
        </p:txBody>
      </p:sp>
      <p:sp>
        <p:nvSpPr>
          <p:cNvPr id="4" name="Slide Number Placeholder 3"/>
          <p:cNvSpPr>
            <a:spLocks noGrp="1"/>
          </p:cNvSpPr>
          <p:nvPr>
            <p:ph type="sldNum" sz="quarter" idx="5"/>
          </p:nvPr>
        </p:nvSpPr>
        <p:spPr/>
        <p:txBody>
          <a:bodyPr/>
          <a:lstStyle/>
          <a:p>
            <a:endParaRPr lang="nb-NO"/>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Use this as a very short toolbox slide before returning to the supermarket decision. The aim is only to make alpha, the critical t-value, the p-value, and the two R functions familiar.</a:t>
            </a:r>
          </a:p>
          <a:p>
            <a:endParaRPr dirty="0"/>
          </a:p>
          <a:p>
            <a:r>
              <a:rPr dirty="0"/>
              <a:t>Alpha is chosen before the test and determines how strict the rejection rule is. The critical t-value comes from qt() and depends on alpha, the degrees of freedom, and whether the test is one-sided or two-sided.</a:t>
            </a:r>
          </a:p>
          <a:p>
            <a:endParaRPr dirty="0"/>
          </a:p>
          <a:p>
            <a:r>
              <a:rPr dirty="0"/>
              <a:t>The p-value goes the other direction: from an observed t-statistic to a probability under H0. For right-tail tests, use 1 - pt(t, </a:t>
            </a:r>
            <a:r>
              <a:rPr dirty="0" err="1"/>
              <a:t>df</a:t>
            </a:r>
            <a:r>
              <a:rPr dirty="0"/>
              <a:t>). For left-tail tests, pt(t, </a:t>
            </a:r>
            <a:r>
              <a:rPr dirty="0" err="1"/>
              <a:t>df</a:t>
            </a:r>
            <a:r>
              <a:rPr dirty="0"/>
              <a:t>). For two-sided tests, use 2*(1 - pt(abs(t), </a:t>
            </a:r>
            <a:r>
              <a:rPr dirty="0" err="1"/>
              <a:t>df</a:t>
            </a:r>
            <a:r>
              <a:rPr dirty="0"/>
              <a:t>)).</a:t>
            </a:r>
          </a:p>
          <a:p>
            <a:endParaRPr dirty="0"/>
          </a:p>
          <a:p>
            <a:r>
              <a:rPr dirty="0"/>
              <a:t>Do not spend long here. The actual test statistic itself will be introduced on the next slides with the supermarket example.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qt() returns the t-value with the requested cumulative probability to the left. Here, about 95% of the t(38) distribution lies to the left of the dashed line.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pt() returns the cumulative probability to the left of the chosen t-value. Here, it gives the area under the t(38) curve to the left of t = 2.</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b-NO"/>
          </a:p>
        </p:txBody>
      </p:sp>
      <p:sp>
        <p:nvSpPr>
          <p:cNvPr id="3" name="Notes Placeholder 2"/>
          <p:cNvSpPr>
            <a:spLocks noGrp="1"/>
          </p:cNvSpPr>
          <p:nvPr>
            <p:ph type="body" idx="1"/>
          </p:nvPr>
        </p:nvSpPr>
        <p:spPr/>
        <p:txBody>
          <a:bodyPr/>
          <a:lstStyle/>
          <a:p>
            <a:r>
              <a:rPr lang="en-US" dirty="0"/>
              <a:t>Use the same economic question from the beginning, but now phrase it as a claim about beta_2.
The estimate 0.1021 is above 0.055, but that alone is not enough. We need to compare the distance from the threshold with the sampling uncertainty.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b-NO"/>
          </a:p>
        </p:txBody>
      </p:sp>
      <p:sp>
        <p:nvSpPr>
          <p:cNvPr id="3" name="Notes Placeholder 2"/>
          <p:cNvSpPr>
            <a:spLocks noGrp="1"/>
          </p:cNvSpPr>
          <p:nvPr>
            <p:ph type="body" idx="1"/>
          </p:nvPr>
        </p:nvSpPr>
        <p:spPr/>
        <p:txBody>
          <a:bodyPr/>
          <a:lstStyle/>
          <a:p>
            <a:r>
              <a:rPr lang="en-US" dirty="0"/>
              <a:t>Start with the economic statement, then write hypotheses. This makes the direction of the test natural.
The alternative contains the statement we want evidence for: beta_2 &gt; 0.055. Therefore evidence in favor of H1 corresponds to unusually large positive t-values.
Although H0 is written as &lt;= 0.055, the t calculation uses the boundary value c = 0.055.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nb-NO"/>
          </a:p>
        </p:txBody>
      </p:sp>
      <p:sp>
        <p:nvSpPr>
          <p:cNvPr id="3" name="Notes Placeholder 2"/>
          <p:cNvSpPr>
            <a:spLocks noGrp="1"/>
          </p:cNvSpPr>
          <p:nvPr>
            <p:ph type="body" sz="quarter" idx="3"/>
          </p:nvPr>
        </p:nvSpPr>
        <p:spPr/>
        <p:txBody>
          <a:bodyPr/>
          <a:lstStyle/>
          <a:p>
            <a:r>
              <a:t>This slide makes explicit the step that is often left implicit. Hypothesis testing begins by assuming the null hypothesis is true. In the supermarket example, we temporarily act as if the true slope were 0.055. Then we compare our observed estimate, 0.1021, with that benchmark. But we do not stop at the raw difference. We scale the difference by the standard error because some deviation from the null value is normal in random samples.</a:t>
            </a:r>
          </a:p>
        </p:txBody>
      </p:sp>
      <p:sp>
        <p:nvSpPr>
          <p:cNvPr id="4" name="Slide Number Placeholder 3"/>
          <p:cNvSpPr>
            <a:spLocks noGrp="1"/>
          </p:cNvSpPr>
          <p:nvPr>
            <p:ph type="sldNum" sz="quarter" idx="5"/>
          </p:nvPr>
        </p:nvSpPr>
        <p:spPr/>
        <p:txBody>
          <a:bodyPr/>
          <a:lstStyle/>
          <a:p>
            <a:endParaRPr lang="nb-NO"/>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b-NO"/>
          </a:p>
        </p:txBody>
      </p:sp>
      <p:sp>
        <p:nvSpPr>
          <p:cNvPr id="3" name="Notes Placeholder 2"/>
          <p:cNvSpPr>
            <a:spLocks noGrp="1"/>
          </p:cNvSpPr>
          <p:nvPr>
            <p:ph type="body" idx="1"/>
          </p:nvPr>
        </p:nvSpPr>
        <p:spPr/>
        <p:txBody>
          <a:bodyPr/>
          <a:lstStyle/>
          <a:p>
            <a:r>
              <a:rPr lang="en-US" dirty="0"/>
              <a:t>This is the core of hypothesis testing. Avoid presenting it as a new formula to memorize: it is just distance divided by uncertainty.
If H0 is true and c is the correct population value, the statistic follows the t distribution under the assumptions. That gives us a reference for deciding whether the observed distance is unusual.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b-NO"/>
          </a:p>
        </p:txBody>
      </p:sp>
      <p:sp>
        <p:nvSpPr>
          <p:cNvPr id="3" name="Notes Placeholder 2"/>
          <p:cNvSpPr>
            <a:spLocks noGrp="1"/>
          </p:cNvSpPr>
          <p:nvPr>
            <p:ph type="body" idx="1"/>
          </p:nvPr>
        </p:nvSpPr>
        <p:spPr/>
        <p:txBody>
          <a:bodyPr/>
          <a:lstStyle/>
          <a:p>
            <a:r>
              <a:rPr lang="en-US" dirty="0"/>
              <a:t>Calculate together: t = (0.1021 - 0.055) / 0.0209 ≈ 2.25.
Interpret 2.25 before discussing a rejection rule: the estimate is about 2.25 standard errors above the threshold under H0.
Then ask: is 2.25 unusually large for a t distribution with 38 df? That motivates the rejection region / p-value.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Plassholder for notater 2"/>
          <p:cNvSpPr>
            <a:spLocks noGrp="1"/>
          </p:cNvSpPr>
          <p:nvPr>
            <p:ph type="body" idx="1"/>
          </p:nvPr>
        </p:nvSpPr>
        <p:spPr>
          <a:xfrm>
            <a:off x="685800" y="5867400"/>
            <a:ext cx="5486400" cy="4800600"/>
          </a:xfrm>
          <a:prstGeom prst="rect">
            <a:avLst/>
          </a:prstGeom>
        </p:spPr>
        <p:txBody>
          <a:bodyPr/>
          <a:lstStyle/>
          <a:p>
            <a:endParaRPr lang="nb-NO" dirty="0"/>
          </a:p>
        </p:txBody>
      </p:sp>
    </p:spTree>
    <p:extLst>
      <p:ext uri="{BB962C8B-B14F-4D97-AF65-F5344CB8AC3E}">
        <p14:creationId xmlns:p14="http://schemas.microsoft.com/office/powerpoint/2010/main" val="40130783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nb-NO"/>
          </a:p>
        </p:txBody>
      </p:sp>
      <p:sp>
        <p:nvSpPr>
          <p:cNvPr id="3" name="Notes Placeholder 2"/>
          <p:cNvSpPr>
            <a:spLocks noGrp="1"/>
          </p:cNvSpPr>
          <p:nvPr>
            <p:ph type="body" sz="quarter" idx="3"/>
          </p:nvPr>
        </p:nvSpPr>
        <p:spPr/>
        <p:txBody>
          <a:bodyPr/>
          <a:lstStyle/>
          <a:p>
            <a:r>
              <a:t>This slide turns the logic into the test statistic. Start from the null assumption, H0: beta2 = 0.055. The observed estimate is 0.1021, so the raw distance is 0.0471. But that number is meaningful only relative to the normal sampling variation in the estimator. Dividing by the standard error gives the t statistic, about 2.25. Now the students can interpret the statistic before you introduce critical values or the p-value: the estimate is 2.25 standard errors above the null value. This naturally leads into the next question: how unusual would such a value be if the null were true?</a:t>
            </a:r>
          </a:p>
        </p:txBody>
      </p:sp>
      <p:sp>
        <p:nvSpPr>
          <p:cNvPr id="4" name="Slide Number Placeholder 3"/>
          <p:cNvSpPr>
            <a:spLocks noGrp="1"/>
          </p:cNvSpPr>
          <p:nvPr>
            <p:ph type="sldNum" sz="quarter" idx="5"/>
          </p:nvPr>
        </p:nvSpPr>
        <p:spPr/>
        <p:txBody>
          <a:bodyPr/>
          <a:lstStyle/>
          <a:p>
            <a:endParaRPr lang="nb-NO"/>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b-NO"/>
          </a:p>
        </p:txBody>
      </p:sp>
      <p:sp>
        <p:nvSpPr>
          <p:cNvPr id="3" name="Notes Placeholder 2"/>
          <p:cNvSpPr>
            <a:spLocks noGrp="1"/>
          </p:cNvSpPr>
          <p:nvPr>
            <p:ph type="body" idx="1"/>
          </p:nvPr>
        </p:nvSpPr>
        <p:spPr/>
        <p:txBody>
          <a:bodyPr/>
          <a:lstStyle/>
          <a:p>
            <a:r>
              <a:rPr lang="en-US" dirty="0"/>
              <a:t>This is an important conceptual example. At 5% the test rejects; at 1% it does not.
Do not describe 1% as “better” or “more correct.” It is a stricter Type I error tolerance.
At 5%, the sample provides evidence that the slope exceeds the investment threshold. At 1%, the evidence is not strong enough to reach that stricter standard.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b-NO"/>
          </a:p>
        </p:txBody>
      </p:sp>
      <p:sp>
        <p:nvSpPr>
          <p:cNvPr id="3" name="Notes Placeholder 2"/>
          <p:cNvSpPr>
            <a:spLocks noGrp="1"/>
          </p:cNvSpPr>
          <p:nvPr>
            <p:ph type="body" idx="1"/>
          </p:nvPr>
        </p:nvSpPr>
        <p:spPr/>
        <p:txBody>
          <a:bodyPr/>
          <a:lstStyle/>
          <a:p>
            <a:r>
              <a:rPr lang="en-US" dirty="0"/>
              <a:t>Define the p-value using the observed t and the reference distribution under H0. For the right-tail supermarket test, it is the probability of a t-statistic at least as large as the one observed, assuming the boundary value in H0 is true.
Avoid the common misinterpretation that p is P(H0 is true). It is a probability about data/test statistics conditional on H0.</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b-NO"/>
          </a:p>
        </p:txBody>
      </p:sp>
      <p:sp>
        <p:nvSpPr>
          <p:cNvPr id="3" name="Notes Placeholder 2"/>
          <p:cNvSpPr>
            <a:spLocks noGrp="1"/>
          </p:cNvSpPr>
          <p:nvPr>
            <p:ph type="body" idx="1"/>
          </p:nvPr>
        </p:nvSpPr>
        <p:spPr/>
        <p:txBody>
          <a:bodyPr/>
          <a:lstStyle/>
          <a:p>
            <a:r>
              <a:rPr lang="en-US" dirty="0"/>
              <a:t>Run both calculations. The critical-value rule and p-value rule lead to the same decision for a given alpha.
Explain why software output is useful only after the student knows what null value and alternative the software is testing. summary(lm()) by default reports a two-sided test against zero; that is not the supermarket test.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b-NO"/>
          </a:p>
        </p:txBody>
      </p:sp>
      <p:sp>
        <p:nvSpPr>
          <p:cNvPr id="3" name="Notes Placeholder 2"/>
          <p:cNvSpPr>
            <a:spLocks noGrp="1"/>
          </p:cNvSpPr>
          <p:nvPr>
            <p:ph type="body" idx="1"/>
          </p:nvPr>
        </p:nvSpPr>
        <p:spPr/>
        <p:txBody>
          <a:bodyPr/>
          <a:lstStyle/>
          <a:p>
            <a:r>
              <a:rPr lang="en-US" dirty="0"/>
              <a:t>Use this immediately after introducing the p-value. Stress that the probability statement is conditional on the null value used to construct the test statistic. For this one-sided test the p-value is the area to the right of the observed t-statistic. The key comparison is p with alpha. At 5% we reject; at 1% we do not. Avoid saying that there is a 1.5% probability that H0 is true.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b-NO"/>
          </a:p>
        </p:txBody>
      </p:sp>
      <p:sp>
        <p:nvSpPr>
          <p:cNvPr id="3" name="Notes Placeholder 2"/>
          <p:cNvSpPr>
            <a:spLocks noGrp="1"/>
          </p:cNvSpPr>
          <p:nvPr>
            <p:ph type="body" idx="1"/>
          </p:nvPr>
        </p:nvSpPr>
        <p:spPr/>
        <p:txBody>
          <a:bodyPr/>
          <a:lstStyle/>
          <a:p>
            <a:r>
              <a:rPr lang="en-US" dirty="0"/>
              <a:t>Cover the three alternatives together on one slide, as requested. Do not derive three separate rules.
H1: beta&lt;c -&gt; evidence is in the left tail.
H1: beta&gt;c -&gt; evidence is in the right tail.
H1: beta!=c -&gt; evidence can be in either tail.
The formula for t does not change. The alternative determines the relevant tail probability and critical value.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b-NO"/>
          </a:p>
        </p:txBody>
      </p:sp>
      <p:sp>
        <p:nvSpPr>
          <p:cNvPr id="3" name="Notes Placeholder 2"/>
          <p:cNvSpPr>
            <a:spLocks noGrp="1"/>
          </p:cNvSpPr>
          <p:nvPr>
            <p:ph type="body" idx="1"/>
          </p:nvPr>
        </p:nvSpPr>
        <p:spPr/>
        <p:txBody>
          <a:bodyPr/>
          <a:lstStyle/>
          <a:p>
            <a:r>
              <a:rPr lang="en-US" dirty="0"/>
              <a:t>This is a conceptual payoff: interval estimation and hypothesis testing are two views of the same sampling uncertainty.
Be precise about scope: the equivalence is between a 100(1-alpha)% interval and a two-sided test at alpha for the same point null. The one-sided supermarket test does not use the same 95% two-sided interval rule.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nb-NO"/>
          </a:p>
        </p:txBody>
      </p:sp>
      <p:sp>
        <p:nvSpPr>
          <p:cNvPr id="3" name="Notes Placeholder 2"/>
          <p:cNvSpPr>
            <a:spLocks noGrp="1"/>
          </p:cNvSpPr>
          <p:nvPr>
            <p:ph type="body" sz="quarter" idx="3"/>
          </p:nvPr>
        </p:nvSpPr>
        <p:spPr/>
        <p:txBody>
          <a:bodyPr/>
          <a:lstStyle/>
          <a:p>
            <a:r>
              <a:t>This slide is only for comparison. The null value is the same as in the one-sided supermarket test, beta2 = 0.055. The estimate and the standard error are also the same, so the t-statistic stays 2.25. The only change is the question. We are no longer asking whether beta2 is greater than 0.055; we ask whether it is different from 0.055. That means evidence against the null can now appear in either tail.</a:t>
            </a:r>
          </a:p>
        </p:txBody>
      </p:sp>
      <p:sp>
        <p:nvSpPr>
          <p:cNvPr id="4" name="Slide Number Placeholder 3"/>
          <p:cNvSpPr>
            <a:spLocks noGrp="1"/>
          </p:cNvSpPr>
          <p:nvPr>
            <p:ph type="sldNum" sz="quarter" idx="5"/>
          </p:nvPr>
        </p:nvSpPr>
        <p:spPr/>
        <p:txBody>
          <a:bodyPr/>
          <a:lstStyle/>
          <a:p>
            <a:endParaRPr lang="nb-NO"/>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nb-NO"/>
          </a:p>
        </p:txBody>
      </p:sp>
      <p:sp>
        <p:nvSpPr>
          <p:cNvPr id="3" name="Notes Placeholder 2"/>
          <p:cNvSpPr>
            <a:spLocks noGrp="1"/>
          </p:cNvSpPr>
          <p:nvPr>
            <p:ph type="body" sz="quarter" idx="3"/>
          </p:nvPr>
        </p:nvSpPr>
        <p:spPr/>
        <p:txBody>
          <a:bodyPr/>
          <a:lstStyle/>
          <a:p>
            <a:r>
              <a:t>This is the comparison slide. The t-statistic is still 2.25. In the one-sided test, all 5 percent go into the right tail, so the critical value is lower. In the two-sided test, the 5 percent significance level is split across two tails, 2.5 percent in each tail, so the critical values move further out to plus/minus 2.024. The main teaching point is that the alternative hypothesis determines the rejection region. The data are the same; the question is different.</a:t>
            </a:r>
          </a:p>
        </p:txBody>
      </p:sp>
      <p:sp>
        <p:nvSpPr>
          <p:cNvPr id="4" name="Slide Number Placeholder 3"/>
          <p:cNvSpPr>
            <a:spLocks noGrp="1"/>
          </p:cNvSpPr>
          <p:nvPr>
            <p:ph type="sldNum" sz="quarter" idx="5"/>
          </p:nvPr>
        </p:nvSpPr>
        <p:spPr/>
        <p:txBody>
          <a:bodyPr/>
          <a:lstStyle/>
          <a:p>
            <a:endParaRPr lang="nb-NO"/>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b-NO"/>
          </a:p>
        </p:txBody>
      </p:sp>
      <p:sp>
        <p:nvSpPr>
          <p:cNvPr id="3" name="Notes Placeholder 2"/>
          <p:cNvSpPr>
            <a:spLocks noGrp="1"/>
          </p:cNvSpPr>
          <p:nvPr>
            <p:ph type="body" idx="1"/>
          </p:nvPr>
        </p:nvSpPr>
        <p:spPr/>
        <p:txBody>
          <a:bodyPr/>
          <a:lstStyle/>
          <a:p>
            <a:r>
              <a:rPr lang="en-US" dirty="0"/>
              <a:t>Keep this routine visible in later exercises. The most common student error is to stop after a mechanical reject/fail-to-reject decision.
The final sentence should translate back to the economic claim. Also reinforce “fail to reject” rather than “accept H0.”</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b-NO"/>
          </a:p>
        </p:txBody>
      </p:sp>
      <p:sp>
        <p:nvSpPr>
          <p:cNvPr id="3" name="Notes Placeholder 2"/>
          <p:cNvSpPr>
            <a:spLocks noGrp="1"/>
          </p:cNvSpPr>
          <p:nvPr>
            <p:ph type="body" idx="1"/>
          </p:nvPr>
        </p:nvSpPr>
        <p:spPr/>
        <p:txBody>
          <a:bodyPr/>
          <a:lstStyle/>
          <a:p>
            <a:r>
              <a:rPr lang="en-US" dirty="0"/>
              <a:t>Keep this light. The goal is interpretation, not power calculations.
Connect alpha to Type I error. Explain that a stricter alpha makes rejection harder, reducing Type I error probability but generally increasing the risk of failing to detect real departures from H0.
Do not spend time calculating Type II probabilities in this chapter session.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nb-NO"/>
          </a:p>
        </p:txBody>
      </p:sp>
      <p:sp>
        <p:nvSpPr>
          <p:cNvPr id="3" name="Plassholder for notater 2"/>
          <p:cNvSpPr>
            <a:spLocks noGrp="1"/>
          </p:cNvSpPr>
          <p:nvPr>
            <p:ph type="body" idx="1"/>
          </p:nvPr>
        </p:nvSpPr>
        <p:spPr>
          <a:xfrm>
            <a:off x="685800" y="5867400"/>
            <a:ext cx="5486400" cy="4800600"/>
          </a:xfrm>
          <a:prstGeom prst="rect">
            <a:avLst/>
          </a:prstGeom>
        </p:spPr>
        <p:txBody>
          <a:bodyPr/>
          <a:lstStyle/>
          <a:p>
            <a:endParaRPr lang="nb-NO" dirty="0"/>
          </a:p>
        </p:txBody>
      </p:sp>
    </p:spTree>
    <p:extLst>
      <p:ext uri="{BB962C8B-B14F-4D97-AF65-F5344CB8AC3E}">
        <p14:creationId xmlns:p14="http://schemas.microsoft.com/office/powerpoint/2010/main" val="14615809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b-NO"/>
          </a:p>
        </p:txBody>
      </p:sp>
      <p:sp>
        <p:nvSpPr>
          <p:cNvPr id="3" name="Notes Placeholder 2"/>
          <p:cNvSpPr>
            <a:spLocks noGrp="1"/>
          </p:cNvSpPr>
          <p:nvPr>
            <p:ph type="body" idx="1"/>
          </p:nvPr>
        </p:nvSpPr>
        <p:spPr/>
        <p:txBody>
          <a:bodyPr/>
          <a:lstStyle/>
          <a:p>
            <a:r>
              <a:rPr lang="en-US" dirty="0"/>
              <a:t>Give 3–4 minutes. Expected calculations: t = (0.084-0.055)/0.016 = 1.8125. Critical t for right-tail 5% with 48 df is about 1.677. Therefore reject H0 at 5%. The p-value is about 0.038.
Ask for an economic sentence, not only “reject H0.”</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b-NO"/>
          </a:p>
        </p:txBody>
      </p:sp>
      <p:sp>
        <p:nvSpPr>
          <p:cNvPr id="3" name="Notes Placeholder 2"/>
          <p:cNvSpPr>
            <a:spLocks noGrp="1"/>
          </p:cNvSpPr>
          <p:nvPr>
            <p:ph type="body" idx="1"/>
          </p:nvPr>
        </p:nvSpPr>
        <p:spPr/>
        <p:txBody>
          <a:bodyPr/>
          <a:lstStyle/>
          <a:p>
            <a:r>
              <a:rPr lang="en-US" dirty="0"/>
              <a:t>Use the supermarket threshold to make this concrete. A statistically nonzero slope is not automatically sufficient for investment. The relevant economic threshold is 0.055, not zero.
This is one reason testing meaningful values can be more informative than mechanically reporting the default test against zero.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b-NO"/>
          </a:p>
        </p:txBody>
      </p:sp>
      <p:sp>
        <p:nvSpPr>
          <p:cNvPr id="3" name="Notes Placeholder 2"/>
          <p:cNvSpPr>
            <a:spLocks noGrp="1"/>
          </p:cNvSpPr>
          <p:nvPr>
            <p:ph type="body" idx="1"/>
          </p:nvPr>
        </p:nvSpPr>
        <p:spPr/>
        <p:txBody>
          <a:bodyPr/>
          <a:lstStyle/>
          <a:p>
            <a:r>
              <a:rPr lang="en-US" dirty="0"/>
              <a:t>Ask for a vote between A and B. B is the defensible statement from this simple observational regression.
Inference answers how uncertain the estimated association is under the model. It does not by itself establish that changing income would cause the estimated change in food expenditure.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b-NO"/>
          </a:p>
        </p:txBody>
      </p:sp>
      <p:sp>
        <p:nvSpPr>
          <p:cNvPr id="3" name="Notes Placeholder 2"/>
          <p:cNvSpPr>
            <a:spLocks noGrp="1"/>
          </p:cNvSpPr>
          <p:nvPr>
            <p:ph type="body" idx="1"/>
          </p:nvPr>
        </p:nvSpPr>
        <p:spPr/>
        <p:txBody>
          <a:bodyPr/>
          <a:lstStyle/>
          <a:p>
            <a:r>
              <a:rPr lang="en-US" dirty="0"/>
              <a:t>Close by returning to the chain rather than listing definitions.
Students should see that Chapter 3 is not a collection of unrelated procedures: estimate -&gt; standard error -&gt; t distribution -&gt; interval or test.
Final reminder: confidence refers to the repeated-sampling method; a p-value is conditional on H0; and statistical inference does not by itself establish causality.</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b-NO"/>
          </a:p>
        </p:txBody>
      </p:sp>
      <p:sp>
        <p:nvSpPr>
          <p:cNvPr id="3" name="Notes Placeholder 2"/>
          <p:cNvSpPr>
            <a:spLocks noGrp="1"/>
          </p:cNvSpPr>
          <p:nvPr>
            <p:ph type="body" idx="1"/>
          </p:nvPr>
        </p:nvSpPr>
        <p:spPr/>
        <p:txBody>
          <a:bodyPr/>
          <a:lstStyle/>
          <a:p>
            <a:r>
              <a:rPr lang="en-US" dirty="0"/>
              <a:t>Reintroduce the variables briefly: motel_pct is the motel occupancy percentage and comp_pct is the competitors' occupancy percentage. The regression results are rounded to the values reported in the book answer key. Ask the class to identify the tail before doing any arithmetic. Then move to the next slide and work through the calculation.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b-NO"/>
          </a:p>
        </p:txBody>
      </p:sp>
      <p:sp>
        <p:nvSpPr>
          <p:cNvPr id="3" name="Notes Placeholder 2"/>
          <p:cNvSpPr>
            <a:spLocks noGrp="1"/>
          </p:cNvSpPr>
          <p:nvPr>
            <p:ph type="body" idx="1"/>
          </p:nvPr>
        </p:nvSpPr>
        <p:spPr/>
        <p:txBody>
          <a:bodyPr/>
          <a:lstStyle/>
          <a:p>
            <a:r>
              <a:rPr lang="en-US" dirty="0"/>
              <a:t>Work through this slowly. First calculate the standardized distance from the null value. Then choose the critical value based on the alternative, not by habit. Finally calculate the right-tail p-value. The exact p-value from R may differ slightly in the last digits from a calculation based on the rounded textbook coefficient and standard error. The conclusion is unchanged.</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b-NO"/>
          </a:p>
        </p:txBody>
      </p:sp>
      <p:sp>
        <p:nvSpPr>
          <p:cNvPr id="3" name="Notes Placeholder 2"/>
          <p:cNvSpPr>
            <a:spLocks noGrp="1"/>
          </p:cNvSpPr>
          <p:nvPr>
            <p:ph type="body" idx="1"/>
          </p:nvPr>
        </p:nvSpPr>
        <p:spPr/>
        <p:txBody>
          <a:bodyPr/>
          <a:lstStyle/>
          <a:p>
            <a:r>
              <a:rPr lang="en-US" dirty="0"/>
              <a:t>Answer for instructor: t ≈ -0.67. For a two-sided 1% test with df=23, the critical values are approximately ±2.807. The two-sided p-value is about 0.51. Fail to reject H0. beta2=1 means that a one percentage-point increase in competitor occupancy is associated with a one percentage-point increase in expected motel occupancy. The data are compatible with that one-for-one relationship.</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b-NO"/>
          </a:p>
        </p:txBody>
      </p:sp>
      <p:sp>
        <p:nvSpPr>
          <p:cNvPr id="3" name="Notes Placeholder 2"/>
          <p:cNvSpPr>
            <a:spLocks noGrp="1"/>
          </p:cNvSpPr>
          <p:nvPr>
            <p:ph type="body" idx="1"/>
          </p:nvPr>
        </p:nvSpPr>
        <p:spPr/>
        <p:txBody>
          <a:bodyPr/>
          <a:lstStyle/>
          <a:p>
            <a:r>
              <a:rPr lang="en-US" dirty="0"/>
              <a:t>Answer for instructor: the repair coefficient is approximately -13.24 with SE approximately 5.96. t ≈ -2.22. The left-tail 5% critical value with df=23 is approximately -1.714. The p-value is about 0.018. Reject H0 at 5%. The data support the claim that occupancy was lower during the repair period. This is an association in this simple regression; be careful about stronger causal language unless the research design supports it.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484864" y="0"/>
            <a:ext cx="704088" cy="6858000"/>
          </a:xfrm>
          <a:prstGeom prst="rect">
            <a:avLst/>
          </a:prstGeom>
          <a:solidFill>
            <a:srgbClr val="E9F8FB"/>
          </a:solidFill>
          <a:ln w="12700">
            <a:solidFill>
              <a:srgbClr val="E9F8FB">
                <a:alpha val="0"/>
              </a:srgbClr>
            </a:solidFill>
            <a:prstDash val="solid"/>
          </a:ln>
        </p:spPr>
        <p:txBody>
          <a:bodyPr/>
          <a:lstStyle/>
          <a:p>
            <a:endParaRPr lang="nb-NO"/>
          </a:p>
        </p:txBody>
      </p:sp>
      <p:sp>
        <p:nvSpPr>
          <p:cNvPr id="3" name="Shape 1"/>
          <p:cNvSpPr/>
          <p:nvPr/>
        </p:nvSpPr>
        <p:spPr>
          <a:xfrm>
            <a:off x="11722608" y="228600"/>
            <a:ext cx="146304" cy="6309360"/>
          </a:xfrm>
          <a:prstGeom prst="rect">
            <a:avLst/>
          </a:prstGeom>
          <a:solidFill>
            <a:srgbClr val="20B4D6">
              <a:alpha val="70000"/>
            </a:srgbClr>
          </a:solidFill>
          <a:ln w="12700">
            <a:solidFill>
              <a:srgbClr val="20B4D6">
                <a:alpha val="0"/>
              </a:srgbClr>
            </a:solidFill>
            <a:prstDash val="solid"/>
          </a:ln>
        </p:spPr>
        <p:txBody>
          <a:bodyPr/>
          <a:lstStyle/>
          <a:p>
            <a:endParaRPr lang="nb-NO"/>
          </a:p>
        </p:txBody>
      </p:sp>
      <p:sp>
        <p:nvSpPr>
          <p:cNvPr id="4" name="Text 2"/>
          <p:cNvSpPr/>
          <p:nvPr/>
        </p:nvSpPr>
        <p:spPr>
          <a:xfrm>
            <a:off x="502920" y="6556248"/>
            <a:ext cx="3657600" cy="164592"/>
          </a:xfrm>
          <a:prstGeom prst="rect">
            <a:avLst/>
          </a:prstGeom>
          <a:noFill/>
          <a:ln/>
        </p:spPr>
        <p:txBody>
          <a:bodyPr wrap="square" lIns="0" tIns="0" rIns="0" bIns="0" rtlCol="0" anchor="ctr"/>
          <a:lstStyle/>
          <a:p>
            <a:pPr marL="0" indent="0">
              <a:buNone/>
            </a:pPr>
            <a:r>
              <a:rPr lang="en-US" sz="800" dirty="0">
                <a:solidFill>
                  <a:srgbClr val="6E7C82"/>
                </a:solidFill>
                <a:latin typeface="Aptos" pitchFamily="34" charset="0"/>
                <a:ea typeface="Aptos" pitchFamily="34" charset="-122"/>
                <a:cs typeface="Aptos" pitchFamily="34" charset="-120"/>
              </a:rPr>
              <a:t>SOK-3081  •  Chapter 3</a:t>
            </a:r>
            <a:endParaRPr lang="en-US" sz="8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E7C82"/>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Tom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5524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960352" y="228600"/>
            <a:ext cx="73152" cy="6199632"/>
          </a:xfrm>
          <a:prstGeom prst="rect">
            <a:avLst/>
          </a:prstGeom>
          <a:solidFill>
            <a:srgbClr val="20B4D6"/>
          </a:solidFill>
          <a:ln w="12700">
            <a:solidFill>
              <a:srgbClr val="20B4D6"/>
            </a:solidFill>
            <a:prstDash val="solid"/>
          </a:ln>
        </p:spPr>
        <p:txBody>
          <a:bodyPr/>
          <a:lstStyle/>
          <a:p>
            <a:endParaRPr lang="en-GB"/>
          </a:p>
        </p:txBody>
      </p:sp>
      <p:sp>
        <p:nvSpPr>
          <p:cNvPr id="3" name="Text 1"/>
          <p:cNvSpPr/>
          <p:nvPr/>
        </p:nvSpPr>
        <p:spPr>
          <a:xfrm>
            <a:off x="411480" y="155448"/>
            <a:ext cx="3017520" cy="219456"/>
          </a:xfrm>
          <a:prstGeom prst="rect">
            <a:avLst/>
          </a:prstGeom>
          <a:noFill/>
          <a:ln/>
        </p:spPr>
        <p:txBody>
          <a:bodyPr wrap="square" lIns="0" tIns="0" rIns="0" bIns="0" rtlCol="0" anchor="ctr"/>
          <a:lstStyle/>
          <a:p>
            <a:pPr marL="0" indent="0">
              <a:buNone/>
            </a:pPr>
            <a:r>
              <a:rPr lang="en-US" sz="800" b="1" dirty="0">
                <a:solidFill>
                  <a:srgbClr val="20B4D6"/>
                </a:solidFill>
                <a:latin typeface="Aptos" pitchFamily="34" charset="0"/>
                <a:ea typeface="Aptos" pitchFamily="34" charset="-122"/>
                <a:cs typeface="Aptos" pitchFamily="34" charset="-120"/>
              </a:rPr>
              <a:t>SOK-3081  •  CHAPTER 3</a:t>
            </a:r>
            <a:endParaRPr lang="en-US" sz="800" dirty="0"/>
          </a:p>
        </p:txBody>
      </p:sp>
      <p:sp>
        <p:nvSpPr>
          <p:cNvPr id="4" name="Text 2"/>
          <p:cNvSpPr/>
          <p:nvPr/>
        </p:nvSpPr>
        <p:spPr>
          <a:xfrm>
            <a:off x="411480" y="6547104"/>
            <a:ext cx="2926080" cy="164592"/>
          </a:xfrm>
          <a:prstGeom prst="rect">
            <a:avLst/>
          </a:prstGeom>
          <a:noFill/>
          <a:ln/>
        </p:spPr>
        <p:txBody>
          <a:bodyPr wrap="square" lIns="0" tIns="0" rIns="0" bIns="0" rtlCol="0" anchor="ctr"/>
          <a:lstStyle/>
          <a:p>
            <a:pPr marL="0" indent="0">
              <a:buNone/>
            </a:pPr>
            <a:r>
              <a:rPr lang="en-US" sz="650" dirty="0">
                <a:solidFill>
                  <a:srgbClr val="9AA3A8"/>
                </a:solidFill>
                <a:latin typeface="Aptos" pitchFamily="34" charset="0"/>
                <a:ea typeface="Aptos" pitchFamily="34" charset="-122"/>
                <a:cs typeface="Aptos" pitchFamily="34" charset="-120"/>
              </a:rPr>
              <a:t>UiT  •  Eirik Eriksen Heen</a:t>
            </a:r>
            <a:endParaRPr lang="en-US" sz="650" dirty="0"/>
          </a:p>
        </p:txBody>
      </p:sp>
      <p:sp>
        <p:nvSpPr>
          <p:cNvPr id="25" name="Slide Number Placeholder 0"/>
          <p:cNvSpPr>
            <a:spLocks noGrp="1"/>
          </p:cNvSpPr>
          <p:nvPr>
            <p:ph type="sldNum" sz="quarter" idx="4294967295"/>
          </p:nvPr>
        </p:nvSpPr>
        <p:spPr>
          <a:xfrm>
            <a:off x="11338560" y="6519672"/>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9AA3A8"/>
                </a:solidFill>
                <a:latin typeface="Aptos"/>
                <a:ea typeface="Aptos"/>
                <a:cs typeface="Aptos"/>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2385928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tellysbil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7"/>
          <p:cNvSpPr>
            <a:spLocks noGrp="1"/>
          </p:cNvSpPr>
          <p:nvPr>
            <p:ph type="title" hasCustomPrompt="1"/>
          </p:nvPr>
        </p:nvSpPr>
        <p:spPr>
          <a:xfrm>
            <a:off x="1054464" y="1118585"/>
            <a:ext cx="6012000" cy="1811813"/>
          </a:xfrm>
        </p:spPr>
        <p:txBody>
          <a:bodyPr lIns="0" anchor="b">
            <a:normAutofit/>
          </a:bodyPr>
          <a:lstStyle>
            <a:lvl1pPr>
              <a:defRPr sz="2400" baseline="0">
                <a:solidFill>
                  <a:schemeClr val="bg1"/>
                </a:solidFill>
              </a:defRPr>
            </a:lvl1pPr>
          </a:lstStyle>
          <a:p>
            <a:r>
              <a:rPr lang="nb-NO" noProof="0" dirty="0"/>
              <a:t>Tittel dokumentet settes her</a:t>
            </a:r>
          </a:p>
        </p:txBody>
      </p:sp>
      <p:sp>
        <p:nvSpPr>
          <p:cNvPr id="4" name="Text Placeholder 3"/>
          <p:cNvSpPr>
            <a:spLocks noGrp="1"/>
          </p:cNvSpPr>
          <p:nvPr>
            <p:ph type="body" sz="quarter" idx="12" hasCustomPrompt="1"/>
          </p:nvPr>
        </p:nvSpPr>
        <p:spPr>
          <a:xfrm>
            <a:off x="1054464" y="2942591"/>
            <a:ext cx="6012000" cy="1126695"/>
          </a:xfrm>
        </p:spPr>
        <p:txBody>
          <a:bodyPr lIns="0">
            <a:noAutofit/>
          </a:bodyPr>
          <a:lstStyle>
            <a:lvl1pPr marL="0" indent="0">
              <a:buNone/>
              <a:defRPr sz="1800" i="1" baseline="0">
                <a:solidFill>
                  <a:schemeClr val="bg1"/>
                </a:solidFill>
                <a:latin typeface="Arial" panose="020B0604020202020204" pitchFamily="34" charset="0"/>
                <a:cs typeface="Arial" panose="020B0604020202020204" pitchFamily="34" charset="0"/>
              </a:defRPr>
            </a:lvl1pPr>
            <a:lvl2pPr marL="457200" indent="0">
              <a:buNone/>
              <a:defRPr sz="1800" i="1">
                <a:solidFill>
                  <a:schemeClr val="bg1"/>
                </a:solidFill>
              </a:defRPr>
            </a:lvl2pPr>
            <a:lvl3pPr marL="914400" indent="0">
              <a:buNone/>
              <a:defRPr sz="1800" i="1">
                <a:solidFill>
                  <a:schemeClr val="bg1"/>
                </a:solidFill>
              </a:defRPr>
            </a:lvl3pPr>
            <a:lvl4pPr marL="1371600" indent="0">
              <a:buNone/>
              <a:defRPr sz="1800" i="1">
                <a:solidFill>
                  <a:schemeClr val="bg1"/>
                </a:solidFill>
              </a:defRPr>
            </a:lvl4pPr>
            <a:lvl5pPr marL="1828800" indent="0">
              <a:buNone/>
              <a:defRPr sz="1800" i="1">
                <a:solidFill>
                  <a:schemeClr val="bg1"/>
                </a:solidFill>
              </a:defRPr>
            </a:lvl5pPr>
          </a:lstStyle>
          <a:p>
            <a:pPr lvl="0"/>
            <a:r>
              <a:rPr lang="nb-NO" noProof="0" dirty="0"/>
              <a:t>Her kommer en utdypning eller undertittel</a:t>
            </a:r>
          </a:p>
        </p:txBody>
      </p:sp>
      <p:sp>
        <p:nvSpPr>
          <p:cNvPr id="3" name="Subtitle 2"/>
          <p:cNvSpPr>
            <a:spLocks noGrp="1"/>
          </p:cNvSpPr>
          <p:nvPr>
            <p:ph type="subTitle" idx="1" hasCustomPrompt="1"/>
          </p:nvPr>
        </p:nvSpPr>
        <p:spPr>
          <a:xfrm>
            <a:off x="1054464" y="4208016"/>
            <a:ext cx="6012000" cy="1454784"/>
          </a:xfrm>
        </p:spPr>
        <p:txBody>
          <a:bodyPr lIns="0" anchor="b">
            <a:normAutofit/>
          </a:bodyPr>
          <a:lstStyle>
            <a:lvl1pPr marL="0" indent="0" algn="l">
              <a:buNone/>
              <a:defRPr sz="14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noProof="0" dirty="0"/>
              <a:t>Forfatters Navn og Etternavn</a:t>
            </a:r>
          </a:p>
        </p:txBody>
      </p:sp>
      <p:sp>
        <p:nvSpPr>
          <p:cNvPr id="6" name="Text Placeholder 5"/>
          <p:cNvSpPr>
            <a:spLocks noGrp="1"/>
          </p:cNvSpPr>
          <p:nvPr>
            <p:ph type="body" sz="quarter" idx="13" hasCustomPrompt="1"/>
          </p:nvPr>
        </p:nvSpPr>
        <p:spPr>
          <a:xfrm>
            <a:off x="1054464" y="5674992"/>
            <a:ext cx="6012000" cy="746878"/>
          </a:xfrm>
        </p:spPr>
        <p:txBody>
          <a:bodyPr lIns="0" tIns="0">
            <a:noAutofit/>
          </a:bodyPr>
          <a:lstStyle>
            <a:lvl1pPr marL="0" indent="0">
              <a:buNone/>
              <a:defRPr sz="1200" i="1">
                <a:solidFill>
                  <a:schemeClr val="bg1"/>
                </a:solidFill>
                <a:latin typeface="Arial" panose="020B0604020202020204" pitchFamily="34" charset="0"/>
                <a:cs typeface="Arial" panose="020B0604020202020204" pitchFamily="34" charset="0"/>
              </a:defRPr>
            </a:lvl1pPr>
            <a:lvl2pPr marL="457200" indent="0">
              <a:buNone/>
              <a:defRPr sz="1700" i="1">
                <a:solidFill>
                  <a:schemeClr val="bg1"/>
                </a:solidFill>
                <a:latin typeface="Arial" panose="020B0604020202020204" pitchFamily="34" charset="0"/>
                <a:cs typeface="Arial" panose="020B0604020202020204" pitchFamily="34" charset="0"/>
              </a:defRPr>
            </a:lvl2pPr>
            <a:lvl3pPr marL="914400" indent="0">
              <a:buNone/>
              <a:defRPr sz="1700" i="1">
                <a:solidFill>
                  <a:schemeClr val="bg1"/>
                </a:solidFill>
                <a:latin typeface="Arial" panose="020B0604020202020204" pitchFamily="34" charset="0"/>
                <a:cs typeface="Arial" panose="020B0604020202020204" pitchFamily="34" charset="0"/>
              </a:defRPr>
            </a:lvl3pPr>
            <a:lvl4pPr marL="1371600" indent="0">
              <a:buNone/>
              <a:defRPr sz="1700" i="1">
                <a:solidFill>
                  <a:schemeClr val="bg1"/>
                </a:solidFill>
                <a:latin typeface="Arial" panose="020B0604020202020204" pitchFamily="34" charset="0"/>
                <a:cs typeface="Arial" panose="020B0604020202020204" pitchFamily="34" charset="0"/>
              </a:defRPr>
            </a:lvl4pPr>
            <a:lvl5pPr marL="1828800" indent="0">
              <a:buNone/>
              <a:defRPr sz="1700" i="1">
                <a:solidFill>
                  <a:schemeClr val="bg1"/>
                </a:solidFill>
                <a:latin typeface="Arial" panose="020B0604020202020204" pitchFamily="34" charset="0"/>
                <a:cs typeface="Arial" panose="020B0604020202020204" pitchFamily="34" charset="0"/>
              </a:defRPr>
            </a:lvl5pPr>
          </a:lstStyle>
          <a:p>
            <a:pPr lvl="0"/>
            <a:r>
              <a:rPr lang="nb-NO" noProof="0" dirty="0"/>
              <a:t>Eventuelle adresser</a:t>
            </a:r>
          </a:p>
        </p:txBody>
      </p:sp>
      <p:sp>
        <p:nvSpPr>
          <p:cNvPr id="9" name="Picture Placeholder 8"/>
          <p:cNvSpPr>
            <a:spLocks noGrp="1"/>
          </p:cNvSpPr>
          <p:nvPr>
            <p:ph type="pic" sz="quarter" idx="14" hasCustomPrompt="1"/>
          </p:nvPr>
        </p:nvSpPr>
        <p:spPr>
          <a:xfrm>
            <a:off x="7448550" y="0"/>
            <a:ext cx="4743450" cy="6858000"/>
          </a:xfrm>
          <a:custGeom>
            <a:avLst/>
            <a:gdLst>
              <a:gd name="connsiteX0" fmla="*/ 0 w 4743450"/>
              <a:gd name="connsiteY0" fmla="*/ 6858000 h 6858000"/>
              <a:gd name="connsiteX1" fmla="*/ 1185863 w 4743450"/>
              <a:gd name="connsiteY1" fmla="*/ 0 h 6858000"/>
              <a:gd name="connsiteX2" fmla="*/ 4743450 w 4743450"/>
              <a:gd name="connsiteY2" fmla="*/ 0 h 6858000"/>
              <a:gd name="connsiteX3" fmla="*/ 3557588 w 4743450"/>
              <a:gd name="connsiteY3" fmla="*/ 6858000 h 6858000"/>
              <a:gd name="connsiteX4" fmla="*/ 0 w 4743450"/>
              <a:gd name="connsiteY4" fmla="*/ 6858000 h 6858000"/>
              <a:gd name="connsiteX0" fmla="*/ 0 w 4743450"/>
              <a:gd name="connsiteY0" fmla="*/ 6858000 h 6858000"/>
              <a:gd name="connsiteX1" fmla="*/ 1185863 w 4743450"/>
              <a:gd name="connsiteY1" fmla="*/ 0 h 6858000"/>
              <a:gd name="connsiteX2" fmla="*/ 4743450 w 4743450"/>
              <a:gd name="connsiteY2" fmla="*/ 0 h 6858000"/>
              <a:gd name="connsiteX3" fmla="*/ 4740212 w 4743450"/>
              <a:gd name="connsiteY3" fmla="*/ 6851904 h 6858000"/>
              <a:gd name="connsiteX4" fmla="*/ 0 w 4743450"/>
              <a:gd name="connsiteY4" fmla="*/ 6858000 h 6858000"/>
              <a:gd name="connsiteX0" fmla="*/ 0 w 4743450"/>
              <a:gd name="connsiteY0" fmla="*/ 6858000 h 6858000"/>
              <a:gd name="connsiteX1" fmla="*/ 2825687 w 4743450"/>
              <a:gd name="connsiteY1" fmla="*/ 0 h 6858000"/>
              <a:gd name="connsiteX2" fmla="*/ 4743450 w 4743450"/>
              <a:gd name="connsiteY2" fmla="*/ 0 h 6858000"/>
              <a:gd name="connsiteX3" fmla="*/ 4740212 w 4743450"/>
              <a:gd name="connsiteY3" fmla="*/ 6851904 h 6858000"/>
              <a:gd name="connsiteX4" fmla="*/ 0 w 474345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3450" h="6858000">
                <a:moveTo>
                  <a:pt x="0" y="6858000"/>
                </a:moveTo>
                <a:lnTo>
                  <a:pt x="2825687" y="0"/>
                </a:lnTo>
                <a:lnTo>
                  <a:pt x="4743450" y="0"/>
                </a:lnTo>
                <a:cubicBezTo>
                  <a:pt x="4742371" y="2283968"/>
                  <a:pt x="4741291" y="4567936"/>
                  <a:pt x="4740212" y="6851904"/>
                </a:cubicBezTo>
                <a:lnTo>
                  <a:pt x="0" y="6858000"/>
                </a:lnTo>
                <a:close/>
              </a:path>
            </a:pathLst>
          </a:custGeom>
        </p:spPr>
        <p:txBody>
          <a:bodyPr/>
          <a:lstStyle>
            <a:lvl1pPr marL="0" indent="0">
              <a:buNone/>
              <a:defRPr baseline="0">
                <a:solidFill>
                  <a:schemeClr val="bg1"/>
                </a:solidFill>
              </a:defRPr>
            </a:lvl1pPr>
          </a:lstStyle>
          <a:p>
            <a:r>
              <a:rPr lang="nb-NO" dirty="0"/>
              <a:t>Klikk på bildeikon hvis du vil legge til bilde</a:t>
            </a:r>
          </a:p>
        </p:txBody>
      </p:sp>
    </p:spTree>
    <p:extLst>
      <p:ext uri="{BB962C8B-B14F-4D97-AF65-F5344CB8AC3E}">
        <p14:creationId xmlns:p14="http://schemas.microsoft.com/office/powerpoint/2010/main" val="26515744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E7C82"/>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8" r:id="rId3"/>
    <p:sldLayoutId id="2147483659" r:id="rId4"/>
    <p:sldLayoutId id="2147483660"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5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59.png"/><Relationship Id="rId4" Type="http://schemas.openxmlformats.org/officeDocument/2006/relationships/image" Target="../media/image5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510.png"/></Relationships>
</file>

<file path=ppt/slides/_rels/slide22.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580.png"/><Relationship Id="rId3" Type="http://schemas.openxmlformats.org/officeDocument/2006/relationships/image" Target="../media/image17.jpeg"/><Relationship Id="rId7" Type="http://schemas.openxmlformats.org/officeDocument/2006/relationships/image" Target="../media/image570.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560.png"/><Relationship Id="rId5" Type="http://schemas.openxmlformats.org/officeDocument/2006/relationships/image" Target="../media/image540.png"/><Relationship Id="rId4" Type="http://schemas.openxmlformats.org/officeDocument/2006/relationships/image" Target="../media/image530.png"/></Relationships>
</file>

<file path=ppt/slides/_rels/slide3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791FC-E0EA-6C14-AC4A-823EDB6CD583}"/>
              </a:ext>
            </a:extLst>
          </p:cNvPr>
          <p:cNvSpPr>
            <a:spLocks noGrp="1"/>
          </p:cNvSpPr>
          <p:nvPr>
            <p:ph type="title"/>
          </p:nvPr>
        </p:nvSpPr>
        <p:spPr/>
        <p:txBody>
          <a:bodyPr/>
          <a:lstStyle/>
          <a:p>
            <a:pPr algn="l"/>
            <a:br>
              <a:rPr lang="nb-NO" dirty="0"/>
            </a:br>
            <a:r>
              <a:rPr lang="nb-NO" dirty="0"/>
              <a:t>Chapter 3</a:t>
            </a:r>
            <a:br>
              <a:rPr lang="nb-NO" dirty="0"/>
            </a:br>
            <a:r>
              <a:rPr lang="en-GB" dirty="0"/>
              <a:t>Hypothesis testing</a:t>
            </a:r>
            <a:endParaRPr lang="nb-NO" dirty="0"/>
          </a:p>
        </p:txBody>
      </p:sp>
      <p:sp>
        <p:nvSpPr>
          <p:cNvPr id="3" name="Text Placeholder 2">
            <a:extLst>
              <a:ext uri="{FF2B5EF4-FFF2-40B4-BE49-F238E27FC236}">
                <a16:creationId xmlns:a16="http://schemas.microsoft.com/office/drawing/2014/main" id="{23F138D2-D716-800C-7BD4-51214B3DFAEC}"/>
              </a:ext>
            </a:extLst>
          </p:cNvPr>
          <p:cNvSpPr>
            <a:spLocks noGrp="1"/>
          </p:cNvSpPr>
          <p:nvPr>
            <p:ph type="body" sz="quarter" idx="12"/>
          </p:nvPr>
        </p:nvSpPr>
        <p:spPr/>
        <p:txBody>
          <a:bodyPr/>
          <a:lstStyle/>
          <a:p>
            <a:r>
              <a:rPr lang="nb-NO" dirty="0"/>
              <a:t>Sok-3081</a:t>
            </a:r>
          </a:p>
        </p:txBody>
      </p:sp>
      <p:sp>
        <p:nvSpPr>
          <p:cNvPr id="4" name="Subtitle 3">
            <a:extLst>
              <a:ext uri="{FF2B5EF4-FFF2-40B4-BE49-F238E27FC236}">
                <a16:creationId xmlns:a16="http://schemas.microsoft.com/office/drawing/2014/main" id="{060DF337-25AD-4C8F-F889-34F9AAC6B3AC}"/>
              </a:ext>
            </a:extLst>
          </p:cNvPr>
          <p:cNvSpPr>
            <a:spLocks noGrp="1"/>
          </p:cNvSpPr>
          <p:nvPr>
            <p:ph type="subTitle" idx="1"/>
          </p:nvPr>
        </p:nvSpPr>
        <p:spPr/>
        <p:txBody>
          <a:bodyPr/>
          <a:lstStyle/>
          <a:p>
            <a:r>
              <a:rPr lang="nb-NO" b="1" dirty="0">
                <a:latin typeface="Arial"/>
                <a:cs typeface="Arial"/>
              </a:rPr>
              <a:t>Eirik Eriksen Heen</a:t>
            </a:r>
          </a:p>
        </p:txBody>
      </p:sp>
      <p:sp>
        <p:nvSpPr>
          <p:cNvPr id="5" name="Text Placeholder 4">
            <a:extLst>
              <a:ext uri="{FF2B5EF4-FFF2-40B4-BE49-F238E27FC236}">
                <a16:creationId xmlns:a16="http://schemas.microsoft.com/office/drawing/2014/main" id="{95AD11E3-1ED0-02B1-5A28-928F899FCB2F}"/>
              </a:ext>
            </a:extLst>
          </p:cNvPr>
          <p:cNvSpPr>
            <a:spLocks noGrp="1"/>
          </p:cNvSpPr>
          <p:nvPr>
            <p:ph type="body" sz="quarter" idx="13"/>
          </p:nvPr>
        </p:nvSpPr>
        <p:spPr/>
        <p:txBody>
          <a:bodyPr/>
          <a:lstStyle/>
          <a:p>
            <a:r>
              <a:rPr lang="nb-NO" dirty="0"/>
              <a:t>25. September 2026</a:t>
            </a:r>
          </a:p>
          <a:p>
            <a:endParaRPr lang="nb-NO" dirty="0"/>
          </a:p>
        </p:txBody>
      </p:sp>
      <p:pic>
        <p:nvPicPr>
          <p:cNvPr id="10" name="Plassholder for bilde 9">
            <a:extLst>
              <a:ext uri="{FF2B5EF4-FFF2-40B4-BE49-F238E27FC236}">
                <a16:creationId xmlns:a16="http://schemas.microsoft.com/office/drawing/2014/main" id="{D4F8A7F8-162D-C8D2-9C8C-B43CD09556A7}"/>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28015" r="28015"/>
          <a:stretch>
            <a:fillRect/>
          </a:stretch>
        </p:blipFill>
        <p:spPr>
          <a:custGeom>
            <a:avLst/>
            <a:gdLst>
              <a:gd name="connsiteX0" fmla="*/ 0 w 4743450"/>
              <a:gd name="connsiteY0" fmla="*/ 6858000 h 6858000"/>
              <a:gd name="connsiteX1" fmla="*/ 1185863 w 4743450"/>
              <a:gd name="connsiteY1" fmla="*/ 0 h 6858000"/>
              <a:gd name="connsiteX2" fmla="*/ 4743450 w 4743450"/>
              <a:gd name="connsiteY2" fmla="*/ 0 h 6858000"/>
              <a:gd name="connsiteX3" fmla="*/ 3557588 w 4743450"/>
              <a:gd name="connsiteY3" fmla="*/ 6858000 h 6858000"/>
              <a:gd name="connsiteX4" fmla="*/ 0 w 4743450"/>
              <a:gd name="connsiteY4" fmla="*/ 6858000 h 6858000"/>
              <a:gd name="connsiteX0" fmla="*/ 0 w 4743450"/>
              <a:gd name="connsiteY0" fmla="*/ 6858000 h 6858000"/>
              <a:gd name="connsiteX1" fmla="*/ 1185863 w 4743450"/>
              <a:gd name="connsiteY1" fmla="*/ 0 h 6858000"/>
              <a:gd name="connsiteX2" fmla="*/ 4743450 w 4743450"/>
              <a:gd name="connsiteY2" fmla="*/ 0 h 6858000"/>
              <a:gd name="connsiteX3" fmla="*/ 4740212 w 4743450"/>
              <a:gd name="connsiteY3" fmla="*/ 6851904 h 6858000"/>
              <a:gd name="connsiteX4" fmla="*/ 0 w 4743450"/>
              <a:gd name="connsiteY4" fmla="*/ 6858000 h 6858000"/>
              <a:gd name="connsiteX0" fmla="*/ 0 w 4743450"/>
              <a:gd name="connsiteY0" fmla="*/ 6858000 h 6858000"/>
              <a:gd name="connsiteX1" fmla="*/ 2825687 w 4743450"/>
              <a:gd name="connsiteY1" fmla="*/ 0 h 6858000"/>
              <a:gd name="connsiteX2" fmla="*/ 4743450 w 4743450"/>
              <a:gd name="connsiteY2" fmla="*/ 0 h 6858000"/>
              <a:gd name="connsiteX3" fmla="*/ 4740212 w 4743450"/>
              <a:gd name="connsiteY3" fmla="*/ 6851904 h 6858000"/>
              <a:gd name="connsiteX4" fmla="*/ 0 w 474345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3450" h="6858000">
                <a:moveTo>
                  <a:pt x="0" y="6858000"/>
                </a:moveTo>
                <a:lnTo>
                  <a:pt x="2825687" y="0"/>
                </a:lnTo>
                <a:lnTo>
                  <a:pt x="4743450" y="0"/>
                </a:lnTo>
                <a:cubicBezTo>
                  <a:pt x="4742371" y="2283968"/>
                  <a:pt x="4741291" y="4567936"/>
                  <a:pt x="4740212" y="6851904"/>
                </a:cubicBezTo>
                <a:lnTo>
                  <a:pt x="0" y="6858000"/>
                </a:lnTo>
                <a:close/>
              </a:path>
            </a:pathLst>
          </a:custGeom>
        </p:spPr>
      </p:pic>
    </p:spTree>
    <p:extLst>
      <p:ext uri="{BB962C8B-B14F-4D97-AF65-F5344CB8AC3E}">
        <p14:creationId xmlns:p14="http://schemas.microsoft.com/office/powerpoint/2010/main" val="1407515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4114800" cy="256032"/>
          </a:xfrm>
          <a:prstGeom prst="rect">
            <a:avLst/>
          </a:prstGeom>
          <a:noFill/>
        </p:spPr>
        <p:txBody>
          <a:bodyPr wrap="none">
            <a:spAutoFit/>
          </a:bodyPr>
          <a:lstStyle/>
          <a:p>
            <a:pPr>
              <a:defRPr sz="900" b="1">
                <a:solidFill>
                  <a:srgbClr val="20B4D6"/>
                </a:solidFill>
              </a:defRPr>
            </a:pPr>
            <a:r>
              <a:t>HYPOTHESIS TESTING</a:t>
            </a:r>
          </a:p>
        </p:txBody>
      </p:sp>
      <p:sp>
        <p:nvSpPr>
          <p:cNvPr id="3" name="TextBox 2"/>
          <p:cNvSpPr txBox="1"/>
          <p:nvPr/>
        </p:nvSpPr>
        <p:spPr>
          <a:xfrm>
            <a:off x="548640" y="530352"/>
            <a:ext cx="10972800" cy="566928"/>
          </a:xfrm>
          <a:prstGeom prst="rect">
            <a:avLst/>
          </a:prstGeom>
          <a:noFill/>
        </p:spPr>
        <p:txBody>
          <a:bodyPr wrap="none">
            <a:spAutoFit/>
          </a:bodyPr>
          <a:lstStyle/>
          <a:p>
            <a:pPr>
              <a:defRPr sz="2600">
                <a:solidFill>
                  <a:srgbClr val="1F2D33"/>
                </a:solidFill>
              </a:defRPr>
            </a:pPr>
            <a:r>
              <a:t>A simple example: is Daniel cheating?</a:t>
            </a:r>
          </a:p>
        </p:txBody>
      </p:sp>
      <p:sp>
        <p:nvSpPr>
          <p:cNvPr id="4" name="Rectangle 3"/>
          <p:cNvSpPr/>
          <p:nvPr/>
        </p:nvSpPr>
        <p:spPr>
          <a:xfrm>
            <a:off x="548640" y="1133856"/>
            <a:ext cx="10698480" cy="22860"/>
          </a:xfrm>
          <a:prstGeom prst="rect">
            <a:avLst/>
          </a:prstGeom>
          <a:solidFill>
            <a:srgbClr val="20B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14400" y="1554480"/>
            <a:ext cx="1097280" cy="1097280"/>
          </a:xfrm>
          <a:prstGeom prst="ellipse">
            <a:avLst/>
          </a:prstGeom>
          <a:solidFill>
            <a:srgbClr val="DDF4F9"/>
          </a:solidFill>
          <a:ln>
            <a:solidFill>
              <a:srgbClr val="00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679192"/>
            <a:ext cx="1280160" cy="320040"/>
          </a:xfrm>
          <a:prstGeom prst="rect">
            <a:avLst/>
          </a:prstGeom>
          <a:noFill/>
        </p:spPr>
        <p:txBody>
          <a:bodyPr wrap="none">
            <a:spAutoFit/>
          </a:bodyPr>
          <a:lstStyle/>
          <a:p>
            <a:pPr algn="ctr">
              <a:defRPr sz="1400" b="0">
                <a:solidFill>
                  <a:srgbClr val="1F2D33"/>
                </a:solidFill>
              </a:defRPr>
            </a:pPr>
            <a:r>
              <a:t>Adam</a:t>
            </a:r>
          </a:p>
        </p:txBody>
      </p:sp>
      <p:sp>
        <p:nvSpPr>
          <p:cNvPr id="7" name="Oval 6"/>
          <p:cNvSpPr/>
          <p:nvPr/>
        </p:nvSpPr>
        <p:spPr>
          <a:xfrm>
            <a:off x="2971800" y="1554480"/>
            <a:ext cx="1097280" cy="1097280"/>
          </a:xfrm>
          <a:prstGeom prst="ellipse">
            <a:avLst/>
          </a:prstGeom>
          <a:solidFill>
            <a:srgbClr val="DDF4F9"/>
          </a:solidFill>
          <a:ln>
            <a:solidFill>
              <a:srgbClr val="00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80360" y="2679192"/>
            <a:ext cx="1280160" cy="320040"/>
          </a:xfrm>
          <a:prstGeom prst="rect">
            <a:avLst/>
          </a:prstGeom>
          <a:noFill/>
        </p:spPr>
        <p:txBody>
          <a:bodyPr wrap="none">
            <a:spAutoFit/>
          </a:bodyPr>
          <a:lstStyle/>
          <a:p>
            <a:pPr algn="ctr">
              <a:defRPr sz="1400" b="0">
                <a:solidFill>
                  <a:srgbClr val="1F2D33"/>
                </a:solidFill>
              </a:defRPr>
            </a:pPr>
            <a:r>
              <a:t>Bernt</a:t>
            </a:r>
          </a:p>
        </p:txBody>
      </p:sp>
      <p:sp>
        <p:nvSpPr>
          <p:cNvPr id="9" name="Oval 8"/>
          <p:cNvSpPr/>
          <p:nvPr/>
        </p:nvSpPr>
        <p:spPr>
          <a:xfrm>
            <a:off x="5029200" y="1554480"/>
            <a:ext cx="1097280" cy="1097280"/>
          </a:xfrm>
          <a:prstGeom prst="ellipse">
            <a:avLst/>
          </a:prstGeom>
          <a:solidFill>
            <a:srgbClr val="DDF4F9"/>
          </a:solidFill>
          <a:ln>
            <a:solidFill>
              <a:srgbClr val="00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37760" y="2679192"/>
            <a:ext cx="1280160" cy="320040"/>
          </a:xfrm>
          <a:prstGeom prst="rect">
            <a:avLst/>
          </a:prstGeom>
          <a:noFill/>
        </p:spPr>
        <p:txBody>
          <a:bodyPr wrap="none">
            <a:spAutoFit/>
          </a:bodyPr>
          <a:lstStyle/>
          <a:p>
            <a:pPr algn="ctr">
              <a:defRPr sz="1400" b="0">
                <a:solidFill>
                  <a:srgbClr val="1F2D33"/>
                </a:solidFill>
              </a:defRPr>
            </a:pPr>
            <a:r>
              <a:t>Camilla</a:t>
            </a:r>
          </a:p>
        </p:txBody>
      </p:sp>
      <p:sp>
        <p:nvSpPr>
          <p:cNvPr id="13" name="Rounded Rectangle 12"/>
          <p:cNvSpPr/>
          <p:nvPr/>
        </p:nvSpPr>
        <p:spPr>
          <a:xfrm>
            <a:off x="868680" y="3246120"/>
            <a:ext cx="4892040" cy="2057400"/>
          </a:xfrm>
          <a:prstGeom prst="roundRect">
            <a:avLst/>
          </a:prstGeom>
          <a:solidFill>
            <a:srgbClr val="DDF4F9"/>
          </a:solidFill>
          <a:ln>
            <a:solidFill>
              <a:srgbClr val="DDF4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3447288"/>
            <a:ext cx="4434840" cy="1343958"/>
          </a:xfrm>
          <a:prstGeom prst="rect">
            <a:avLst/>
          </a:prstGeom>
          <a:noFill/>
        </p:spPr>
        <p:txBody>
          <a:bodyPr wrap="square">
            <a:spAutoFit/>
          </a:bodyPr>
          <a:lstStyle/>
          <a:p>
            <a:pPr marL="285750" indent="-285750">
              <a:spcAft>
                <a:spcPts val="800"/>
              </a:spcAft>
              <a:buFont typeface="Arial" panose="020B0604020202020204" pitchFamily="34" charset="0"/>
              <a:buChar char="•"/>
              <a:defRPr sz="1700">
                <a:solidFill>
                  <a:srgbClr val="1F2D33"/>
                </a:solidFill>
              </a:defRPr>
            </a:pPr>
            <a:r>
              <a:rPr dirty="0"/>
              <a:t>Four siblings, four slips of paper.</a:t>
            </a:r>
          </a:p>
          <a:p>
            <a:pPr marL="285750" indent="-285750">
              <a:spcAft>
                <a:spcPts val="800"/>
              </a:spcAft>
              <a:buFont typeface="Arial" panose="020B0604020202020204" pitchFamily="34" charset="0"/>
              <a:buChar char="•"/>
              <a:defRPr sz="1700">
                <a:solidFill>
                  <a:srgbClr val="1F2D33"/>
                </a:solidFill>
              </a:defRPr>
            </a:pPr>
            <a:r>
              <a:rPr dirty="0"/>
              <a:t>Each day one name is drawn. That person does the dishes.</a:t>
            </a:r>
          </a:p>
          <a:p>
            <a:pPr marL="285750" indent="-285750">
              <a:spcAft>
                <a:spcPts val="800"/>
              </a:spcAft>
              <a:buFont typeface="Arial" panose="020B0604020202020204" pitchFamily="34" charset="0"/>
              <a:buChar char="•"/>
              <a:defRPr sz="1700">
                <a:solidFill>
                  <a:srgbClr val="1F2D33"/>
                </a:solidFill>
              </a:defRPr>
            </a:pPr>
            <a:r>
              <a:rPr dirty="0"/>
              <a:t>Daniel draws the slips.</a:t>
            </a:r>
          </a:p>
        </p:txBody>
      </p:sp>
      <p:sp>
        <p:nvSpPr>
          <p:cNvPr id="15" name="TextBox 14"/>
          <p:cNvSpPr txBox="1"/>
          <p:nvPr/>
        </p:nvSpPr>
        <p:spPr>
          <a:xfrm>
            <a:off x="6126480" y="3291840"/>
            <a:ext cx="5029200" cy="1174681"/>
          </a:xfrm>
          <a:prstGeom prst="rect">
            <a:avLst/>
          </a:prstGeom>
          <a:noFill/>
        </p:spPr>
        <p:txBody>
          <a:bodyPr wrap="square">
            <a:spAutoFit/>
          </a:bodyPr>
          <a:lstStyle/>
          <a:p>
            <a:pPr>
              <a:defRPr sz="1800" b="1">
                <a:solidFill>
                  <a:srgbClr val="D71920"/>
                </a:solidFill>
              </a:defRPr>
            </a:pPr>
            <a:r>
              <a:rPr dirty="0"/>
              <a:t>Question</a:t>
            </a:r>
          </a:p>
          <a:p>
            <a:pPr>
              <a:spcBef>
                <a:spcPts val="1000"/>
              </a:spcBef>
              <a:defRPr sz="2200" b="1">
                <a:solidFill>
                  <a:srgbClr val="1F2D33"/>
                </a:solidFill>
              </a:defRPr>
            </a:pPr>
            <a:r>
              <a:rPr dirty="0"/>
              <a:t>How surprising would it be if Daniel avoided the dishes again and again?</a:t>
            </a:r>
          </a:p>
        </p:txBody>
      </p:sp>
      <p:sp>
        <p:nvSpPr>
          <p:cNvPr id="16" name="TextBox 15"/>
          <p:cNvSpPr txBox="1"/>
          <p:nvPr/>
        </p:nvSpPr>
        <p:spPr>
          <a:xfrm>
            <a:off x="566928" y="6446520"/>
            <a:ext cx="3657600" cy="182880"/>
          </a:xfrm>
          <a:prstGeom prst="rect">
            <a:avLst/>
          </a:prstGeom>
          <a:noFill/>
        </p:spPr>
        <p:txBody>
          <a:bodyPr wrap="none">
            <a:spAutoFit/>
          </a:bodyPr>
          <a:lstStyle/>
          <a:p>
            <a:pPr>
              <a:defRPr sz="800">
                <a:solidFill>
                  <a:srgbClr val="00566B"/>
                </a:solidFill>
              </a:defRPr>
            </a:pPr>
            <a:r>
              <a:t>SOK-3081  •  Chapter 3</a:t>
            </a:r>
          </a:p>
        </p:txBody>
      </p:sp>
      <p:pic>
        <p:nvPicPr>
          <p:cNvPr id="19" name="Picture 5">
            <a:extLst>
              <a:ext uri="{FF2B5EF4-FFF2-40B4-BE49-F238E27FC236}">
                <a16:creationId xmlns:a16="http://schemas.microsoft.com/office/drawing/2014/main" id="{5EC276D0-30CD-3C24-1897-9EF04E646CEC}"/>
              </a:ext>
            </a:extLst>
          </p:cNvPr>
          <p:cNvPicPr>
            <a:picLocks noChangeAspect="1"/>
          </p:cNvPicPr>
          <p:nvPr/>
        </p:nvPicPr>
        <p:blipFill>
          <a:blip r:embed="rId3"/>
          <a:stretch>
            <a:fillRect/>
          </a:stretch>
        </p:blipFill>
        <p:spPr>
          <a:xfrm>
            <a:off x="895187" y="1174936"/>
            <a:ext cx="5883565" cy="1900564"/>
          </a:xfrm>
          <a:prstGeom prst="rect">
            <a:avLst/>
          </a:prstGeom>
        </p:spPr>
      </p:pic>
      <p:pic>
        <p:nvPicPr>
          <p:cNvPr id="21" name="Picture 4">
            <a:extLst>
              <a:ext uri="{FF2B5EF4-FFF2-40B4-BE49-F238E27FC236}">
                <a16:creationId xmlns:a16="http://schemas.microsoft.com/office/drawing/2014/main" id="{2C5058B8-163E-7F7C-4330-38F9C52B38DF}"/>
              </a:ext>
            </a:extLst>
          </p:cNvPr>
          <p:cNvPicPr>
            <a:picLocks noChangeAspect="1"/>
          </p:cNvPicPr>
          <p:nvPr/>
        </p:nvPicPr>
        <p:blipFill>
          <a:blip r:embed="rId4"/>
          <a:stretch>
            <a:fillRect/>
          </a:stretch>
        </p:blipFill>
        <p:spPr>
          <a:xfrm>
            <a:off x="9669023" y="4829587"/>
            <a:ext cx="1749300" cy="1616933"/>
          </a:xfrm>
          <a:prstGeom prst="rect">
            <a:avLst/>
          </a:prstGeom>
        </p:spPr>
      </p:pic>
      <mc:AlternateContent xmlns:mc="http://schemas.openxmlformats.org/markup-compatibility/2006" xmlns:a14="http://schemas.microsoft.com/office/drawing/2010/main">
        <mc:Choice Requires="a14">
          <p:sp>
            <p:nvSpPr>
              <p:cNvPr id="23" name="TekstSylinder 22">
                <a:extLst>
                  <a:ext uri="{FF2B5EF4-FFF2-40B4-BE49-F238E27FC236}">
                    <a16:creationId xmlns:a16="http://schemas.microsoft.com/office/drawing/2014/main" id="{902AE23C-6B0C-4C16-BBC3-699B35AD8F0C}"/>
                  </a:ext>
                </a:extLst>
              </p:cNvPr>
              <p:cNvSpPr txBox="1"/>
              <p:nvPr/>
            </p:nvSpPr>
            <p:spPr>
              <a:xfrm>
                <a:off x="7860775" y="1711018"/>
                <a:ext cx="3616496" cy="634789"/>
              </a:xfrm>
              <a:prstGeom prst="rect">
                <a:avLst/>
              </a:prstGeom>
              <a:noFill/>
            </p:spPr>
            <p:txBody>
              <a:bodyPr wrap="square">
                <a:spAutoFit/>
              </a:bodyPr>
              <a:lstStyle/>
              <a:p>
                <a:pPr/>
                <a14:m>
                  <m:oMathPara xmlns:m="http://schemas.openxmlformats.org/officeDocument/2006/math">
                    <m:oMath>
                      <m:r>
                        <a:rPr lang="nb-NO" sz="1800" i="1" dirty="0" smtClean="0">
                          <a:latin typeface="Cambria Math" panose="02040503050406030204" pitchFamily="18" charset="0"/>
                        </a:rPr>
                        <m:t>𝑃</m:t>
                      </m:r>
                      <m:d>
                        <m:dPr>
                          <m:ctrlPr>
                            <a:rPr lang="nb-NO" sz="1800" b="0" i="1" dirty="0" smtClean="0">
                              <a:latin typeface="Cambria Math" panose="02040503050406030204" pitchFamily="18" charset="0"/>
                            </a:rPr>
                          </m:ctrlPr>
                        </m:dPr>
                        <m:e>
                          <m:r>
                            <a:rPr lang="nb-NO" sz="1800" b="0" i="1" dirty="0" smtClean="0">
                              <a:latin typeface="Cambria Math" panose="02040503050406030204" pitchFamily="18" charset="0"/>
                            </a:rPr>
                            <m:t>𝐷𝑎𝑛𝑖𝑒𝑙𝑙</m:t>
                          </m:r>
                        </m:e>
                      </m:d>
                      <m:r>
                        <a:rPr lang="nb-NO" sz="1800" b="0" i="1" dirty="0" smtClean="0">
                          <a:latin typeface="Cambria Math" panose="02040503050406030204" pitchFamily="18" charset="0"/>
                        </a:rPr>
                        <m:t>=</m:t>
                      </m:r>
                      <m:f>
                        <m:fPr>
                          <m:ctrlPr>
                            <a:rPr lang="nb-NO" sz="1800" b="0" i="1" dirty="0" smtClean="0">
                              <a:latin typeface="Cambria Math" panose="02040503050406030204" pitchFamily="18" charset="0"/>
                            </a:rPr>
                          </m:ctrlPr>
                        </m:fPr>
                        <m:num>
                          <m:r>
                            <a:rPr lang="nb-NO" sz="1800" b="0" i="1" dirty="0" smtClean="0">
                              <a:latin typeface="Cambria Math" panose="02040503050406030204" pitchFamily="18" charset="0"/>
                            </a:rPr>
                            <m:t>1</m:t>
                          </m:r>
                        </m:num>
                        <m:den>
                          <m:r>
                            <a:rPr lang="nb-NO" sz="1800" b="0" i="1" dirty="0" smtClean="0">
                              <a:latin typeface="Cambria Math" panose="02040503050406030204" pitchFamily="18" charset="0"/>
                            </a:rPr>
                            <m:t>4</m:t>
                          </m:r>
                        </m:den>
                      </m:f>
                      <m:r>
                        <a:rPr lang="nb-NO" sz="1800" b="0" i="1" dirty="0" smtClean="0">
                          <a:latin typeface="Cambria Math" panose="02040503050406030204" pitchFamily="18" charset="0"/>
                        </a:rPr>
                        <m:t>=0.25</m:t>
                      </m:r>
                      <m:r>
                        <a:rPr lang="nb-NO" sz="1800" i="1" dirty="0">
                          <a:latin typeface="Cambria Math" panose="02040503050406030204" pitchFamily="18" charset="0"/>
                        </a:rPr>
                        <m:t> </m:t>
                      </m:r>
                    </m:oMath>
                  </m:oMathPara>
                </a14:m>
                <a:endParaRPr/>
              </a:p>
            </p:txBody>
          </p:sp>
        </mc:Choice>
        <mc:Fallback xmlns="">
          <p:sp>
            <p:nvSpPr>
              <p:cNvPr id="23" name="TekstSylinder 22">
                <a:extLst>
                  <a:ext uri="{FF2B5EF4-FFF2-40B4-BE49-F238E27FC236}">
                    <a16:creationId xmlns:a16="http://schemas.microsoft.com/office/drawing/2014/main" id="{902AE23C-6B0C-4C16-BBC3-699B35AD8F0C}"/>
                  </a:ext>
                </a:extLst>
              </p:cNvPr>
              <p:cNvSpPr txBox="1">
                <a:spLocks noRot="1" noChangeAspect="1" noMove="1" noResize="1" noEditPoints="1" noAdjustHandles="1" noChangeArrowheads="1" noChangeShapeType="1" noTextEdit="1"/>
              </p:cNvSpPr>
              <p:nvPr/>
            </p:nvSpPr>
            <p:spPr>
              <a:xfrm>
                <a:off x="7860775" y="1711018"/>
                <a:ext cx="3616496" cy="634789"/>
              </a:xfrm>
              <a:prstGeom prst="rect">
                <a:avLst/>
              </a:prstGeom>
              <a:blipFill>
                <a:blip r:embed="rId5"/>
                <a:stretch>
                  <a:fillRect/>
                </a:stretch>
              </a:blipFill>
            </p:spPr>
            <p:txBody>
              <a:bodyPr/>
              <a:lstStyle/>
              <a:p>
                <a:r>
                  <a:rPr lang="nb-NO">
                    <a:noFill/>
                  </a:rPr>
                  <a:t> </a:t>
                </a:r>
              </a:p>
            </p:txBody>
          </p:sp>
        </mc:Fallback>
      </mc:AlternateContent>
      <mc:AlternateContent xmlns:mc="http://schemas.openxmlformats.org/markup-compatibility/2006" xmlns:a14="http://schemas.microsoft.com/office/drawing/2010/main">
        <mc:Choice Requires="a14">
          <p:sp>
            <p:nvSpPr>
              <p:cNvPr id="25" name="TekstSylinder 24">
                <a:extLst>
                  <a:ext uri="{FF2B5EF4-FFF2-40B4-BE49-F238E27FC236}">
                    <a16:creationId xmlns:a16="http://schemas.microsoft.com/office/drawing/2014/main" id="{6E8733D3-538C-6AFB-E704-6D9ACAE8864E}"/>
                  </a:ext>
                </a:extLst>
              </p:cNvPr>
              <p:cNvSpPr txBox="1"/>
              <p:nvPr/>
            </p:nvSpPr>
            <p:spPr>
              <a:xfrm>
                <a:off x="7860775" y="2345807"/>
                <a:ext cx="3616496" cy="634789"/>
              </a:xfrm>
              <a:prstGeom prst="rect">
                <a:avLst/>
              </a:prstGeom>
              <a:noFill/>
            </p:spPr>
            <p:txBody>
              <a:bodyPr wrap="square">
                <a:spAutoFit/>
              </a:bodyPr>
              <a:lstStyle/>
              <a:p>
                <a:pPr/>
                <a14:m>
                  <m:oMathPara xmlns:m="http://schemas.openxmlformats.org/officeDocument/2006/math">
                    <m:oMath>
                      <m:r>
                        <a:rPr lang="nb-NO" sz="1800" i="1" dirty="0" smtClean="0">
                          <a:latin typeface="Cambria Math" panose="02040503050406030204" pitchFamily="18" charset="0"/>
                        </a:rPr>
                        <m:t>𝑃</m:t>
                      </m:r>
                      <m:d>
                        <m:dPr>
                          <m:ctrlPr>
                            <a:rPr lang="nb-NO" i="1" dirty="0">
                              <a:latin typeface="Cambria Math" panose="02040503050406030204" pitchFamily="18" charset="0"/>
                            </a:rPr>
                          </m:ctrlPr>
                        </m:dPr>
                        <m:e>
                          <m:acc>
                            <m:accPr>
                              <m:chr m:val="̅"/>
                              <m:ctrlPr>
                                <a:rPr lang="nb-NO" i="1" dirty="0">
                                  <a:latin typeface="Cambria Math" panose="02040503050406030204" pitchFamily="18" charset="0"/>
                                </a:rPr>
                              </m:ctrlPr>
                            </m:accPr>
                            <m:e>
                              <m:r>
                                <a:rPr lang="nb-NO" i="1" dirty="0">
                                  <a:latin typeface="Cambria Math" panose="02040503050406030204" pitchFamily="18" charset="0"/>
                                </a:rPr>
                                <m:t>𝐷𝑎𝑛𝑖𝑒𝑙𝑙</m:t>
                              </m:r>
                            </m:e>
                          </m:acc>
                        </m:e>
                      </m:d>
                      <m:r>
                        <a:rPr lang="nb-NO" sz="1800" b="0" i="1" dirty="0" smtClean="0">
                          <a:latin typeface="Cambria Math" panose="02040503050406030204" pitchFamily="18" charset="0"/>
                        </a:rPr>
                        <m:t>=</m:t>
                      </m:r>
                      <m:f>
                        <m:fPr>
                          <m:ctrlPr>
                            <a:rPr lang="nb-NO" sz="1800" b="0" i="1" dirty="0" smtClean="0">
                              <a:latin typeface="Cambria Math" panose="02040503050406030204" pitchFamily="18" charset="0"/>
                            </a:rPr>
                          </m:ctrlPr>
                        </m:fPr>
                        <m:num>
                          <m:r>
                            <a:rPr lang="nb-NO" sz="1800" b="0" i="1" dirty="0" smtClean="0">
                              <a:latin typeface="Cambria Math" panose="02040503050406030204" pitchFamily="18" charset="0"/>
                            </a:rPr>
                            <m:t>3</m:t>
                          </m:r>
                        </m:num>
                        <m:den>
                          <m:r>
                            <a:rPr lang="nb-NO" sz="1800" b="0" i="1" dirty="0" smtClean="0">
                              <a:latin typeface="Cambria Math" panose="02040503050406030204" pitchFamily="18" charset="0"/>
                            </a:rPr>
                            <m:t>4</m:t>
                          </m:r>
                        </m:den>
                      </m:f>
                      <m:r>
                        <a:rPr lang="nb-NO" sz="1800" b="0" i="1" dirty="0" smtClean="0">
                          <a:latin typeface="Cambria Math" panose="02040503050406030204" pitchFamily="18" charset="0"/>
                        </a:rPr>
                        <m:t>=0.75</m:t>
                      </m:r>
                      <m:r>
                        <a:rPr lang="nb-NO" sz="1800" i="1" dirty="0">
                          <a:latin typeface="Cambria Math" panose="02040503050406030204" pitchFamily="18" charset="0"/>
                        </a:rPr>
                        <m:t> </m:t>
                      </m:r>
                    </m:oMath>
                  </m:oMathPara>
                </a14:m>
                <a:endParaRPr dirty="0"/>
              </a:p>
            </p:txBody>
          </p:sp>
        </mc:Choice>
        <mc:Fallback xmlns="">
          <p:sp>
            <p:nvSpPr>
              <p:cNvPr id="25" name="TekstSylinder 24">
                <a:extLst>
                  <a:ext uri="{FF2B5EF4-FFF2-40B4-BE49-F238E27FC236}">
                    <a16:creationId xmlns:a16="http://schemas.microsoft.com/office/drawing/2014/main" id="{6E8733D3-538C-6AFB-E704-6D9ACAE8864E}"/>
                  </a:ext>
                </a:extLst>
              </p:cNvPr>
              <p:cNvSpPr txBox="1">
                <a:spLocks noRot="1" noChangeAspect="1" noMove="1" noResize="1" noEditPoints="1" noAdjustHandles="1" noChangeArrowheads="1" noChangeShapeType="1" noTextEdit="1"/>
              </p:cNvSpPr>
              <p:nvPr/>
            </p:nvSpPr>
            <p:spPr>
              <a:xfrm>
                <a:off x="7860775" y="2345807"/>
                <a:ext cx="3616496" cy="634789"/>
              </a:xfrm>
              <a:prstGeom prst="rect">
                <a:avLst/>
              </a:prstGeom>
              <a:blipFill>
                <a:blip r:embed="rId6"/>
                <a:stretch>
                  <a:fillRect/>
                </a:stretch>
              </a:blipFill>
            </p:spPr>
            <p:txBody>
              <a:bodyPr/>
              <a:lstStyle/>
              <a:p>
                <a:r>
                  <a:rPr lang="nb-NO">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4114800" cy="256032"/>
          </a:xfrm>
          <a:prstGeom prst="rect">
            <a:avLst/>
          </a:prstGeom>
          <a:noFill/>
        </p:spPr>
        <p:txBody>
          <a:bodyPr wrap="none">
            <a:spAutoFit/>
          </a:bodyPr>
          <a:lstStyle/>
          <a:p>
            <a:pPr>
              <a:defRPr sz="900" b="1">
                <a:solidFill>
                  <a:srgbClr val="20B4D6"/>
                </a:solidFill>
              </a:defRPr>
            </a:pPr>
            <a:r>
              <a:t>A FIRST INTUITION</a:t>
            </a:r>
          </a:p>
        </p:txBody>
      </p:sp>
      <p:sp>
        <p:nvSpPr>
          <p:cNvPr id="3" name="TextBox 2"/>
          <p:cNvSpPr txBox="1"/>
          <p:nvPr/>
        </p:nvSpPr>
        <p:spPr>
          <a:xfrm>
            <a:off x="548640" y="530352"/>
            <a:ext cx="10972800" cy="566928"/>
          </a:xfrm>
          <a:prstGeom prst="rect">
            <a:avLst/>
          </a:prstGeom>
          <a:noFill/>
        </p:spPr>
        <p:txBody>
          <a:bodyPr wrap="none">
            <a:spAutoFit/>
          </a:bodyPr>
          <a:lstStyle/>
          <a:p>
            <a:pPr>
              <a:defRPr sz="2600">
                <a:solidFill>
                  <a:srgbClr val="1F2D33"/>
                </a:solidFill>
              </a:defRPr>
            </a:pPr>
            <a:r>
              <a:t>How suspicious should we be?</a:t>
            </a:r>
          </a:p>
        </p:txBody>
      </p:sp>
      <p:sp>
        <p:nvSpPr>
          <p:cNvPr id="4" name="Rectangle 3"/>
          <p:cNvSpPr/>
          <p:nvPr/>
        </p:nvSpPr>
        <p:spPr>
          <a:xfrm>
            <a:off x="548640" y="1133856"/>
            <a:ext cx="10698480" cy="22860"/>
          </a:xfrm>
          <a:prstGeom prst="rect">
            <a:avLst/>
          </a:prstGeom>
          <a:solidFill>
            <a:srgbClr val="20B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22960" y="1600200"/>
            <a:ext cx="4572000" cy="2880360"/>
          </a:xfrm>
          <a:prstGeom prst="roundRect">
            <a:avLst/>
          </a:prstGeom>
          <a:solidFill>
            <a:srgbClr val="DDF4F9"/>
          </a:solidFill>
          <a:ln>
            <a:solidFill>
              <a:srgbClr val="20B4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611131" y="1874519"/>
            <a:ext cx="995657" cy="430887"/>
          </a:xfrm>
          <a:prstGeom prst="rect">
            <a:avLst/>
          </a:prstGeom>
          <a:noFill/>
        </p:spPr>
        <p:txBody>
          <a:bodyPr wrap="none">
            <a:spAutoFit/>
          </a:bodyPr>
          <a:lstStyle/>
          <a:p>
            <a:pPr algn="ctr">
              <a:defRPr sz="2200" b="1">
                <a:solidFill>
                  <a:srgbClr val="1F2D33"/>
                </a:solidFill>
              </a:defRPr>
            </a:pPr>
            <a:r>
              <a:rPr lang="nb-NO" dirty="0"/>
              <a:t>4</a:t>
            </a:r>
            <a:r>
              <a:rPr dirty="0"/>
              <a:t> days</a:t>
            </a:r>
          </a:p>
        </p:txBody>
      </p:sp>
      <mc:AlternateContent xmlns:mc="http://schemas.openxmlformats.org/markup-compatibility/2006" xmlns:a14="http://schemas.microsoft.com/office/drawing/2010/main">
        <mc:Choice Requires="a14">
          <p:sp>
            <p:nvSpPr>
              <p:cNvPr id="7" name="TextBox 6"/>
              <p:cNvSpPr txBox="1"/>
              <p:nvPr/>
            </p:nvSpPr>
            <p:spPr>
              <a:xfrm>
                <a:off x="1850347" y="2387219"/>
                <a:ext cx="2517228" cy="1155445"/>
              </a:xfrm>
              <a:prstGeom prst="rect">
                <a:avLst/>
              </a:prstGeom>
              <a:noFill/>
            </p:spPr>
            <p:txBody>
              <a:bodyPr wrap="none">
                <a:spAutoFit/>
              </a:bodyPr>
              <a:lstStyle/>
              <a:p>
                <a:pPr algn="ctr">
                  <a:defRPr sz="2800" b="1">
                    <a:solidFill>
                      <a:srgbClr val="00566B"/>
                    </a:solidFill>
                  </a:defRPr>
                </a:pPr>
                <a14:m>
                  <m:oMathPara xmlns:m="http://schemas.openxmlformats.org/officeDocument/2006/math">
                    <m:oMath>
                      <m:sSup>
                        <m:sSupPr>
                          <m:ctrlPr>
                            <a:rPr lang="ar-AE" b="1" i="1" smtClean="0">
                              <a:latin typeface="Cambria Math" panose="02040503050406030204" pitchFamily="18" charset="0"/>
                            </a:rPr>
                          </m:ctrlPr>
                        </m:sSupPr>
                        <m:e>
                          <m:d>
                            <m:dPr>
                              <m:ctrlPr>
                                <a:rPr lang="ar-AE" b="1" i="1" smtClean="0">
                                  <a:latin typeface="Cambria Math" panose="02040503050406030204" pitchFamily="18" charset="0"/>
                                </a:rPr>
                              </m:ctrlPr>
                            </m:dPr>
                            <m:e>
                              <m:f>
                                <m:fPr>
                                  <m:ctrlPr>
                                    <a:rPr lang="ar-AE" b="1" i="1" smtClean="0">
                                      <a:latin typeface="Cambria Math" panose="02040503050406030204" pitchFamily="18" charset="0"/>
                                    </a:rPr>
                                  </m:ctrlPr>
                                </m:fPr>
                                <m:num>
                                  <m:r>
                                    <a:rPr lang="ar-AE" b="1" i="1" smtClean="0">
                                      <a:latin typeface="Cambria Math" panose="02040503050406030204" pitchFamily="18" charset="0"/>
                                    </a:rPr>
                                    <m:t>𝟑</m:t>
                                  </m:r>
                                </m:num>
                                <m:den>
                                  <m:r>
                                    <a:rPr lang="nb-NO" b="1" i="1" smtClean="0">
                                      <a:latin typeface="Cambria Math" panose="02040503050406030204" pitchFamily="18" charset="0"/>
                                    </a:rPr>
                                    <m:t>𝟒</m:t>
                                  </m:r>
                                </m:den>
                              </m:f>
                            </m:e>
                          </m:d>
                        </m:e>
                        <m:sup>
                          <m:r>
                            <a:rPr lang="nb-NO" b="1" i="1" smtClean="0">
                              <a:latin typeface="Cambria Math" panose="02040503050406030204" pitchFamily="18" charset="0"/>
                            </a:rPr>
                            <m:t>𝟒</m:t>
                          </m:r>
                        </m:sup>
                      </m:sSup>
                      <m:r>
                        <a:rPr lang="nb-NO" b="1" i="1" smtClean="0">
                          <a:latin typeface="Cambria Math" panose="02040503050406030204" pitchFamily="18" charset="0"/>
                          <a:ea typeface="Cambria Math" panose="02040503050406030204" pitchFamily="18" charset="0"/>
                        </a:rPr>
                        <m:t>≈</m:t>
                      </m:r>
                      <m:r>
                        <a:rPr lang="nb-NO" b="1" i="0" smtClean="0">
                          <a:latin typeface="Cambria Math" panose="02040503050406030204" pitchFamily="18" charset="0"/>
                        </a:rPr>
                        <m:t>𝟎</m:t>
                      </m:r>
                      <m:r>
                        <a:rPr lang="nb-NO" b="1" i="0" smtClean="0">
                          <a:latin typeface="Cambria Math" panose="02040503050406030204" pitchFamily="18" charset="0"/>
                        </a:rPr>
                        <m:t>.</m:t>
                      </m:r>
                      <m:r>
                        <a:rPr lang="nb-NO" b="1" i="0" smtClean="0">
                          <a:latin typeface="Cambria Math" panose="02040503050406030204" pitchFamily="18" charset="0"/>
                        </a:rPr>
                        <m:t>𝟑𝟏𝟔</m:t>
                      </m:r>
                    </m:oMath>
                  </m:oMathPara>
                </a14:m>
                <a:endParaRPr dirty="0"/>
              </a:p>
            </p:txBody>
          </p:sp>
        </mc:Choice>
        <mc:Fallback xmlns="">
          <p:sp>
            <p:nvSpPr>
              <p:cNvPr id="7" name="TextBox 6"/>
              <p:cNvSpPr txBox="1">
                <a:spLocks noRot="1" noChangeAspect="1" noMove="1" noResize="1" noEditPoints="1" noAdjustHandles="1" noChangeArrowheads="1" noChangeShapeType="1" noTextEdit="1"/>
              </p:cNvSpPr>
              <p:nvPr/>
            </p:nvSpPr>
            <p:spPr>
              <a:xfrm>
                <a:off x="1850347" y="2387219"/>
                <a:ext cx="2517228" cy="1155445"/>
              </a:xfrm>
              <a:prstGeom prst="rect">
                <a:avLst/>
              </a:prstGeom>
              <a:blipFill>
                <a:blip r:embed="rId3"/>
                <a:stretch>
                  <a:fillRect/>
                </a:stretch>
              </a:blipFill>
            </p:spPr>
            <p:txBody>
              <a:bodyPr/>
              <a:lstStyle/>
              <a:p>
                <a:r>
                  <a:rPr lang="nb-NO">
                    <a:noFill/>
                  </a:rPr>
                  <a:t> </a:t>
                </a:r>
              </a:p>
            </p:txBody>
          </p:sp>
        </mc:Fallback>
      </mc:AlternateContent>
      <p:sp>
        <p:nvSpPr>
          <p:cNvPr id="8" name="TextBox 7"/>
          <p:cNvSpPr txBox="1"/>
          <p:nvPr/>
        </p:nvSpPr>
        <p:spPr>
          <a:xfrm>
            <a:off x="1097279" y="3791376"/>
            <a:ext cx="4023360" cy="457200"/>
          </a:xfrm>
          <a:prstGeom prst="rect">
            <a:avLst/>
          </a:prstGeom>
          <a:noFill/>
        </p:spPr>
        <p:txBody>
          <a:bodyPr wrap="none">
            <a:spAutoFit/>
          </a:bodyPr>
          <a:lstStyle/>
          <a:p>
            <a:pPr algn="ctr">
              <a:defRPr sz="1700">
                <a:solidFill>
                  <a:srgbClr val="1F2D33"/>
                </a:solidFill>
              </a:defRPr>
            </a:pPr>
            <a:r>
              <a:rPr dirty="0"/>
              <a:t>Not especially surprising</a:t>
            </a:r>
          </a:p>
        </p:txBody>
      </p:sp>
      <p:sp>
        <p:nvSpPr>
          <p:cNvPr id="9" name="Rounded Rectangle 8"/>
          <p:cNvSpPr/>
          <p:nvPr/>
        </p:nvSpPr>
        <p:spPr>
          <a:xfrm>
            <a:off x="6172200" y="1600200"/>
            <a:ext cx="4572000" cy="2880360"/>
          </a:xfrm>
          <a:prstGeom prst="roundRect">
            <a:avLst/>
          </a:prstGeom>
          <a:solidFill>
            <a:srgbClr val="FFF1F2"/>
          </a:solidFill>
          <a:ln>
            <a:solidFill>
              <a:srgbClr val="D719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874519"/>
            <a:ext cx="4023360" cy="411480"/>
          </a:xfrm>
          <a:prstGeom prst="rect">
            <a:avLst/>
          </a:prstGeom>
          <a:noFill/>
        </p:spPr>
        <p:txBody>
          <a:bodyPr wrap="none">
            <a:spAutoFit/>
          </a:bodyPr>
          <a:lstStyle/>
          <a:p>
            <a:pPr algn="ctr">
              <a:defRPr sz="2200" b="1">
                <a:solidFill>
                  <a:srgbClr val="1F2D33"/>
                </a:solidFill>
              </a:defRPr>
            </a:pPr>
            <a:r>
              <a:t>12 days</a:t>
            </a:r>
          </a:p>
        </p:txBody>
      </p:sp>
      <mc:AlternateContent xmlns:mc="http://schemas.openxmlformats.org/markup-compatibility/2006" xmlns:a14="http://schemas.microsoft.com/office/drawing/2010/main">
        <mc:Choice Requires="a14">
          <p:sp>
            <p:nvSpPr>
              <p:cNvPr id="11" name="TextBox 10"/>
              <p:cNvSpPr txBox="1"/>
              <p:nvPr/>
            </p:nvSpPr>
            <p:spPr>
              <a:xfrm>
                <a:off x="7121040" y="2560320"/>
                <a:ext cx="2674322" cy="1156599"/>
              </a:xfrm>
              <a:prstGeom prst="rect">
                <a:avLst/>
              </a:prstGeom>
              <a:noFill/>
            </p:spPr>
            <p:txBody>
              <a:bodyPr wrap="none">
                <a:spAutoFit/>
              </a:bodyPr>
              <a:lstStyle/>
              <a:p>
                <a:pPr algn="ctr">
                  <a:defRPr sz="2800" b="1">
                    <a:solidFill>
                      <a:srgbClr val="D71920"/>
                    </a:solidFill>
                  </a:defRPr>
                </a:pPr>
                <a14:m>
                  <m:oMathPara xmlns:m="http://schemas.openxmlformats.org/officeDocument/2006/math">
                    <m:oMath>
                      <m:sSup>
                        <m:sSupPr>
                          <m:ctrlPr>
                            <a:rPr lang="ar-AE" b="1" i="1">
                              <a:latin typeface="Cambria Math" panose="02040503050406030204" pitchFamily="18" charset="0"/>
                            </a:rPr>
                          </m:ctrlPr>
                        </m:sSupPr>
                        <m:e>
                          <m:d>
                            <m:dPr>
                              <m:ctrlPr>
                                <a:rPr lang="ar-AE" b="1" i="1">
                                  <a:latin typeface="Cambria Math" panose="02040503050406030204" pitchFamily="18" charset="0"/>
                                </a:rPr>
                              </m:ctrlPr>
                            </m:dPr>
                            <m:e>
                              <m:f>
                                <m:fPr>
                                  <m:ctrlPr>
                                    <a:rPr lang="ar-AE" b="1" i="1">
                                      <a:latin typeface="Cambria Math" panose="02040503050406030204" pitchFamily="18" charset="0"/>
                                    </a:rPr>
                                  </m:ctrlPr>
                                </m:fPr>
                                <m:num>
                                  <m:r>
                                    <a:rPr lang="ar-AE" b="1" i="1">
                                      <a:latin typeface="Cambria Math" panose="02040503050406030204" pitchFamily="18" charset="0"/>
                                    </a:rPr>
                                    <m:t>𝟑</m:t>
                                  </m:r>
                                </m:num>
                                <m:den>
                                  <m:r>
                                    <a:rPr lang="ar-AE" b="1" i="1">
                                      <a:latin typeface="Cambria Math" panose="02040503050406030204" pitchFamily="18" charset="0"/>
                                    </a:rPr>
                                    <m:t>𝟒</m:t>
                                  </m:r>
                                </m:den>
                              </m:f>
                            </m:e>
                          </m:d>
                        </m:e>
                        <m:sup>
                          <m:r>
                            <a:rPr lang="nb-NO" b="1" i="1" smtClean="0">
                              <a:latin typeface="Cambria Math" panose="02040503050406030204" pitchFamily="18" charset="0"/>
                            </a:rPr>
                            <m:t>𝟏𝟐</m:t>
                          </m:r>
                        </m:sup>
                      </m:sSup>
                      <m:r>
                        <a:rPr lang="ar-AE" b="1" i="1" smtClean="0">
                          <a:latin typeface="Cambria Math" panose="02040503050406030204" pitchFamily="18" charset="0"/>
                          <a:ea typeface="Cambria Math" panose="02040503050406030204" pitchFamily="18" charset="0"/>
                        </a:rPr>
                        <m:t>≈</m:t>
                      </m:r>
                      <m:r>
                        <a:rPr lang="ar-AE" b="1">
                          <a:latin typeface="Cambria Math" panose="02040503050406030204" pitchFamily="18" charset="0"/>
                        </a:rPr>
                        <m:t>𝟎</m:t>
                      </m:r>
                      <m:r>
                        <a:rPr lang="ar-AE" b="1">
                          <a:latin typeface="Cambria Math" panose="02040503050406030204" pitchFamily="18" charset="0"/>
                        </a:rPr>
                        <m:t>.</m:t>
                      </m:r>
                      <m:r>
                        <a:rPr lang="nb-NO" b="1" i="0" smtClean="0">
                          <a:latin typeface="Cambria Math" panose="02040503050406030204" pitchFamily="18" charset="0"/>
                        </a:rPr>
                        <m:t>𝟎𝟑𝟐</m:t>
                      </m:r>
                    </m:oMath>
                  </m:oMathPara>
                </a14:m>
                <a:endParaRPr dirty="0"/>
              </a:p>
            </p:txBody>
          </p:sp>
        </mc:Choice>
        <mc:Fallback xmlns="">
          <p:sp>
            <p:nvSpPr>
              <p:cNvPr id="11" name="TextBox 10"/>
              <p:cNvSpPr txBox="1">
                <a:spLocks noRot="1" noChangeAspect="1" noMove="1" noResize="1" noEditPoints="1" noAdjustHandles="1" noChangeArrowheads="1" noChangeShapeType="1" noTextEdit="1"/>
              </p:cNvSpPr>
              <p:nvPr/>
            </p:nvSpPr>
            <p:spPr>
              <a:xfrm>
                <a:off x="7121040" y="2560320"/>
                <a:ext cx="2674322" cy="1156599"/>
              </a:xfrm>
              <a:prstGeom prst="rect">
                <a:avLst/>
              </a:prstGeom>
              <a:blipFill>
                <a:blip r:embed="rId4"/>
                <a:stretch>
                  <a:fillRect/>
                </a:stretch>
              </a:blipFill>
            </p:spPr>
            <p:txBody>
              <a:bodyPr/>
              <a:lstStyle/>
              <a:p>
                <a:r>
                  <a:rPr lang="nb-NO">
                    <a:noFill/>
                  </a:rPr>
                  <a:t> </a:t>
                </a:r>
              </a:p>
            </p:txBody>
          </p:sp>
        </mc:Fallback>
      </mc:AlternateContent>
      <p:sp>
        <p:nvSpPr>
          <p:cNvPr id="12" name="TextBox 11"/>
          <p:cNvSpPr txBox="1"/>
          <p:nvPr/>
        </p:nvSpPr>
        <p:spPr>
          <a:xfrm>
            <a:off x="6446520" y="3791376"/>
            <a:ext cx="4023360" cy="457200"/>
          </a:xfrm>
          <a:prstGeom prst="rect">
            <a:avLst/>
          </a:prstGeom>
          <a:noFill/>
        </p:spPr>
        <p:txBody>
          <a:bodyPr wrap="none">
            <a:spAutoFit/>
          </a:bodyPr>
          <a:lstStyle/>
          <a:p>
            <a:pPr algn="ctr">
              <a:defRPr sz="1700">
                <a:solidFill>
                  <a:srgbClr val="1F2D33"/>
                </a:solidFill>
              </a:defRPr>
            </a:pPr>
            <a:r>
              <a:rPr dirty="0"/>
              <a:t>Much more surprising</a:t>
            </a:r>
          </a:p>
        </p:txBody>
      </p:sp>
      <p:sp>
        <p:nvSpPr>
          <p:cNvPr id="13" name="TextBox 12"/>
          <p:cNvSpPr txBox="1"/>
          <p:nvPr/>
        </p:nvSpPr>
        <p:spPr>
          <a:xfrm>
            <a:off x="130629" y="4892040"/>
            <a:ext cx="11792197" cy="415498"/>
          </a:xfrm>
          <a:prstGeom prst="rect">
            <a:avLst/>
          </a:prstGeom>
          <a:noFill/>
        </p:spPr>
        <p:txBody>
          <a:bodyPr wrap="square">
            <a:spAutoFit/>
          </a:bodyPr>
          <a:lstStyle/>
          <a:p>
            <a:pPr algn="ctr">
              <a:defRPr sz="2100" b="1">
                <a:solidFill>
                  <a:srgbClr val="1F2D33"/>
                </a:solidFill>
              </a:defRPr>
            </a:pPr>
            <a:r>
              <a:rPr dirty="0"/>
              <a:t>At what point does an unlikely outcome become evidence against the “fair drawing” story?</a:t>
            </a:r>
          </a:p>
        </p:txBody>
      </p:sp>
      <p:sp>
        <p:nvSpPr>
          <p:cNvPr id="14" name="TextBox 13"/>
          <p:cNvSpPr txBox="1"/>
          <p:nvPr/>
        </p:nvSpPr>
        <p:spPr>
          <a:xfrm>
            <a:off x="566928" y="6446520"/>
            <a:ext cx="3657600" cy="182880"/>
          </a:xfrm>
          <a:prstGeom prst="rect">
            <a:avLst/>
          </a:prstGeom>
          <a:noFill/>
        </p:spPr>
        <p:txBody>
          <a:bodyPr wrap="none">
            <a:spAutoFit/>
          </a:bodyPr>
          <a:lstStyle/>
          <a:p>
            <a:pPr>
              <a:defRPr sz="800">
                <a:solidFill>
                  <a:srgbClr val="00566B"/>
                </a:solidFill>
              </a:defRPr>
            </a:pPr>
            <a:r>
              <a:t>SOK-3081  •  Chapter 3</a:t>
            </a:r>
          </a:p>
        </p:txBody>
      </p:sp>
      <p:sp>
        <p:nvSpPr>
          <p:cNvPr id="16" name="Ellipse 15">
            <a:extLst>
              <a:ext uri="{FF2B5EF4-FFF2-40B4-BE49-F238E27FC236}">
                <a16:creationId xmlns:a16="http://schemas.microsoft.com/office/drawing/2014/main" id="{E212BC8B-A482-D701-6A08-46228B01C8E2}"/>
              </a:ext>
            </a:extLst>
          </p:cNvPr>
          <p:cNvSpPr/>
          <p:nvPr/>
        </p:nvSpPr>
        <p:spPr>
          <a:xfrm>
            <a:off x="10467377" y="184198"/>
            <a:ext cx="1354914" cy="627398"/>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GB" dirty="0"/>
              <a:t>Lab 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4114800" cy="256032"/>
          </a:xfrm>
          <a:prstGeom prst="rect">
            <a:avLst/>
          </a:prstGeom>
          <a:noFill/>
        </p:spPr>
        <p:txBody>
          <a:bodyPr wrap="none">
            <a:spAutoFit/>
          </a:bodyPr>
          <a:lstStyle/>
          <a:p>
            <a:pPr>
              <a:defRPr sz="900" b="1">
                <a:solidFill>
                  <a:srgbClr val="20B4D6"/>
                </a:solidFill>
              </a:defRPr>
            </a:pPr>
            <a:r>
              <a:t>EXPERIMENT</a:t>
            </a:r>
          </a:p>
        </p:txBody>
      </p:sp>
      <p:sp>
        <p:nvSpPr>
          <p:cNvPr id="3" name="TextBox 2"/>
          <p:cNvSpPr txBox="1"/>
          <p:nvPr/>
        </p:nvSpPr>
        <p:spPr>
          <a:xfrm>
            <a:off x="548640" y="530352"/>
            <a:ext cx="10972800" cy="566928"/>
          </a:xfrm>
          <a:prstGeom prst="rect">
            <a:avLst/>
          </a:prstGeom>
          <a:noFill/>
        </p:spPr>
        <p:txBody>
          <a:bodyPr wrap="none">
            <a:spAutoFit/>
          </a:bodyPr>
          <a:lstStyle/>
          <a:p>
            <a:pPr>
              <a:defRPr sz="2600">
                <a:solidFill>
                  <a:srgbClr val="1F2D33"/>
                </a:solidFill>
              </a:defRPr>
            </a:pPr>
            <a:r>
              <a:t>Run the drawing for 100 days</a:t>
            </a:r>
          </a:p>
        </p:txBody>
      </p:sp>
      <p:sp>
        <p:nvSpPr>
          <p:cNvPr id="4" name="Rectangle 3"/>
          <p:cNvSpPr/>
          <p:nvPr/>
        </p:nvSpPr>
        <p:spPr>
          <a:xfrm>
            <a:off x="548640" y="1133856"/>
            <a:ext cx="10698480" cy="22860"/>
          </a:xfrm>
          <a:prstGeom prst="rect">
            <a:avLst/>
          </a:prstGeom>
          <a:solidFill>
            <a:srgbClr val="20B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14400" y="1554480"/>
            <a:ext cx="2377440" cy="1417320"/>
          </a:xfrm>
          <a:prstGeom prst="roundRect">
            <a:avLst/>
          </a:prstGeom>
          <a:solidFill>
            <a:srgbClr val="F6F8F9"/>
          </a:solidFill>
          <a:ln>
            <a:solidFill>
              <a:srgbClr val="DDF4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1737360"/>
            <a:ext cx="2103120" cy="502920"/>
          </a:xfrm>
          <a:prstGeom prst="rect">
            <a:avLst/>
          </a:prstGeom>
          <a:noFill/>
        </p:spPr>
        <p:txBody>
          <a:bodyPr wrap="none">
            <a:spAutoFit/>
          </a:bodyPr>
          <a:lstStyle/>
          <a:p>
            <a:pPr algn="ctr">
              <a:defRPr sz="3000" b="1">
                <a:solidFill>
                  <a:srgbClr val="00566B"/>
                </a:solidFill>
              </a:defRPr>
            </a:pPr>
            <a:r>
              <a:t>100</a:t>
            </a:r>
          </a:p>
        </p:txBody>
      </p:sp>
      <p:sp>
        <p:nvSpPr>
          <p:cNvPr id="7" name="TextBox 6"/>
          <p:cNvSpPr txBox="1"/>
          <p:nvPr/>
        </p:nvSpPr>
        <p:spPr>
          <a:xfrm>
            <a:off x="1051560" y="2286000"/>
            <a:ext cx="2103120" cy="411480"/>
          </a:xfrm>
          <a:prstGeom prst="rect">
            <a:avLst/>
          </a:prstGeom>
          <a:noFill/>
        </p:spPr>
        <p:txBody>
          <a:bodyPr wrap="none">
            <a:spAutoFit/>
          </a:bodyPr>
          <a:lstStyle/>
          <a:p>
            <a:pPr algn="ctr">
              <a:defRPr sz="1300">
                <a:solidFill>
                  <a:srgbClr val="1F2D33"/>
                </a:solidFill>
              </a:defRPr>
            </a:pPr>
            <a:r>
              <a:t>days</a:t>
            </a:r>
          </a:p>
        </p:txBody>
      </p:sp>
      <p:sp>
        <p:nvSpPr>
          <p:cNvPr id="8" name="Rounded Rectangle 7"/>
          <p:cNvSpPr/>
          <p:nvPr/>
        </p:nvSpPr>
        <p:spPr>
          <a:xfrm>
            <a:off x="3977639" y="1554480"/>
            <a:ext cx="2926080" cy="1417320"/>
          </a:xfrm>
          <a:prstGeom prst="roundRect">
            <a:avLst/>
          </a:prstGeom>
          <a:solidFill>
            <a:srgbClr val="F6F8F9"/>
          </a:solidFill>
          <a:ln>
            <a:solidFill>
              <a:srgbClr val="DDF4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0" y="1737360"/>
            <a:ext cx="2651760" cy="502920"/>
          </a:xfrm>
          <a:prstGeom prst="rect">
            <a:avLst/>
          </a:prstGeom>
          <a:noFill/>
        </p:spPr>
        <p:txBody>
          <a:bodyPr wrap="none">
            <a:spAutoFit/>
          </a:bodyPr>
          <a:lstStyle/>
          <a:p>
            <a:pPr algn="ctr">
              <a:defRPr sz="3000" b="1">
                <a:solidFill>
                  <a:srgbClr val="00566B"/>
                </a:solidFill>
              </a:defRPr>
            </a:pPr>
            <a:r>
              <a:t>22</a:t>
            </a:r>
          </a:p>
        </p:txBody>
      </p:sp>
      <p:sp>
        <p:nvSpPr>
          <p:cNvPr id="10" name="TextBox 9"/>
          <p:cNvSpPr txBox="1"/>
          <p:nvPr/>
        </p:nvSpPr>
        <p:spPr>
          <a:xfrm>
            <a:off x="4114800" y="2286000"/>
            <a:ext cx="2651760" cy="411480"/>
          </a:xfrm>
          <a:prstGeom prst="rect">
            <a:avLst/>
          </a:prstGeom>
          <a:noFill/>
        </p:spPr>
        <p:txBody>
          <a:bodyPr wrap="none">
            <a:spAutoFit/>
          </a:bodyPr>
          <a:lstStyle/>
          <a:p>
            <a:pPr algn="ctr">
              <a:defRPr sz="1300">
                <a:solidFill>
                  <a:srgbClr val="1F2D33"/>
                </a:solidFill>
              </a:defRPr>
            </a:pPr>
            <a:r>
              <a:t>times Daniel does the dishes</a:t>
            </a:r>
          </a:p>
        </p:txBody>
      </p:sp>
      <p:sp>
        <p:nvSpPr>
          <p:cNvPr id="11" name="Rounded Rectangle 10"/>
          <p:cNvSpPr/>
          <p:nvPr/>
        </p:nvSpPr>
        <p:spPr>
          <a:xfrm>
            <a:off x="7452360" y="1554480"/>
            <a:ext cx="2377440" cy="1417320"/>
          </a:xfrm>
          <a:prstGeom prst="roundRect">
            <a:avLst/>
          </a:prstGeom>
          <a:solidFill>
            <a:srgbClr val="F6F8F9"/>
          </a:solidFill>
          <a:ln>
            <a:solidFill>
              <a:srgbClr val="DDF4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20" y="1737360"/>
            <a:ext cx="2103120" cy="502920"/>
          </a:xfrm>
          <a:prstGeom prst="rect">
            <a:avLst/>
          </a:prstGeom>
          <a:noFill/>
        </p:spPr>
        <p:txBody>
          <a:bodyPr wrap="none">
            <a:spAutoFit/>
          </a:bodyPr>
          <a:lstStyle/>
          <a:p>
            <a:pPr algn="ctr">
              <a:defRPr sz="3000" b="1">
                <a:solidFill>
                  <a:srgbClr val="00566B"/>
                </a:solidFill>
              </a:defRPr>
            </a:pPr>
            <a:r>
              <a:t>25</a:t>
            </a:r>
          </a:p>
        </p:txBody>
      </p:sp>
      <p:sp>
        <p:nvSpPr>
          <p:cNvPr id="13" name="TextBox 12"/>
          <p:cNvSpPr txBox="1"/>
          <p:nvPr/>
        </p:nvSpPr>
        <p:spPr>
          <a:xfrm>
            <a:off x="7589520" y="2286000"/>
            <a:ext cx="2103120" cy="411480"/>
          </a:xfrm>
          <a:prstGeom prst="rect">
            <a:avLst/>
          </a:prstGeom>
          <a:noFill/>
        </p:spPr>
        <p:txBody>
          <a:bodyPr wrap="none">
            <a:spAutoFit/>
          </a:bodyPr>
          <a:lstStyle/>
          <a:p>
            <a:pPr algn="ctr">
              <a:defRPr sz="1300">
                <a:solidFill>
                  <a:srgbClr val="1F2D33"/>
                </a:solidFill>
              </a:defRPr>
            </a:pPr>
            <a:r>
              <a:t>expected under a fair draw</a:t>
            </a:r>
          </a:p>
        </p:txBody>
      </p:sp>
      <p:sp>
        <p:nvSpPr>
          <p:cNvPr id="14" name="TextBox 13"/>
          <p:cNvSpPr txBox="1"/>
          <p:nvPr/>
        </p:nvSpPr>
        <p:spPr>
          <a:xfrm>
            <a:off x="914400" y="3337560"/>
            <a:ext cx="10241280" cy="960120"/>
          </a:xfrm>
          <a:prstGeom prst="rect">
            <a:avLst/>
          </a:prstGeom>
          <a:noFill/>
        </p:spPr>
        <p:txBody>
          <a:bodyPr wrap="none">
            <a:spAutoFit/>
          </a:bodyPr>
          <a:lstStyle/>
          <a:p>
            <a:pPr algn="ctr">
              <a:defRPr sz="2100" b="1">
                <a:solidFill>
                  <a:srgbClr val="1F2D33"/>
                </a:solidFill>
              </a:defRPr>
            </a:pPr>
            <a:r>
              <a:rPr dirty="0"/>
              <a:t>If the draw is fair, what is the probability that Daniel is selected 22 times or fewer?</a:t>
            </a:r>
          </a:p>
          <a:p>
            <a:pPr algn="ctr">
              <a:spcBef>
                <a:spcPts val="800"/>
              </a:spcBef>
              <a:defRPr sz="2600" b="1">
                <a:solidFill>
                  <a:srgbClr val="00566B"/>
                </a:solidFill>
              </a:defRPr>
            </a:pPr>
            <a:r>
              <a:rPr dirty="0"/>
              <a:t>P(X ≤ 22 | p = 0.25) ≈ 0.27</a:t>
            </a:r>
          </a:p>
        </p:txBody>
      </p:sp>
      <p:sp>
        <p:nvSpPr>
          <p:cNvPr id="15" name="Rounded Rectangle 14"/>
          <p:cNvSpPr/>
          <p:nvPr/>
        </p:nvSpPr>
        <p:spPr>
          <a:xfrm>
            <a:off x="1508166" y="4663440"/>
            <a:ext cx="9037122" cy="777240"/>
          </a:xfrm>
          <a:prstGeom prst="roundRect">
            <a:avLst/>
          </a:prstGeom>
          <a:solidFill>
            <a:srgbClr val="DDF4F9"/>
          </a:solidFill>
          <a:ln>
            <a:solidFill>
              <a:srgbClr val="DDF4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40280" y="4828032"/>
            <a:ext cx="7680960" cy="411480"/>
          </a:xfrm>
          <a:prstGeom prst="rect">
            <a:avLst/>
          </a:prstGeom>
          <a:noFill/>
        </p:spPr>
        <p:txBody>
          <a:bodyPr wrap="none">
            <a:spAutoFit/>
          </a:bodyPr>
          <a:lstStyle/>
          <a:p>
            <a:pPr algn="ctr">
              <a:defRPr sz="1600">
                <a:solidFill>
                  <a:srgbClr val="1F2D33"/>
                </a:solidFill>
              </a:defRPr>
            </a:pPr>
            <a:r>
              <a:t>Why “22 or fewer”? Outcomes even further in the suspicious direction also count as evidence.</a:t>
            </a:r>
          </a:p>
        </p:txBody>
      </p:sp>
      <p:sp>
        <p:nvSpPr>
          <p:cNvPr id="17" name="TextBox 16"/>
          <p:cNvSpPr txBox="1"/>
          <p:nvPr/>
        </p:nvSpPr>
        <p:spPr>
          <a:xfrm>
            <a:off x="566928" y="6446520"/>
            <a:ext cx="3657600" cy="182880"/>
          </a:xfrm>
          <a:prstGeom prst="rect">
            <a:avLst/>
          </a:prstGeom>
          <a:noFill/>
        </p:spPr>
        <p:txBody>
          <a:bodyPr wrap="none">
            <a:spAutoFit/>
          </a:bodyPr>
          <a:lstStyle/>
          <a:p>
            <a:pPr>
              <a:defRPr sz="800">
                <a:solidFill>
                  <a:srgbClr val="00566B"/>
                </a:solidFill>
              </a:defRPr>
            </a:pPr>
            <a:r>
              <a:t>SOK-3081  •  Chapter 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4114800" cy="256032"/>
          </a:xfrm>
          <a:prstGeom prst="rect">
            <a:avLst/>
          </a:prstGeom>
          <a:noFill/>
        </p:spPr>
        <p:txBody>
          <a:bodyPr wrap="none">
            <a:spAutoFit/>
          </a:bodyPr>
          <a:lstStyle/>
          <a:p>
            <a:pPr>
              <a:defRPr sz="900" b="1">
                <a:solidFill>
                  <a:srgbClr val="20B4D6"/>
                </a:solidFill>
              </a:defRPr>
            </a:pPr>
            <a:r>
              <a:t>THE HYPOTHESIS TEST</a:t>
            </a:r>
          </a:p>
        </p:txBody>
      </p:sp>
      <p:sp>
        <p:nvSpPr>
          <p:cNvPr id="3" name="TextBox 2"/>
          <p:cNvSpPr txBox="1"/>
          <p:nvPr/>
        </p:nvSpPr>
        <p:spPr>
          <a:xfrm>
            <a:off x="548640" y="530352"/>
            <a:ext cx="2674130" cy="492443"/>
          </a:xfrm>
          <a:prstGeom prst="rect">
            <a:avLst/>
          </a:prstGeom>
          <a:noFill/>
        </p:spPr>
        <p:txBody>
          <a:bodyPr wrap="none">
            <a:spAutoFit/>
          </a:bodyPr>
          <a:lstStyle/>
          <a:p>
            <a:pPr>
              <a:defRPr sz="2600">
                <a:solidFill>
                  <a:srgbClr val="1F2D33"/>
                </a:solidFill>
              </a:defRPr>
            </a:pPr>
            <a:r>
              <a:rPr lang="nb-NO" dirty="0"/>
              <a:t>T</a:t>
            </a:r>
            <a:r>
              <a:rPr dirty="0"/>
              <a:t>he logic of a test</a:t>
            </a:r>
          </a:p>
        </p:txBody>
      </p:sp>
      <p:sp>
        <p:nvSpPr>
          <p:cNvPr id="4" name="Rectangle 3"/>
          <p:cNvSpPr/>
          <p:nvPr/>
        </p:nvSpPr>
        <p:spPr>
          <a:xfrm>
            <a:off x="548640" y="1133856"/>
            <a:ext cx="10698480" cy="22860"/>
          </a:xfrm>
          <a:prstGeom prst="rect">
            <a:avLst/>
          </a:prstGeom>
          <a:solidFill>
            <a:srgbClr val="20B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22960" y="1600200"/>
            <a:ext cx="4572000" cy="2286000"/>
          </a:xfrm>
          <a:prstGeom prst="roundRect">
            <a:avLst/>
          </a:prstGeom>
          <a:solidFill>
            <a:srgbClr val="DDF4F9"/>
          </a:solidFill>
          <a:ln>
            <a:solidFill>
              <a:srgbClr val="DDF4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828800"/>
            <a:ext cx="4023360" cy="384048"/>
          </a:xfrm>
          <a:prstGeom prst="rect">
            <a:avLst/>
          </a:prstGeom>
          <a:noFill/>
        </p:spPr>
        <p:txBody>
          <a:bodyPr wrap="none">
            <a:spAutoFit/>
          </a:bodyPr>
          <a:lstStyle/>
          <a:p>
            <a:pPr algn="ctr">
              <a:defRPr sz="1800" b="1">
                <a:solidFill>
                  <a:srgbClr val="00566B"/>
                </a:solidFill>
              </a:defRPr>
            </a:pPr>
            <a:r>
              <a:t>Null hypothesis</a:t>
            </a:r>
          </a:p>
        </p:txBody>
      </p:sp>
      <p:sp>
        <p:nvSpPr>
          <p:cNvPr id="7" name="TextBox 6"/>
          <p:cNvSpPr txBox="1"/>
          <p:nvPr/>
        </p:nvSpPr>
        <p:spPr>
          <a:xfrm>
            <a:off x="1097280" y="2377440"/>
            <a:ext cx="4023360" cy="502920"/>
          </a:xfrm>
          <a:prstGeom prst="rect">
            <a:avLst/>
          </a:prstGeom>
          <a:noFill/>
        </p:spPr>
        <p:txBody>
          <a:bodyPr wrap="none">
            <a:spAutoFit/>
          </a:bodyPr>
          <a:lstStyle/>
          <a:p>
            <a:pPr algn="ctr">
              <a:defRPr sz="2800" b="1">
                <a:solidFill>
                  <a:srgbClr val="1F2D33"/>
                </a:solidFill>
              </a:defRPr>
            </a:pPr>
            <a:r>
              <a:rPr dirty="0"/>
              <a:t>H₀: p ≥ 0.25</a:t>
            </a:r>
          </a:p>
        </p:txBody>
      </p:sp>
      <p:sp>
        <p:nvSpPr>
          <p:cNvPr id="8" name="TextBox 7"/>
          <p:cNvSpPr txBox="1"/>
          <p:nvPr/>
        </p:nvSpPr>
        <p:spPr>
          <a:xfrm>
            <a:off x="1188720" y="3063240"/>
            <a:ext cx="3840480" cy="502920"/>
          </a:xfrm>
          <a:prstGeom prst="rect">
            <a:avLst/>
          </a:prstGeom>
          <a:noFill/>
        </p:spPr>
        <p:txBody>
          <a:bodyPr wrap="none">
            <a:spAutoFit/>
          </a:bodyPr>
          <a:lstStyle/>
          <a:p>
            <a:pPr algn="ctr">
              <a:defRPr sz="1500">
                <a:solidFill>
                  <a:srgbClr val="1F2D33"/>
                </a:solidFill>
              </a:defRPr>
            </a:pPr>
            <a:r>
              <a:t>Daniel is not favored by the draw.</a:t>
            </a:r>
          </a:p>
        </p:txBody>
      </p:sp>
      <p:sp>
        <p:nvSpPr>
          <p:cNvPr id="9" name="Rounded Rectangle 8"/>
          <p:cNvSpPr/>
          <p:nvPr/>
        </p:nvSpPr>
        <p:spPr>
          <a:xfrm>
            <a:off x="6217920" y="1600200"/>
            <a:ext cx="4572000" cy="2286000"/>
          </a:xfrm>
          <a:prstGeom prst="roundRect">
            <a:avLst/>
          </a:prstGeom>
          <a:solidFill>
            <a:srgbClr val="FFF1F2"/>
          </a:solidFill>
          <a:ln>
            <a:solidFill>
              <a:srgbClr val="FFF1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828800"/>
            <a:ext cx="4023360" cy="384048"/>
          </a:xfrm>
          <a:prstGeom prst="rect">
            <a:avLst/>
          </a:prstGeom>
          <a:noFill/>
        </p:spPr>
        <p:txBody>
          <a:bodyPr wrap="none">
            <a:spAutoFit/>
          </a:bodyPr>
          <a:lstStyle/>
          <a:p>
            <a:pPr algn="ctr">
              <a:defRPr sz="1800" b="1">
                <a:solidFill>
                  <a:srgbClr val="D71920"/>
                </a:solidFill>
              </a:defRPr>
            </a:pPr>
            <a:r>
              <a:t>Alternative hypothesis</a:t>
            </a:r>
          </a:p>
        </p:txBody>
      </p:sp>
      <p:sp>
        <p:nvSpPr>
          <p:cNvPr id="11" name="TextBox 10"/>
          <p:cNvSpPr txBox="1"/>
          <p:nvPr/>
        </p:nvSpPr>
        <p:spPr>
          <a:xfrm>
            <a:off x="6492240" y="2377440"/>
            <a:ext cx="4023360" cy="502920"/>
          </a:xfrm>
          <a:prstGeom prst="rect">
            <a:avLst/>
          </a:prstGeom>
          <a:noFill/>
        </p:spPr>
        <p:txBody>
          <a:bodyPr wrap="none">
            <a:spAutoFit/>
          </a:bodyPr>
          <a:lstStyle/>
          <a:p>
            <a:pPr algn="ctr">
              <a:defRPr sz="2800" b="1">
                <a:solidFill>
                  <a:srgbClr val="1F2D33"/>
                </a:solidFill>
              </a:defRPr>
            </a:pPr>
            <a:r>
              <a:rPr dirty="0"/>
              <a:t>H₁: p &lt; 0.25</a:t>
            </a:r>
          </a:p>
        </p:txBody>
      </p:sp>
      <p:sp>
        <p:nvSpPr>
          <p:cNvPr id="12" name="TextBox 11"/>
          <p:cNvSpPr txBox="1"/>
          <p:nvPr/>
        </p:nvSpPr>
        <p:spPr>
          <a:xfrm>
            <a:off x="7027073" y="3063240"/>
            <a:ext cx="2953693" cy="553998"/>
          </a:xfrm>
          <a:prstGeom prst="rect">
            <a:avLst/>
          </a:prstGeom>
          <a:noFill/>
        </p:spPr>
        <p:txBody>
          <a:bodyPr wrap="none">
            <a:spAutoFit/>
          </a:bodyPr>
          <a:lstStyle/>
          <a:p>
            <a:pPr algn="ctr">
              <a:defRPr sz="1500">
                <a:solidFill>
                  <a:srgbClr val="1F2D33"/>
                </a:solidFill>
              </a:defRPr>
            </a:pPr>
            <a:r>
              <a:rPr dirty="0"/>
              <a:t>Daniel is selected less often than </a:t>
            </a:r>
            <a:endParaRPr lang="nb-NO" dirty="0"/>
          </a:p>
          <a:p>
            <a:pPr algn="ctr">
              <a:defRPr sz="1500">
                <a:solidFill>
                  <a:srgbClr val="1F2D33"/>
                </a:solidFill>
              </a:defRPr>
            </a:pPr>
            <a:r>
              <a:rPr dirty="0"/>
              <a:t>chance would suggest.</a:t>
            </a:r>
          </a:p>
        </p:txBody>
      </p:sp>
      <p:sp>
        <p:nvSpPr>
          <p:cNvPr id="13" name="TextBox 12"/>
          <p:cNvSpPr txBox="1"/>
          <p:nvPr/>
        </p:nvSpPr>
        <p:spPr>
          <a:xfrm>
            <a:off x="960120" y="4343400"/>
            <a:ext cx="10058400" cy="914400"/>
          </a:xfrm>
          <a:prstGeom prst="rect">
            <a:avLst/>
          </a:prstGeom>
          <a:noFill/>
        </p:spPr>
        <p:txBody>
          <a:bodyPr wrap="none">
            <a:spAutoFit/>
          </a:bodyPr>
          <a:lstStyle/>
          <a:p>
            <a:pPr algn="ctr">
              <a:defRPr sz="1900" b="1">
                <a:solidFill>
                  <a:srgbClr val="1F2D33"/>
                </a:solidFill>
              </a:defRPr>
            </a:pPr>
            <a:r>
              <a:rPr dirty="0"/>
              <a:t>Observed result: 22 out of 100</a:t>
            </a:r>
          </a:p>
          <a:p>
            <a:pPr algn="ctr">
              <a:spcBef>
                <a:spcPts val="600"/>
              </a:spcBef>
              <a:defRPr sz="2000">
                <a:solidFill>
                  <a:srgbClr val="00566B"/>
                </a:solidFill>
              </a:defRPr>
            </a:pPr>
            <a:r>
              <a:rPr dirty="0"/>
              <a:t>About 27% of fair experiments would produce 22 or fewer → not especially unusual.</a:t>
            </a:r>
          </a:p>
        </p:txBody>
      </p:sp>
      <p:sp>
        <p:nvSpPr>
          <p:cNvPr id="14" name="TextBox 13"/>
          <p:cNvSpPr txBox="1"/>
          <p:nvPr/>
        </p:nvSpPr>
        <p:spPr>
          <a:xfrm>
            <a:off x="566928" y="6446520"/>
            <a:ext cx="3657600" cy="182880"/>
          </a:xfrm>
          <a:prstGeom prst="rect">
            <a:avLst/>
          </a:prstGeom>
          <a:noFill/>
        </p:spPr>
        <p:txBody>
          <a:bodyPr wrap="none">
            <a:spAutoFit/>
          </a:bodyPr>
          <a:lstStyle/>
          <a:p>
            <a:pPr>
              <a:defRPr sz="800">
                <a:solidFill>
                  <a:srgbClr val="00566B"/>
                </a:solidFill>
              </a:defRPr>
            </a:pPr>
            <a:r>
              <a:t>SOK-3081  •  Chapter 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4114800" cy="256032"/>
          </a:xfrm>
          <a:prstGeom prst="rect">
            <a:avLst/>
          </a:prstGeom>
          <a:noFill/>
        </p:spPr>
        <p:txBody>
          <a:bodyPr wrap="none">
            <a:spAutoFit/>
          </a:bodyPr>
          <a:lstStyle/>
          <a:p>
            <a:pPr>
              <a:defRPr sz="900" b="1">
                <a:solidFill>
                  <a:srgbClr val="20B4D6"/>
                </a:solidFill>
              </a:defRPr>
            </a:pPr>
            <a:r>
              <a:t>WHAT IF…</a:t>
            </a:r>
          </a:p>
        </p:txBody>
      </p:sp>
      <p:sp>
        <p:nvSpPr>
          <p:cNvPr id="3" name="TextBox 2"/>
          <p:cNvSpPr txBox="1"/>
          <p:nvPr/>
        </p:nvSpPr>
        <p:spPr>
          <a:xfrm>
            <a:off x="548640" y="530352"/>
            <a:ext cx="10972800" cy="566928"/>
          </a:xfrm>
          <a:prstGeom prst="rect">
            <a:avLst/>
          </a:prstGeom>
          <a:noFill/>
        </p:spPr>
        <p:txBody>
          <a:bodyPr wrap="none">
            <a:spAutoFit/>
          </a:bodyPr>
          <a:lstStyle/>
          <a:p>
            <a:pPr>
              <a:defRPr sz="2600">
                <a:solidFill>
                  <a:srgbClr val="1F2D33"/>
                </a:solidFill>
              </a:defRPr>
            </a:pPr>
            <a:r>
              <a:t>Daniel is selected only 14 times?</a:t>
            </a:r>
          </a:p>
        </p:txBody>
      </p:sp>
      <p:sp>
        <p:nvSpPr>
          <p:cNvPr id="4" name="Rectangle 3"/>
          <p:cNvSpPr/>
          <p:nvPr/>
        </p:nvSpPr>
        <p:spPr>
          <a:xfrm>
            <a:off x="548640" y="1133856"/>
            <a:ext cx="10698480" cy="22860"/>
          </a:xfrm>
          <a:prstGeom prst="rect">
            <a:avLst/>
          </a:prstGeom>
          <a:solidFill>
            <a:srgbClr val="20B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54480"/>
            <a:ext cx="10789920" cy="502920"/>
          </a:xfrm>
          <a:prstGeom prst="rect">
            <a:avLst/>
          </a:prstGeom>
          <a:noFill/>
        </p:spPr>
        <p:txBody>
          <a:bodyPr wrap="none">
            <a:spAutoFit/>
          </a:bodyPr>
          <a:lstStyle/>
          <a:p>
            <a:pPr algn="ctr">
              <a:defRPr sz="2000">
                <a:solidFill>
                  <a:srgbClr val="1F2D33"/>
                </a:solidFill>
              </a:defRPr>
            </a:pPr>
            <a:r>
              <a:t>New experiment: 100 days</a:t>
            </a:r>
          </a:p>
        </p:txBody>
      </p:sp>
      <p:sp>
        <p:nvSpPr>
          <p:cNvPr id="6" name="TextBox 5"/>
          <p:cNvSpPr txBox="1"/>
          <p:nvPr/>
        </p:nvSpPr>
        <p:spPr>
          <a:xfrm>
            <a:off x="731520" y="2148840"/>
            <a:ext cx="10789920" cy="1005840"/>
          </a:xfrm>
          <a:prstGeom prst="rect">
            <a:avLst/>
          </a:prstGeom>
          <a:noFill/>
        </p:spPr>
        <p:txBody>
          <a:bodyPr wrap="none">
            <a:spAutoFit/>
          </a:bodyPr>
          <a:lstStyle/>
          <a:p>
            <a:pPr algn="ctr">
              <a:defRPr sz="3200" b="1">
                <a:solidFill>
                  <a:srgbClr val="D71920"/>
                </a:solidFill>
              </a:defRPr>
            </a:pPr>
            <a:r>
              <a:t>Daniel does the dishes only 14 times</a:t>
            </a:r>
          </a:p>
        </p:txBody>
      </p:sp>
      <p:sp>
        <p:nvSpPr>
          <p:cNvPr id="7" name="TextBox 6"/>
          <p:cNvSpPr txBox="1"/>
          <p:nvPr/>
        </p:nvSpPr>
        <p:spPr>
          <a:xfrm>
            <a:off x="1371600" y="3429000"/>
            <a:ext cx="9418320" cy="914400"/>
          </a:xfrm>
          <a:prstGeom prst="rect">
            <a:avLst/>
          </a:prstGeom>
          <a:noFill/>
        </p:spPr>
        <p:txBody>
          <a:bodyPr wrap="none">
            <a:spAutoFit/>
          </a:bodyPr>
          <a:lstStyle/>
          <a:p>
            <a:pPr algn="ctr">
              <a:defRPr sz="2800" b="1">
                <a:solidFill>
                  <a:srgbClr val="1F2D33"/>
                </a:solidFill>
              </a:defRPr>
            </a:pPr>
            <a:r>
              <a:rPr dirty="0"/>
              <a:t>P(X ≤ 14 | p = 0.25) ≈ 0.0054</a:t>
            </a:r>
          </a:p>
          <a:p>
            <a:pPr algn="ctr">
              <a:spcBef>
                <a:spcPts val="600"/>
              </a:spcBef>
              <a:defRPr sz="2000" b="1">
                <a:solidFill>
                  <a:srgbClr val="D71920"/>
                </a:solidFill>
              </a:defRPr>
            </a:pPr>
            <a:r>
              <a:rPr dirty="0"/>
              <a:t>About 0.5%</a:t>
            </a:r>
          </a:p>
        </p:txBody>
      </p:sp>
      <p:sp>
        <p:nvSpPr>
          <p:cNvPr id="8" name="Rounded Rectangle 7"/>
          <p:cNvSpPr/>
          <p:nvPr/>
        </p:nvSpPr>
        <p:spPr>
          <a:xfrm>
            <a:off x="2057400" y="4800600"/>
            <a:ext cx="8046720" cy="777240"/>
          </a:xfrm>
          <a:prstGeom prst="roundRect">
            <a:avLst/>
          </a:prstGeom>
          <a:solidFill>
            <a:srgbClr val="FFF1F2"/>
          </a:solidFill>
          <a:ln>
            <a:solidFill>
              <a:srgbClr val="FFF1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0" y="4965192"/>
            <a:ext cx="7589520" cy="411480"/>
          </a:xfrm>
          <a:prstGeom prst="rect">
            <a:avLst/>
          </a:prstGeom>
          <a:noFill/>
        </p:spPr>
        <p:txBody>
          <a:bodyPr wrap="none">
            <a:spAutoFit/>
          </a:bodyPr>
          <a:lstStyle/>
          <a:p>
            <a:pPr algn="ctr">
              <a:defRPr sz="1700" b="1">
                <a:solidFill>
                  <a:srgbClr val="1F2D33"/>
                </a:solidFill>
              </a:defRPr>
            </a:pPr>
            <a:r>
              <a:t>Now the observed outcome would be very unusual if the drawing were fair.</a:t>
            </a:r>
          </a:p>
        </p:txBody>
      </p:sp>
      <p:sp>
        <p:nvSpPr>
          <p:cNvPr id="10" name="TextBox 9"/>
          <p:cNvSpPr txBox="1"/>
          <p:nvPr/>
        </p:nvSpPr>
        <p:spPr>
          <a:xfrm>
            <a:off x="566928" y="6446520"/>
            <a:ext cx="3657600" cy="182880"/>
          </a:xfrm>
          <a:prstGeom prst="rect">
            <a:avLst/>
          </a:prstGeom>
          <a:noFill/>
        </p:spPr>
        <p:txBody>
          <a:bodyPr wrap="none">
            <a:spAutoFit/>
          </a:bodyPr>
          <a:lstStyle/>
          <a:p>
            <a:pPr>
              <a:defRPr sz="800">
                <a:solidFill>
                  <a:srgbClr val="00566B"/>
                </a:solidFill>
              </a:defRPr>
            </a:pPr>
            <a:r>
              <a:t>SOK-3081  •  Chapter 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ilde 2">
            <a:extLst>
              <a:ext uri="{FF2B5EF4-FFF2-40B4-BE49-F238E27FC236}">
                <a16:creationId xmlns:a16="http://schemas.microsoft.com/office/drawing/2014/main" id="{98C7CDF0-A95D-838A-96E1-468FACE74D51}"/>
              </a:ext>
            </a:extLst>
          </p:cNvPr>
          <p:cNvPicPr>
            <a:picLocks noChangeAspect="1"/>
          </p:cNvPicPr>
          <p:nvPr/>
        </p:nvPicPr>
        <p:blipFill>
          <a:blip r:embed="rId2"/>
          <a:stretch>
            <a:fillRect/>
          </a:stretch>
        </p:blipFill>
        <p:spPr>
          <a:xfrm>
            <a:off x="180975" y="47625"/>
            <a:ext cx="11830050" cy="6762750"/>
          </a:xfrm>
          <a:prstGeom prst="rect">
            <a:avLst/>
          </a:prstGeom>
        </p:spPr>
      </p:pic>
    </p:spTree>
    <p:extLst>
      <p:ext uri="{BB962C8B-B14F-4D97-AF65-F5344CB8AC3E}">
        <p14:creationId xmlns:p14="http://schemas.microsoft.com/office/powerpoint/2010/main" val="3849553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4114800" cy="256032"/>
          </a:xfrm>
          <a:prstGeom prst="rect">
            <a:avLst/>
          </a:prstGeom>
          <a:noFill/>
        </p:spPr>
        <p:txBody>
          <a:bodyPr wrap="none">
            <a:spAutoFit/>
          </a:bodyPr>
          <a:lstStyle/>
          <a:p>
            <a:pPr>
              <a:defRPr sz="900" b="1">
                <a:solidFill>
                  <a:srgbClr val="20B4D6"/>
                </a:solidFill>
              </a:defRPr>
            </a:pPr>
            <a:r>
              <a:t>WHY HYPOTHESIS TESTING?</a:t>
            </a:r>
          </a:p>
        </p:txBody>
      </p:sp>
      <p:sp>
        <p:nvSpPr>
          <p:cNvPr id="3" name="TextBox 2"/>
          <p:cNvSpPr txBox="1"/>
          <p:nvPr/>
        </p:nvSpPr>
        <p:spPr>
          <a:xfrm>
            <a:off x="548640" y="530352"/>
            <a:ext cx="10972800" cy="566928"/>
          </a:xfrm>
          <a:prstGeom prst="rect">
            <a:avLst/>
          </a:prstGeom>
          <a:noFill/>
        </p:spPr>
        <p:txBody>
          <a:bodyPr wrap="none">
            <a:spAutoFit/>
          </a:bodyPr>
          <a:lstStyle/>
          <a:p>
            <a:pPr>
              <a:defRPr sz="2600">
                <a:solidFill>
                  <a:srgbClr val="1F2D33"/>
                </a:solidFill>
              </a:defRPr>
            </a:pPr>
            <a:r>
              <a:t>Two explanations — and we need a decision rule</a:t>
            </a:r>
          </a:p>
        </p:txBody>
      </p:sp>
      <p:sp>
        <p:nvSpPr>
          <p:cNvPr id="4" name="Rectangle 3"/>
          <p:cNvSpPr/>
          <p:nvPr/>
        </p:nvSpPr>
        <p:spPr>
          <a:xfrm>
            <a:off x="548640" y="1133856"/>
            <a:ext cx="10698480" cy="22860"/>
          </a:xfrm>
          <a:prstGeom prst="rect">
            <a:avLst/>
          </a:prstGeom>
          <a:solidFill>
            <a:srgbClr val="20B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77240" y="1600200"/>
            <a:ext cx="4572000" cy="2331720"/>
          </a:xfrm>
          <a:prstGeom prst="roundRect">
            <a:avLst/>
          </a:prstGeom>
          <a:solidFill>
            <a:srgbClr val="DDF4F9"/>
          </a:solidFill>
          <a:ln>
            <a:solidFill>
              <a:srgbClr val="DDF4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05840" y="1874519"/>
            <a:ext cx="685800" cy="685800"/>
          </a:xfrm>
          <a:prstGeom prst="ellipse">
            <a:avLst/>
          </a:prstGeom>
          <a:solidFill>
            <a:srgbClr val="00566B"/>
          </a:solidFill>
          <a:ln>
            <a:solidFill>
              <a:srgbClr val="0056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984248"/>
            <a:ext cx="685800" cy="320040"/>
          </a:xfrm>
          <a:prstGeom prst="rect">
            <a:avLst/>
          </a:prstGeom>
          <a:noFill/>
        </p:spPr>
        <p:txBody>
          <a:bodyPr wrap="none">
            <a:spAutoFit/>
          </a:bodyPr>
          <a:lstStyle/>
          <a:p>
            <a:pPr algn="ctr">
              <a:defRPr sz="1700" b="1">
                <a:solidFill>
                  <a:srgbClr val="FFFFFF"/>
                </a:solidFill>
              </a:defRPr>
            </a:pPr>
            <a:r>
              <a:t>1</a:t>
            </a:r>
          </a:p>
        </p:txBody>
      </p:sp>
      <p:sp>
        <p:nvSpPr>
          <p:cNvPr id="8" name="TextBox 7"/>
          <p:cNvSpPr txBox="1"/>
          <p:nvPr/>
        </p:nvSpPr>
        <p:spPr>
          <a:xfrm>
            <a:off x="1828800" y="1828800"/>
            <a:ext cx="3246120" cy="411480"/>
          </a:xfrm>
          <a:prstGeom prst="rect">
            <a:avLst/>
          </a:prstGeom>
          <a:noFill/>
        </p:spPr>
        <p:txBody>
          <a:bodyPr wrap="none">
            <a:spAutoFit/>
          </a:bodyPr>
          <a:lstStyle/>
          <a:p>
            <a:pPr>
              <a:defRPr sz="1900" b="1">
                <a:solidFill>
                  <a:srgbClr val="00566B"/>
                </a:solidFill>
              </a:defRPr>
            </a:pPr>
            <a:r>
              <a:t>The null is true</a:t>
            </a:r>
          </a:p>
        </p:txBody>
      </p:sp>
      <p:sp>
        <p:nvSpPr>
          <p:cNvPr id="9" name="TextBox 8"/>
          <p:cNvSpPr txBox="1"/>
          <p:nvPr/>
        </p:nvSpPr>
        <p:spPr>
          <a:xfrm>
            <a:off x="1828800" y="2359152"/>
            <a:ext cx="3240439" cy="553998"/>
          </a:xfrm>
          <a:prstGeom prst="rect">
            <a:avLst/>
          </a:prstGeom>
          <a:noFill/>
        </p:spPr>
        <p:txBody>
          <a:bodyPr wrap="none">
            <a:spAutoFit/>
          </a:bodyPr>
          <a:lstStyle/>
          <a:p>
            <a:pPr>
              <a:defRPr sz="1500">
                <a:solidFill>
                  <a:srgbClr val="1F2D33"/>
                </a:solidFill>
              </a:defRPr>
            </a:pPr>
            <a:r>
              <a:rPr dirty="0"/>
              <a:t>The drawing is fair, and we happened </a:t>
            </a:r>
            <a:endParaRPr lang="nb-NO" dirty="0"/>
          </a:p>
          <a:p>
            <a:pPr>
              <a:defRPr sz="1500">
                <a:solidFill>
                  <a:srgbClr val="1F2D33"/>
                </a:solidFill>
              </a:defRPr>
            </a:pPr>
            <a:r>
              <a:rPr dirty="0"/>
              <a:t>to observe a very unusual sample.</a:t>
            </a:r>
          </a:p>
        </p:txBody>
      </p:sp>
      <p:sp>
        <p:nvSpPr>
          <p:cNvPr id="10" name="Rounded Rectangle 9"/>
          <p:cNvSpPr/>
          <p:nvPr/>
        </p:nvSpPr>
        <p:spPr>
          <a:xfrm>
            <a:off x="6263640" y="1600200"/>
            <a:ext cx="4572000" cy="2331720"/>
          </a:xfrm>
          <a:prstGeom prst="roundRect">
            <a:avLst/>
          </a:prstGeom>
          <a:solidFill>
            <a:srgbClr val="FFF1F2"/>
          </a:solidFill>
          <a:ln>
            <a:solidFill>
              <a:srgbClr val="FFF1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92240" y="1874519"/>
            <a:ext cx="685800" cy="685800"/>
          </a:xfrm>
          <a:prstGeom prst="ellipse">
            <a:avLst/>
          </a:prstGeom>
          <a:solidFill>
            <a:srgbClr val="D71920"/>
          </a:solidFill>
          <a:ln>
            <a:solidFill>
              <a:srgbClr val="D719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1984248"/>
            <a:ext cx="685800" cy="320040"/>
          </a:xfrm>
          <a:prstGeom prst="rect">
            <a:avLst/>
          </a:prstGeom>
          <a:noFill/>
        </p:spPr>
        <p:txBody>
          <a:bodyPr wrap="none">
            <a:spAutoFit/>
          </a:bodyPr>
          <a:lstStyle/>
          <a:p>
            <a:pPr algn="ctr">
              <a:defRPr sz="1700" b="1">
                <a:solidFill>
                  <a:srgbClr val="FFFFFF"/>
                </a:solidFill>
              </a:defRPr>
            </a:pPr>
            <a:r>
              <a:t>2</a:t>
            </a:r>
          </a:p>
        </p:txBody>
      </p:sp>
      <p:sp>
        <p:nvSpPr>
          <p:cNvPr id="13" name="TextBox 12"/>
          <p:cNvSpPr txBox="1"/>
          <p:nvPr/>
        </p:nvSpPr>
        <p:spPr>
          <a:xfrm>
            <a:off x="7315200" y="1828800"/>
            <a:ext cx="3246120" cy="411480"/>
          </a:xfrm>
          <a:prstGeom prst="rect">
            <a:avLst/>
          </a:prstGeom>
          <a:noFill/>
        </p:spPr>
        <p:txBody>
          <a:bodyPr wrap="none">
            <a:spAutoFit/>
          </a:bodyPr>
          <a:lstStyle/>
          <a:p>
            <a:pPr>
              <a:defRPr sz="1900" b="1">
                <a:solidFill>
                  <a:srgbClr val="D71920"/>
                </a:solidFill>
              </a:defRPr>
            </a:pPr>
            <a:r>
              <a:t>The null is false</a:t>
            </a:r>
          </a:p>
        </p:txBody>
      </p:sp>
      <p:sp>
        <p:nvSpPr>
          <p:cNvPr id="14" name="TextBox 13"/>
          <p:cNvSpPr txBox="1"/>
          <p:nvPr/>
        </p:nvSpPr>
        <p:spPr>
          <a:xfrm>
            <a:off x="7315200" y="2359152"/>
            <a:ext cx="3319370" cy="553998"/>
          </a:xfrm>
          <a:prstGeom prst="rect">
            <a:avLst/>
          </a:prstGeom>
          <a:noFill/>
        </p:spPr>
        <p:txBody>
          <a:bodyPr wrap="none">
            <a:spAutoFit/>
          </a:bodyPr>
          <a:lstStyle/>
          <a:p>
            <a:pPr>
              <a:defRPr sz="1500">
                <a:solidFill>
                  <a:srgbClr val="1F2D33"/>
                </a:solidFill>
              </a:defRPr>
            </a:pPr>
            <a:r>
              <a:rPr dirty="0"/>
              <a:t>The fair-drawing explanation is wrong; </a:t>
            </a:r>
            <a:endParaRPr lang="nb-NO" dirty="0"/>
          </a:p>
          <a:p>
            <a:pPr>
              <a:defRPr sz="1500">
                <a:solidFill>
                  <a:srgbClr val="1F2D33"/>
                </a:solidFill>
              </a:defRPr>
            </a:pPr>
            <a:r>
              <a:rPr dirty="0"/>
              <a:t>Daniel is being selected too rarely.</a:t>
            </a:r>
          </a:p>
        </p:txBody>
      </p:sp>
      <p:sp>
        <p:nvSpPr>
          <p:cNvPr id="15" name="Rounded Rectangle 14"/>
          <p:cNvSpPr/>
          <p:nvPr/>
        </p:nvSpPr>
        <p:spPr>
          <a:xfrm>
            <a:off x="415637" y="4343400"/>
            <a:ext cx="11483438" cy="1051560"/>
          </a:xfrm>
          <a:prstGeom prst="roundRect">
            <a:avLst/>
          </a:prstGeom>
          <a:solidFill>
            <a:srgbClr val="F6F8F9"/>
          </a:solidFill>
          <a:ln>
            <a:solidFill>
              <a:srgbClr val="F6F8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59955" y="4690872"/>
            <a:ext cx="11087331" cy="384721"/>
          </a:xfrm>
          <a:prstGeom prst="rect">
            <a:avLst/>
          </a:prstGeom>
          <a:noFill/>
        </p:spPr>
        <p:txBody>
          <a:bodyPr wrap="none">
            <a:spAutoFit/>
          </a:bodyPr>
          <a:lstStyle/>
          <a:p>
            <a:pPr algn="ctr">
              <a:defRPr sz="1900" b="1">
                <a:solidFill>
                  <a:srgbClr val="1F2D33"/>
                </a:solidFill>
              </a:defRPr>
            </a:pPr>
            <a:r>
              <a:rPr dirty="0"/>
              <a:t>Hypothesis testing gives us a formal rule for deciding when the data are too unusual to maintain H₀.</a:t>
            </a:r>
          </a:p>
        </p:txBody>
      </p:sp>
      <p:sp>
        <p:nvSpPr>
          <p:cNvPr id="17" name="TextBox 16"/>
          <p:cNvSpPr txBox="1"/>
          <p:nvPr/>
        </p:nvSpPr>
        <p:spPr>
          <a:xfrm>
            <a:off x="566928" y="6446520"/>
            <a:ext cx="3657600" cy="182880"/>
          </a:xfrm>
          <a:prstGeom prst="rect">
            <a:avLst/>
          </a:prstGeom>
          <a:noFill/>
        </p:spPr>
        <p:txBody>
          <a:bodyPr wrap="none">
            <a:spAutoFit/>
          </a:bodyPr>
          <a:lstStyle/>
          <a:p>
            <a:pPr>
              <a:defRPr sz="800">
                <a:solidFill>
                  <a:srgbClr val="00566B"/>
                </a:solidFill>
              </a:defRPr>
            </a:pPr>
            <a:r>
              <a:t>SOK-3081  •  Chapter 3</a:t>
            </a:r>
          </a:p>
        </p:txBody>
      </p:sp>
      <p:sp>
        <p:nvSpPr>
          <p:cNvPr id="19" name="Rounded Rectangle 16">
            <a:extLst>
              <a:ext uri="{FF2B5EF4-FFF2-40B4-BE49-F238E27FC236}">
                <a16:creationId xmlns:a16="http://schemas.microsoft.com/office/drawing/2014/main" id="{F675CDBA-148E-D290-B707-244870DA48E9}"/>
              </a:ext>
            </a:extLst>
          </p:cNvPr>
          <p:cNvSpPr/>
          <p:nvPr/>
        </p:nvSpPr>
        <p:spPr>
          <a:xfrm>
            <a:off x="1762515" y="5545751"/>
            <a:ext cx="8872055" cy="648571"/>
          </a:xfrm>
          <a:prstGeom prst="roundRect">
            <a:avLst/>
          </a:prstGeom>
          <a:solidFill>
            <a:srgbClr val="DDF4F9"/>
          </a:solidFill>
          <a:ln>
            <a:solidFill>
              <a:srgbClr val="DDF4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17">
            <a:extLst>
              <a:ext uri="{FF2B5EF4-FFF2-40B4-BE49-F238E27FC236}">
                <a16:creationId xmlns:a16="http://schemas.microsoft.com/office/drawing/2014/main" id="{790EA85A-3987-78E1-5311-2CBEE1D3E6FC}"/>
              </a:ext>
            </a:extLst>
          </p:cNvPr>
          <p:cNvSpPr txBox="1"/>
          <p:nvPr/>
        </p:nvSpPr>
        <p:spPr>
          <a:xfrm>
            <a:off x="2785430" y="5652254"/>
            <a:ext cx="6778129" cy="369332"/>
          </a:xfrm>
          <a:prstGeom prst="rect">
            <a:avLst/>
          </a:prstGeom>
          <a:noFill/>
        </p:spPr>
        <p:txBody>
          <a:bodyPr wrap="square">
            <a:spAutoFit/>
          </a:bodyPr>
          <a:lstStyle/>
          <a:p>
            <a:pPr algn="ctr">
              <a:defRPr sz="1800" b="1">
                <a:solidFill>
                  <a:srgbClr val="1F2D33"/>
                </a:solidFill>
              </a:defRPr>
            </a:pPr>
            <a:r>
              <a:rPr lang="en-GB" dirty="0"/>
              <a:t>Assume the null hypothesis is true until proven otherwise</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3931920" cy="228600"/>
          </a:xfrm>
          <a:prstGeom prst="rect">
            <a:avLst/>
          </a:prstGeom>
          <a:noFill/>
        </p:spPr>
        <p:txBody>
          <a:bodyPr wrap="none">
            <a:spAutoFit/>
          </a:bodyPr>
          <a:lstStyle/>
          <a:p>
            <a:pPr>
              <a:defRPr sz="900" b="1">
                <a:solidFill>
                  <a:srgbClr val="20B4D6"/>
                </a:solidFill>
              </a:defRPr>
            </a:pPr>
            <a:r>
              <a:t>HYPOTHESIS TESTING</a:t>
            </a:r>
          </a:p>
        </p:txBody>
      </p:sp>
      <p:sp>
        <p:nvSpPr>
          <p:cNvPr id="3" name="TextBox 2"/>
          <p:cNvSpPr txBox="1"/>
          <p:nvPr/>
        </p:nvSpPr>
        <p:spPr>
          <a:xfrm>
            <a:off x="548640" y="548640"/>
            <a:ext cx="10789920" cy="502920"/>
          </a:xfrm>
          <a:prstGeom prst="rect">
            <a:avLst/>
          </a:prstGeom>
          <a:noFill/>
        </p:spPr>
        <p:txBody>
          <a:bodyPr wrap="none">
            <a:spAutoFit/>
          </a:bodyPr>
          <a:lstStyle/>
          <a:p>
            <a:pPr>
              <a:defRPr sz="2400">
                <a:solidFill>
                  <a:srgbClr val="1F2D33"/>
                </a:solidFill>
              </a:defRPr>
            </a:pPr>
            <a:r>
              <a:t>Before we start: the tools we will use</a:t>
            </a:r>
          </a:p>
        </p:txBody>
      </p:sp>
      <p:sp>
        <p:nvSpPr>
          <p:cNvPr id="4" name="Rectangle 3"/>
          <p:cNvSpPr/>
          <p:nvPr/>
        </p:nvSpPr>
        <p:spPr>
          <a:xfrm>
            <a:off x="548640" y="1115568"/>
            <a:ext cx="10789920" cy="27432"/>
          </a:xfrm>
          <a:prstGeom prst="rect">
            <a:avLst/>
          </a:prstGeom>
          <a:solidFill>
            <a:srgbClr val="20B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417320"/>
            <a:ext cx="5212080" cy="1005840"/>
          </a:xfrm>
          <a:prstGeom prst="roundRect">
            <a:avLst/>
          </a:prstGeom>
          <a:solidFill>
            <a:srgbClr val="EFF9FB"/>
          </a:solidFill>
          <a:ln>
            <a:solidFill>
              <a:srgbClr val="EFF9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1527048"/>
            <a:ext cx="4892040" cy="219456"/>
          </a:xfrm>
          <a:prstGeom prst="rect">
            <a:avLst/>
          </a:prstGeom>
          <a:noFill/>
        </p:spPr>
        <p:txBody>
          <a:bodyPr wrap="none">
            <a:spAutoFit/>
          </a:bodyPr>
          <a:lstStyle/>
          <a:p>
            <a:pPr>
              <a:defRPr sz="1600" b="1">
                <a:solidFill>
                  <a:srgbClr val="00566B"/>
                </a:solidFill>
              </a:defRPr>
            </a:pPr>
            <a:r>
              <a:t>Significance level α</a:t>
            </a:r>
          </a:p>
        </p:txBody>
      </p:sp>
      <p:sp>
        <p:nvSpPr>
          <p:cNvPr id="7" name="TextBox 6"/>
          <p:cNvSpPr txBox="1"/>
          <p:nvPr/>
        </p:nvSpPr>
        <p:spPr>
          <a:xfrm>
            <a:off x="886968" y="1819656"/>
            <a:ext cx="3079113" cy="507831"/>
          </a:xfrm>
          <a:prstGeom prst="rect">
            <a:avLst/>
          </a:prstGeom>
          <a:noFill/>
        </p:spPr>
        <p:txBody>
          <a:bodyPr wrap="none">
            <a:spAutoFit/>
          </a:bodyPr>
          <a:lstStyle/>
          <a:p>
            <a:pPr>
              <a:defRPr sz="1350">
                <a:solidFill>
                  <a:srgbClr val="1F2D33"/>
                </a:solidFill>
              </a:defRPr>
            </a:pPr>
            <a:r>
              <a:rPr dirty="0"/>
              <a:t>A threshold chosen before the test. </a:t>
            </a:r>
            <a:endParaRPr lang="nb-NO" dirty="0"/>
          </a:p>
          <a:p>
            <a:pPr>
              <a:defRPr sz="1350">
                <a:solidFill>
                  <a:srgbClr val="1F2D33"/>
                </a:solidFill>
              </a:defRPr>
            </a:pPr>
            <a:r>
              <a:rPr dirty="0"/>
              <a:t>Common values: α = 0.05 and α = 0.01.</a:t>
            </a:r>
          </a:p>
        </p:txBody>
      </p:sp>
      <p:sp>
        <p:nvSpPr>
          <p:cNvPr id="8" name="Rounded Rectangle 7"/>
          <p:cNvSpPr/>
          <p:nvPr/>
        </p:nvSpPr>
        <p:spPr>
          <a:xfrm>
            <a:off x="685800" y="2578608"/>
            <a:ext cx="5212080" cy="1143000"/>
          </a:xfrm>
          <a:prstGeom prst="roundRect">
            <a:avLst/>
          </a:prstGeom>
          <a:solidFill>
            <a:srgbClr val="EFF9FB"/>
          </a:solidFill>
          <a:ln>
            <a:solidFill>
              <a:srgbClr val="EFF9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2688336"/>
            <a:ext cx="4892040" cy="219456"/>
          </a:xfrm>
          <a:prstGeom prst="rect">
            <a:avLst/>
          </a:prstGeom>
          <a:noFill/>
        </p:spPr>
        <p:txBody>
          <a:bodyPr wrap="none">
            <a:spAutoFit/>
          </a:bodyPr>
          <a:lstStyle/>
          <a:p>
            <a:pPr>
              <a:defRPr sz="1600" b="1">
                <a:solidFill>
                  <a:srgbClr val="00566B"/>
                </a:solidFill>
              </a:defRPr>
            </a:pPr>
            <a:r>
              <a:t>Critical t-value</a:t>
            </a:r>
          </a:p>
        </p:txBody>
      </p:sp>
      <p:sp>
        <p:nvSpPr>
          <p:cNvPr id="10" name="TextBox 9"/>
          <p:cNvSpPr txBox="1"/>
          <p:nvPr/>
        </p:nvSpPr>
        <p:spPr>
          <a:xfrm>
            <a:off x="886968" y="2980944"/>
            <a:ext cx="4495461" cy="715581"/>
          </a:xfrm>
          <a:prstGeom prst="rect">
            <a:avLst/>
          </a:prstGeom>
          <a:noFill/>
        </p:spPr>
        <p:txBody>
          <a:bodyPr wrap="none">
            <a:spAutoFit/>
          </a:bodyPr>
          <a:lstStyle/>
          <a:p>
            <a:pPr>
              <a:defRPr sz="1350">
                <a:solidFill>
                  <a:srgbClr val="1F2D33"/>
                </a:solidFill>
              </a:defRPr>
            </a:pPr>
            <a:r>
              <a:rPr dirty="0"/>
              <a:t>The boundary for what counts as unusually large or small. </a:t>
            </a:r>
            <a:endParaRPr lang="nb-NO" dirty="0"/>
          </a:p>
          <a:p>
            <a:pPr>
              <a:defRPr sz="1350">
                <a:solidFill>
                  <a:srgbClr val="1F2D33"/>
                </a:solidFill>
              </a:defRPr>
            </a:pPr>
            <a:r>
              <a:rPr dirty="0"/>
              <a:t>It depends on α, the degrees of freedom, and whether the </a:t>
            </a:r>
            <a:endParaRPr lang="nb-NO" dirty="0"/>
          </a:p>
          <a:p>
            <a:pPr>
              <a:defRPr sz="1350">
                <a:solidFill>
                  <a:srgbClr val="1F2D33"/>
                </a:solidFill>
              </a:defRPr>
            </a:pPr>
            <a:r>
              <a:rPr dirty="0"/>
              <a:t>test is one- or two-sided.</a:t>
            </a:r>
          </a:p>
        </p:txBody>
      </p:sp>
      <p:sp>
        <p:nvSpPr>
          <p:cNvPr id="11" name="Rounded Rectangle 10"/>
          <p:cNvSpPr/>
          <p:nvPr/>
        </p:nvSpPr>
        <p:spPr>
          <a:xfrm>
            <a:off x="685800" y="3886200"/>
            <a:ext cx="5212080" cy="960120"/>
          </a:xfrm>
          <a:prstGeom prst="roundRect">
            <a:avLst/>
          </a:prstGeom>
          <a:solidFill>
            <a:srgbClr val="EFF9FB"/>
          </a:solidFill>
          <a:ln>
            <a:solidFill>
              <a:srgbClr val="EFF9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6968" y="3995928"/>
            <a:ext cx="4892040" cy="219456"/>
          </a:xfrm>
          <a:prstGeom prst="rect">
            <a:avLst/>
          </a:prstGeom>
          <a:noFill/>
        </p:spPr>
        <p:txBody>
          <a:bodyPr wrap="none">
            <a:spAutoFit/>
          </a:bodyPr>
          <a:lstStyle/>
          <a:p>
            <a:pPr>
              <a:defRPr sz="1600" b="1">
                <a:solidFill>
                  <a:srgbClr val="00566B"/>
                </a:solidFill>
              </a:defRPr>
            </a:pPr>
            <a:r>
              <a:t>p-value</a:t>
            </a:r>
          </a:p>
        </p:txBody>
      </p:sp>
      <p:sp>
        <p:nvSpPr>
          <p:cNvPr id="13" name="TextBox 12"/>
          <p:cNvSpPr txBox="1"/>
          <p:nvPr/>
        </p:nvSpPr>
        <p:spPr>
          <a:xfrm>
            <a:off x="886968" y="4288536"/>
            <a:ext cx="4892040" cy="548640"/>
          </a:xfrm>
          <a:prstGeom prst="rect">
            <a:avLst/>
          </a:prstGeom>
          <a:noFill/>
        </p:spPr>
        <p:txBody>
          <a:bodyPr wrap="none">
            <a:spAutoFit/>
          </a:bodyPr>
          <a:lstStyle/>
          <a:p>
            <a:pPr>
              <a:defRPr sz="1350">
                <a:solidFill>
                  <a:srgbClr val="1F2D33"/>
                </a:solidFill>
              </a:defRPr>
            </a:pPr>
            <a:r>
              <a:rPr dirty="0"/>
              <a:t>How unusual our observed result would be if H₀ were true.</a:t>
            </a:r>
          </a:p>
        </p:txBody>
      </p:sp>
      <p:sp>
        <p:nvSpPr>
          <p:cNvPr id="14" name="Rounded Rectangle 13"/>
          <p:cNvSpPr/>
          <p:nvPr/>
        </p:nvSpPr>
        <p:spPr>
          <a:xfrm>
            <a:off x="685800" y="5010912"/>
            <a:ext cx="5212080" cy="868680"/>
          </a:xfrm>
          <a:prstGeom prst="roundRect">
            <a:avLst/>
          </a:prstGeom>
          <a:solidFill>
            <a:srgbClr val="EFF9FB"/>
          </a:solidFill>
          <a:ln>
            <a:solidFill>
              <a:srgbClr val="EFF9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6968" y="5120640"/>
            <a:ext cx="4892040" cy="219456"/>
          </a:xfrm>
          <a:prstGeom prst="rect">
            <a:avLst/>
          </a:prstGeom>
          <a:noFill/>
        </p:spPr>
        <p:txBody>
          <a:bodyPr wrap="none">
            <a:spAutoFit/>
          </a:bodyPr>
          <a:lstStyle/>
          <a:p>
            <a:pPr>
              <a:defRPr sz="1600" b="1">
                <a:solidFill>
                  <a:srgbClr val="00566B"/>
                </a:solidFill>
              </a:defRPr>
            </a:pPr>
            <a:r>
              <a:t>Degrees of freedom</a:t>
            </a:r>
          </a:p>
        </p:txBody>
      </p:sp>
      <p:sp>
        <p:nvSpPr>
          <p:cNvPr id="16" name="TextBox 15"/>
          <p:cNvSpPr txBox="1"/>
          <p:nvPr/>
        </p:nvSpPr>
        <p:spPr>
          <a:xfrm>
            <a:off x="886968" y="5413248"/>
            <a:ext cx="4892040" cy="457199"/>
          </a:xfrm>
          <a:prstGeom prst="rect">
            <a:avLst/>
          </a:prstGeom>
          <a:noFill/>
        </p:spPr>
        <p:txBody>
          <a:bodyPr wrap="none">
            <a:spAutoFit/>
          </a:bodyPr>
          <a:lstStyle/>
          <a:p>
            <a:pPr>
              <a:defRPr sz="1350">
                <a:solidFill>
                  <a:srgbClr val="1F2D33"/>
                </a:solidFill>
              </a:defRPr>
            </a:pPr>
            <a:r>
              <a:t>Needed for the t-distribution. In simple regression: df = N − 2.</a:t>
            </a:r>
          </a:p>
        </p:txBody>
      </p:sp>
      <p:sp>
        <p:nvSpPr>
          <p:cNvPr id="17" name="Rounded Rectangle 16"/>
          <p:cNvSpPr/>
          <p:nvPr/>
        </p:nvSpPr>
        <p:spPr>
          <a:xfrm>
            <a:off x="6172200" y="1572768"/>
            <a:ext cx="5349240" cy="1417320"/>
          </a:xfrm>
          <a:prstGeom prst="roundRect">
            <a:avLst/>
          </a:prstGeom>
          <a:solidFill>
            <a:srgbClr val="F7F7F7"/>
          </a:solidFill>
          <a:ln>
            <a:solidFill>
              <a:srgbClr val="F7F7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82512" y="1700784"/>
            <a:ext cx="4937760" cy="228600"/>
          </a:xfrm>
          <a:prstGeom prst="rect">
            <a:avLst/>
          </a:prstGeom>
          <a:noFill/>
        </p:spPr>
        <p:txBody>
          <a:bodyPr wrap="none">
            <a:spAutoFit/>
          </a:bodyPr>
          <a:lstStyle/>
          <a:p>
            <a:pPr>
              <a:defRPr sz="1600" b="1">
                <a:solidFill>
                  <a:srgbClr val="D71920"/>
                </a:solidFill>
              </a:defRPr>
            </a:pPr>
            <a:r>
              <a:rPr dirty="0"/>
              <a:t>qt(): probability → t-value</a:t>
            </a:r>
          </a:p>
        </p:txBody>
      </p:sp>
      <p:sp>
        <p:nvSpPr>
          <p:cNvPr id="19" name="TextBox 18"/>
          <p:cNvSpPr txBox="1"/>
          <p:nvPr/>
        </p:nvSpPr>
        <p:spPr>
          <a:xfrm>
            <a:off x="6400800" y="1993392"/>
            <a:ext cx="4754880" cy="685800"/>
          </a:xfrm>
          <a:prstGeom prst="rect">
            <a:avLst/>
          </a:prstGeom>
          <a:noFill/>
        </p:spPr>
        <p:txBody>
          <a:bodyPr wrap="none">
            <a:spAutoFit/>
          </a:bodyPr>
          <a:lstStyle/>
          <a:p>
            <a:pPr>
              <a:defRPr sz="1400">
                <a:solidFill>
                  <a:srgbClr val="1F2D33"/>
                </a:solidFill>
                <a:latin typeface="Courier New"/>
              </a:defRPr>
            </a:pPr>
            <a:r>
              <a:rPr dirty="0"/>
              <a:t>qt(0.95, </a:t>
            </a:r>
            <a:r>
              <a:rPr dirty="0" err="1"/>
              <a:t>df</a:t>
            </a:r>
            <a:r>
              <a:rPr dirty="0"/>
              <a:t> = 38)      # right-tail 5% test</a:t>
            </a:r>
          </a:p>
          <a:p>
            <a:pPr>
              <a:defRPr sz="1400">
                <a:solidFill>
                  <a:srgbClr val="1F2D33"/>
                </a:solidFill>
                <a:latin typeface="Courier New"/>
              </a:defRPr>
            </a:pPr>
            <a:r>
              <a:rPr dirty="0"/>
              <a:t>qt(0.975, </a:t>
            </a:r>
            <a:r>
              <a:rPr dirty="0" err="1"/>
              <a:t>df</a:t>
            </a:r>
            <a:r>
              <a:rPr dirty="0"/>
              <a:t> = 38)     # two-sided 5% test</a:t>
            </a:r>
          </a:p>
        </p:txBody>
      </p:sp>
      <p:sp>
        <p:nvSpPr>
          <p:cNvPr id="20" name="Rounded Rectangle 19"/>
          <p:cNvSpPr/>
          <p:nvPr/>
        </p:nvSpPr>
        <p:spPr>
          <a:xfrm>
            <a:off x="6172200" y="3246120"/>
            <a:ext cx="5349240" cy="1325880"/>
          </a:xfrm>
          <a:prstGeom prst="roundRect">
            <a:avLst/>
          </a:prstGeom>
          <a:solidFill>
            <a:srgbClr val="F7F7F7"/>
          </a:solidFill>
          <a:ln>
            <a:solidFill>
              <a:srgbClr val="F7F7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82512" y="3374136"/>
            <a:ext cx="4937760" cy="228600"/>
          </a:xfrm>
          <a:prstGeom prst="rect">
            <a:avLst/>
          </a:prstGeom>
          <a:noFill/>
        </p:spPr>
        <p:txBody>
          <a:bodyPr wrap="none">
            <a:spAutoFit/>
          </a:bodyPr>
          <a:lstStyle/>
          <a:p>
            <a:pPr>
              <a:defRPr sz="1600" b="1">
                <a:solidFill>
                  <a:srgbClr val="D71920"/>
                </a:solidFill>
              </a:defRPr>
            </a:pPr>
            <a:r>
              <a:t>pt(): t-value → probability</a:t>
            </a:r>
          </a:p>
        </p:txBody>
      </p:sp>
      <p:sp>
        <p:nvSpPr>
          <p:cNvPr id="22" name="TextBox 21"/>
          <p:cNvSpPr txBox="1"/>
          <p:nvPr/>
        </p:nvSpPr>
        <p:spPr>
          <a:xfrm>
            <a:off x="6400800" y="3666744"/>
            <a:ext cx="4754880" cy="566928"/>
          </a:xfrm>
          <a:prstGeom prst="rect">
            <a:avLst/>
          </a:prstGeom>
          <a:noFill/>
        </p:spPr>
        <p:txBody>
          <a:bodyPr wrap="none">
            <a:spAutoFit/>
          </a:bodyPr>
          <a:lstStyle/>
          <a:p>
            <a:pPr>
              <a:defRPr sz="1400">
                <a:solidFill>
                  <a:srgbClr val="1F2D33"/>
                </a:solidFill>
                <a:latin typeface="Courier New"/>
              </a:defRPr>
            </a:pPr>
            <a:r>
              <a:rPr dirty="0"/>
              <a:t>pt(t, </a:t>
            </a:r>
            <a:r>
              <a:rPr dirty="0" err="1"/>
              <a:t>df</a:t>
            </a:r>
            <a:r>
              <a:rPr dirty="0"/>
              <a:t> = 38)         # area to the left of t</a:t>
            </a:r>
          </a:p>
          <a:p>
            <a:pPr>
              <a:defRPr sz="1400">
                <a:solidFill>
                  <a:srgbClr val="1F2D33"/>
                </a:solidFill>
                <a:latin typeface="Courier New"/>
              </a:defRPr>
            </a:pPr>
            <a:r>
              <a:rPr dirty="0"/>
              <a:t>1 - pt(t, </a:t>
            </a:r>
            <a:r>
              <a:rPr dirty="0" err="1"/>
              <a:t>df</a:t>
            </a:r>
            <a:r>
              <a:rPr dirty="0"/>
              <a:t> = 38)     # area to the right of t</a:t>
            </a:r>
          </a:p>
        </p:txBody>
      </p:sp>
      <p:sp>
        <p:nvSpPr>
          <p:cNvPr id="23" name="Rounded Rectangle 22"/>
          <p:cNvSpPr/>
          <p:nvPr/>
        </p:nvSpPr>
        <p:spPr>
          <a:xfrm>
            <a:off x="6172200" y="4818888"/>
            <a:ext cx="5349240" cy="1051560"/>
          </a:xfrm>
          <a:prstGeom prst="roundRect">
            <a:avLst/>
          </a:prstGeom>
          <a:solidFill>
            <a:srgbClr val="DDF4F9"/>
          </a:solidFill>
          <a:ln>
            <a:solidFill>
              <a:srgbClr val="DDF4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0" y="4965192"/>
            <a:ext cx="4800600" cy="228600"/>
          </a:xfrm>
          <a:prstGeom prst="rect">
            <a:avLst/>
          </a:prstGeom>
          <a:noFill/>
        </p:spPr>
        <p:txBody>
          <a:bodyPr wrap="none">
            <a:spAutoFit/>
          </a:bodyPr>
          <a:lstStyle/>
          <a:p>
            <a:pPr>
              <a:defRPr sz="1600" b="1">
                <a:solidFill>
                  <a:srgbClr val="00566B"/>
                </a:solidFill>
              </a:defRPr>
            </a:pPr>
            <a:r>
              <a:t>Decision rule</a:t>
            </a:r>
          </a:p>
        </p:txBody>
      </p:sp>
      <p:sp>
        <p:nvSpPr>
          <p:cNvPr id="25" name="TextBox 24"/>
          <p:cNvSpPr txBox="1"/>
          <p:nvPr/>
        </p:nvSpPr>
        <p:spPr>
          <a:xfrm>
            <a:off x="6400800" y="5248656"/>
            <a:ext cx="4846320" cy="384048"/>
          </a:xfrm>
          <a:prstGeom prst="rect">
            <a:avLst/>
          </a:prstGeom>
          <a:noFill/>
        </p:spPr>
        <p:txBody>
          <a:bodyPr wrap="none">
            <a:spAutoFit/>
          </a:bodyPr>
          <a:lstStyle/>
          <a:p>
            <a:pPr algn="ctr">
              <a:defRPr sz="1800" b="1">
                <a:solidFill>
                  <a:srgbClr val="1F2D33"/>
                </a:solidFill>
              </a:defRPr>
            </a:pPr>
            <a:r>
              <a:rPr dirty="0"/>
              <a:t>p ≤ α  →  reject H₀</a:t>
            </a:r>
          </a:p>
        </p:txBody>
      </p:sp>
      <p:sp>
        <p:nvSpPr>
          <p:cNvPr id="26" name="TextBox 25"/>
          <p:cNvSpPr txBox="1"/>
          <p:nvPr/>
        </p:nvSpPr>
        <p:spPr>
          <a:xfrm>
            <a:off x="1143000" y="6144768"/>
            <a:ext cx="10058400" cy="292608"/>
          </a:xfrm>
          <a:prstGeom prst="rect">
            <a:avLst/>
          </a:prstGeom>
          <a:noFill/>
        </p:spPr>
        <p:txBody>
          <a:bodyPr wrap="none">
            <a:spAutoFit/>
          </a:bodyPr>
          <a:lstStyle/>
          <a:p>
            <a:pPr algn="ctr">
              <a:defRPr sz="1600" b="1">
                <a:solidFill>
                  <a:srgbClr val="1F2D33"/>
                </a:solidFill>
              </a:defRPr>
            </a:pPr>
            <a:r>
              <a:rPr dirty="0"/>
              <a:t>Takeaway: qt() goes from probability to a critical t-value. pt() goes from a t-value to probability.</a:t>
            </a:r>
          </a:p>
        </p:txBody>
      </p:sp>
      <p:sp>
        <p:nvSpPr>
          <p:cNvPr id="27" name="TextBox 26"/>
          <p:cNvSpPr txBox="1"/>
          <p:nvPr/>
        </p:nvSpPr>
        <p:spPr>
          <a:xfrm>
            <a:off x="566928" y="6473952"/>
            <a:ext cx="4114800" cy="201168"/>
          </a:xfrm>
          <a:prstGeom prst="rect">
            <a:avLst/>
          </a:prstGeom>
          <a:noFill/>
        </p:spPr>
        <p:txBody>
          <a:bodyPr wrap="none">
            <a:spAutoFit/>
          </a:bodyPr>
          <a:lstStyle/>
          <a:p>
            <a:pPr>
              <a:defRPr sz="800">
                <a:solidFill>
                  <a:srgbClr val="00566B"/>
                </a:solidFill>
              </a:defRPr>
            </a:pPr>
            <a:r>
              <a:t>SOK-3081  •  Chapter 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01752"/>
            <a:ext cx="3657600" cy="201168"/>
          </a:xfrm>
          <a:prstGeom prst="rect">
            <a:avLst/>
          </a:prstGeom>
          <a:noFill/>
        </p:spPr>
        <p:txBody>
          <a:bodyPr wrap="none">
            <a:spAutoFit/>
          </a:bodyPr>
          <a:lstStyle/>
          <a:p>
            <a:pPr>
              <a:defRPr sz="900" b="1">
                <a:solidFill>
                  <a:srgbClr val="20B4D6"/>
                </a:solidFill>
              </a:defRPr>
            </a:pPr>
            <a:r>
              <a:t>t-DISTRIBUTION IN R</a:t>
            </a:r>
          </a:p>
        </p:txBody>
      </p:sp>
      <p:sp>
        <p:nvSpPr>
          <p:cNvPr id="3" name="TextBox 2"/>
          <p:cNvSpPr txBox="1"/>
          <p:nvPr/>
        </p:nvSpPr>
        <p:spPr>
          <a:xfrm>
            <a:off x="548640" y="530352"/>
            <a:ext cx="10972800" cy="411480"/>
          </a:xfrm>
          <a:prstGeom prst="rect">
            <a:avLst/>
          </a:prstGeom>
          <a:noFill/>
        </p:spPr>
        <p:txBody>
          <a:bodyPr wrap="none">
            <a:spAutoFit/>
          </a:bodyPr>
          <a:lstStyle/>
          <a:p>
            <a:pPr>
              <a:defRPr sz="2400">
                <a:solidFill>
                  <a:srgbClr val="1F2D33"/>
                </a:solidFill>
              </a:defRPr>
            </a:pPr>
            <a:r>
              <a:t>qt(): from probability to a critical t-value</a:t>
            </a:r>
          </a:p>
        </p:txBody>
      </p:sp>
      <p:sp>
        <p:nvSpPr>
          <p:cNvPr id="4" name="TextBox 3"/>
          <p:cNvSpPr txBox="1"/>
          <p:nvPr/>
        </p:nvSpPr>
        <p:spPr>
          <a:xfrm>
            <a:off x="548640" y="914400"/>
            <a:ext cx="10972800" cy="256032"/>
          </a:xfrm>
          <a:prstGeom prst="rect">
            <a:avLst/>
          </a:prstGeom>
          <a:noFill/>
        </p:spPr>
        <p:txBody>
          <a:bodyPr wrap="none">
            <a:spAutoFit/>
          </a:bodyPr>
          <a:lstStyle/>
          <a:p>
            <a:pPr>
              <a:defRPr sz="1400">
                <a:solidFill>
                  <a:srgbClr val="00566B"/>
                </a:solidFill>
              </a:defRPr>
            </a:pPr>
            <a:r>
              <a:t>Example: qt(0.95, df = 38)</a:t>
            </a:r>
          </a:p>
        </p:txBody>
      </p:sp>
      <p:sp>
        <p:nvSpPr>
          <p:cNvPr id="5" name="Rectangle 4"/>
          <p:cNvSpPr/>
          <p:nvPr/>
        </p:nvSpPr>
        <p:spPr>
          <a:xfrm>
            <a:off x="548640" y="1170432"/>
            <a:ext cx="10881360" cy="27432"/>
          </a:xfrm>
          <a:prstGeom prst="rect">
            <a:avLst/>
          </a:prstGeom>
          <a:solidFill>
            <a:srgbClr val="20B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qt_095_df38.png"/>
          <p:cNvPicPr>
            <a:picLocks noChangeAspect="1"/>
          </p:cNvPicPr>
          <p:nvPr/>
        </p:nvPicPr>
        <p:blipFill>
          <a:blip r:embed="rId3"/>
          <a:stretch>
            <a:fillRect/>
          </a:stretch>
        </p:blipFill>
        <p:spPr>
          <a:xfrm>
            <a:off x="731520" y="1417320"/>
            <a:ext cx="6990080" cy="3931920"/>
          </a:xfrm>
          <a:prstGeom prst="rect">
            <a:avLst/>
          </a:prstGeom>
        </p:spPr>
      </p:pic>
      <p:sp>
        <p:nvSpPr>
          <p:cNvPr id="7" name="Rounded Rectangle 6"/>
          <p:cNvSpPr/>
          <p:nvPr/>
        </p:nvSpPr>
        <p:spPr>
          <a:xfrm>
            <a:off x="7818120" y="1600200"/>
            <a:ext cx="3429000" cy="1737360"/>
          </a:xfrm>
          <a:prstGeom prst="roundRect">
            <a:avLst/>
          </a:prstGeom>
          <a:solidFill>
            <a:srgbClr val="EFF9FB"/>
          </a:solidFill>
          <a:ln>
            <a:solidFill>
              <a:srgbClr val="EFF9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0" y="1783080"/>
            <a:ext cx="2996654" cy="1246495"/>
          </a:xfrm>
          <a:prstGeom prst="rect">
            <a:avLst/>
          </a:prstGeom>
          <a:noFill/>
        </p:spPr>
        <p:txBody>
          <a:bodyPr wrap="none">
            <a:spAutoFit/>
          </a:bodyPr>
          <a:lstStyle/>
          <a:p>
            <a:pPr>
              <a:defRPr sz="1500">
                <a:solidFill>
                  <a:srgbClr val="1F2D33"/>
                </a:solidFill>
              </a:defRPr>
            </a:pPr>
            <a:r>
              <a:rPr dirty="0"/>
              <a:t>qt() returns the t-value with </a:t>
            </a:r>
            <a:endParaRPr lang="nb-NO" dirty="0"/>
          </a:p>
          <a:p>
            <a:pPr>
              <a:defRPr sz="1500">
                <a:solidFill>
                  <a:srgbClr val="1F2D33"/>
                </a:solidFill>
              </a:defRPr>
            </a:pPr>
            <a:r>
              <a:rPr dirty="0"/>
              <a:t>the requested cumulative </a:t>
            </a:r>
            <a:endParaRPr lang="nb-NO" dirty="0"/>
          </a:p>
          <a:p>
            <a:pPr>
              <a:defRPr sz="1500">
                <a:solidFill>
                  <a:srgbClr val="1F2D33"/>
                </a:solidFill>
              </a:defRPr>
            </a:pPr>
            <a:r>
              <a:rPr dirty="0"/>
              <a:t>probability to the left. Here, about </a:t>
            </a:r>
            <a:endParaRPr lang="nb-NO" dirty="0"/>
          </a:p>
          <a:p>
            <a:pPr>
              <a:defRPr sz="1500">
                <a:solidFill>
                  <a:srgbClr val="1F2D33"/>
                </a:solidFill>
              </a:defRPr>
            </a:pPr>
            <a:r>
              <a:rPr dirty="0"/>
              <a:t>95% of the t(38) distribution l</a:t>
            </a:r>
            <a:endParaRPr lang="nb-NO" dirty="0"/>
          </a:p>
          <a:p>
            <a:pPr>
              <a:defRPr sz="1500">
                <a:solidFill>
                  <a:srgbClr val="1F2D33"/>
                </a:solidFill>
              </a:defRPr>
            </a:pPr>
            <a:r>
              <a:rPr dirty="0" err="1"/>
              <a:t>ies</a:t>
            </a:r>
            <a:r>
              <a:rPr dirty="0"/>
              <a:t> to the left of the dashed line.</a:t>
            </a:r>
          </a:p>
        </p:txBody>
      </p:sp>
      <p:sp>
        <p:nvSpPr>
          <p:cNvPr id="9" name="Rounded Rectangle 8"/>
          <p:cNvSpPr/>
          <p:nvPr/>
        </p:nvSpPr>
        <p:spPr>
          <a:xfrm>
            <a:off x="7818120" y="3703320"/>
            <a:ext cx="3429000" cy="868680"/>
          </a:xfrm>
          <a:prstGeom prst="roundRect">
            <a:avLst/>
          </a:prstGeom>
          <a:solidFill>
            <a:srgbClr val="F7F7F7"/>
          </a:solidFill>
          <a:ln>
            <a:solidFill>
              <a:srgbClr val="F7F7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0" y="3913632"/>
            <a:ext cx="2971800" cy="411480"/>
          </a:xfrm>
          <a:prstGeom prst="rect">
            <a:avLst/>
          </a:prstGeom>
          <a:noFill/>
        </p:spPr>
        <p:txBody>
          <a:bodyPr wrap="none">
            <a:spAutoFit/>
          </a:bodyPr>
          <a:lstStyle/>
          <a:p>
            <a:pPr>
              <a:defRPr sz="1400">
                <a:solidFill>
                  <a:srgbClr val="1F2D33"/>
                </a:solidFill>
                <a:latin typeface="Courier New"/>
              </a:defRPr>
            </a:pPr>
            <a:r>
              <a:rPr dirty="0"/>
              <a:t>qt(0.95, </a:t>
            </a:r>
            <a:r>
              <a:rPr dirty="0" err="1"/>
              <a:t>df</a:t>
            </a:r>
            <a:r>
              <a:rPr dirty="0"/>
              <a:t> = 38)  # ≈ 1.686</a:t>
            </a:r>
          </a:p>
        </p:txBody>
      </p:sp>
      <p:sp>
        <p:nvSpPr>
          <p:cNvPr id="11" name="TextBox 10"/>
          <p:cNvSpPr txBox="1"/>
          <p:nvPr/>
        </p:nvSpPr>
        <p:spPr>
          <a:xfrm>
            <a:off x="868680" y="5715000"/>
            <a:ext cx="10241280" cy="365760"/>
          </a:xfrm>
          <a:prstGeom prst="rect">
            <a:avLst/>
          </a:prstGeom>
          <a:noFill/>
        </p:spPr>
        <p:txBody>
          <a:bodyPr wrap="none">
            <a:spAutoFit/>
          </a:bodyPr>
          <a:lstStyle/>
          <a:p>
            <a:pPr>
              <a:defRPr sz="1600" b="1">
                <a:solidFill>
                  <a:srgbClr val="1F2D33"/>
                </a:solidFill>
              </a:defRPr>
            </a:pPr>
            <a:r>
              <a:rPr dirty="0"/>
              <a:t>Remember: qt() goes from probability to t. pt() goes from t to probability.</a:t>
            </a:r>
          </a:p>
        </p:txBody>
      </p:sp>
      <p:sp>
        <p:nvSpPr>
          <p:cNvPr id="12" name="TextBox 11"/>
          <p:cNvSpPr txBox="1"/>
          <p:nvPr/>
        </p:nvSpPr>
        <p:spPr>
          <a:xfrm>
            <a:off x="566928" y="6473952"/>
            <a:ext cx="3657600" cy="182880"/>
          </a:xfrm>
          <a:prstGeom prst="rect">
            <a:avLst/>
          </a:prstGeom>
          <a:noFill/>
        </p:spPr>
        <p:txBody>
          <a:bodyPr wrap="none">
            <a:spAutoFit/>
          </a:bodyPr>
          <a:lstStyle/>
          <a:p>
            <a:pPr>
              <a:defRPr sz="800">
                <a:solidFill>
                  <a:srgbClr val="00566B"/>
                </a:solidFill>
              </a:defRPr>
            </a:pPr>
            <a:r>
              <a:t>SOK-3081  •  Chapter 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01752"/>
            <a:ext cx="3657600" cy="201168"/>
          </a:xfrm>
          <a:prstGeom prst="rect">
            <a:avLst/>
          </a:prstGeom>
          <a:noFill/>
        </p:spPr>
        <p:txBody>
          <a:bodyPr wrap="none">
            <a:spAutoFit/>
          </a:bodyPr>
          <a:lstStyle/>
          <a:p>
            <a:pPr>
              <a:defRPr sz="900" b="1">
                <a:solidFill>
                  <a:srgbClr val="20B4D6"/>
                </a:solidFill>
              </a:defRPr>
            </a:pPr>
            <a:r>
              <a:t>t-DISTRIBUTION IN R</a:t>
            </a:r>
          </a:p>
        </p:txBody>
      </p:sp>
      <p:sp>
        <p:nvSpPr>
          <p:cNvPr id="3" name="TextBox 2"/>
          <p:cNvSpPr txBox="1"/>
          <p:nvPr/>
        </p:nvSpPr>
        <p:spPr>
          <a:xfrm>
            <a:off x="548640" y="530352"/>
            <a:ext cx="10972800" cy="411480"/>
          </a:xfrm>
          <a:prstGeom prst="rect">
            <a:avLst/>
          </a:prstGeom>
          <a:noFill/>
        </p:spPr>
        <p:txBody>
          <a:bodyPr wrap="none">
            <a:spAutoFit/>
          </a:bodyPr>
          <a:lstStyle/>
          <a:p>
            <a:pPr>
              <a:defRPr sz="2400">
                <a:solidFill>
                  <a:srgbClr val="1F2D33"/>
                </a:solidFill>
              </a:defRPr>
            </a:pPr>
            <a:r>
              <a:t>pt(): from a t-value to probability</a:t>
            </a:r>
          </a:p>
        </p:txBody>
      </p:sp>
      <p:sp>
        <p:nvSpPr>
          <p:cNvPr id="4" name="TextBox 3"/>
          <p:cNvSpPr txBox="1"/>
          <p:nvPr/>
        </p:nvSpPr>
        <p:spPr>
          <a:xfrm>
            <a:off x="548640" y="914400"/>
            <a:ext cx="10972800" cy="256032"/>
          </a:xfrm>
          <a:prstGeom prst="rect">
            <a:avLst/>
          </a:prstGeom>
          <a:noFill/>
        </p:spPr>
        <p:txBody>
          <a:bodyPr wrap="none">
            <a:spAutoFit/>
          </a:bodyPr>
          <a:lstStyle/>
          <a:p>
            <a:pPr>
              <a:defRPr sz="1400">
                <a:solidFill>
                  <a:srgbClr val="00566B"/>
                </a:solidFill>
              </a:defRPr>
            </a:pPr>
            <a:r>
              <a:t>Example: pt(2, df = 38)</a:t>
            </a:r>
          </a:p>
        </p:txBody>
      </p:sp>
      <p:sp>
        <p:nvSpPr>
          <p:cNvPr id="5" name="Rectangle 4"/>
          <p:cNvSpPr/>
          <p:nvPr/>
        </p:nvSpPr>
        <p:spPr>
          <a:xfrm>
            <a:off x="548640" y="1170432"/>
            <a:ext cx="10881360" cy="27432"/>
          </a:xfrm>
          <a:prstGeom prst="rect">
            <a:avLst/>
          </a:prstGeom>
          <a:solidFill>
            <a:srgbClr val="20B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pt_2_df38.png"/>
          <p:cNvPicPr>
            <a:picLocks noChangeAspect="1"/>
          </p:cNvPicPr>
          <p:nvPr/>
        </p:nvPicPr>
        <p:blipFill>
          <a:blip r:embed="rId3"/>
          <a:stretch>
            <a:fillRect/>
          </a:stretch>
        </p:blipFill>
        <p:spPr>
          <a:xfrm>
            <a:off x="731520" y="1417320"/>
            <a:ext cx="6990080" cy="3931920"/>
          </a:xfrm>
          <a:prstGeom prst="rect">
            <a:avLst/>
          </a:prstGeom>
        </p:spPr>
      </p:pic>
      <p:sp>
        <p:nvSpPr>
          <p:cNvPr id="7" name="Rounded Rectangle 6"/>
          <p:cNvSpPr/>
          <p:nvPr/>
        </p:nvSpPr>
        <p:spPr>
          <a:xfrm>
            <a:off x="7818120" y="1600200"/>
            <a:ext cx="3429000" cy="1737360"/>
          </a:xfrm>
          <a:prstGeom prst="roundRect">
            <a:avLst/>
          </a:prstGeom>
          <a:solidFill>
            <a:srgbClr val="EFF9FB"/>
          </a:solidFill>
          <a:ln>
            <a:solidFill>
              <a:srgbClr val="EFF9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0" y="1783080"/>
            <a:ext cx="3091680" cy="1246495"/>
          </a:xfrm>
          <a:prstGeom prst="rect">
            <a:avLst/>
          </a:prstGeom>
          <a:noFill/>
        </p:spPr>
        <p:txBody>
          <a:bodyPr wrap="none">
            <a:spAutoFit/>
          </a:bodyPr>
          <a:lstStyle/>
          <a:p>
            <a:pPr>
              <a:defRPr sz="1500">
                <a:solidFill>
                  <a:srgbClr val="1F2D33"/>
                </a:solidFill>
              </a:defRPr>
            </a:pPr>
            <a:r>
              <a:rPr dirty="0"/>
              <a:t>pt() returns the cumulative </a:t>
            </a:r>
            <a:endParaRPr lang="nb-NO" dirty="0"/>
          </a:p>
          <a:p>
            <a:pPr>
              <a:defRPr sz="1500">
                <a:solidFill>
                  <a:srgbClr val="1F2D33"/>
                </a:solidFill>
              </a:defRPr>
            </a:pPr>
            <a:r>
              <a:rPr dirty="0"/>
              <a:t>probability to the left of the chosen </a:t>
            </a:r>
            <a:endParaRPr lang="nb-NO" dirty="0"/>
          </a:p>
          <a:p>
            <a:pPr>
              <a:defRPr sz="1500">
                <a:solidFill>
                  <a:srgbClr val="1F2D33"/>
                </a:solidFill>
              </a:defRPr>
            </a:pPr>
            <a:r>
              <a:rPr dirty="0"/>
              <a:t>t-value. Here, it gives the area </a:t>
            </a:r>
            <a:endParaRPr lang="nb-NO" dirty="0"/>
          </a:p>
          <a:p>
            <a:pPr>
              <a:defRPr sz="1500">
                <a:solidFill>
                  <a:srgbClr val="1F2D33"/>
                </a:solidFill>
              </a:defRPr>
            </a:pPr>
            <a:r>
              <a:rPr dirty="0"/>
              <a:t>under the t(38) curve to the </a:t>
            </a:r>
            <a:endParaRPr lang="nb-NO" dirty="0"/>
          </a:p>
          <a:p>
            <a:pPr>
              <a:defRPr sz="1500">
                <a:solidFill>
                  <a:srgbClr val="1F2D33"/>
                </a:solidFill>
              </a:defRPr>
            </a:pPr>
            <a:r>
              <a:rPr dirty="0"/>
              <a:t>left of t = 2.</a:t>
            </a:r>
          </a:p>
        </p:txBody>
      </p:sp>
      <p:sp>
        <p:nvSpPr>
          <p:cNvPr id="9" name="Rounded Rectangle 8"/>
          <p:cNvSpPr/>
          <p:nvPr/>
        </p:nvSpPr>
        <p:spPr>
          <a:xfrm>
            <a:off x="7818120" y="3703320"/>
            <a:ext cx="3429000" cy="868680"/>
          </a:xfrm>
          <a:prstGeom prst="roundRect">
            <a:avLst/>
          </a:prstGeom>
          <a:solidFill>
            <a:srgbClr val="F7F7F7"/>
          </a:solidFill>
          <a:ln>
            <a:solidFill>
              <a:srgbClr val="F7F7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0" y="3913632"/>
            <a:ext cx="2971800" cy="411480"/>
          </a:xfrm>
          <a:prstGeom prst="rect">
            <a:avLst/>
          </a:prstGeom>
          <a:noFill/>
        </p:spPr>
        <p:txBody>
          <a:bodyPr wrap="none">
            <a:spAutoFit/>
          </a:bodyPr>
          <a:lstStyle/>
          <a:p>
            <a:pPr>
              <a:defRPr sz="1400">
                <a:solidFill>
                  <a:srgbClr val="1F2D33"/>
                </a:solidFill>
                <a:latin typeface="Courier New"/>
              </a:defRPr>
            </a:pPr>
            <a:r>
              <a:t>pt(2, df = 38)  # ≈ 0.974</a:t>
            </a:r>
          </a:p>
        </p:txBody>
      </p:sp>
      <p:sp>
        <p:nvSpPr>
          <p:cNvPr id="11" name="TextBox 10"/>
          <p:cNvSpPr txBox="1"/>
          <p:nvPr/>
        </p:nvSpPr>
        <p:spPr>
          <a:xfrm>
            <a:off x="868680" y="5715000"/>
            <a:ext cx="10241280" cy="365760"/>
          </a:xfrm>
          <a:prstGeom prst="rect">
            <a:avLst/>
          </a:prstGeom>
          <a:noFill/>
        </p:spPr>
        <p:txBody>
          <a:bodyPr wrap="none">
            <a:spAutoFit/>
          </a:bodyPr>
          <a:lstStyle/>
          <a:p>
            <a:pPr>
              <a:defRPr sz="1600" b="1">
                <a:solidFill>
                  <a:srgbClr val="1F2D33"/>
                </a:solidFill>
              </a:defRPr>
            </a:pPr>
            <a:r>
              <a:t>Remember: qt() goes from probability to t. pt() goes from t to probability.</a:t>
            </a:r>
          </a:p>
        </p:txBody>
      </p:sp>
      <p:sp>
        <p:nvSpPr>
          <p:cNvPr id="12" name="TextBox 11"/>
          <p:cNvSpPr txBox="1"/>
          <p:nvPr/>
        </p:nvSpPr>
        <p:spPr>
          <a:xfrm>
            <a:off x="566928" y="6473952"/>
            <a:ext cx="3657600" cy="182880"/>
          </a:xfrm>
          <a:prstGeom prst="rect">
            <a:avLst/>
          </a:prstGeom>
          <a:noFill/>
        </p:spPr>
        <p:txBody>
          <a:bodyPr wrap="none">
            <a:spAutoFit/>
          </a:bodyPr>
          <a:lstStyle/>
          <a:p>
            <a:pPr>
              <a:defRPr sz="800">
                <a:solidFill>
                  <a:srgbClr val="00566B"/>
                </a:solidFill>
              </a:defRPr>
            </a:pPr>
            <a:r>
              <a:t>SOK-3081  •  Chapter 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A CLAIM WE CAN TEST</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Return to the supermarket decision</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Shape 3"/>
          <p:cNvSpPr/>
          <p:nvPr/>
        </p:nvSpPr>
        <p:spPr>
          <a:xfrm>
            <a:off x="960120" y="1325880"/>
            <a:ext cx="6766560" cy="685800"/>
          </a:xfrm>
          <a:prstGeom prst="roundRect">
            <a:avLst>
              <a:gd name="adj" fmla="val 8000"/>
            </a:avLst>
          </a:prstGeom>
          <a:solidFill>
            <a:srgbClr val="DDF4F9"/>
          </a:solidFill>
          <a:ln w="12700">
            <a:solidFill>
              <a:srgbClr val="DDF4F9"/>
            </a:solidFill>
            <a:prstDash val="solid"/>
          </a:ln>
        </p:spPr>
        <p:txBody>
          <a:bodyPr/>
          <a:lstStyle/>
          <a:p>
            <a:endParaRPr lang="en-GB"/>
          </a:p>
        </p:txBody>
      </p:sp>
      <p:sp>
        <p:nvSpPr>
          <p:cNvPr id="6" name="Text 4"/>
          <p:cNvSpPr/>
          <p:nvPr/>
        </p:nvSpPr>
        <p:spPr>
          <a:xfrm>
            <a:off x="1069848" y="1389888"/>
            <a:ext cx="6547104" cy="557784"/>
          </a:xfrm>
          <a:prstGeom prst="rect">
            <a:avLst/>
          </a:prstGeom>
          <a:noFill/>
          <a:ln/>
        </p:spPr>
        <p:txBody>
          <a:bodyPr wrap="square" lIns="254" tIns="254" rIns="254" bIns="254" rtlCol="0" anchor="ctr">
            <a:normAutofit/>
          </a:bodyPr>
          <a:lstStyle/>
          <a:p>
            <a:pPr marL="0" indent="0" algn="ctr">
              <a:buNone/>
            </a:pPr>
            <a:r>
              <a:rPr lang="en-US" sz="2200" b="1" i="1" dirty="0">
                <a:solidFill>
                  <a:srgbClr val="00566B"/>
                </a:solidFill>
                <a:latin typeface="Cambria Math" pitchFamily="34" charset="0"/>
                <a:ea typeface="Cambria Math" pitchFamily="34" charset="-122"/>
                <a:cs typeface="Cambria Math" pitchFamily="34" charset="-120"/>
              </a:rPr>
              <a:t>food_exp = 83.42 + 0.1021 · income</a:t>
            </a:r>
            <a:endParaRPr lang="en-US" sz="2200" b="1" i="1" dirty="0"/>
          </a:p>
        </p:txBody>
      </p:sp>
      <p:sp>
        <p:nvSpPr>
          <p:cNvPr id="7" name="Shape 5"/>
          <p:cNvSpPr/>
          <p:nvPr/>
        </p:nvSpPr>
        <p:spPr>
          <a:xfrm>
            <a:off x="960120" y="2423160"/>
            <a:ext cx="3657600" cy="1828800"/>
          </a:xfrm>
          <a:prstGeom prst="roundRect">
            <a:avLst>
              <a:gd name="adj" fmla="val 4000"/>
            </a:avLst>
          </a:prstGeom>
          <a:solidFill>
            <a:srgbClr val="EFF9FB"/>
          </a:solidFill>
          <a:ln w="12700">
            <a:solidFill>
              <a:srgbClr val="EFF9FB"/>
            </a:solidFill>
            <a:prstDash val="solid"/>
          </a:ln>
        </p:spPr>
        <p:txBody>
          <a:bodyPr/>
          <a:lstStyle/>
          <a:p>
            <a:endParaRPr lang="en-GB"/>
          </a:p>
        </p:txBody>
      </p:sp>
      <p:sp>
        <p:nvSpPr>
          <p:cNvPr id="8" name="Text 6"/>
          <p:cNvSpPr/>
          <p:nvPr/>
        </p:nvSpPr>
        <p:spPr>
          <a:xfrm>
            <a:off x="1124712" y="2560320"/>
            <a:ext cx="3328416" cy="292608"/>
          </a:xfrm>
          <a:prstGeom prst="rect">
            <a:avLst/>
          </a:prstGeom>
          <a:noFill/>
          <a:ln/>
        </p:spPr>
        <p:txBody>
          <a:bodyPr wrap="square" lIns="0" tIns="0" rIns="0" bIns="0" rtlCol="0" anchor="ctr"/>
          <a:lstStyle/>
          <a:p>
            <a:pPr marL="0" indent="0" algn="ctr">
              <a:buNone/>
            </a:pPr>
            <a:r>
              <a:rPr lang="en-US" sz="1600" b="1" dirty="0">
                <a:solidFill>
                  <a:srgbClr val="00566B"/>
                </a:solidFill>
              </a:rPr>
              <a:t>Estimate</a:t>
            </a:r>
            <a:endParaRPr lang="en-US" sz="1600" dirty="0"/>
          </a:p>
        </p:txBody>
      </p:sp>
      <p:sp>
        <p:nvSpPr>
          <p:cNvPr id="9" name="Text 7"/>
          <p:cNvSpPr/>
          <p:nvPr/>
        </p:nvSpPr>
        <p:spPr>
          <a:xfrm>
            <a:off x="1124712" y="2953512"/>
            <a:ext cx="3328416" cy="1143000"/>
          </a:xfrm>
          <a:prstGeom prst="rect">
            <a:avLst/>
          </a:prstGeom>
          <a:noFill/>
          <a:ln/>
        </p:spPr>
        <p:txBody>
          <a:bodyPr wrap="square" lIns="254" tIns="254" rIns="254" bIns="254" rtlCol="0" anchor="ctr"/>
          <a:lstStyle/>
          <a:p>
            <a:pPr marL="0" indent="0" algn="ctr">
              <a:buNone/>
            </a:pPr>
            <a:r>
              <a:rPr lang="en-US" sz="1400" dirty="0">
                <a:solidFill>
                  <a:srgbClr val="1F2D33"/>
                </a:solidFill>
              </a:rPr>
              <a:t>USD 0.102 more food expenditure</a:t>
            </a:r>
            <a:endParaRPr lang="en-US" sz="1400" dirty="0"/>
          </a:p>
          <a:p>
            <a:pPr marL="0" indent="0" algn="ctr">
              <a:buNone/>
            </a:pPr>
            <a:r>
              <a:rPr lang="en-US" sz="1400" dirty="0">
                <a:solidFill>
                  <a:srgbClr val="1F2D33"/>
                </a:solidFill>
              </a:rPr>
              <a:t>per USD higher weekly income</a:t>
            </a:r>
            <a:endParaRPr lang="en-US" sz="1400" dirty="0"/>
          </a:p>
        </p:txBody>
      </p:sp>
      <p:sp>
        <p:nvSpPr>
          <p:cNvPr id="10" name="Shape 8"/>
          <p:cNvSpPr/>
          <p:nvPr/>
        </p:nvSpPr>
        <p:spPr>
          <a:xfrm>
            <a:off x="5715000" y="2423160"/>
            <a:ext cx="3657600" cy="1828800"/>
          </a:xfrm>
          <a:prstGeom prst="roundRect">
            <a:avLst>
              <a:gd name="adj" fmla="val 4000"/>
            </a:avLst>
          </a:prstGeom>
          <a:solidFill>
            <a:srgbClr val="FFF1F2"/>
          </a:solidFill>
          <a:ln w="12700">
            <a:solidFill>
              <a:srgbClr val="FFF1F2"/>
            </a:solidFill>
            <a:prstDash val="solid"/>
          </a:ln>
        </p:spPr>
        <p:txBody>
          <a:bodyPr/>
          <a:lstStyle/>
          <a:p>
            <a:endParaRPr lang="en-GB"/>
          </a:p>
        </p:txBody>
      </p:sp>
      <p:sp>
        <p:nvSpPr>
          <p:cNvPr id="11" name="Text 9"/>
          <p:cNvSpPr/>
          <p:nvPr/>
        </p:nvSpPr>
        <p:spPr>
          <a:xfrm>
            <a:off x="5879592" y="2560320"/>
            <a:ext cx="3328416" cy="292608"/>
          </a:xfrm>
          <a:prstGeom prst="rect">
            <a:avLst/>
          </a:prstGeom>
          <a:noFill/>
          <a:ln/>
        </p:spPr>
        <p:txBody>
          <a:bodyPr wrap="square" lIns="0" tIns="0" rIns="0" bIns="0" rtlCol="0" anchor="ctr"/>
          <a:lstStyle/>
          <a:p>
            <a:pPr marL="0" indent="0" algn="ctr">
              <a:buNone/>
            </a:pPr>
            <a:r>
              <a:rPr lang="en-US" sz="1600" b="1" dirty="0">
                <a:solidFill>
                  <a:srgbClr val="D71920"/>
                </a:solidFill>
              </a:rPr>
              <a:t>Decision threshold</a:t>
            </a:r>
            <a:endParaRPr lang="en-US" sz="1600" dirty="0"/>
          </a:p>
        </p:txBody>
      </p:sp>
      <p:sp>
        <p:nvSpPr>
          <p:cNvPr id="12" name="Text 10"/>
          <p:cNvSpPr/>
          <p:nvPr/>
        </p:nvSpPr>
        <p:spPr>
          <a:xfrm>
            <a:off x="5879592" y="2953512"/>
            <a:ext cx="3328416" cy="1143000"/>
          </a:xfrm>
          <a:prstGeom prst="rect">
            <a:avLst/>
          </a:prstGeom>
          <a:noFill/>
          <a:ln/>
        </p:spPr>
        <p:txBody>
          <a:bodyPr wrap="square" lIns="254" tIns="254" rIns="254" bIns="254" rtlCol="0" anchor="ctr"/>
          <a:lstStyle/>
          <a:p>
            <a:pPr marL="0" indent="0" algn="ctr">
              <a:buNone/>
            </a:pPr>
            <a:r>
              <a:rPr lang="en-US" sz="1400" dirty="0">
                <a:solidFill>
                  <a:srgbClr val="1F2D33"/>
                </a:solidFill>
              </a:rPr>
              <a:t>Investment requires more than</a:t>
            </a:r>
            <a:endParaRPr lang="en-US" sz="1400" dirty="0"/>
          </a:p>
          <a:p>
            <a:pPr marL="0" indent="0" algn="ctr">
              <a:buNone/>
            </a:pPr>
            <a:r>
              <a:rPr lang="en-US" sz="1400" dirty="0">
                <a:solidFill>
                  <a:srgbClr val="1F2D33"/>
                </a:solidFill>
              </a:rPr>
              <a:t>USD 0.055 per USD</a:t>
            </a:r>
            <a:endParaRPr lang="en-US" sz="1400" dirty="0"/>
          </a:p>
        </p:txBody>
      </p:sp>
      <p:sp>
        <p:nvSpPr>
          <p:cNvPr id="13" name="Text 11"/>
          <p:cNvSpPr/>
          <p:nvPr/>
        </p:nvSpPr>
        <p:spPr>
          <a:xfrm>
            <a:off x="2636322" y="4892040"/>
            <a:ext cx="5355772" cy="713232"/>
          </a:xfrm>
          <a:prstGeom prst="rect">
            <a:avLst/>
          </a:prstGeom>
          <a:noFill/>
          <a:ln/>
        </p:spPr>
        <p:txBody>
          <a:bodyPr wrap="square" lIns="0" tIns="0" rIns="0" bIns="0" rtlCol="0" anchor="ctr"/>
          <a:lstStyle/>
          <a:p>
            <a:pPr marL="0" indent="0" algn="ctr">
              <a:buNone/>
            </a:pPr>
            <a:r>
              <a:rPr lang="en-US" sz="2300" b="1" dirty="0">
                <a:solidFill>
                  <a:srgbClr val="D71920"/>
                </a:solidFill>
              </a:rPr>
              <a:t>Question: Is the evidence strong enough to conclude that β₂ &gt; 0.055?</a:t>
            </a:r>
            <a:endParaRPr lang="en-US" sz="23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E7C82"/>
                </a:solidFill>
              </a:defRPr>
            </a:lvl1pPr>
          </a:lstStyle>
          <a:p>
            <a:pPr algn="l"/>
            <a:fld id="{F7021451-1387-4CA6-816F-3879F97B5CBC}" type="slidenum">
              <a:rPr lang="en-US" b="0"/>
              <a:t>12</a:t>
            </a:fld>
            <a:endParaRPr lang="en-US" dirty="0"/>
          </a:p>
        </p:txBody>
      </p:sp>
      <p:sp>
        <p:nvSpPr>
          <p:cNvPr id="15" name="Ellipse 14">
            <a:extLst>
              <a:ext uri="{FF2B5EF4-FFF2-40B4-BE49-F238E27FC236}">
                <a16:creationId xmlns:a16="http://schemas.microsoft.com/office/drawing/2014/main" id="{0B45D5E3-6A6D-6CDC-1390-559B0F6EC3E3}"/>
              </a:ext>
            </a:extLst>
          </p:cNvPr>
          <p:cNvSpPr/>
          <p:nvPr/>
        </p:nvSpPr>
        <p:spPr>
          <a:xfrm>
            <a:off x="10467377" y="184198"/>
            <a:ext cx="1354914" cy="627398"/>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GB" dirty="0"/>
              <a:t>Lab 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HYPOTHESES</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From the economic question to H₀ and H₁</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Shape 3"/>
          <p:cNvSpPr/>
          <p:nvPr/>
        </p:nvSpPr>
        <p:spPr>
          <a:xfrm>
            <a:off x="1097280" y="1508760"/>
            <a:ext cx="4114800" cy="822960"/>
          </a:xfrm>
          <a:prstGeom prst="roundRect">
            <a:avLst>
              <a:gd name="adj" fmla="val 6667"/>
            </a:avLst>
          </a:prstGeom>
          <a:solidFill>
            <a:srgbClr val="F4F6F7"/>
          </a:solidFill>
          <a:ln w="12700">
            <a:solidFill>
              <a:srgbClr val="F4F6F7"/>
            </a:solidFill>
            <a:prstDash val="solid"/>
          </a:ln>
        </p:spPr>
        <p:txBody>
          <a:bodyPr/>
          <a:lstStyle/>
          <a:p>
            <a:endParaRPr lang="en-GB"/>
          </a:p>
        </p:txBody>
      </p:sp>
      <p:sp>
        <p:nvSpPr>
          <p:cNvPr id="6" name="Text 4"/>
          <p:cNvSpPr/>
          <p:nvPr/>
        </p:nvSpPr>
        <p:spPr>
          <a:xfrm>
            <a:off x="1207008" y="1572768"/>
            <a:ext cx="3895344" cy="694944"/>
          </a:xfrm>
          <a:prstGeom prst="rect">
            <a:avLst/>
          </a:prstGeom>
          <a:noFill/>
          <a:ln/>
        </p:spPr>
        <p:txBody>
          <a:bodyPr wrap="square" lIns="254" tIns="254" rIns="254" bIns="254" rtlCol="0" anchor="ctr">
            <a:normAutofit/>
          </a:bodyPr>
          <a:lstStyle/>
          <a:p>
            <a:pPr marL="0" indent="0" algn="ctr">
              <a:buNone/>
            </a:pPr>
            <a:r>
              <a:rPr lang="en-US" sz="2700" b="1" i="1" dirty="0">
                <a:solidFill>
                  <a:srgbClr val="1F2D33"/>
                </a:solidFill>
                <a:latin typeface="Cambria Math" pitchFamily="34" charset="0"/>
                <a:ea typeface="Cambria Math" pitchFamily="34" charset="-122"/>
                <a:cs typeface="Cambria Math" pitchFamily="34" charset="-120"/>
              </a:rPr>
              <a:t>H₀: β₂ ≤ 0.055</a:t>
            </a:r>
            <a:endParaRPr lang="en-US" sz="2700" i="1" dirty="0"/>
          </a:p>
        </p:txBody>
      </p:sp>
      <p:sp>
        <p:nvSpPr>
          <p:cNvPr id="7" name="Shape 5"/>
          <p:cNvSpPr/>
          <p:nvPr/>
        </p:nvSpPr>
        <p:spPr>
          <a:xfrm>
            <a:off x="6400800" y="1508760"/>
            <a:ext cx="4114800" cy="822960"/>
          </a:xfrm>
          <a:prstGeom prst="roundRect">
            <a:avLst>
              <a:gd name="adj" fmla="val 6667"/>
            </a:avLst>
          </a:prstGeom>
          <a:solidFill>
            <a:srgbClr val="DDF4F9"/>
          </a:solidFill>
          <a:ln w="12700">
            <a:solidFill>
              <a:srgbClr val="DDF4F9"/>
            </a:solidFill>
            <a:prstDash val="solid"/>
          </a:ln>
        </p:spPr>
        <p:txBody>
          <a:bodyPr/>
          <a:lstStyle/>
          <a:p>
            <a:endParaRPr lang="en-GB"/>
          </a:p>
        </p:txBody>
      </p:sp>
      <p:sp>
        <p:nvSpPr>
          <p:cNvPr id="8" name="Text 6"/>
          <p:cNvSpPr/>
          <p:nvPr/>
        </p:nvSpPr>
        <p:spPr>
          <a:xfrm>
            <a:off x="6510528" y="1572768"/>
            <a:ext cx="3895344" cy="694944"/>
          </a:xfrm>
          <a:prstGeom prst="rect">
            <a:avLst/>
          </a:prstGeom>
          <a:noFill/>
          <a:ln/>
        </p:spPr>
        <p:txBody>
          <a:bodyPr wrap="square" lIns="254" tIns="254" rIns="254" bIns="254" rtlCol="0" anchor="ctr">
            <a:normAutofit/>
          </a:bodyPr>
          <a:lstStyle/>
          <a:p>
            <a:pPr marL="0" indent="0" algn="ctr">
              <a:buNone/>
            </a:pPr>
            <a:r>
              <a:rPr lang="en-US" sz="2700" b="1" i="1" dirty="0">
                <a:solidFill>
                  <a:srgbClr val="00566B"/>
                </a:solidFill>
                <a:latin typeface="Cambria Math" pitchFamily="34" charset="0"/>
                <a:ea typeface="Cambria Math" pitchFamily="34" charset="-122"/>
                <a:cs typeface="Cambria Math" pitchFamily="34" charset="-120"/>
              </a:rPr>
              <a:t>H₁: β₂ &gt; 0.055</a:t>
            </a:r>
            <a:endParaRPr lang="en-US" sz="2700" i="1" dirty="0"/>
          </a:p>
        </p:txBody>
      </p:sp>
      <p:sp>
        <p:nvSpPr>
          <p:cNvPr id="9" name="Text 7"/>
          <p:cNvSpPr/>
          <p:nvPr/>
        </p:nvSpPr>
        <p:spPr>
          <a:xfrm>
            <a:off x="1280160" y="2606040"/>
            <a:ext cx="3749040" cy="320040"/>
          </a:xfrm>
          <a:prstGeom prst="rect">
            <a:avLst/>
          </a:prstGeom>
          <a:noFill/>
          <a:ln/>
        </p:spPr>
        <p:txBody>
          <a:bodyPr wrap="square" lIns="0" tIns="0" rIns="0" bIns="0" rtlCol="0" anchor="ctr"/>
          <a:lstStyle/>
          <a:p>
            <a:pPr marL="0" indent="0" algn="ctr">
              <a:buNone/>
            </a:pPr>
            <a:r>
              <a:rPr lang="en-US" sz="1700" dirty="0">
                <a:solidFill>
                  <a:srgbClr val="64737A"/>
                </a:solidFill>
              </a:rPr>
              <a:t>Not enough for investment</a:t>
            </a:r>
            <a:endParaRPr lang="en-US" sz="1700" dirty="0"/>
          </a:p>
        </p:txBody>
      </p:sp>
      <p:sp>
        <p:nvSpPr>
          <p:cNvPr id="10" name="Text 8"/>
          <p:cNvSpPr/>
          <p:nvPr/>
        </p:nvSpPr>
        <p:spPr>
          <a:xfrm>
            <a:off x="6583680" y="2606040"/>
            <a:ext cx="3749040" cy="320040"/>
          </a:xfrm>
          <a:prstGeom prst="rect">
            <a:avLst/>
          </a:prstGeom>
          <a:noFill/>
          <a:ln/>
        </p:spPr>
        <p:txBody>
          <a:bodyPr wrap="square" lIns="0" tIns="0" rIns="0" bIns="0" rtlCol="0" anchor="ctr"/>
          <a:lstStyle/>
          <a:p>
            <a:pPr marL="0" indent="0" algn="ctr">
              <a:buNone/>
            </a:pPr>
            <a:r>
              <a:rPr lang="en-US" sz="1700" dirty="0">
                <a:solidFill>
                  <a:srgbClr val="64737A"/>
                </a:solidFill>
              </a:rPr>
              <a:t>Large enough for investment</a:t>
            </a:r>
            <a:endParaRPr lang="en-US" sz="1700" dirty="0"/>
          </a:p>
        </p:txBody>
      </p:sp>
      <p:sp>
        <p:nvSpPr>
          <p:cNvPr id="11" name="Text 9"/>
          <p:cNvSpPr/>
          <p:nvPr/>
        </p:nvSpPr>
        <p:spPr>
          <a:xfrm>
            <a:off x="950026" y="3208119"/>
            <a:ext cx="9108374" cy="502920"/>
          </a:xfrm>
          <a:prstGeom prst="rect">
            <a:avLst/>
          </a:prstGeom>
          <a:noFill/>
          <a:ln/>
        </p:spPr>
        <p:txBody>
          <a:bodyPr wrap="square" lIns="0" tIns="0" rIns="0" bIns="0" rtlCol="0" anchor="ctr"/>
          <a:lstStyle/>
          <a:p>
            <a:pPr marL="0" indent="0" algn="ctr">
              <a:buNone/>
            </a:pPr>
            <a:r>
              <a:rPr lang="en-US" sz="2200" b="1" dirty="0">
                <a:solidFill>
                  <a:srgbClr val="D71920"/>
                </a:solidFill>
              </a:rPr>
              <a:t>The alternative hypothesis determines the direction of the test.</a:t>
            </a:r>
            <a:endParaRPr lang="en-US" sz="2200" dirty="0"/>
          </a:p>
        </p:txBody>
      </p:sp>
      <p:sp>
        <p:nvSpPr>
          <p:cNvPr id="12" name="Text 10"/>
          <p:cNvSpPr/>
          <p:nvPr/>
        </p:nvSpPr>
        <p:spPr>
          <a:xfrm>
            <a:off x="1828800" y="3787338"/>
            <a:ext cx="7863840" cy="411480"/>
          </a:xfrm>
          <a:prstGeom prst="rect">
            <a:avLst/>
          </a:prstGeom>
          <a:noFill/>
          <a:ln/>
        </p:spPr>
        <p:txBody>
          <a:bodyPr wrap="square" lIns="0" tIns="0" rIns="0" bIns="0" rtlCol="0" anchor="ctr"/>
          <a:lstStyle/>
          <a:p>
            <a:pPr marL="0" indent="0" algn="ctr">
              <a:buNone/>
            </a:pPr>
            <a:r>
              <a:rPr lang="en-US" sz="1800" dirty="0">
                <a:solidFill>
                  <a:srgbClr val="1F2D33"/>
                </a:solidFill>
              </a:rPr>
              <a:t>For calculations, the boundary value 0.055 is used in the t-statistic.</a:t>
            </a:r>
            <a:endParaRPr lang="en-US" sz="18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E7C82"/>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4206240" cy="256032"/>
          </a:xfrm>
          <a:prstGeom prst="rect">
            <a:avLst/>
          </a:prstGeom>
          <a:noFill/>
        </p:spPr>
        <p:txBody>
          <a:bodyPr wrap="none">
            <a:spAutoFit/>
          </a:bodyPr>
          <a:lstStyle/>
          <a:p>
            <a:pPr>
              <a:defRPr sz="900" b="1">
                <a:solidFill>
                  <a:srgbClr val="20B4D6"/>
                </a:solidFill>
              </a:defRPr>
            </a:pPr>
            <a:r>
              <a:t>HYPOTHESIS TESTING</a:t>
            </a:r>
          </a:p>
        </p:txBody>
      </p:sp>
      <p:sp>
        <p:nvSpPr>
          <p:cNvPr id="3" name="TextBox 2"/>
          <p:cNvSpPr txBox="1"/>
          <p:nvPr/>
        </p:nvSpPr>
        <p:spPr>
          <a:xfrm>
            <a:off x="548640" y="530352"/>
            <a:ext cx="10972800" cy="502920"/>
          </a:xfrm>
          <a:prstGeom prst="rect">
            <a:avLst/>
          </a:prstGeom>
          <a:noFill/>
        </p:spPr>
        <p:txBody>
          <a:bodyPr wrap="none">
            <a:spAutoFit/>
          </a:bodyPr>
          <a:lstStyle/>
          <a:p>
            <a:pPr>
              <a:defRPr sz="2600">
                <a:solidFill>
                  <a:srgbClr val="1F2D33"/>
                </a:solidFill>
              </a:defRPr>
            </a:pPr>
            <a:r>
              <a:t>Hypothesis testing starts by assuming H₀ is true</a:t>
            </a:r>
          </a:p>
        </p:txBody>
      </p:sp>
      <p:sp>
        <p:nvSpPr>
          <p:cNvPr id="4" name="Rectangle 3"/>
          <p:cNvSpPr/>
          <p:nvPr/>
        </p:nvSpPr>
        <p:spPr>
          <a:xfrm>
            <a:off x="548640" y="1133856"/>
            <a:ext cx="10698480" cy="22860"/>
          </a:xfrm>
          <a:prstGeom prst="rect">
            <a:avLst/>
          </a:prstGeom>
          <a:solidFill>
            <a:srgbClr val="20B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645920"/>
            <a:ext cx="2743200" cy="2743200"/>
          </a:xfrm>
          <a:prstGeom prst="roundRect">
            <a:avLst/>
          </a:prstGeom>
          <a:solidFill>
            <a:srgbClr val="DDF4F9"/>
          </a:solidFill>
          <a:ln>
            <a:solidFill>
              <a:srgbClr val="DDF4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1847088"/>
            <a:ext cx="2377440" cy="256032"/>
          </a:xfrm>
          <a:prstGeom prst="rect">
            <a:avLst/>
          </a:prstGeom>
          <a:noFill/>
        </p:spPr>
        <p:txBody>
          <a:bodyPr wrap="none">
            <a:spAutoFit/>
          </a:bodyPr>
          <a:lstStyle/>
          <a:p>
            <a:pPr>
              <a:defRPr sz="1000" b="1">
                <a:solidFill>
                  <a:srgbClr val="20B4D6"/>
                </a:solidFill>
              </a:defRPr>
            </a:pPr>
            <a:r>
              <a:t>Step 1</a:t>
            </a:r>
          </a:p>
        </p:txBody>
      </p:sp>
      <p:sp>
        <p:nvSpPr>
          <p:cNvPr id="7" name="TextBox 6"/>
          <p:cNvSpPr txBox="1"/>
          <p:nvPr/>
        </p:nvSpPr>
        <p:spPr>
          <a:xfrm>
            <a:off x="850392" y="2103120"/>
            <a:ext cx="2109937" cy="646331"/>
          </a:xfrm>
          <a:prstGeom prst="rect">
            <a:avLst/>
          </a:prstGeom>
          <a:noFill/>
        </p:spPr>
        <p:txBody>
          <a:bodyPr wrap="none">
            <a:spAutoFit/>
          </a:bodyPr>
          <a:lstStyle/>
          <a:p>
            <a:pPr>
              <a:defRPr sz="1800" b="1">
                <a:solidFill>
                  <a:srgbClr val="1F2D33"/>
                </a:solidFill>
              </a:defRPr>
            </a:pPr>
            <a:r>
              <a:rPr dirty="0"/>
              <a:t>Assume the null </a:t>
            </a:r>
            <a:endParaRPr lang="nb-NO" dirty="0"/>
          </a:p>
          <a:p>
            <a:pPr>
              <a:defRPr sz="1800" b="1">
                <a:solidFill>
                  <a:srgbClr val="1F2D33"/>
                </a:solidFill>
              </a:defRPr>
            </a:pPr>
            <a:r>
              <a:rPr dirty="0"/>
              <a:t>hypothesis is true.</a:t>
            </a:r>
          </a:p>
        </p:txBody>
      </p:sp>
      <p:sp>
        <p:nvSpPr>
          <p:cNvPr id="8" name="TextBox 7"/>
          <p:cNvSpPr txBox="1"/>
          <p:nvPr/>
        </p:nvSpPr>
        <p:spPr>
          <a:xfrm>
            <a:off x="850392" y="3063240"/>
            <a:ext cx="2239716" cy="846386"/>
          </a:xfrm>
          <a:prstGeom prst="rect">
            <a:avLst/>
          </a:prstGeom>
          <a:noFill/>
        </p:spPr>
        <p:txBody>
          <a:bodyPr wrap="none">
            <a:spAutoFit/>
          </a:bodyPr>
          <a:lstStyle/>
          <a:p>
            <a:pPr>
              <a:defRPr sz="1700" b="1">
                <a:solidFill>
                  <a:srgbClr val="1F2D33"/>
                </a:solidFill>
              </a:defRPr>
            </a:pPr>
            <a:r>
              <a:rPr dirty="0"/>
              <a:t>For the supermarket </a:t>
            </a:r>
            <a:endParaRPr lang="nb-NO" dirty="0"/>
          </a:p>
          <a:p>
            <a:pPr>
              <a:defRPr sz="1700" b="1">
                <a:solidFill>
                  <a:srgbClr val="1F2D33"/>
                </a:solidFill>
              </a:defRPr>
            </a:pPr>
            <a:r>
              <a:rPr dirty="0"/>
              <a:t>example:</a:t>
            </a:r>
          </a:p>
          <a:p>
            <a:pPr>
              <a:defRPr sz="1500">
                <a:solidFill>
                  <a:srgbClr val="00566B"/>
                </a:solidFill>
              </a:defRPr>
            </a:pPr>
            <a:r>
              <a:rPr dirty="0"/>
              <a:t>H₀: β₂ = 0.055</a:t>
            </a:r>
          </a:p>
        </p:txBody>
      </p:sp>
      <p:sp>
        <p:nvSpPr>
          <p:cNvPr id="9" name="Rounded Rectangle 8"/>
          <p:cNvSpPr/>
          <p:nvPr/>
        </p:nvSpPr>
        <p:spPr>
          <a:xfrm>
            <a:off x="4069080" y="1645920"/>
            <a:ext cx="2743200" cy="2743200"/>
          </a:xfrm>
          <a:prstGeom prst="roundRect">
            <a:avLst/>
          </a:prstGeom>
          <a:solidFill>
            <a:srgbClr val="F6F8F9"/>
          </a:solidFill>
          <a:ln>
            <a:solidFill>
              <a:srgbClr val="F6F8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33672" y="1847088"/>
            <a:ext cx="2377440" cy="256032"/>
          </a:xfrm>
          <a:prstGeom prst="rect">
            <a:avLst/>
          </a:prstGeom>
          <a:noFill/>
        </p:spPr>
        <p:txBody>
          <a:bodyPr wrap="none">
            <a:spAutoFit/>
          </a:bodyPr>
          <a:lstStyle/>
          <a:p>
            <a:pPr>
              <a:defRPr sz="1000" b="1">
                <a:solidFill>
                  <a:srgbClr val="20B4D6"/>
                </a:solidFill>
              </a:defRPr>
            </a:pPr>
            <a:r>
              <a:t>Step 2</a:t>
            </a:r>
          </a:p>
        </p:txBody>
      </p:sp>
      <p:sp>
        <p:nvSpPr>
          <p:cNvPr id="11" name="TextBox 10"/>
          <p:cNvSpPr txBox="1"/>
          <p:nvPr/>
        </p:nvSpPr>
        <p:spPr>
          <a:xfrm>
            <a:off x="4233672" y="2103120"/>
            <a:ext cx="2578847" cy="923330"/>
          </a:xfrm>
          <a:prstGeom prst="rect">
            <a:avLst/>
          </a:prstGeom>
          <a:noFill/>
        </p:spPr>
        <p:txBody>
          <a:bodyPr wrap="none">
            <a:spAutoFit/>
          </a:bodyPr>
          <a:lstStyle/>
          <a:p>
            <a:pPr>
              <a:defRPr sz="1800" b="1">
                <a:solidFill>
                  <a:srgbClr val="1F2D33"/>
                </a:solidFill>
              </a:defRPr>
            </a:pPr>
            <a:r>
              <a:rPr dirty="0"/>
              <a:t>Compare our estimate </a:t>
            </a:r>
            <a:endParaRPr lang="nb-NO" dirty="0"/>
          </a:p>
          <a:p>
            <a:pPr>
              <a:defRPr sz="1800" b="1">
                <a:solidFill>
                  <a:srgbClr val="1F2D33"/>
                </a:solidFill>
              </a:defRPr>
            </a:pPr>
            <a:r>
              <a:rPr dirty="0"/>
              <a:t>with the value implied </a:t>
            </a:r>
            <a:endParaRPr lang="nb-NO" dirty="0"/>
          </a:p>
          <a:p>
            <a:pPr>
              <a:defRPr sz="1800" b="1">
                <a:solidFill>
                  <a:srgbClr val="1F2D33"/>
                </a:solidFill>
              </a:defRPr>
            </a:pPr>
            <a:r>
              <a:rPr dirty="0"/>
              <a:t>by H₀.</a:t>
            </a:r>
          </a:p>
        </p:txBody>
      </p:sp>
      <p:sp>
        <p:nvSpPr>
          <p:cNvPr id="12" name="TextBox 11"/>
          <p:cNvSpPr txBox="1"/>
          <p:nvPr/>
        </p:nvSpPr>
        <p:spPr>
          <a:xfrm>
            <a:off x="4233672" y="3063240"/>
            <a:ext cx="2331720" cy="1005840"/>
          </a:xfrm>
          <a:prstGeom prst="rect">
            <a:avLst/>
          </a:prstGeom>
          <a:noFill/>
        </p:spPr>
        <p:txBody>
          <a:bodyPr wrap="none">
            <a:spAutoFit/>
          </a:bodyPr>
          <a:lstStyle/>
          <a:p>
            <a:pPr>
              <a:defRPr sz="1700" b="1">
                <a:solidFill>
                  <a:srgbClr val="00566B"/>
                </a:solidFill>
              </a:defRPr>
            </a:pPr>
            <a:r>
              <a:t>Observed estimate:</a:t>
            </a:r>
          </a:p>
          <a:p>
            <a:pPr>
              <a:defRPr sz="1500">
                <a:solidFill>
                  <a:srgbClr val="00566B"/>
                </a:solidFill>
              </a:defRPr>
            </a:pPr>
            <a:r>
              <a:t>b₂ = 0.1021</a:t>
            </a:r>
          </a:p>
        </p:txBody>
      </p:sp>
      <p:sp>
        <p:nvSpPr>
          <p:cNvPr id="13" name="Rounded Rectangle 12"/>
          <p:cNvSpPr/>
          <p:nvPr/>
        </p:nvSpPr>
        <p:spPr>
          <a:xfrm>
            <a:off x="7452360" y="1645920"/>
            <a:ext cx="2743200" cy="2743200"/>
          </a:xfrm>
          <a:prstGeom prst="roundRect">
            <a:avLst/>
          </a:prstGeom>
          <a:solidFill>
            <a:srgbClr val="FFF1F2"/>
          </a:solidFill>
          <a:ln>
            <a:solidFill>
              <a:srgbClr val="FFF1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16952" y="1847088"/>
            <a:ext cx="2377440" cy="256032"/>
          </a:xfrm>
          <a:prstGeom prst="rect">
            <a:avLst/>
          </a:prstGeom>
          <a:noFill/>
        </p:spPr>
        <p:txBody>
          <a:bodyPr wrap="none">
            <a:spAutoFit/>
          </a:bodyPr>
          <a:lstStyle/>
          <a:p>
            <a:pPr>
              <a:defRPr sz="1000" b="1">
                <a:solidFill>
                  <a:srgbClr val="D71920"/>
                </a:solidFill>
              </a:defRPr>
            </a:pPr>
            <a:r>
              <a:t>Step 3</a:t>
            </a:r>
          </a:p>
        </p:txBody>
      </p:sp>
      <p:sp>
        <p:nvSpPr>
          <p:cNvPr id="15" name="TextBox 14"/>
          <p:cNvSpPr txBox="1"/>
          <p:nvPr/>
        </p:nvSpPr>
        <p:spPr>
          <a:xfrm>
            <a:off x="7616952" y="2103120"/>
            <a:ext cx="2563651" cy="923330"/>
          </a:xfrm>
          <a:prstGeom prst="rect">
            <a:avLst/>
          </a:prstGeom>
          <a:noFill/>
        </p:spPr>
        <p:txBody>
          <a:bodyPr wrap="none">
            <a:spAutoFit/>
          </a:bodyPr>
          <a:lstStyle/>
          <a:p>
            <a:pPr>
              <a:defRPr sz="1800" b="1">
                <a:solidFill>
                  <a:srgbClr val="1F2D33"/>
                </a:solidFill>
              </a:defRPr>
            </a:pPr>
            <a:r>
              <a:rPr dirty="0"/>
              <a:t>Measure that distance </a:t>
            </a:r>
            <a:endParaRPr lang="nb-NO" dirty="0"/>
          </a:p>
          <a:p>
            <a:pPr>
              <a:defRPr sz="1800" b="1">
                <a:solidFill>
                  <a:srgbClr val="1F2D33"/>
                </a:solidFill>
              </a:defRPr>
            </a:pPr>
            <a:r>
              <a:rPr dirty="0"/>
              <a:t>relative to normal </a:t>
            </a:r>
            <a:endParaRPr lang="nb-NO" dirty="0"/>
          </a:p>
          <a:p>
            <a:pPr>
              <a:defRPr sz="1800" b="1">
                <a:solidFill>
                  <a:srgbClr val="1F2D33"/>
                </a:solidFill>
              </a:defRPr>
            </a:pPr>
            <a:r>
              <a:rPr dirty="0"/>
              <a:t>sampling variation.</a:t>
            </a:r>
          </a:p>
        </p:txBody>
      </p:sp>
      <p:sp>
        <p:nvSpPr>
          <p:cNvPr id="16" name="TextBox 15"/>
          <p:cNvSpPr txBox="1"/>
          <p:nvPr/>
        </p:nvSpPr>
        <p:spPr>
          <a:xfrm>
            <a:off x="7616952" y="3063240"/>
            <a:ext cx="2331720" cy="1005840"/>
          </a:xfrm>
          <a:prstGeom prst="rect">
            <a:avLst/>
          </a:prstGeom>
          <a:noFill/>
        </p:spPr>
        <p:txBody>
          <a:bodyPr wrap="none">
            <a:spAutoFit/>
          </a:bodyPr>
          <a:lstStyle/>
          <a:p>
            <a:pPr>
              <a:defRPr sz="1700" b="1">
                <a:solidFill>
                  <a:srgbClr val="00566B"/>
                </a:solidFill>
              </a:defRPr>
            </a:pPr>
            <a:r>
              <a:t>Use the standard error</a:t>
            </a:r>
          </a:p>
          <a:p>
            <a:pPr>
              <a:defRPr sz="1500">
                <a:solidFill>
                  <a:srgbClr val="00566B"/>
                </a:solidFill>
              </a:defRPr>
            </a:pPr>
            <a:r>
              <a:t>se(b₂) = 0.0209</a:t>
            </a:r>
          </a:p>
        </p:txBody>
      </p:sp>
      <p:sp>
        <p:nvSpPr>
          <p:cNvPr id="17" name="Rounded Rectangle 16"/>
          <p:cNvSpPr/>
          <p:nvPr/>
        </p:nvSpPr>
        <p:spPr>
          <a:xfrm>
            <a:off x="548640" y="4800600"/>
            <a:ext cx="10469880" cy="992124"/>
          </a:xfrm>
          <a:prstGeom prst="roundRect">
            <a:avLst/>
          </a:prstGeom>
          <a:solidFill>
            <a:srgbClr val="DDF4F9"/>
          </a:solidFill>
          <a:ln>
            <a:solidFill>
              <a:srgbClr val="DDF4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96944" y="4953029"/>
            <a:ext cx="6601872" cy="646331"/>
          </a:xfrm>
          <a:prstGeom prst="rect">
            <a:avLst/>
          </a:prstGeom>
          <a:noFill/>
        </p:spPr>
        <p:txBody>
          <a:bodyPr wrap="none">
            <a:spAutoFit/>
          </a:bodyPr>
          <a:lstStyle/>
          <a:p>
            <a:pPr algn="ctr">
              <a:defRPr sz="1800" b="1">
                <a:solidFill>
                  <a:srgbClr val="1F2D33"/>
                </a:solidFill>
              </a:defRPr>
            </a:pPr>
            <a:r>
              <a:rPr dirty="0"/>
              <a:t>Key idea: We ask what we would expect to see if H₀ were true, </a:t>
            </a:r>
            <a:endParaRPr lang="nb-NO" dirty="0"/>
          </a:p>
          <a:p>
            <a:pPr algn="ctr">
              <a:defRPr sz="1800" b="1">
                <a:solidFill>
                  <a:srgbClr val="1F2D33"/>
                </a:solidFill>
              </a:defRPr>
            </a:pPr>
            <a:r>
              <a:rPr dirty="0"/>
              <a:t>and then compare that with what we actually observed.</a:t>
            </a:r>
          </a:p>
        </p:txBody>
      </p:sp>
      <p:sp>
        <p:nvSpPr>
          <p:cNvPr id="19" name="TextBox 18"/>
          <p:cNvSpPr txBox="1"/>
          <p:nvPr/>
        </p:nvSpPr>
        <p:spPr>
          <a:xfrm>
            <a:off x="566928" y="6437376"/>
            <a:ext cx="3657600" cy="182880"/>
          </a:xfrm>
          <a:prstGeom prst="rect">
            <a:avLst/>
          </a:prstGeom>
          <a:noFill/>
        </p:spPr>
        <p:txBody>
          <a:bodyPr wrap="none">
            <a:spAutoFit/>
          </a:bodyPr>
          <a:lstStyle/>
          <a:p>
            <a:pPr>
              <a:defRPr sz="800">
                <a:solidFill>
                  <a:srgbClr val="00566B"/>
                </a:solidFill>
              </a:defRPr>
            </a:pPr>
            <a:r>
              <a:t>SOK-3081  •  Chapter 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ONE FORMULA</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The test statistic measures distance from the claim</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7" name="Shape 5"/>
          <p:cNvSpPr/>
          <p:nvPr/>
        </p:nvSpPr>
        <p:spPr>
          <a:xfrm>
            <a:off x="6537960" y="1325880"/>
            <a:ext cx="3657600" cy="1143000"/>
          </a:xfrm>
          <a:prstGeom prst="roundRect">
            <a:avLst>
              <a:gd name="adj" fmla="val 6400"/>
            </a:avLst>
          </a:prstGeom>
          <a:solidFill>
            <a:srgbClr val="F4F6F7"/>
          </a:solidFill>
          <a:ln w="12700">
            <a:solidFill>
              <a:srgbClr val="F4F6F7"/>
            </a:solidFill>
            <a:prstDash val="solid"/>
          </a:ln>
        </p:spPr>
        <p:txBody>
          <a:bodyPr/>
          <a:lstStyle/>
          <a:p>
            <a:endParaRPr lang="en-GB"/>
          </a:p>
        </p:txBody>
      </p:sp>
      <p:sp>
        <p:nvSpPr>
          <p:cNvPr id="8" name="Text 6"/>
          <p:cNvSpPr/>
          <p:nvPr/>
        </p:nvSpPr>
        <p:spPr>
          <a:xfrm>
            <a:off x="6702552" y="1463040"/>
            <a:ext cx="3328416" cy="292608"/>
          </a:xfrm>
          <a:prstGeom prst="rect">
            <a:avLst/>
          </a:prstGeom>
          <a:noFill/>
          <a:ln/>
        </p:spPr>
        <p:txBody>
          <a:bodyPr wrap="square" lIns="0" tIns="0" rIns="0" bIns="0" rtlCol="0" anchor="ctr"/>
          <a:lstStyle/>
          <a:p>
            <a:pPr marL="0" indent="0" algn="ctr">
              <a:buNone/>
            </a:pPr>
            <a:r>
              <a:rPr lang="en-US" sz="1600" b="1" dirty="0">
                <a:solidFill>
                  <a:srgbClr val="1F2D33"/>
                </a:solidFill>
              </a:rPr>
              <a:t>Numerator</a:t>
            </a:r>
            <a:endParaRPr lang="en-US" sz="1600" dirty="0"/>
          </a:p>
        </p:txBody>
      </p:sp>
      <p:sp>
        <p:nvSpPr>
          <p:cNvPr id="9" name="Text 7"/>
          <p:cNvSpPr/>
          <p:nvPr/>
        </p:nvSpPr>
        <p:spPr>
          <a:xfrm>
            <a:off x="6702552" y="1856232"/>
            <a:ext cx="3328416" cy="457200"/>
          </a:xfrm>
          <a:prstGeom prst="rect">
            <a:avLst/>
          </a:prstGeom>
          <a:noFill/>
          <a:ln/>
        </p:spPr>
        <p:txBody>
          <a:bodyPr wrap="square" lIns="254" tIns="254" rIns="254" bIns="254" rtlCol="0" anchor="ctr"/>
          <a:lstStyle/>
          <a:p>
            <a:pPr marL="0" indent="0" algn="ctr">
              <a:buNone/>
            </a:pPr>
            <a:r>
              <a:rPr lang="en-US" sz="1400" dirty="0">
                <a:solidFill>
                  <a:srgbClr val="1F2D33"/>
                </a:solidFill>
              </a:rPr>
              <a:t>How far is the estimate from the hypothesized value?</a:t>
            </a:r>
            <a:endParaRPr lang="en-US" sz="1400" dirty="0"/>
          </a:p>
        </p:txBody>
      </p:sp>
      <p:sp>
        <p:nvSpPr>
          <p:cNvPr id="10" name="Shape 8"/>
          <p:cNvSpPr/>
          <p:nvPr/>
        </p:nvSpPr>
        <p:spPr>
          <a:xfrm>
            <a:off x="6537960" y="2743200"/>
            <a:ext cx="3657600" cy="1143000"/>
          </a:xfrm>
          <a:prstGeom prst="roundRect">
            <a:avLst>
              <a:gd name="adj" fmla="val 6400"/>
            </a:avLst>
          </a:prstGeom>
          <a:solidFill>
            <a:srgbClr val="EFF9FB"/>
          </a:solidFill>
          <a:ln w="12700">
            <a:solidFill>
              <a:srgbClr val="EFF9FB"/>
            </a:solidFill>
            <a:prstDash val="solid"/>
          </a:ln>
        </p:spPr>
        <p:txBody>
          <a:bodyPr/>
          <a:lstStyle/>
          <a:p>
            <a:endParaRPr lang="en-GB"/>
          </a:p>
        </p:txBody>
      </p:sp>
      <p:sp>
        <p:nvSpPr>
          <p:cNvPr id="11" name="Text 9"/>
          <p:cNvSpPr/>
          <p:nvPr/>
        </p:nvSpPr>
        <p:spPr>
          <a:xfrm>
            <a:off x="6702552" y="2880360"/>
            <a:ext cx="3328416" cy="292608"/>
          </a:xfrm>
          <a:prstGeom prst="rect">
            <a:avLst/>
          </a:prstGeom>
          <a:noFill/>
          <a:ln/>
        </p:spPr>
        <p:txBody>
          <a:bodyPr wrap="square" lIns="0" tIns="0" rIns="0" bIns="0" rtlCol="0" anchor="ctr"/>
          <a:lstStyle/>
          <a:p>
            <a:pPr marL="0" indent="0" algn="ctr">
              <a:buNone/>
            </a:pPr>
            <a:r>
              <a:rPr lang="en-US" sz="1600" b="1" dirty="0">
                <a:solidFill>
                  <a:srgbClr val="00566B"/>
                </a:solidFill>
              </a:rPr>
              <a:t>Denominator</a:t>
            </a:r>
            <a:endParaRPr lang="en-US" sz="1600" dirty="0"/>
          </a:p>
        </p:txBody>
      </p:sp>
      <p:sp>
        <p:nvSpPr>
          <p:cNvPr id="12" name="Text 10"/>
          <p:cNvSpPr/>
          <p:nvPr/>
        </p:nvSpPr>
        <p:spPr>
          <a:xfrm>
            <a:off x="6702552" y="3273552"/>
            <a:ext cx="3328416" cy="457200"/>
          </a:xfrm>
          <a:prstGeom prst="rect">
            <a:avLst/>
          </a:prstGeom>
          <a:noFill/>
          <a:ln/>
        </p:spPr>
        <p:txBody>
          <a:bodyPr wrap="square" lIns="254" tIns="254" rIns="254" bIns="254" rtlCol="0" anchor="ctr"/>
          <a:lstStyle/>
          <a:p>
            <a:pPr marL="0" indent="0" algn="ctr">
              <a:buNone/>
            </a:pPr>
            <a:r>
              <a:rPr lang="en-US" sz="1400" dirty="0">
                <a:solidFill>
                  <a:srgbClr val="1F2D33"/>
                </a:solidFill>
              </a:rPr>
              <a:t>How much sampling variation is normal for b₂?</a:t>
            </a:r>
            <a:endParaRPr lang="en-US" sz="1400" dirty="0"/>
          </a:p>
        </p:txBody>
      </p:sp>
      <p:sp>
        <p:nvSpPr>
          <p:cNvPr id="13" name="Text 11"/>
          <p:cNvSpPr/>
          <p:nvPr/>
        </p:nvSpPr>
        <p:spPr>
          <a:xfrm>
            <a:off x="1097280" y="4389120"/>
            <a:ext cx="9052560" cy="685800"/>
          </a:xfrm>
          <a:prstGeom prst="rect">
            <a:avLst/>
          </a:prstGeom>
          <a:noFill/>
          <a:ln/>
        </p:spPr>
        <p:txBody>
          <a:bodyPr wrap="square" lIns="254" tIns="254" rIns="254" bIns="254" rtlCol="0" anchor="ctr"/>
          <a:lstStyle/>
          <a:p>
            <a:pPr marL="0" indent="0" algn="ctr">
              <a:buNone/>
            </a:pPr>
            <a:r>
              <a:rPr lang="en-US" sz="2200" b="1" dirty="0">
                <a:solidFill>
                  <a:srgbClr val="00566B"/>
                </a:solidFill>
              </a:rPr>
              <a:t>Interpretation: how many standard errors is the estimate from the value specified by H₀?</a:t>
            </a:r>
            <a:endParaRPr lang="en-US" sz="22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E7C82"/>
                </a:solidFill>
              </a:defRPr>
            </a:lvl1pPr>
          </a:lstStyle>
          <a:p>
            <a:pPr algn="l"/>
            <a:fld id="{F7021451-1387-4CA6-816F-3879F97B5CBC}" type="slidenum">
              <a:rPr lang="en-US" b="0"/>
              <a:t>15</a:t>
            </a:fld>
            <a:endParaRPr lang="en-US"/>
          </a:p>
        </p:txBody>
      </p:sp>
      <mc:AlternateContent xmlns:mc="http://schemas.openxmlformats.org/markup-compatibility/2006" xmlns:a14="http://schemas.microsoft.com/office/drawing/2010/main">
        <mc:Choice Requires="a14">
          <p:sp>
            <p:nvSpPr>
              <p:cNvPr id="17" name="Rectangle: Rounded Corners 10">
                <a:extLst>
                  <a:ext uri="{FF2B5EF4-FFF2-40B4-BE49-F238E27FC236}">
                    <a16:creationId xmlns:a16="http://schemas.microsoft.com/office/drawing/2014/main" id="{BDC45C08-6A61-A10B-F2BD-56E776FD3B36}"/>
                  </a:ext>
                </a:extLst>
              </p:cNvPr>
              <p:cNvSpPr/>
              <p:nvPr/>
            </p:nvSpPr>
            <p:spPr>
              <a:xfrm>
                <a:off x="822960" y="1495044"/>
                <a:ext cx="4461934" cy="1143000"/>
              </a:xfrm>
              <a:prstGeom prst="roundRect">
                <a:avLst/>
              </a:prstGeom>
              <a:solidFill>
                <a:srgbClr val="20BCE6"/>
              </a:solidFill>
              <a:ln w="9525">
                <a:solidFill>
                  <a:srgbClr val="0056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nb-NO" sz="2400" b="0" i="1" u="none" strike="noStrike" kern="1200" cap="none" spc="0" normalizeH="0" baseline="0" noProof="0" smtClean="0">
                          <a:ln>
                            <a:noFill/>
                          </a:ln>
                          <a:solidFill>
                            <a:srgbClr val="FFFFFF"/>
                          </a:solidFill>
                          <a:effectLst/>
                          <a:uLnTx/>
                          <a:uFillTx/>
                          <a:latin typeface="Cambria Math" panose="02040503050406030204" pitchFamily="18" charset="0"/>
                          <a:cs typeface="+mn-cs"/>
                        </a:rPr>
                        <m:t>𝑡</m:t>
                      </m:r>
                      <m:r>
                        <a:rPr kumimoji="0" lang="nb-NO" sz="2400" b="0" i="1" u="none" strike="noStrike" kern="1200" cap="none" spc="0" normalizeH="0" baseline="0" noProof="0" smtClean="0">
                          <a:ln>
                            <a:noFill/>
                          </a:ln>
                          <a:solidFill>
                            <a:srgbClr val="FFFFFF"/>
                          </a:solidFill>
                          <a:effectLst/>
                          <a:uLnTx/>
                          <a:uFillTx/>
                          <a:latin typeface="Cambria Math" panose="02040503050406030204" pitchFamily="18" charset="0"/>
                          <a:cs typeface="+mn-cs"/>
                        </a:rPr>
                        <m:t>=</m:t>
                      </m:r>
                      <m:f>
                        <m:fPr>
                          <m:ctrlP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fPr>
                        <m:num>
                          <m:sSub>
                            <m:sSubPr>
                              <m:ctrlP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𝑏</m:t>
                              </m:r>
                            </m:e>
                            <m:sub>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2</m:t>
                              </m:r>
                            </m:sub>
                          </m:sSub>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m:t>
                          </m:r>
                          <m:r>
                            <a:rPr kumimoji="0" lang="nb-NO" sz="24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𝑐</m:t>
                          </m:r>
                        </m:num>
                        <m:den>
                          <m:r>
                            <a:rPr kumimoji="0" lang="nb-NO" sz="2400" b="0" i="1" u="none" strike="noStrike" kern="1200" cap="none" spc="0" normalizeH="0" baseline="0" noProof="0">
                              <a:ln>
                                <a:noFill/>
                              </a:ln>
                              <a:solidFill>
                                <a:srgbClr val="FFFFFF"/>
                              </a:solidFill>
                              <a:effectLst/>
                              <a:uLnTx/>
                              <a:uFillTx/>
                              <a:latin typeface="Cambria Math" panose="02040503050406030204" pitchFamily="18" charset="0"/>
                              <a:cs typeface="+mn-cs"/>
                            </a:rPr>
                            <m:t>𝑠𝑒</m:t>
                          </m:r>
                          <m:r>
                            <a:rPr kumimoji="0" lang="nb-NO" sz="2400" b="0" i="1" u="none" strike="noStrike" kern="1200" cap="none" spc="0" normalizeH="0" baseline="0" noProof="0">
                              <a:ln>
                                <a:noFill/>
                              </a:ln>
                              <a:solidFill>
                                <a:srgbClr val="FFFFFF"/>
                              </a:solidFill>
                              <a:effectLst/>
                              <a:uLnTx/>
                              <a:uFillTx/>
                              <a:latin typeface="Cambria Math" panose="02040503050406030204" pitchFamily="18" charset="0"/>
                              <a:cs typeface="+mn-cs"/>
                            </a:rPr>
                            <m:t>(</m:t>
                          </m:r>
                          <m:sSub>
                            <m:sSubPr>
                              <m:ctrlP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𝑏</m:t>
                              </m:r>
                            </m:e>
                            <m:sub>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2</m:t>
                              </m:r>
                            </m:sub>
                          </m:sSub>
                          <m:r>
                            <a:rPr kumimoji="0" lang="nb-NO" sz="2400" b="0" i="1" u="none" strike="noStrike" kern="1200" cap="none" spc="0" normalizeH="0" baseline="0" noProof="0">
                              <a:ln>
                                <a:noFill/>
                              </a:ln>
                              <a:solidFill>
                                <a:srgbClr val="FFFFFF"/>
                              </a:solidFill>
                              <a:effectLst/>
                              <a:uLnTx/>
                              <a:uFillTx/>
                              <a:latin typeface="Cambria Math" panose="02040503050406030204" pitchFamily="18" charset="0"/>
                              <a:cs typeface="+mn-cs"/>
                            </a:rPr>
                            <m:t>)</m:t>
                          </m:r>
                        </m:den>
                      </m:f>
                    </m:oMath>
                  </m:oMathPara>
                </a14:m>
                <a:endParaRPr kumimoji="0" lang="en-GB" sz="2400" i="0" u="none" strike="noStrike" kern="1200" cap="none" spc="0" normalizeH="0" baseline="0" noProof="0" dirty="0">
                  <a:ln>
                    <a:noFill/>
                  </a:ln>
                  <a:solidFill>
                    <a:srgbClr val="FFFFFF"/>
                  </a:solidFill>
                  <a:effectLst/>
                  <a:uLnTx/>
                  <a:uFillTx/>
                  <a:latin typeface="Aptos Display" panose="020B0004020202020204" pitchFamily="34" charset="0"/>
                  <a:cs typeface="+mn-cs"/>
                </a:endParaRPr>
              </a:p>
            </p:txBody>
          </p:sp>
        </mc:Choice>
        <mc:Fallback xmlns="">
          <p:sp>
            <p:nvSpPr>
              <p:cNvPr id="17" name="Rectangle: Rounded Corners 10">
                <a:extLst>
                  <a:ext uri="{FF2B5EF4-FFF2-40B4-BE49-F238E27FC236}">
                    <a16:creationId xmlns:a16="http://schemas.microsoft.com/office/drawing/2014/main" id="{BDC45C08-6A61-A10B-F2BD-56E776FD3B36}"/>
                  </a:ext>
                </a:extLst>
              </p:cNvPr>
              <p:cNvSpPr>
                <a:spLocks noRot="1" noChangeAspect="1" noMove="1" noResize="1" noEditPoints="1" noAdjustHandles="1" noChangeArrowheads="1" noChangeShapeType="1" noTextEdit="1"/>
              </p:cNvSpPr>
              <p:nvPr/>
            </p:nvSpPr>
            <p:spPr>
              <a:xfrm>
                <a:off x="822960" y="1495044"/>
                <a:ext cx="4461934" cy="1143000"/>
              </a:xfrm>
              <a:prstGeom prst="roundRect">
                <a:avLst/>
              </a:prstGeom>
              <a:blipFill>
                <a:blip r:embed="rId3"/>
                <a:stretch>
                  <a:fillRect/>
                </a:stretch>
              </a:blipFill>
              <a:ln w="9525">
                <a:solidFill>
                  <a:srgbClr val="00566B"/>
                </a:solidFill>
              </a:ln>
            </p:spPr>
            <p:txBody>
              <a:bodyPr/>
              <a:lstStyle/>
              <a:p>
                <a:r>
                  <a:rPr lang="nb-NO">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ilde 2">
            <a:extLst>
              <a:ext uri="{FF2B5EF4-FFF2-40B4-BE49-F238E27FC236}">
                <a16:creationId xmlns:a16="http://schemas.microsoft.com/office/drawing/2014/main" id="{90E9A1F2-D1C4-196C-A5B5-351512999F22}"/>
              </a:ext>
            </a:extLst>
          </p:cNvPr>
          <p:cNvPicPr>
            <a:picLocks noChangeAspect="1"/>
          </p:cNvPicPr>
          <p:nvPr/>
        </p:nvPicPr>
        <p:blipFill>
          <a:blip r:embed="rId2"/>
          <a:stretch>
            <a:fillRect/>
          </a:stretch>
        </p:blipFill>
        <p:spPr>
          <a:xfrm>
            <a:off x="295422" y="171450"/>
            <a:ext cx="11394830" cy="6515100"/>
          </a:xfrm>
          <a:prstGeom prst="rect">
            <a:avLst/>
          </a:prstGeom>
        </p:spPr>
      </p:pic>
      <mc:AlternateContent xmlns:mc="http://schemas.openxmlformats.org/markup-compatibility/2006" xmlns:a14="http://schemas.microsoft.com/office/drawing/2010/main">
        <mc:Choice Requires="a14">
          <p:sp>
            <p:nvSpPr>
              <p:cNvPr id="4" name="Rectangle: Rounded Corners 10">
                <a:extLst>
                  <a:ext uri="{FF2B5EF4-FFF2-40B4-BE49-F238E27FC236}">
                    <a16:creationId xmlns:a16="http://schemas.microsoft.com/office/drawing/2014/main" id="{9FEBE98B-8295-54E2-3B1A-6C953330C62E}"/>
                  </a:ext>
                </a:extLst>
              </p:cNvPr>
              <p:cNvSpPr/>
              <p:nvPr/>
            </p:nvSpPr>
            <p:spPr>
              <a:xfrm>
                <a:off x="9234670" y="0"/>
                <a:ext cx="2957330" cy="919358"/>
              </a:xfrm>
              <a:prstGeom prst="roundRect">
                <a:avLst/>
              </a:prstGeom>
              <a:solidFill>
                <a:srgbClr val="20BCE6"/>
              </a:solidFill>
              <a:ln w="9525">
                <a:solidFill>
                  <a:srgbClr val="0056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nb-NO" sz="2400" b="0" i="1" u="none" strike="noStrike" kern="1200" cap="none" spc="0" normalizeH="0" baseline="0" noProof="0" smtClean="0">
                          <a:ln>
                            <a:noFill/>
                          </a:ln>
                          <a:solidFill>
                            <a:srgbClr val="FFFFFF"/>
                          </a:solidFill>
                          <a:effectLst/>
                          <a:uLnTx/>
                          <a:uFillTx/>
                          <a:latin typeface="Cambria Math" panose="02040503050406030204" pitchFamily="18" charset="0"/>
                          <a:cs typeface="+mn-cs"/>
                        </a:rPr>
                        <m:t>𝑡</m:t>
                      </m:r>
                      <m:r>
                        <a:rPr kumimoji="0" lang="nb-NO" sz="2400" b="0" i="1" u="none" strike="noStrike" kern="1200" cap="none" spc="0" normalizeH="0" baseline="0" noProof="0" smtClean="0">
                          <a:ln>
                            <a:noFill/>
                          </a:ln>
                          <a:solidFill>
                            <a:srgbClr val="FFFFFF"/>
                          </a:solidFill>
                          <a:effectLst/>
                          <a:uLnTx/>
                          <a:uFillTx/>
                          <a:latin typeface="Cambria Math" panose="02040503050406030204" pitchFamily="18" charset="0"/>
                          <a:cs typeface="+mn-cs"/>
                        </a:rPr>
                        <m:t>=</m:t>
                      </m:r>
                      <m:f>
                        <m:fPr>
                          <m:ctrlP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fPr>
                        <m:num>
                          <m:sSub>
                            <m:sSubPr>
                              <m:ctrlP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𝑏</m:t>
                              </m:r>
                            </m:e>
                            <m:sub>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2</m:t>
                              </m:r>
                            </m:sub>
                          </m:sSub>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m:t>
                          </m:r>
                          <m:r>
                            <a:rPr kumimoji="0" lang="nb-NO" sz="24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𝑐</m:t>
                          </m:r>
                        </m:num>
                        <m:den>
                          <m:r>
                            <a:rPr kumimoji="0" lang="nb-NO" sz="2400" b="0" i="1" u="none" strike="noStrike" kern="1200" cap="none" spc="0" normalizeH="0" baseline="0" noProof="0">
                              <a:ln>
                                <a:noFill/>
                              </a:ln>
                              <a:solidFill>
                                <a:srgbClr val="FFFFFF"/>
                              </a:solidFill>
                              <a:effectLst/>
                              <a:uLnTx/>
                              <a:uFillTx/>
                              <a:latin typeface="Cambria Math" panose="02040503050406030204" pitchFamily="18" charset="0"/>
                              <a:cs typeface="+mn-cs"/>
                            </a:rPr>
                            <m:t>𝑠𝑒</m:t>
                          </m:r>
                          <m:r>
                            <a:rPr kumimoji="0" lang="nb-NO" sz="2400" b="0" i="1" u="none" strike="noStrike" kern="1200" cap="none" spc="0" normalizeH="0" baseline="0" noProof="0">
                              <a:ln>
                                <a:noFill/>
                              </a:ln>
                              <a:solidFill>
                                <a:srgbClr val="FFFFFF"/>
                              </a:solidFill>
                              <a:effectLst/>
                              <a:uLnTx/>
                              <a:uFillTx/>
                              <a:latin typeface="Cambria Math" panose="02040503050406030204" pitchFamily="18" charset="0"/>
                              <a:cs typeface="+mn-cs"/>
                            </a:rPr>
                            <m:t>(</m:t>
                          </m:r>
                          <m:sSub>
                            <m:sSubPr>
                              <m:ctrlP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𝑏</m:t>
                              </m:r>
                            </m:e>
                            <m:sub>
                              <m:r>
                                <a:rPr kumimoji="0" lang="nb-NO" sz="24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2</m:t>
                              </m:r>
                            </m:sub>
                          </m:sSub>
                          <m:r>
                            <a:rPr kumimoji="0" lang="nb-NO" sz="2400" b="0" i="1" u="none" strike="noStrike" kern="1200" cap="none" spc="0" normalizeH="0" baseline="0" noProof="0">
                              <a:ln>
                                <a:noFill/>
                              </a:ln>
                              <a:solidFill>
                                <a:srgbClr val="FFFFFF"/>
                              </a:solidFill>
                              <a:effectLst/>
                              <a:uLnTx/>
                              <a:uFillTx/>
                              <a:latin typeface="Cambria Math" panose="02040503050406030204" pitchFamily="18" charset="0"/>
                              <a:cs typeface="+mn-cs"/>
                            </a:rPr>
                            <m:t>)</m:t>
                          </m:r>
                        </m:den>
                      </m:f>
                    </m:oMath>
                  </m:oMathPara>
                </a14:m>
                <a:endParaRPr kumimoji="0" lang="en-GB" sz="2400" i="0" u="none" strike="noStrike" kern="1200" cap="none" spc="0" normalizeH="0" baseline="0" noProof="0" dirty="0">
                  <a:ln>
                    <a:noFill/>
                  </a:ln>
                  <a:solidFill>
                    <a:srgbClr val="FFFFFF"/>
                  </a:solidFill>
                  <a:effectLst/>
                  <a:uLnTx/>
                  <a:uFillTx/>
                  <a:latin typeface="Aptos Display" panose="020B0004020202020204" pitchFamily="34" charset="0"/>
                  <a:cs typeface="+mn-cs"/>
                </a:endParaRPr>
              </a:p>
            </p:txBody>
          </p:sp>
        </mc:Choice>
        <mc:Fallback xmlns="">
          <p:sp>
            <p:nvSpPr>
              <p:cNvPr id="4" name="Rectangle: Rounded Corners 10">
                <a:extLst>
                  <a:ext uri="{FF2B5EF4-FFF2-40B4-BE49-F238E27FC236}">
                    <a16:creationId xmlns:a16="http://schemas.microsoft.com/office/drawing/2014/main" id="{9FEBE98B-8295-54E2-3B1A-6C953330C62E}"/>
                  </a:ext>
                </a:extLst>
              </p:cNvPr>
              <p:cNvSpPr>
                <a:spLocks noRot="1" noChangeAspect="1" noMove="1" noResize="1" noEditPoints="1" noAdjustHandles="1" noChangeArrowheads="1" noChangeShapeType="1" noTextEdit="1"/>
              </p:cNvSpPr>
              <p:nvPr/>
            </p:nvSpPr>
            <p:spPr>
              <a:xfrm>
                <a:off x="9234670" y="0"/>
                <a:ext cx="2957330" cy="919358"/>
              </a:xfrm>
              <a:prstGeom prst="roundRect">
                <a:avLst/>
              </a:prstGeom>
              <a:blipFill>
                <a:blip r:embed="rId3"/>
                <a:stretch>
                  <a:fillRect/>
                </a:stretch>
              </a:blipFill>
              <a:ln w="9525">
                <a:solidFill>
                  <a:srgbClr val="00566B"/>
                </a:solidFill>
              </a:ln>
            </p:spPr>
            <p:txBody>
              <a:bodyPr/>
              <a:lstStyle/>
              <a:p>
                <a:r>
                  <a:rPr lang="nb-NO">
                    <a:noFill/>
                  </a:rPr>
                  <a:t> </a:t>
                </a:r>
              </a:p>
            </p:txBody>
          </p:sp>
        </mc:Fallback>
      </mc:AlternateContent>
    </p:spTree>
    <p:extLst>
      <p:ext uri="{BB962C8B-B14F-4D97-AF65-F5344CB8AC3E}">
        <p14:creationId xmlns:p14="http://schemas.microsoft.com/office/powerpoint/2010/main" val="925395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WORK IT OUT TOGETHER</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Calculate the supermarket t-statistic</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Text 3"/>
          <p:cNvSpPr/>
          <p:nvPr/>
        </p:nvSpPr>
        <p:spPr>
          <a:xfrm>
            <a:off x="914400" y="1280160"/>
            <a:ext cx="8412480" cy="457200"/>
          </a:xfrm>
          <a:prstGeom prst="rect">
            <a:avLst/>
          </a:prstGeom>
          <a:noFill/>
          <a:ln/>
        </p:spPr>
        <p:txBody>
          <a:bodyPr wrap="square" lIns="0" tIns="0" rIns="0" bIns="0" rtlCol="0" anchor="ctr"/>
          <a:lstStyle/>
          <a:p>
            <a:pPr marL="0" indent="0">
              <a:buNone/>
            </a:pPr>
            <a:r>
              <a:rPr lang="en-US" sz="2200" b="1" dirty="0">
                <a:solidFill>
                  <a:srgbClr val="00566B"/>
                </a:solidFill>
                <a:latin typeface="Cambria Math" pitchFamily="34" charset="0"/>
                <a:ea typeface="Cambria Math" pitchFamily="34" charset="-122"/>
                <a:cs typeface="Cambria Math" pitchFamily="34" charset="-120"/>
              </a:rPr>
              <a:t>b₂ = 0.1021      c = 0.055      se(b₂) = 0.0209</a:t>
            </a:r>
            <a:endParaRPr lang="en-US" sz="2200" dirty="0"/>
          </a:p>
        </p:txBody>
      </p:sp>
      <p:sp>
        <p:nvSpPr>
          <p:cNvPr id="6" name="Shape 4"/>
          <p:cNvSpPr/>
          <p:nvPr/>
        </p:nvSpPr>
        <p:spPr>
          <a:xfrm>
            <a:off x="914400" y="1965960"/>
            <a:ext cx="4389120" cy="640080"/>
          </a:xfrm>
          <a:prstGeom prst="roundRect">
            <a:avLst>
              <a:gd name="adj" fmla="val 8571"/>
            </a:avLst>
          </a:prstGeom>
          <a:solidFill>
            <a:srgbClr val="FFFFFF"/>
          </a:solidFill>
          <a:ln w="12700">
            <a:solidFill>
              <a:srgbClr val="FFFFFF"/>
            </a:solidFill>
            <a:prstDash val="solid"/>
          </a:ln>
        </p:spPr>
        <p:txBody>
          <a:bodyPr/>
          <a:lstStyle/>
          <a:p>
            <a:endParaRPr lang="en-GB"/>
          </a:p>
        </p:txBody>
      </p:sp>
      <mc:AlternateContent xmlns:mc="http://schemas.openxmlformats.org/markup-compatibility/2006" xmlns:a14="http://schemas.microsoft.com/office/drawing/2010/main">
        <mc:Choice Requires="a14">
          <p:sp>
            <p:nvSpPr>
              <p:cNvPr id="7" name="Text 5"/>
              <p:cNvSpPr/>
              <p:nvPr/>
            </p:nvSpPr>
            <p:spPr>
              <a:xfrm>
                <a:off x="1024128" y="2029968"/>
                <a:ext cx="4169664" cy="512064"/>
              </a:xfrm>
              <a:prstGeom prst="rect">
                <a:avLst/>
              </a:prstGeom>
              <a:noFill/>
              <a:ln/>
            </p:spPr>
            <p:txBody>
              <a:bodyPr wrap="square" lIns="254" tIns="254" rIns="254" bIns="254" rtlCol="0" anchor="ctr">
                <a:normAutofit fontScale="77500" lnSpcReduction="20000"/>
              </a:bodyPr>
              <a:lstStyle/>
              <a:p>
                <a:pPr algn="ctr"/>
                <a14:m>
                  <m:oMathPara xmlns:m="http://schemas.openxmlformats.org/officeDocument/2006/math">
                    <m:oMath>
                      <m:r>
                        <a:rPr lang="nb-NO" sz="2000" i="1" smtClean="0">
                          <a:solidFill>
                            <a:schemeClr val="tx1"/>
                          </a:solidFill>
                          <a:latin typeface="Cambria Math" panose="02040503050406030204" pitchFamily="18" charset="0"/>
                        </a:rPr>
                        <m:t>𝑡</m:t>
                      </m:r>
                      <m:r>
                        <a:rPr lang="nb-NO" sz="2000" i="1" smtClean="0">
                          <a:solidFill>
                            <a:schemeClr val="tx1"/>
                          </a:solidFill>
                          <a:latin typeface="Cambria Math" panose="02040503050406030204" pitchFamily="18" charset="0"/>
                        </a:rPr>
                        <m:t>=</m:t>
                      </m:r>
                      <m:f>
                        <m:fPr>
                          <m:ctrlPr>
                            <a:rPr lang="nb-NO" sz="2000" i="1">
                              <a:solidFill>
                                <a:schemeClr val="tx1"/>
                              </a:solidFill>
                              <a:latin typeface="Cambria Math" panose="02040503050406030204" pitchFamily="18" charset="0"/>
                              <a:ea typeface="Cambria Math" panose="02040503050406030204" pitchFamily="18" charset="0"/>
                            </a:rPr>
                          </m:ctrlPr>
                        </m:fPr>
                        <m:num>
                          <m:sSub>
                            <m:sSubPr>
                              <m:ctrlPr>
                                <a:rPr lang="nb-NO" sz="2000" i="1">
                                  <a:solidFill>
                                    <a:schemeClr val="tx1"/>
                                  </a:solidFill>
                                  <a:latin typeface="Cambria Math" panose="02040503050406030204" pitchFamily="18" charset="0"/>
                                  <a:ea typeface="Cambria Math" panose="02040503050406030204" pitchFamily="18" charset="0"/>
                                </a:rPr>
                              </m:ctrlPr>
                            </m:sSubPr>
                            <m:e>
                              <m:r>
                                <a:rPr lang="nb-NO" sz="2000" i="1">
                                  <a:solidFill>
                                    <a:schemeClr val="tx1"/>
                                  </a:solidFill>
                                  <a:latin typeface="Cambria Math" panose="02040503050406030204" pitchFamily="18" charset="0"/>
                                  <a:ea typeface="Cambria Math" panose="02040503050406030204" pitchFamily="18" charset="0"/>
                                </a:rPr>
                                <m:t>𝑏</m:t>
                              </m:r>
                            </m:e>
                            <m:sub>
                              <m:r>
                                <a:rPr lang="nb-NO" sz="2000" i="1">
                                  <a:solidFill>
                                    <a:schemeClr val="tx1"/>
                                  </a:solidFill>
                                  <a:latin typeface="Cambria Math" panose="02040503050406030204" pitchFamily="18" charset="0"/>
                                  <a:ea typeface="Cambria Math" panose="02040503050406030204" pitchFamily="18" charset="0"/>
                                </a:rPr>
                                <m:t>2</m:t>
                              </m:r>
                            </m:sub>
                          </m:sSub>
                          <m:r>
                            <a:rPr lang="nb-NO" sz="2000" i="1">
                              <a:solidFill>
                                <a:schemeClr val="tx1"/>
                              </a:solidFill>
                              <a:latin typeface="Cambria Math" panose="02040503050406030204" pitchFamily="18" charset="0"/>
                              <a:ea typeface="Cambria Math" panose="02040503050406030204" pitchFamily="18" charset="0"/>
                            </a:rPr>
                            <m:t>−</m:t>
                          </m:r>
                          <m:r>
                            <a:rPr lang="nb-NO" sz="2000" i="1">
                              <a:solidFill>
                                <a:schemeClr val="tx1"/>
                              </a:solidFill>
                              <a:latin typeface="Cambria Math" panose="02040503050406030204" pitchFamily="18" charset="0"/>
                              <a:ea typeface="Cambria Math" panose="02040503050406030204" pitchFamily="18" charset="0"/>
                            </a:rPr>
                            <m:t>𝑐</m:t>
                          </m:r>
                        </m:num>
                        <m:den>
                          <m:r>
                            <a:rPr lang="nb-NO" sz="2000" i="1">
                              <a:solidFill>
                                <a:schemeClr val="tx1"/>
                              </a:solidFill>
                              <a:latin typeface="Cambria Math" panose="02040503050406030204" pitchFamily="18" charset="0"/>
                            </a:rPr>
                            <m:t>𝑠𝑒</m:t>
                          </m:r>
                          <m:r>
                            <a:rPr lang="nb-NO" sz="2000" i="1">
                              <a:solidFill>
                                <a:schemeClr val="tx1"/>
                              </a:solidFill>
                              <a:latin typeface="Cambria Math" panose="02040503050406030204" pitchFamily="18" charset="0"/>
                            </a:rPr>
                            <m:t>(</m:t>
                          </m:r>
                          <m:sSub>
                            <m:sSubPr>
                              <m:ctrlPr>
                                <a:rPr lang="nb-NO" sz="2000" i="1">
                                  <a:solidFill>
                                    <a:schemeClr val="tx1"/>
                                  </a:solidFill>
                                  <a:latin typeface="Cambria Math" panose="02040503050406030204" pitchFamily="18" charset="0"/>
                                  <a:ea typeface="Cambria Math" panose="02040503050406030204" pitchFamily="18" charset="0"/>
                                </a:rPr>
                              </m:ctrlPr>
                            </m:sSubPr>
                            <m:e>
                              <m:r>
                                <a:rPr lang="nb-NO" sz="2000" i="1">
                                  <a:solidFill>
                                    <a:schemeClr val="tx1"/>
                                  </a:solidFill>
                                  <a:latin typeface="Cambria Math" panose="02040503050406030204" pitchFamily="18" charset="0"/>
                                  <a:ea typeface="Cambria Math" panose="02040503050406030204" pitchFamily="18" charset="0"/>
                                </a:rPr>
                                <m:t>𝑏</m:t>
                              </m:r>
                            </m:e>
                            <m:sub>
                              <m:r>
                                <a:rPr lang="nb-NO" sz="2000" i="1">
                                  <a:solidFill>
                                    <a:schemeClr val="tx1"/>
                                  </a:solidFill>
                                  <a:latin typeface="Cambria Math" panose="02040503050406030204" pitchFamily="18" charset="0"/>
                                  <a:ea typeface="Cambria Math" panose="02040503050406030204" pitchFamily="18" charset="0"/>
                                </a:rPr>
                                <m:t>2</m:t>
                              </m:r>
                            </m:sub>
                          </m:sSub>
                          <m:r>
                            <a:rPr lang="nb-NO" sz="2000" i="1">
                              <a:solidFill>
                                <a:schemeClr val="tx1"/>
                              </a:solidFill>
                              <a:latin typeface="Cambria Math" panose="02040503050406030204" pitchFamily="18" charset="0"/>
                            </a:rPr>
                            <m:t>)</m:t>
                          </m:r>
                        </m:den>
                      </m:f>
                    </m:oMath>
                  </m:oMathPara>
                </a14:m>
                <a:endParaRPr lang="en-US" sz="2200" dirty="0">
                  <a:solidFill>
                    <a:schemeClr val="tx1"/>
                  </a:solidFill>
                </a:endParaRPr>
              </a:p>
            </p:txBody>
          </p:sp>
        </mc:Choice>
        <mc:Fallback xmlns="">
          <p:sp>
            <p:nvSpPr>
              <p:cNvPr id="7" name="Text 5"/>
              <p:cNvSpPr>
                <a:spLocks noRot="1" noChangeAspect="1" noMove="1" noResize="1" noEditPoints="1" noAdjustHandles="1" noChangeArrowheads="1" noChangeShapeType="1" noTextEdit="1"/>
              </p:cNvSpPr>
              <p:nvPr/>
            </p:nvSpPr>
            <p:spPr>
              <a:xfrm>
                <a:off x="1024128" y="2029968"/>
                <a:ext cx="4169664" cy="512064"/>
              </a:xfrm>
              <a:prstGeom prst="rect">
                <a:avLst/>
              </a:prstGeom>
              <a:blipFill>
                <a:blip r:embed="rId3"/>
                <a:stretch>
                  <a:fillRect/>
                </a:stretch>
              </a:blipFill>
              <a:ln/>
            </p:spPr>
            <p:txBody>
              <a:bodyPr/>
              <a:lstStyle/>
              <a:p>
                <a:r>
                  <a:rPr lang="en-GB">
                    <a:noFill/>
                  </a:rPr>
                  <a:t> </a:t>
                </a:r>
              </a:p>
            </p:txBody>
          </p:sp>
        </mc:Fallback>
      </mc:AlternateContent>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E7C82"/>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Bilde 6">
            <a:extLst>
              <a:ext uri="{FF2B5EF4-FFF2-40B4-BE49-F238E27FC236}">
                <a16:creationId xmlns:a16="http://schemas.microsoft.com/office/drawing/2014/main" id="{5060708C-210F-8337-277D-AD02631C35F1}"/>
              </a:ext>
            </a:extLst>
          </p:cNvPr>
          <p:cNvPicPr>
            <a:picLocks noChangeAspect="1"/>
          </p:cNvPicPr>
          <p:nvPr/>
        </p:nvPicPr>
        <p:blipFill>
          <a:blip r:embed="rId3"/>
          <a:stretch>
            <a:fillRect/>
          </a:stretch>
        </p:blipFill>
        <p:spPr>
          <a:xfrm>
            <a:off x="304800" y="152400"/>
            <a:ext cx="11582400" cy="6553200"/>
          </a:xfrm>
          <a:prstGeom prst="rect">
            <a:avLst/>
          </a:prstGeom>
        </p:spPr>
      </p:pic>
      <p:sp>
        <p:nvSpPr>
          <p:cNvPr id="3" name="Ellipse 2">
            <a:extLst>
              <a:ext uri="{FF2B5EF4-FFF2-40B4-BE49-F238E27FC236}">
                <a16:creationId xmlns:a16="http://schemas.microsoft.com/office/drawing/2014/main" id="{14EB877F-353E-12A8-B709-1057287B384A}"/>
              </a:ext>
            </a:extLst>
          </p:cNvPr>
          <p:cNvSpPr/>
          <p:nvPr/>
        </p:nvSpPr>
        <p:spPr>
          <a:xfrm>
            <a:off x="10467377" y="184198"/>
            <a:ext cx="1354914" cy="627398"/>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GB" dirty="0"/>
              <a:t>Lab 3</a:t>
            </a:r>
          </a:p>
        </p:txBody>
      </p:sp>
    </p:spTree>
    <p:extLst>
      <p:ext uri="{BB962C8B-B14F-4D97-AF65-F5344CB8AC3E}">
        <p14:creationId xmlns:p14="http://schemas.microsoft.com/office/powerpoint/2010/main" val="6837005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4206240" cy="256032"/>
          </a:xfrm>
          <a:prstGeom prst="rect">
            <a:avLst/>
          </a:prstGeom>
          <a:noFill/>
        </p:spPr>
        <p:txBody>
          <a:bodyPr wrap="none">
            <a:spAutoFit/>
          </a:bodyPr>
          <a:lstStyle/>
          <a:p>
            <a:pPr>
              <a:defRPr sz="900" b="1">
                <a:solidFill>
                  <a:srgbClr val="20B4D6"/>
                </a:solidFill>
              </a:defRPr>
            </a:pPr>
            <a:r>
              <a:t>HYPOTHESIS TESTING</a:t>
            </a:r>
          </a:p>
        </p:txBody>
      </p:sp>
      <p:sp>
        <p:nvSpPr>
          <p:cNvPr id="3" name="TextBox 2"/>
          <p:cNvSpPr txBox="1"/>
          <p:nvPr/>
        </p:nvSpPr>
        <p:spPr>
          <a:xfrm>
            <a:off x="548640" y="530352"/>
            <a:ext cx="10972800" cy="502920"/>
          </a:xfrm>
          <a:prstGeom prst="rect">
            <a:avLst/>
          </a:prstGeom>
          <a:noFill/>
        </p:spPr>
        <p:txBody>
          <a:bodyPr wrap="none">
            <a:spAutoFit/>
          </a:bodyPr>
          <a:lstStyle/>
          <a:p>
            <a:pPr>
              <a:defRPr sz="2600">
                <a:solidFill>
                  <a:srgbClr val="1F2D33"/>
                </a:solidFill>
              </a:defRPr>
            </a:pPr>
            <a:r>
              <a:t>From the null assumption to the test statistic</a:t>
            </a:r>
          </a:p>
        </p:txBody>
      </p:sp>
      <p:sp>
        <p:nvSpPr>
          <p:cNvPr id="4" name="Rectangle 3"/>
          <p:cNvSpPr/>
          <p:nvPr/>
        </p:nvSpPr>
        <p:spPr>
          <a:xfrm>
            <a:off x="548640" y="1133856"/>
            <a:ext cx="10698480" cy="22860"/>
          </a:xfrm>
          <a:prstGeom prst="rect">
            <a:avLst/>
          </a:prstGeom>
          <a:solidFill>
            <a:srgbClr val="20B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77240" y="1645920"/>
            <a:ext cx="4663440" cy="3520440"/>
          </a:xfrm>
          <a:prstGeom prst="roundRect">
            <a:avLst/>
          </a:prstGeom>
          <a:solidFill>
            <a:srgbClr val="F6F8F9"/>
          </a:solidFill>
          <a:ln>
            <a:solidFill>
              <a:srgbClr val="F6F8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24128" y="1874519"/>
            <a:ext cx="4206240" cy="384048"/>
          </a:xfrm>
          <a:prstGeom prst="rect">
            <a:avLst/>
          </a:prstGeom>
          <a:noFill/>
        </p:spPr>
        <p:txBody>
          <a:bodyPr wrap="none">
            <a:spAutoFit/>
          </a:bodyPr>
          <a:lstStyle/>
          <a:p>
            <a:pPr>
              <a:defRPr sz="1800" b="1">
                <a:solidFill>
                  <a:srgbClr val="00566B"/>
                </a:solidFill>
              </a:defRPr>
            </a:pPr>
            <a:r>
              <a:t>Distance from the null claim</a:t>
            </a:r>
          </a:p>
        </p:txBody>
      </p:sp>
      <p:sp>
        <p:nvSpPr>
          <p:cNvPr id="7" name="TextBox 6"/>
          <p:cNvSpPr txBox="1"/>
          <p:nvPr/>
        </p:nvSpPr>
        <p:spPr>
          <a:xfrm>
            <a:off x="1024128" y="2377440"/>
            <a:ext cx="3863686" cy="677108"/>
          </a:xfrm>
          <a:prstGeom prst="rect">
            <a:avLst/>
          </a:prstGeom>
          <a:noFill/>
        </p:spPr>
        <p:txBody>
          <a:bodyPr wrap="none">
            <a:spAutoFit/>
          </a:bodyPr>
          <a:lstStyle/>
          <a:p>
            <a:pPr>
              <a:defRPr sz="1900">
                <a:solidFill>
                  <a:srgbClr val="1F2D33"/>
                </a:solidFill>
              </a:defRPr>
            </a:pPr>
            <a:r>
              <a:rPr dirty="0"/>
              <a:t>If H₀ is true, how far is our estimate </a:t>
            </a:r>
            <a:endParaRPr lang="nb-NO" dirty="0"/>
          </a:p>
          <a:p>
            <a:pPr>
              <a:defRPr sz="1900">
                <a:solidFill>
                  <a:srgbClr val="1F2D33"/>
                </a:solidFill>
              </a:defRPr>
            </a:pPr>
            <a:r>
              <a:rPr dirty="0"/>
              <a:t>from the value specified by H₀?</a:t>
            </a:r>
          </a:p>
        </p:txBody>
      </p:sp>
      <p:sp>
        <p:nvSpPr>
          <p:cNvPr id="8" name="TextBox 7"/>
          <p:cNvSpPr txBox="1"/>
          <p:nvPr/>
        </p:nvSpPr>
        <p:spPr>
          <a:xfrm>
            <a:off x="1024128" y="3975301"/>
            <a:ext cx="4114800" cy="594360"/>
          </a:xfrm>
          <a:prstGeom prst="rect">
            <a:avLst/>
          </a:prstGeom>
          <a:noFill/>
        </p:spPr>
        <p:txBody>
          <a:bodyPr wrap="none">
            <a:spAutoFit/>
          </a:bodyPr>
          <a:lstStyle/>
          <a:p>
            <a:pPr>
              <a:defRPr sz="1600" b="1">
                <a:solidFill>
                  <a:srgbClr val="1F2D33"/>
                </a:solidFill>
              </a:defRPr>
            </a:pPr>
            <a:r>
              <a:t>Raw difference:</a:t>
            </a:r>
          </a:p>
        </p:txBody>
      </p:sp>
      <p:sp>
        <p:nvSpPr>
          <p:cNvPr id="9" name="TextBox 8"/>
          <p:cNvSpPr txBox="1"/>
          <p:nvPr/>
        </p:nvSpPr>
        <p:spPr>
          <a:xfrm>
            <a:off x="1024128" y="4341060"/>
            <a:ext cx="4114800" cy="502920"/>
          </a:xfrm>
          <a:prstGeom prst="rect">
            <a:avLst/>
          </a:prstGeom>
          <a:noFill/>
        </p:spPr>
        <p:txBody>
          <a:bodyPr wrap="none">
            <a:spAutoFit/>
          </a:bodyPr>
          <a:lstStyle/>
          <a:p>
            <a:pPr>
              <a:defRPr sz="2400" b="1">
                <a:solidFill>
                  <a:srgbClr val="D71920"/>
                </a:solidFill>
              </a:defRPr>
            </a:pPr>
            <a:r>
              <a:rPr dirty="0"/>
              <a:t>0.1021 − 0.055 = 0.0471</a:t>
            </a:r>
          </a:p>
        </p:txBody>
      </p:sp>
      <p:sp>
        <p:nvSpPr>
          <p:cNvPr id="10" name="Rounded Rectangle 9"/>
          <p:cNvSpPr/>
          <p:nvPr/>
        </p:nvSpPr>
        <p:spPr>
          <a:xfrm>
            <a:off x="5806440" y="1645920"/>
            <a:ext cx="5440680" cy="3520440"/>
          </a:xfrm>
          <a:prstGeom prst="roundRect">
            <a:avLst/>
          </a:prstGeom>
          <a:solidFill>
            <a:srgbClr val="DDF4F9"/>
          </a:solidFill>
          <a:ln>
            <a:solidFill>
              <a:srgbClr val="DDF4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80760" y="1874519"/>
            <a:ext cx="4754880" cy="384048"/>
          </a:xfrm>
          <a:prstGeom prst="rect">
            <a:avLst/>
          </a:prstGeom>
          <a:noFill/>
        </p:spPr>
        <p:txBody>
          <a:bodyPr wrap="none">
            <a:spAutoFit/>
          </a:bodyPr>
          <a:lstStyle/>
          <a:p>
            <a:pPr>
              <a:defRPr sz="1800" b="1">
                <a:solidFill>
                  <a:srgbClr val="00566B"/>
                </a:solidFill>
              </a:defRPr>
            </a:pPr>
            <a:r>
              <a:t>Standardize by the usual sampling variation</a:t>
            </a:r>
          </a:p>
        </p:txBody>
      </p:sp>
      <mc:AlternateContent xmlns:mc="http://schemas.openxmlformats.org/markup-compatibility/2006" xmlns:a14="http://schemas.microsoft.com/office/drawing/2010/main">
        <mc:Choice Requires="a14">
          <p:sp>
            <p:nvSpPr>
              <p:cNvPr id="13" name="TextBox 12"/>
              <p:cNvSpPr txBox="1"/>
              <p:nvPr/>
            </p:nvSpPr>
            <p:spPr>
              <a:xfrm>
                <a:off x="6941368" y="3429000"/>
                <a:ext cx="3170823" cy="683200"/>
              </a:xfrm>
              <a:prstGeom prst="rect">
                <a:avLst/>
              </a:prstGeom>
              <a:noFill/>
            </p:spPr>
            <p:txBody>
              <a:bodyPr wrap="square">
                <a:spAutoFit/>
              </a:bodyPr>
              <a:lstStyle/>
              <a:p>
                <a:pPr algn="ctr">
                  <a:defRPr sz="2300" b="1">
                    <a:solidFill>
                      <a:srgbClr val="D71920"/>
                    </a:solidFill>
                  </a:defRPr>
                </a:pPr>
                <a14:m>
                  <m:oMathPara xmlns:m="http://schemas.openxmlformats.org/officeDocument/2006/math">
                    <m:oMath>
                      <m:r>
                        <a:rPr lang="ar-AE" sz="2000" b="1" i="1" smtClean="0">
                          <a:latin typeface="Cambria Math" panose="02040503050406030204" pitchFamily="18" charset="0"/>
                        </a:rPr>
                        <m:t>𝒕</m:t>
                      </m:r>
                      <m:r>
                        <a:rPr lang="ar-AE" sz="2000" b="1" i="1" smtClean="0">
                          <a:latin typeface="Cambria Math" panose="02040503050406030204" pitchFamily="18" charset="0"/>
                        </a:rPr>
                        <m:t>=</m:t>
                      </m:r>
                      <m:f>
                        <m:fPr>
                          <m:ctrlPr>
                            <a:rPr lang="ar-AE" sz="2000" b="1" i="0" dirty="0"/>
                          </m:ctrlPr>
                        </m:fPr>
                        <m:num>
                          <m:r>
                            <m:rPr>
                              <m:nor/>
                            </m:rPr>
                            <a:rPr lang="ar-AE" sz="2000" b="1" i="0" dirty="0"/>
                            <m:t>0.0471</m:t>
                          </m:r>
                        </m:num>
                        <m:den>
                          <m:r>
                            <m:rPr>
                              <m:nor/>
                            </m:rPr>
                            <a:rPr lang="ar-AE" sz="2000" b="1" i="0" dirty="0"/>
                            <m:t>0.0209</m:t>
                          </m:r>
                        </m:den>
                      </m:f>
                      <m:r>
                        <a:rPr lang="ar-AE" sz="2000" b="1" i="1" smtClean="0">
                          <a:latin typeface="Cambria Math" panose="02040503050406030204" pitchFamily="18" charset="0"/>
                          <a:ea typeface="Cambria Math" panose="02040503050406030204" pitchFamily="18" charset="0"/>
                        </a:rPr>
                        <m:t>≈</m:t>
                      </m:r>
                      <m:r>
                        <a:rPr lang="ar-AE" sz="2000" b="1" i="1" smtClean="0">
                          <a:latin typeface="Cambria Math" panose="02040503050406030204" pitchFamily="18" charset="0"/>
                          <a:ea typeface="Cambria Math" panose="02040503050406030204" pitchFamily="18" charset="0"/>
                        </a:rPr>
                        <m:t>𝟐</m:t>
                      </m:r>
                      <m:r>
                        <a:rPr lang="nb-NO" sz="2000" b="1" i="1" smtClean="0">
                          <a:latin typeface="Cambria Math" panose="02040503050406030204" pitchFamily="18" charset="0"/>
                          <a:ea typeface="Cambria Math" panose="02040503050406030204" pitchFamily="18" charset="0"/>
                        </a:rPr>
                        <m:t>.</m:t>
                      </m:r>
                      <m:r>
                        <a:rPr lang="nb-NO" sz="2000" b="1" i="1" smtClean="0">
                          <a:latin typeface="Cambria Math" panose="02040503050406030204" pitchFamily="18" charset="0"/>
                          <a:ea typeface="Cambria Math" panose="02040503050406030204" pitchFamily="18" charset="0"/>
                        </a:rPr>
                        <m:t>𝟐𝟓</m:t>
                      </m:r>
                    </m:oMath>
                  </m:oMathPara>
                </a14:m>
                <a:endParaRPr b="1" dirty="0"/>
              </a:p>
            </p:txBody>
          </p:sp>
        </mc:Choice>
        <mc:Fallback xmlns="">
          <p:sp>
            <p:nvSpPr>
              <p:cNvPr id="13" name="TextBox 12"/>
              <p:cNvSpPr txBox="1">
                <a:spLocks noRot="1" noChangeAspect="1" noMove="1" noResize="1" noEditPoints="1" noAdjustHandles="1" noChangeArrowheads="1" noChangeShapeType="1" noTextEdit="1"/>
              </p:cNvSpPr>
              <p:nvPr/>
            </p:nvSpPr>
            <p:spPr>
              <a:xfrm>
                <a:off x="6941368" y="3429000"/>
                <a:ext cx="3170823" cy="683200"/>
              </a:xfrm>
              <a:prstGeom prst="rect">
                <a:avLst/>
              </a:prstGeom>
              <a:blipFill>
                <a:blip r:embed="rId3"/>
                <a:stretch>
                  <a:fillRect/>
                </a:stretch>
              </a:blipFill>
            </p:spPr>
            <p:txBody>
              <a:bodyPr/>
              <a:lstStyle/>
              <a:p>
                <a:r>
                  <a:rPr lang="nb-NO">
                    <a:noFill/>
                  </a:rPr>
                  <a:t> </a:t>
                </a:r>
              </a:p>
            </p:txBody>
          </p:sp>
        </mc:Fallback>
      </mc:AlternateContent>
      <p:sp>
        <p:nvSpPr>
          <p:cNvPr id="14" name="TextBox 13"/>
          <p:cNvSpPr txBox="1"/>
          <p:nvPr/>
        </p:nvSpPr>
        <p:spPr>
          <a:xfrm>
            <a:off x="6551479" y="4295080"/>
            <a:ext cx="3822585" cy="584775"/>
          </a:xfrm>
          <a:prstGeom prst="rect">
            <a:avLst/>
          </a:prstGeom>
          <a:noFill/>
        </p:spPr>
        <p:txBody>
          <a:bodyPr wrap="none">
            <a:spAutoFit/>
          </a:bodyPr>
          <a:lstStyle/>
          <a:p>
            <a:pPr algn="ctr">
              <a:defRPr sz="1600">
                <a:solidFill>
                  <a:srgbClr val="1F2D33"/>
                </a:solidFill>
              </a:defRPr>
            </a:pPr>
            <a:r>
              <a:rPr dirty="0"/>
              <a:t>Interpretation: the estimate is about 2.25 </a:t>
            </a:r>
            <a:endParaRPr lang="nb-NO" dirty="0"/>
          </a:p>
          <a:p>
            <a:pPr algn="ctr">
              <a:defRPr sz="1600">
                <a:solidFill>
                  <a:srgbClr val="1F2D33"/>
                </a:solidFill>
              </a:defRPr>
            </a:pPr>
            <a:r>
              <a:rPr dirty="0"/>
              <a:t>standard errors above the null value.</a:t>
            </a:r>
          </a:p>
        </p:txBody>
      </p:sp>
      <p:sp>
        <p:nvSpPr>
          <p:cNvPr id="15" name="Rounded Rectangle 14"/>
          <p:cNvSpPr/>
          <p:nvPr/>
        </p:nvSpPr>
        <p:spPr>
          <a:xfrm>
            <a:off x="1051560" y="5440680"/>
            <a:ext cx="10012680" cy="685800"/>
          </a:xfrm>
          <a:prstGeom prst="roundRect">
            <a:avLst/>
          </a:prstGeom>
          <a:solidFill>
            <a:srgbClr val="FFF1F2"/>
          </a:solidFill>
          <a:ln>
            <a:solidFill>
              <a:srgbClr val="FFF1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34440" y="5623560"/>
            <a:ext cx="9646920" cy="320040"/>
          </a:xfrm>
          <a:prstGeom prst="rect">
            <a:avLst/>
          </a:prstGeom>
          <a:noFill/>
        </p:spPr>
        <p:txBody>
          <a:bodyPr wrap="none">
            <a:spAutoFit/>
          </a:bodyPr>
          <a:lstStyle/>
          <a:p>
            <a:pPr algn="ctr">
              <a:defRPr sz="2000" b="1">
                <a:solidFill>
                  <a:srgbClr val="1F2D33"/>
                </a:solidFill>
              </a:defRPr>
            </a:pPr>
            <a:r>
              <a:t>Next question: If H₀ were true, how unusual would a t-value this large be?</a:t>
            </a:r>
          </a:p>
        </p:txBody>
      </p:sp>
      <p:sp>
        <p:nvSpPr>
          <p:cNvPr id="17" name="TextBox 16"/>
          <p:cNvSpPr txBox="1"/>
          <p:nvPr/>
        </p:nvSpPr>
        <p:spPr>
          <a:xfrm>
            <a:off x="566928" y="6437376"/>
            <a:ext cx="3657600" cy="182880"/>
          </a:xfrm>
          <a:prstGeom prst="rect">
            <a:avLst/>
          </a:prstGeom>
          <a:noFill/>
        </p:spPr>
        <p:txBody>
          <a:bodyPr wrap="none">
            <a:spAutoFit/>
          </a:bodyPr>
          <a:lstStyle/>
          <a:p>
            <a:pPr>
              <a:defRPr sz="800">
                <a:solidFill>
                  <a:srgbClr val="00566B"/>
                </a:solidFill>
              </a:defRPr>
            </a:pPr>
            <a:r>
              <a:t>SOK-3081  •  Chapter 3</a:t>
            </a:r>
          </a:p>
        </p:txBody>
      </p:sp>
      <p:sp>
        <p:nvSpPr>
          <p:cNvPr id="18" name="TextBox 17"/>
          <p:cNvSpPr txBox="1"/>
          <p:nvPr/>
        </p:nvSpPr>
        <p:spPr>
          <a:xfrm>
            <a:off x="11064240" y="6419088"/>
            <a:ext cx="457200" cy="201168"/>
          </a:xfrm>
          <a:prstGeom prst="rect">
            <a:avLst/>
          </a:prstGeom>
          <a:noFill/>
        </p:spPr>
        <p:txBody>
          <a:bodyPr wrap="none">
            <a:spAutoFit/>
          </a:bodyPr>
          <a:lstStyle/>
          <a:p>
            <a:pPr algn="r">
              <a:defRPr sz="800">
                <a:solidFill>
                  <a:srgbClr val="5A6469"/>
                </a:solidFill>
              </a:defRPr>
            </a:pPr>
            <a:r>
              <a:t>2</a:t>
            </a:r>
          </a:p>
        </p:txBody>
      </p:sp>
      <mc:AlternateContent xmlns:mc="http://schemas.openxmlformats.org/markup-compatibility/2006" xmlns:a14="http://schemas.microsoft.com/office/drawing/2010/main">
        <mc:Choice Requires="a14">
          <p:sp>
            <p:nvSpPr>
              <p:cNvPr id="20" name="TekstSylinder 19">
                <a:extLst>
                  <a:ext uri="{FF2B5EF4-FFF2-40B4-BE49-F238E27FC236}">
                    <a16:creationId xmlns:a16="http://schemas.microsoft.com/office/drawing/2014/main" id="{8A1D06E4-E42D-3F93-69B4-D381B1CF8E4A}"/>
                  </a:ext>
                </a:extLst>
              </p:cNvPr>
              <p:cNvSpPr txBox="1"/>
              <p:nvPr/>
            </p:nvSpPr>
            <p:spPr>
              <a:xfrm>
                <a:off x="2309795" y="3191256"/>
                <a:ext cx="1292352" cy="461665"/>
              </a:xfrm>
              <a:prstGeom prst="rect">
                <a:avLst/>
              </a:prstGeom>
              <a:noFill/>
            </p:spPr>
            <p:txBody>
              <a:bodyPr wrap="square">
                <a:spAutoFit/>
              </a:bodyPr>
              <a:lstStyle/>
              <a:p>
                <a:pPr/>
                <a14:m>
                  <m:oMathPara xmlns:m="http://schemas.openxmlformats.org/officeDocument/2006/math">
                    <m:oMath>
                      <m:sSub>
                        <m:sSubPr>
                          <m:ctrlPr>
                            <a:rPr kumimoji="0" lang="nb-NO" sz="24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ctrlPr>
                        </m:sSubPr>
                        <m:e>
                          <m:r>
                            <a:rPr kumimoji="0" lang="nb-NO" sz="24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𝑏</m:t>
                          </m:r>
                        </m:e>
                        <m:sub>
                          <m:r>
                            <a:rPr kumimoji="0" lang="nb-NO" sz="24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2</m:t>
                          </m:r>
                        </m:sub>
                      </m:sSub>
                      <m:r>
                        <a:rPr kumimoji="0" lang="nb-NO" sz="24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m:t>
                      </m:r>
                      <m:r>
                        <a:rPr kumimoji="0" lang="nb-NO" sz="24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𝑐</m:t>
                      </m:r>
                    </m:oMath>
                  </m:oMathPara>
                </a14:m>
                <a:endParaRPr lang="nb-NO" dirty="0">
                  <a:solidFill>
                    <a:schemeClr val="tx1"/>
                  </a:solidFill>
                </a:endParaRPr>
              </a:p>
            </p:txBody>
          </p:sp>
        </mc:Choice>
        <mc:Fallback xmlns="">
          <p:sp>
            <p:nvSpPr>
              <p:cNvPr id="20" name="TekstSylinder 19">
                <a:extLst>
                  <a:ext uri="{FF2B5EF4-FFF2-40B4-BE49-F238E27FC236}">
                    <a16:creationId xmlns:a16="http://schemas.microsoft.com/office/drawing/2014/main" id="{8A1D06E4-E42D-3F93-69B4-D381B1CF8E4A}"/>
                  </a:ext>
                </a:extLst>
              </p:cNvPr>
              <p:cNvSpPr txBox="1">
                <a:spLocks noRot="1" noChangeAspect="1" noMove="1" noResize="1" noEditPoints="1" noAdjustHandles="1" noChangeArrowheads="1" noChangeShapeType="1" noTextEdit="1"/>
              </p:cNvSpPr>
              <p:nvPr/>
            </p:nvSpPr>
            <p:spPr>
              <a:xfrm>
                <a:off x="2309795" y="3191256"/>
                <a:ext cx="1292352" cy="461665"/>
              </a:xfrm>
              <a:prstGeom prst="rect">
                <a:avLst/>
              </a:prstGeom>
              <a:blipFill>
                <a:blip r:embed="rId4"/>
                <a:stretch>
                  <a:fillRect/>
                </a:stretch>
              </a:blipFill>
            </p:spPr>
            <p:txBody>
              <a:bodyPr/>
              <a:lstStyle/>
              <a:p>
                <a:r>
                  <a:rPr lang="nb-NO">
                    <a:noFill/>
                  </a:rPr>
                  <a:t> </a:t>
                </a:r>
              </a:p>
            </p:txBody>
          </p:sp>
        </mc:Fallback>
      </mc:AlternateContent>
      <mc:AlternateContent xmlns:mc="http://schemas.openxmlformats.org/markup-compatibility/2006" xmlns:a14="http://schemas.microsoft.com/office/drawing/2010/main">
        <mc:Choice Requires="a14">
          <p:sp>
            <p:nvSpPr>
              <p:cNvPr id="22" name="TekstSylinder 21">
                <a:extLst>
                  <a:ext uri="{FF2B5EF4-FFF2-40B4-BE49-F238E27FC236}">
                    <a16:creationId xmlns:a16="http://schemas.microsoft.com/office/drawing/2014/main" id="{AE0D278A-AB3C-27EE-EDD0-EDB5296472DD}"/>
                  </a:ext>
                </a:extLst>
              </p:cNvPr>
              <p:cNvSpPr txBox="1"/>
              <p:nvPr/>
            </p:nvSpPr>
            <p:spPr>
              <a:xfrm>
                <a:off x="7519416" y="2327149"/>
                <a:ext cx="1755648" cy="859081"/>
              </a:xfrm>
              <a:prstGeom prst="rect">
                <a:avLst/>
              </a:prstGeom>
              <a:noFill/>
            </p:spPr>
            <p:txBody>
              <a:bodyPr wrap="square">
                <a:spAutoFit/>
              </a:bodyPr>
              <a:lstStyle/>
              <a:p>
                <a:pPr/>
                <a14:m>
                  <m:oMathPara xmlns:m="http://schemas.openxmlformats.org/officeDocument/2006/math">
                    <m:oMath>
                      <m:r>
                        <a:rPr kumimoji="0" lang="nb-NO" sz="24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𝑡</m:t>
                      </m:r>
                      <m:r>
                        <a:rPr kumimoji="0" lang="nb-NO" sz="2400" b="0"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f>
                        <m:fPr>
                          <m:ctrlPr>
                            <a:rPr kumimoji="0" lang="nb-NO" sz="24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ctrlPr>
                        </m:fPr>
                        <m:num>
                          <m:sSub>
                            <m:sSubPr>
                              <m:ctrlPr>
                                <a:rPr kumimoji="0" lang="nb-NO" sz="24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ctrlPr>
                            </m:sSubPr>
                            <m:e>
                              <m:r>
                                <a:rPr kumimoji="0" lang="nb-NO" sz="24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𝑏</m:t>
                              </m:r>
                            </m:e>
                            <m:sub>
                              <m:r>
                                <a:rPr kumimoji="0" lang="nb-NO" sz="24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2</m:t>
                              </m:r>
                            </m:sub>
                          </m:sSub>
                          <m:r>
                            <a:rPr kumimoji="0" lang="nb-NO" sz="24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m:t>
                          </m:r>
                          <m:r>
                            <a:rPr kumimoji="0" lang="nb-NO" sz="24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𝑐</m:t>
                          </m:r>
                        </m:num>
                        <m:den>
                          <m:r>
                            <a:rPr kumimoji="0" lang="nb-NO" sz="2400" b="0" i="1" u="none" strike="noStrike" kern="1200" cap="none" spc="0" normalizeH="0" baseline="0" noProof="0">
                              <a:ln>
                                <a:noFill/>
                              </a:ln>
                              <a:solidFill>
                                <a:schemeClr val="tx1"/>
                              </a:solidFill>
                              <a:effectLst/>
                              <a:uLnTx/>
                              <a:uFillTx/>
                              <a:latin typeface="Cambria Math" panose="02040503050406030204" pitchFamily="18" charset="0"/>
                              <a:cs typeface="+mn-cs"/>
                            </a:rPr>
                            <m:t>𝑠𝑒</m:t>
                          </m:r>
                          <m:r>
                            <a:rPr kumimoji="0" lang="nb-NO" sz="2400" b="0" i="1" u="none" strike="noStrike" kern="1200" cap="none" spc="0" normalizeH="0" baseline="0" noProof="0">
                              <a:ln>
                                <a:noFill/>
                              </a:ln>
                              <a:solidFill>
                                <a:schemeClr val="tx1"/>
                              </a:solidFill>
                              <a:effectLst/>
                              <a:uLnTx/>
                              <a:uFillTx/>
                              <a:latin typeface="Cambria Math" panose="02040503050406030204" pitchFamily="18" charset="0"/>
                              <a:cs typeface="+mn-cs"/>
                            </a:rPr>
                            <m:t>(</m:t>
                          </m:r>
                          <m:sSub>
                            <m:sSubPr>
                              <m:ctrlPr>
                                <a:rPr kumimoji="0" lang="nb-NO" sz="24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ctrlPr>
                            </m:sSubPr>
                            <m:e>
                              <m:r>
                                <a:rPr kumimoji="0" lang="nb-NO" sz="24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𝑏</m:t>
                              </m:r>
                            </m:e>
                            <m:sub>
                              <m:r>
                                <a:rPr kumimoji="0" lang="nb-NO" sz="24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2</m:t>
                              </m:r>
                            </m:sub>
                          </m:sSub>
                          <m:r>
                            <a:rPr kumimoji="0" lang="nb-NO" sz="2400" b="0" i="1" u="none" strike="noStrike" kern="1200" cap="none" spc="0" normalizeH="0" baseline="0" noProof="0">
                              <a:ln>
                                <a:noFill/>
                              </a:ln>
                              <a:solidFill>
                                <a:schemeClr val="tx1"/>
                              </a:solidFill>
                              <a:effectLst/>
                              <a:uLnTx/>
                              <a:uFillTx/>
                              <a:latin typeface="Cambria Math" panose="02040503050406030204" pitchFamily="18" charset="0"/>
                              <a:cs typeface="+mn-cs"/>
                            </a:rPr>
                            <m:t>)</m:t>
                          </m:r>
                        </m:den>
                      </m:f>
                    </m:oMath>
                  </m:oMathPara>
                </a14:m>
                <a:endParaRPr lang="nb-NO" dirty="0">
                  <a:solidFill>
                    <a:schemeClr val="tx1"/>
                  </a:solidFill>
                </a:endParaRPr>
              </a:p>
            </p:txBody>
          </p:sp>
        </mc:Choice>
        <mc:Fallback xmlns="">
          <p:sp>
            <p:nvSpPr>
              <p:cNvPr id="22" name="TekstSylinder 21">
                <a:extLst>
                  <a:ext uri="{FF2B5EF4-FFF2-40B4-BE49-F238E27FC236}">
                    <a16:creationId xmlns:a16="http://schemas.microsoft.com/office/drawing/2014/main" id="{AE0D278A-AB3C-27EE-EDD0-EDB5296472DD}"/>
                  </a:ext>
                </a:extLst>
              </p:cNvPr>
              <p:cNvSpPr txBox="1">
                <a:spLocks noRot="1" noChangeAspect="1" noMove="1" noResize="1" noEditPoints="1" noAdjustHandles="1" noChangeArrowheads="1" noChangeShapeType="1" noTextEdit="1"/>
              </p:cNvSpPr>
              <p:nvPr/>
            </p:nvSpPr>
            <p:spPr>
              <a:xfrm>
                <a:off x="7519416" y="2327149"/>
                <a:ext cx="1755648" cy="859081"/>
              </a:xfrm>
              <a:prstGeom prst="rect">
                <a:avLst/>
              </a:prstGeom>
              <a:blipFill>
                <a:blip r:embed="rId5"/>
                <a:stretch>
                  <a:fillRect/>
                </a:stretch>
              </a:blipFill>
            </p:spPr>
            <p:txBody>
              <a:bodyPr/>
              <a:lstStyle/>
              <a:p>
                <a:r>
                  <a:rPr lang="nb-NO">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Α = 0.05 VERSUS Α = 0.01</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Food example: same evidence, two thresholds</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Shape 3"/>
          <p:cNvSpPr/>
          <p:nvPr/>
        </p:nvSpPr>
        <p:spPr>
          <a:xfrm>
            <a:off x="914400" y="1325880"/>
            <a:ext cx="4023360" cy="685800"/>
          </a:xfrm>
          <a:prstGeom prst="roundRect">
            <a:avLst>
              <a:gd name="adj" fmla="val 8000"/>
            </a:avLst>
          </a:prstGeom>
          <a:solidFill>
            <a:srgbClr val="DDF4F9"/>
          </a:solidFill>
          <a:ln w="12700">
            <a:solidFill>
              <a:srgbClr val="DDF4F9"/>
            </a:solidFill>
            <a:prstDash val="solid"/>
          </a:ln>
        </p:spPr>
        <p:txBody>
          <a:bodyPr/>
          <a:lstStyle/>
          <a:p>
            <a:endParaRPr lang="en-GB"/>
          </a:p>
        </p:txBody>
      </p:sp>
      <p:sp>
        <p:nvSpPr>
          <p:cNvPr id="6" name="Text 4"/>
          <p:cNvSpPr/>
          <p:nvPr/>
        </p:nvSpPr>
        <p:spPr>
          <a:xfrm>
            <a:off x="1024128" y="1389888"/>
            <a:ext cx="3803904" cy="557784"/>
          </a:xfrm>
          <a:prstGeom prst="rect">
            <a:avLst/>
          </a:prstGeom>
          <a:noFill/>
          <a:ln/>
        </p:spPr>
        <p:txBody>
          <a:bodyPr wrap="square" lIns="254" tIns="254" rIns="254" bIns="254" rtlCol="0" anchor="ctr">
            <a:normAutofit/>
          </a:bodyPr>
          <a:lstStyle/>
          <a:p>
            <a:pPr marL="0" indent="0" algn="ctr">
              <a:buNone/>
            </a:pPr>
            <a:r>
              <a:rPr lang="en-US" sz="2500" b="1" dirty="0">
                <a:solidFill>
                  <a:srgbClr val="00566B"/>
                </a:solidFill>
                <a:latin typeface="Cambria Math" pitchFamily="34" charset="0"/>
                <a:ea typeface="Cambria Math" pitchFamily="34" charset="-122"/>
                <a:cs typeface="Cambria Math" pitchFamily="34" charset="-120"/>
              </a:rPr>
              <a:t>t = 2.25     df = 38</a:t>
            </a:r>
            <a:endParaRPr lang="en-US" sz="2500" dirty="0"/>
          </a:p>
        </p:txBody>
      </p:sp>
      <p:sp>
        <p:nvSpPr>
          <p:cNvPr id="7" name="Shape 5"/>
          <p:cNvSpPr/>
          <p:nvPr/>
        </p:nvSpPr>
        <p:spPr>
          <a:xfrm>
            <a:off x="914400" y="2423160"/>
            <a:ext cx="4114800" cy="2148840"/>
          </a:xfrm>
          <a:prstGeom prst="roundRect">
            <a:avLst>
              <a:gd name="adj" fmla="val 3404"/>
            </a:avLst>
          </a:prstGeom>
          <a:solidFill>
            <a:srgbClr val="EFF9FB"/>
          </a:solidFill>
          <a:ln w="12700">
            <a:solidFill>
              <a:srgbClr val="EFF9FB"/>
            </a:solidFill>
            <a:prstDash val="solid"/>
          </a:ln>
        </p:spPr>
        <p:txBody>
          <a:bodyPr/>
          <a:lstStyle/>
          <a:p>
            <a:endParaRPr lang="en-GB"/>
          </a:p>
        </p:txBody>
      </p:sp>
      <p:sp>
        <p:nvSpPr>
          <p:cNvPr id="8" name="Text 6"/>
          <p:cNvSpPr/>
          <p:nvPr/>
        </p:nvSpPr>
        <p:spPr>
          <a:xfrm>
            <a:off x="1078992" y="2560320"/>
            <a:ext cx="3785616" cy="292608"/>
          </a:xfrm>
          <a:prstGeom prst="rect">
            <a:avLst/>
          </a:prstGeom>
          <a:noFill/>
          <a:ln/>
        </p:spPr>
        <p:txBody>
          <a:bodyPr wrap="square" lIns="0" tIns="0" rIns="0" bIns="0" rtlCol="0" anchor="ctr"/>
          <a:lstStyle/>
          <a:p>
            <a:pPr marL="0" indent="0" algn="ctr">
              <a:buNone/>
            </a:pPr>
            <a:r>
              <a:rPr lang="en-US" sz="1600" b="1" dirty="0">
                <a:solidFill>
                  <a:srgbClr val="00566B"/>
                </a:solidFill>
              </a:rPr>
              <a:t>α = 0.05</a:t>
            </a:r>
            <a:endParaRPr lang="en-US" sz="1600" dirty="0"/>
          </a:p>
        </p:txBody>
      </p:sp>
      <p:sp>
        <p:nvSpPr>
          <p:cNvPr id="9" name="Text 7"/>
          <p:cNvSpPr/>
          <p:nvPr/>
        </p:nvSpPr>
        <p:spPr>
          <a:xfrm>
            <a:off x="1078992" y="2953512"/>
            <a:ext cx="3785616" cy="1463040"/>
          </a:xfrm>
          <a:prstGeom prst="rect">
            <a:avLst/>
          </a:prstGeom>
          <a:noFill/>
          <a:ln/>
        </p:spPr>
        <p:txBody>
          <a:bodyPr wrap="square" lIns="254" tIns="254" rIns="254" bIns="254" rtlCol="0" anchor="ctr"/>
          <a:lstStyle/>
          <a:p>
            <a:pPr marL="0" indent="0" algn="ctr">
              <a:buNone/>
            </a:pPr>
            <a:r>
              <a:rPr lang="en-US" sz="1400" dirty="0">
                <a:solidFill>
                  <a:srgbClr val="1F2D33"/>
                </a:solidFill>
              </a:rPr>
              <a:t>Critical t ≈ 1.686</a:t>
            </a:r>
            <a:endParaRPr lang="en-US" sz="1400" dirty="0"/>
          </a:p>
          <a:p>
            <a:pPr marL="0" indent="0" algn="ctr">
              <a:buNone/>
            </a:pPr>
            <a:r>
              <a:rPr lang="en-US" sz="1400" dirty="0">
                <a:solidFill>
                  <a:srgbClr val="1F2D33"/>
                </a:solidFill>
              </a:rPr>
              <a:t>2.25 &gt; 1.686</a:t>
            </a:r>
            <a:endParaRPr lang="en-US" sz="1400" dirty="0"/>
          </a:p>
          <a:p>
            <a:pPr marL="0" indent="0" algn="ctr">
              <a:buNone/>
            </a:pPr>
            <a:endParaRPr lang="en-US" sz="1400" dirty="0"/>
          </a:p>
          <a:p>
            <a:pPr marL="0" indent="0" algn="ctr">
              <a:buNone/>
            </a:pPr>
            <a:r>
              <a:rPr lang="en-US" sz="1400" dirty="0">
                <a:solidFill>
                  <a:srgbClr val="1F2D33"/>
                </a:solidFill>
              </a:rPr>
              <a:t>Reject H₀</a:t>
            </a:r>
            <a:endParaRPr lang="en-US" sz="1400" dirty="0"/>
          </a:p>
        </p:txBody>
      </p:sp>
      <p:sp>
        <p:nvSpPr>
          <p:cNvPr id="10" name="Shape 8"/>
          <p:cNvSpPr/>
          <p:nvPr/>
        </p:nvSpPr>
        <p:spPr>
          <a:xfrm>
            <a:off x="6126480" y="2423160"/>
            <a:ext cx="4114800" cy="2148840"/>
          </a:xfrm>
          <a:prstGeom prst="roundRect">
            <a:avLst>
              <a:gd name="adj" fmla="val 3404"/>
            </a:avLst>
          </a:prstGeom>
          <a:solidFill>
            <a:srgbClr val="FFF1F2"/>
          </a:solidFill>
          <a:ln w="12700">
            <a:solidFill>
              <a:srgbClr val="FFF1F2"/>
            </a:solidFill>
            <a:prstDash val="solid"/>
          </a:ln>
        </p:spPr>
        <p:txBody>
          <a:bodyPr/>
          <a:lstStyle/>
          <a:p>
            <a:endParaRPr lang="en-GB"/>
          </a:p>
        </p:txBody>
      </p:sp>
      <p:sp>
        <p:nvSpPr>
          <p:cNvPr id="11" name="Text 9"/>
          <p:cNvSpPr/>
          <p:nvPr/>
        </p:nvSpPr>
        <p:spPr>
          <a:xfrm>
            <a:off x="6291072" y="2560320"/>
            <a:ext cx="3785616" cy="292608"/>
          </a:xfrm>
          <a:prstGeom prst="rect">
            <a:avLst/>
          </a:prstGeom>
          <a:noFill/>
          <a:ln/>
        </p:spPr>
        <p:txBody>
          <a:bodyPr wrap="square" lIns="0" tIns="0" rIns="0" bIns="0" rtlCol="0" anchor="ctr"/>
          <a:lstStyle/>
          <a:p>
            <a:pPr marL="0" indent="0" algn="ctr">
              <a:buNone/>
            </a:pPr>
            <a:r>
              <a:rPr lang="en-US" sz="1600" b="1" dirty="0">
                <a:solidFill>
                  <a:srgbClr val="D71920"/>
                </a:solidFill>
              </a:rPr>
              <a:t>α = 0.01</a:t>
            </a:r>
            <a:endParaRPr lang="en-US" sz="1600" dirty="0"/>
          </a:p>
        </p:txBody>
      </p:sp>
      <p:sp>
        <p:nvSpPr>
          <p:cNvPr id="12" name="Text 10"/>
          <p:cNvSpPr/>
          <p:nvPr/>
        </p:nvSpPr>
        <p:spPr>
          <a:xfrm>
            <a:off x="6291072" y="2953512"/>
            <a:ext cx="3785616" cy="1463040"/>
          </a:xfrm>
          <a:prstGeom prst="rect">
            <a:avLst/>
          </a:prstGeom>
          <a:noFill/>
          <a:ln/>
        </p:spPr>
        <p:txBody>
          <a:bodyPr wrap="square" lIns="254" tIns="254" rIns="254" bIns="254" rtlCol="0" anchor="ctr"/>
          <a:lstStyle/>
          <a:p>
            <a:pPr marL="0" indent="0" algn="ctr">
              <a:buNone/>
            </a:pPr>
            <a:r>
              <a:rPr lang="en-US" sz="1400" dirty="0">
                <a:solidFill>
                  <a:srgbClr val="1F2D33"/>
                </a:solidFill>
              </a:rPr>
              <a:t>Critical t ≈ 2.429</a:t>
            </a:r>
            <a:endParaRPr lang="en-US" sz="1400" dirty="0"/>
          </a:p>
          <a:p>
            <a:pPr marL="0" indent="0" algn="ctr">
              <a:buNone/>
            </a:pPr>
            <a:r>
              <a:rPr lang="en-US" sz="1400" dirty="0">
                <a:solidFill>
                  <a:srgbClr val="1F2D33"/>
                </a:solidFill>
              </a:rPr>
              <a:t>2.25 &lt; 2.429</a:t>
            </a:r>
            <a:endParaRPr lang="en-US" sz="1400" dirty="0"/>
          </a:p>
          <a:p>
            <a:pPr marL="0" indent="0" algn="ctr">
              <a:buNone/>
            </a:pPr>
            <a:endParaRPr lang="en-US" sz="1400" dirty="0"/>
          </a:p>
          <a:p>
            <a:pPr marL="0" indent="0" algn="ctr">
              <a:buNone/>
            </a:pPr>
            <a:r>
              <a:rPr lang="en-US" sz="1400" dirty="0">
                <a:solidFill>
                  <a:srgbClr val="1F2D33"/>
                </a:solidFill>
              </a:rPr>
              <a:t>Fail to reject H₀</a:t>
            </a:r>
            <a:endParaRPr lang="en-US" sz="1400" dirty="0"/>
          </a:p>
        </p:txBody>
      </p:sp>
      <p:sp>
        <p:nvSpPr>
          <p:cNvPr id="13" name="Text 11"/>
          <p:cNvSpPr/>
          <p:nvPr/>
        </p:nvSpPr>
        <p:spPr>
          <a:xfrm>
            <a:off x="1280160" y="5166360"/>
            <a:ext cx="8686800" cy="502920"/>
          </a:xfrm>
          <a:prstGeom prst="rect">
            <a:avLst/>
          </a:prstGeom>
          <a:noFill/>
          <a:ln/>
        </p:spPr>
        <p:txBody>
          <a:bodyPr wrap="square" lIns="0" tIns="0" rIns="0" bIns="0" rtlCol="0" anchor="ctr"/>
          <a:lstStyle/>
          <a:p>
            <a:pPr marL="0" indent="0" algn="ctr">
              <a:buNone/>
            </a:pPr>
            <a:r>
              <a:rPr lang="en-US" sz="2000" b="1" dirty="0">
                <a:solidFill>
                  <a:srgbClr val="1F2D33"/>
                </a:solidFill>
              </a:rPr>
              <a:t>The data did not change. The standard for how unusual the evidence must be changed.</a:t>
            </a:r>
            <a:endParaRPr lang="en-US" sz="20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E7C82"/>
                </a:solidFill>
              </a:defRPr>
            </a:lvl1pPr>
          </a:lstStyle>
          <a:p>
            <a:pPr algn="l"/>
            <a:fld id="{F7021451-1387-4CA6-816F-3879F97B5CBC}" type="slidenum">
              <a:rPr lang="en-US" b="0"/>
              <a:t>20</a:t>
            </a:fld>
            <a:endParaRPr lang="en-US"/>
          </a:p>
        </p:txBody>
      </p:sp>
      <p:sp>
        <p:nvSpPr>
          <p:cNvPr id="15" name="Ellipse 14">
            <a:extLst>
              <a:ext uri="{FF2B5EF4-FFF2-40B4-BE49-F238E27FC236}">
                <a16:creationId xmlns:a16="http://schemas.microsoft.com/office/drawing/2014/main" id="{0912A02B-F8CA-2F56-D950-780017019DEA}"/>
              </a:ext>
            </a:extLst>
          </p:cNvPr>
          <p:cNvSpPr/>
          <p:nvPr/>
        </p:nvSpPr>
        <p:spPr>
          <a:xfrm>
            <a:off x="10467377" y="184198"/>
            <a:ext cx="1354914" cy="627398"/>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GB" dirty="0"/>
              <a:t>Lab 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P-VALUE</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The p-value asks how unusual our result is under H₀</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pic>
        <p:nvPicPr>
          <p:cNvPr id="5" name="Image 0" descr="/mnt/data/ch3_figs/pvalue_right.png"/>
          <p:cNvPicPr>
            <a:picLocks noChangeAspect="1"/>
          </p:cNvPicPr>
          <p:nvPr/>
        </p:nvPicPr>
        <p:blipFill>
          <a:blip r:embed="rId3"/>
          <a:stretch>
            <a:fillRect/>
          </a:stretch>
        </p:blipFill>
        <p:spPr>
          <a:xfrm>
            <a:off x="822960" y="1325880"/>
            <a:ext cx="6949440" cy="3794760"/>
          </a:xfrm>
          <a:prstGeom prst="rect">
            <a:avLst/>
          </a:prstGeom>
        </p:spPr>
      </p:pic>
      <p:sp>
        <p:nvSpPr>
          <p:cNvPr id="6" name="Shape 3"/>
          <p:cNvSpPr/>
          <p:nvPr/>
        </p:nvSpPr>
        <p:spPr>
          <a:xfrm>
            <a:off x="7955280" y="1645920"/>
            <a:ext cx="2834640" cy="685800"/>
          </a:xfrm>
          <a:prstGeom prst="roundRect">
            <a:avLst>
              <a:gd name="adj" fmla="val 8000"/>
            </a:avLst>
          </a:prstGeom>
          <a:solidFill>
            <a:srgbClr val="DDF4F9"/>
          </a:solidFill>
          <a:ln w="12700">
            <a:solidFill>
              <a:srgbClr val="DDF4F9"/>
            </a:solidFill>
            <a:prstDash val="solid"/>
          </a:ln>
        </p:spPr>
        <p:txBody>
          <a:bodyPr/>
          <a:lstStyle/>
          <a:p>
            <a:endParaRPr lang="en-GB"/>
          </a:p>
        </p:txBody>
      </p:sp>
      <mc:AlternateContent xmlns:mc="http://schemas.openxmlformats.org/markup-compatibility/2006" xmlns:a14="http://schemas.microsoft.com/office/drawing/2010/main">
        <mc:Choice Requires="a14">
          <p:sp>
            <p:nvSpPr>
              <p:cNvPr id="7" name="Text 4"/>
              <p:cNvSpPr/>
              <p:nvPr/>
            </p:nvSpPr>
            <p:spPr>
              <a:xfrm>
                <a:off x="8065008" y="1709928"/>
                <a:ext cx="2615184" cy="557784"/>
              </a:xfrm>
              <a:prstGeom prst="rect">
                <a:avLst/>
              </a:prstGeom>
              <a:noFill/>
              <a:ln/>
            </p:spPr>
            <p:txBody>
              <a:bodyPr wrap="square" lIns="254" tIns="254" rIns="254" bIns="254" rtlCol="0" anchor="ctr">
                <a:normAutofit/>
              </a:bodyPr>
              <a:lstStyle/>
              <a:p>
                <a:pPr marL="0" indent="0" algn="ctr">
                  <a:buNone/>
                </a:pPr>
                <a14:m>
                  <m:oMathPara xmlns:m="http://schemas.openxmlformats.org/officeDocument/2006/math">
                    <m:oMath>
                      <m:r>
                        <a:rPr lang="nb-NO" sz="1900" b="1" i="1" smtClean="0">
                          <a:solidFill>
                            <a:srgbClr val="00566B"/>
                          </a:solidFill>
                          <a:latin typeface="Cambria Math" panose="02040503050406030204" pitchFamily="18" charset="0"/>
                          <a:ea typeface="Cambria Math" pitchFamily="34" charset="-122"/>
                          <a:cs typeface="Cambria Math" pitchFamily="34" charset="-120"/>
                        </a:rPr>
                        <m:t>𝒑</m:t>
                      </m:r>
                      <m:r>
                        <a:rPr lang="nb-NO" sz="1900" b="1" i="1" smtClean="0">
                          <a:solidFill>
                            <a:srgbClr val="00566B"/>
                          </a:solidFill>
                          <a:latin typeface="Cambria Math" panose="02040503050406030204" pitchFamily="18" charset="0"/>
                          <a:ea typeface="Cambria Math" pitchFamily="34" charset="-122"/>
                          <a:cs typeface="Cambria Math" pitchFamily="34" charset="-120"/>
                        </a:rPr>
                        <m:t>=</m:t>
                      </m:r>
                      <m:r>
                        <a:rPr lang="nb-NO" sz="1900" b="1" i="1" smtClean="0">
                          <a:solidFill>
                            <a:srgbClr val="00566B"/>
                          </a:solidFill>
                          <a:latin typeface="Cambria Math" panose="02040503050406030204" pitchFamily="18" charset="0"/>
                          <a:ea typeface="Cambria Math" pitchFamily="34" charset="-122"/>
                          <a:cs typeface="Cambria Math" pitchFamily="34" charset="-120"/>
                        </a:rPr>
                        <m:t>𝑷</m:t>
                      </m:r>
                      <m:r>
                        <a:rPr lang="nb-NO" sz="1900" b="1" i="1" smtClean="0">
                          <a:solidFill>
                            <a:srgbClr val="00566B"/>
                          </a:solidFill>
                          <a:latin typeface="Cambria Math" panose="02040503050406030204" pitchFamily="18" charset="0"/>
                          <a:ea typeface="Cambria Math" pitchFamily="34" charset="-122"/>
                          <a:cs typeface="Cambria Math" pitchFamily="34" charset="-120"/>
                        </a:rPr>
                        <m:t>(</m:t>
                      </m:r>
                      <m:r>
                        <a:rPr lang="nb-NO" sz="1900" b="1" i="1" smtClean="0">
                          <a:solidFill>
                            <a:srgbClr val="00566B"/>
                          </a:solidFill>
                          <a:latin typeface="Cambria Math" panose="02040503050406030204" pitchFamily="18" charset="0"/>
                          <a:ea typeface="Cambria Math" pitchFamily="34" charset="-122"/>
                          <a:cs typeface="Cambria Math" pitchFamily="34" charset="-120"/>
                        </a:rPr>
                        <m:t>𝒕</m:t>
                      </m:r>
                      <m:r>
                        <a:rPr lang="nb-NO" sz="1900" b="1" i="1" smtClean="0">
                          <a:solidFill>
                            <a:srgbClr val="00566B"/>
                          </a:solidFill>
                          <a:latin typeface="Cambria Math" panose="02040503050406030204" pitchFamily="18" charset="0"/>
                          <a:ea typeface="Cambria Math" panose="02040503050406030204" pitchFamily="18" charset="0"/>
                          <a:cs typeface="Cambria Math" pitchFamily="34" charset="-120"/>
                        </a:rPr>
                        <m:t>≥</m:t>
                      </m:r>
                      <m:r>
                        <a:rPr lang="nb-NO" sz="1900" b="1" i="1" smtClean="0">
                          <a:solidFill>
                            <a:srgbClr val="00566B"/>
                          </a:solidFill>
                          <a:latin typeface="Cambria Math" panose="02040503050406030204" pitchFamily="18" charset="0"/>
                          <a:ea typeface="Cambria Math" panose="02040503050406030204" pitchFamily="18" charset="0"/>
                          <a:cs typeface="Cambria Math" pitchFamily="34" charset="-120"/>
                        </a:rPr>
                        <m:t>𝟐</m:t>
                      </m:r>
                      <m:r>
                        <a:rPr lang="nb-NO" sz="1900" b="1" i="1" smtClean="0">
                          <a:solidFill>
                            <a:srgbClr val="00566B"/>
                          </a:solidFill>
                          <a:latin typeface="Cambria Math" panose="02040503050406030204" pitchFamily="18" charset="0"/>
                          <a:ea typeface="Cambria Math" panose="02040503050406030204" pitchFamily="18" charset="0"/>
                          <a:cs typeface="Cambria Math" pitchFamily="34" charset="-120"/>
                        </a:rPr>
                        <m:t>.</m:t>
                      </m:r>
                      <m:r>
                        <a:rPr lang="nb-NO" sz="1900" b="1" i="1" smtClean="0">
                          <a:solidFill>
                            <a:srgbClr val="00566B"/>
                          </a:solidFill>
                          <a:latin typeface="Cambria Math" panose="02040503050406030204" pitchFamily="18" charset="0"/>
                          <a:ea typeface="Cambria Math" panose="02040503050406030204" pitchFamily="18" charset="0"/>
                          <a:cs typeface="Cambria Math" pitchFamily="34" charset="-120"/>
                        </a:rPr>
                        <m:t>𝟐𝟓</m:t>
                      </m:r>
                      <m:r>
                        <a:rPr lang="nb-NO" sz="1900" b="1" i="1" smtClean="0">
                          <a:solidFill>
                            <a:srgbClr val="00566B"/>
                          </a:solidFill>
                          <a:latin typeface="Cambria Math" panose="02040503050406030204" pitchFamily="18" charset="0"/>
                          <a:ea typeface="Cambria Math" panose="02040503050406030204" pitchFamily="18" charset="0"/>
                          <a:cs typeface="Cambria Math" pitchFamily="34" charset="-120"/>
                        </a:rPr>
                        <m:t>|</m:t>
                      </m:r>
                      <m:sSub>
                        <m:sSubPr>
                          <m:ctrlPr>
                            <a:rPr lang="nb-NO" sz="1900" b="1" i="1" smtClean="0">
                              <a:solidFill>
                                <a:srgbClr val="00566B"/>
                              </a:solidFill>
                              <a:latin typeface="Cambria Math" panose="02040503050406030204" pitchFamily="18" charset="0"/>
                              <a:ea typeface="Cambria Math" panose="02040503050406030204" pitchFamily="18" charset="0"/>
                            </a:rPr>
                          </m:ctrlPr>
                        </m:sSubPr>
                        <m:e>
                          <m:r>
                            <a:rPr lang="nb-NO" sz="1900" b="1" i="1" smtClean="0">
                              <a:solidFill>
                                <a:srgbClr val="00566B"/>
                              </a:solidFill>
                              <a:latin typeface="Cambria Math" panose="02040503050406030204" pitchFamily="18" charset="0"/>
                              <a:ea typeface="Cambria Math" panose="02040503050406030204" pitchFamily="18" charset="0"/>
                            </a:rPr>
                            <m:t>𝑯</m:t>
                          </m:r>
                        </m:e>
                        <m:sub>
                          <m:r>
                            <a:rPr lang="nb-NO" sz="1900" b="1" i="1" smtClean="0">
                              <a:solidFill>
                                <a:srgbClr val="00566B"/>
                              </a:solidFill>
                              <a:latin typeface="Cambria Math" panose="02040503050406030204" pitchFamily="18" charset="0"/>
                              <a:ea typeface="Cambria Math" panose="02040503050406030204" pitchFamily="18" charset="0"/>
                            </a:rPr>
                            <m:t>𝟎</m:t>
                          </m:r>
                        </m:sub>
                      </m:sSub>
                      <m:r>
                        <a:rPr lang="nb-NO" sz="1900" b="1" i="1" smtClean="0">
                          <a:solidFill>
                            <a:srgbClr val="00566B"/>
                          </a:solidFill>
                          <a:latin typeface="Cambria Math" panose="02040503050406030204" pitchFamily="18" charset="0"/>
                          <a:ea typeface="Cambria Math" panose="02040503050406030204" pitchFamily="18" charset="0"/>
                        </a:rPr>
                        <m:t>)</m:t>
                      </m:r>
                    </m:oMath>
                  </m:oMathPara>
                </a14:m>
                <a:endParaRPr lang="en-US" sz="1900" dirty="0"/>
              </a:p>
            </p:txBody>
          </p:sp>
        </mc:Choice>
        <mc:Fallback xmlns="">
          <p:sp>
            <p:nvSpPr>
              <p:cNvPr id="7" name="Text 4"/>
              <p:cNvSpPr>
                <a:spLocks noRot="1" noChangeAspect="1" noMove="1" noResize="1" noEditPoints="1" noAdjustHandles="1" noChangeArrowheads="1" noChangeShapeType="1" noTextEdit="1"/>
              </p:cNvSpPr>
              <p:nvPr/>
            </p:nvSpPr>
            <p:spPr>
              <a:xfrm>
                <a:off x="8065008" y="1709928"/>
                <a:ext cx="2615184" cy="557784"/>
              </a:xfrm>
              <a:prstGeom prst="rect">
                <a:avLst/>
              </a:prstGeom>
              <a:blipFill>
                <a:blip r:embed="rId4"/>
                <a:stretch>
                  <a:fillRect/>
                </a:stretch>
              </a:blipFill>
              <a:ln/>
            </p:spPr>
            <p:txBody>
              <a:bodyPr/>
              <a:lstStyle/>
              <a:p>
                <a:r>
                  <a:rPr lang="en-GB">
                    <a:noFill/>
                  </a:rPr>
                  <a:t> </a:t>
                </a:r>
              </a:p>
            </p:txBody>
          </p:sp>
        </mc:Fallback>
      </mc:AlternateContent>
      <p:sp>
        <p:nvSpPr>
          <p:cNvPr id="8" name="Text 5"/>
          <p:cNvSpPr/>
          <p:nvPr/>
        </p:nvSpPr>
        <p:spPr>
          <a:xfrm>
            <a:off x="7818120" y="2834640"/>
            <a:ext cx="3108960" cy="914400"/>
          </a:xfrm>
          <a:prstGeom prst="rect">
            <a:avLst/>
          </a:prstGeom>
          <a:noFill/>
          <a:ln/>
        </p:spPr>
        <p:txBody>
          <a:bodyPr wrap="square" lIns="381" tIns="381" rIns="381" bIns="381" rtlCol="0" anchor="ctr"/>
          <a:lstStyle/>
          <a:p>
            <a:pPr marL="0" indent="0" algn="ctr">
              <a:buNone/>
            </a:pPr>
            <a:r>
              <a:rPr lang="en-US" sz="1800" b="1" dirty="0">
                <a:solidFill>
                  <a:srgbClr val="00566B"/>
                </a:solidFill>
              </a:rPr>
              <a:t>Small p-value → the observed t is difficult to reconcile with H₀.</a:t>
            </a:r>
            <a:endParaRPr lang="en-US" sz="1800" dirty="0"/>
          </a:p>
        </p:txBody>
      </p:sp>
      <p:sp>
        <p:nvSpPr>
          <p:cNvPr id="9" name="Text 6"/>
          <p:cNvSpPr/>
          <p:nvPr/>
        </p:nvSpPr>
        <p:spPr>
          <a:xfrm>
            <a:off x="7726680" y="4206240"/>
            <a:ext cx="3291840" cy="777240"/>
          </a:xfrm>
          <a:prstGeom prst="rect">
            <a:avLst/>
          </a:prstGeom>
          <a:noFill/>
          <a:ln/>
        </p:spPr>
        <p:txBody>
          <a:bodyPr wrap="square" lIns="381" tIns="381" rIns="381" bIns="381" rtlCol="0" anchor="ctr"/>
          <a:lstStyle/>
          <a:p>
            <a:pPr marL="0" indent="0" algn="ctr">
              <a:buNone/>
            </a:pPr>
            <a:r>
              <a:rPr lang="en-US" sz="1600" b="1" dirty="0">
                <a:solidFill>
                  <a:srgbClr val="D71920"/>
                </a:solidFill>
              </a:rPr>
              <a:t>Do not say: “the p-value is the probability that H₀ is true.”</a:t>
            </a:r>
            <a:endParaRPr lang="en-US" sz="16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E7C82"/>
                </a:solidFill>
              </a:defRPr>
            </a:lvl1pPr>
          </a:lstStyle>
          <a:p>
            <a:pPr algn="l"/>
            <a:fld id="{F7021451-1387-4CA6-816F-3879F97B5CBC}" type="slidenum">
              <a:rPr lang="en-US" b="0"/>
              <a:t>21</a:t>
            </a:fld>
            <a:endParaRPr lang="en-US"/>
          </a:p>
        </p:txBody>
      </p:sp>
      <p:sp>
        <p:nvSpPr>
          <p:cNvPr id="11" name="TekstSylinder 10">
            <a:extLst>
              <a:ext uri="{FF2B5EF4-FFF2-40B4-BE49-F238E27FC236}">
                <a16:creationId xmlns:a16="http://schemas.microsoft.com/office/drawing/2014/main" id="{11A9DCC7-B948-0ABB-24F7-14077DCE1385}"/>
              </a:ext>
            </a:extLst>
          </p:cNvPr>
          <p:cNvSpPr txBox="1"/>
          <p:nvPr/>
        </p:nvSpPr>
        <p:spPr>
          <a:xfrm>
            <a:off x="1789642" y="5404104"/>
            <a:ext cx="8033596" cy="646331"/>
          </a:xfrm>
          <a:prstGeom prst="rect">
            <a:avLst/>
          </a:prstGeom>
          <a:noFill/>
        </p:spPr>
        <p:txBody>
          <a:bodyPr wrap="square">
            <a:spAutoFit/>
          </a:bodyPr>
          <a:lstStyle/>
          <a:p>
            <a:r>
              <a:rPr lang="nb-NO" i="1" dirty="0"/>
              <a:t>The p-</a:t>
            </a:r>
            <a:r>
              <a:rPr lang="nb-NO" i="1" dirty="0" err="1"/>
              <a:t>value</a:t>
            </a:r>
            <a:r>
              <a:rPr lang="nb-NO" i="1" dirty="0"/>
              <a:t> is </a:t>
            </a:r>
            <a:r>
              <a:rPr lang="nb-NO" i="1" dirty="0" err="1"/>
              <a:t>the</a:t>
            </a:r>
            <a:r>
              <a:rPr lang="nb-NO" i="1" dirty="0"/>
              <a:t> </a:t>
            </a:r>
            <a:r>
              <a:rPr lang="nb-NO" i="1" dirty="0" err="1"/>
              <a:t>probability</a:t>
            </a:r>
            <a:r>
              <a:rPr lang="nb-NO" i="1" dirty="0"/>
              <a:t> </a:t>
            </a:r>
            <a:r>
              <a:rPr lang="nb-NO" i="1" dirty="0" err="1"/>
              <a:t>of</a:t>
            </a:r>
            <a:r>
              <a:rPr lang="nb-NO" i="1" dirty="0"/>
              <a:t> </a:t>
            </a:r>
            <a:r>
              <a:rPr lang="nb-NO" i="1" dirty="0" err="1"/>
              <a:t>obtaining</a:t>
            </a:r>
            <a:r>
              <a:rPr lang="nb-NO" i="1" dirty="0"/>
              <a:t> a t-</a:t>
            </a:r>
            <a:r>
              <a:rPr lang="nb-NO" i="1" dirty="0" err="1"/>
              <a:t>value</a:t>
            </a:r>
            <a:r>
              <a:rPr lang="nb-NO" i="1" dirty="0"/>
              <a:t> as </a:t>
            </a:r>
            <a:r>
              <a:rPr lang="nb-NO" i="1" dirty="0" err="1"/>
              <a:t>extreme</a:t>
            </a:r>
            <a:r>
              <a:rPr lang="nb-NO" i="1" dirty="0"/>
              <a:t> or more </a:t>
            </a:r>
            <a:r>
              <a:rPr lang="nb-NO" i="1" dirty="0" err="1"/>
              <a:t>extreme</a:t>
            </a:r>
            <a:r>
              <a:rPr lang="nb-NO" i="1" dirty="0"/>
              <a:t> </a:t>
            </a:r>
            <a:r>
              <a:rPr lang="nb-NO" i="1" dirty="0" err="1"/>
              <a:t>than</a:t>
            </a:r>
            <a:r>
              <a:rPr lang="nb-NO" i="1" dirty="0"/>
              <a:t> </a:t>
            </a:r>
            <a:r>
              <a:rPr lang="nb-NO" i="1" dirty="0" err="1"/>
              <a:t>the</a:t>
            </a:r>
            <a:r>
              <a:rPr lang="nb-NO" i="1" dirty="0"/>
              <a:t> </a:t>
            </a:r>
            <a:r>
              <a:rPr lang="nb-NO" i="1" dirty="0" err="1"/>
              <a:t>observed</a:t>
            </a:r>
            <a:r>
              <a:rPr lang="nb-NO" i="1" dirty="0"/>
              <a:t> t-</a:t>
            </a:r>
            <a:r>
              <a:rPr lang="nb-NO" i="1" dirty="0" err="1"/>
              <a:t>value</a:t>
            </a:r>
            <a:r>
              <a:rPr lang="nb-NO" i="1" dirty="0"/>
              <a:t>, </a:t>
            </a:r>
            <a:r>
              <a:rPr lang="nb-NO" i="1" dirty="0" err="1"/>
              <a:t>assuming</a:t>
            </a:r>
            <a:r>
              <a:rPr lang="nb-NO" i="1" dirty="0"/>
              <a:t> </a:t>
            </a:r>
            <a:r>
              <a:rPr lang="nb-NO" i="1" dirty="0" err="1"/>
              <a:t>that</a:t>
            </a:r>
            <a:r>
              <a:rPr lang="nb-NO" i="1" dirty="0"/>
              <a:t> </a:t>
            </a:r>
            <a:r>
              <a:rPr lang="nb-NO" i="1" dirty="0" err="1"/>
              <a:t>the</a:t>
            </a:r>
            <a:r>
              <a:rPr lang="nb-NO" i="1" dirty="0"/>
              <a:t> null </a:t>
            </a:r>
            <a:r>
              <a:rPr lang="nb-NO" i="1" dirty="0" err="1"/>
              <a:t>hypothesis</a:t>
            </a:r>
            <a:r>
              <a:rPr lang="nb-NO" i="1" dirty="0"/>
              <a:t> is true.</a:t>
            </a:r>
            <a:endParaRPr lang="en-GB" i="1" dirty="0"/>
          </a:p>
        </p:txBody>
      </p:sp>
      <p:cxnSp>
        <p:nvCxnSpPr>
          <p:cNvPr id="12" name="Rett pilkobling 11">
            <a:extLst>
              <a:ext uri="{FF2B5EF4-FFF2-40B4-BE49-F238E27FC236}">
                <a16:creationId xmlns:a16="http://schemas.microsoft.com/office/drawing/2014/main" id="{D055FE93-E917-38FA-D12F-260559677134}"/>
              </a:ext>
            </a:extLst>
          </p:cNvPr>
          <p:cNvCxnSpPr/>
          <p:nvPr/>
        </p:nvCxnSpPr>
        <p:spPr>
          <a:xfrm flipH="1">
            <a:off x="6376086" y="3954162"/>
            <a:ext cx="1688922" cy="43660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ekstSylinder 12">
            <a:extLst>
              <a:ext uri="{FF2B5EF4-FFF2-40B4-BE49-F238E27FC236}">
                <a16:creationId xmlns:a16="http://schemas.microsoft.com/office/drawing/2014/main" id="{63FF1894-14BA-55D6-5864-306B0D254194}"/>
              </a:ext>
            </a:extLst>
          </p:cNvPr>
          <p:cNvSpPr txBox="1"/>
          <p:nvPr/>
        </p:nvSpPr>
        <p:spPr>
          <a:xfrm>
            <a:off x="8204886" y="3774686"/>
            <a:ext cx="1167714" cy="369332"/>
          </a:xfrm>
          <a:prstGeom prst="rect">
            <a:avLst/>
          </a:prstGeom>
          <a:noFill/>
        </p:spPr>
        <p:txBody>
          <a:bodyPr wrap="square" rtlCol="0">
            <a:spAutoFit/>
          </a:bodyPr>
          <a:lstStyle/>
          <a:p>
            <a:r>
              <a:rPr lang="nb-NO" i="1" dirty="0"/>
              <a:t>p=0.015</a:t>
            </a:r>
          </a:p>
        </p:txBody>
      </p:sp>
      <p:sp>
        <p:nvSpPr>
          <p:cNvPr id="16" name="Ellipse 15">
            <a:extLst>
              <a:ext uri="{FF2B5EF4-FFF2-40B4-BE49-F238E27FC236}">
                <a16:creationId xmlns:a16="http://schemas.microsoft.com/office/drawing/2014/main" id="{47DD1CCE-E9C2-A240-ECBB-F9D63EE2FB38}"/>
              </a:ext>
            </a:extLst>
          </p:cNvPr>
          <p:cNvSpPr/>
          <p:nvPr/>
        </p:nvSpPr>
        <p:spPr>
          <a:xfrm>
            <a:off x="10467377" y="184198"/>
            <a:ext cx="1354914" cy="627398"/>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GB" dirty="0"/>
              <a:t>Lab 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CRITICAL VALUE AND P-VALUE</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R can calculate both routes</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Shape 3"/>
          <p:cNvSpPr/>
          <p:nvPr/>
        </p:nvSpPr>
        <p:spPr>
          <a:xfrm>
            <a:off x="868680" y="1325880"/>
            <a:ext cx="4754880" cy="3291840"/>
          </a:xfrm>
          <a:prstGeom prst="roundRect">
            <a:avLst/>
          </a:prstGeom>
          <a:solidFill>
            <a:srgbClr val="F4F6F7"/>
          </a:solidFill>
          <a:ln w="12700">
            <a:solidFill>
              <a:srgbClr val="D7DEE1"/>
            </a:solidFill>
            <a:prstDash val="solid"/>
          </a:ln>
        </p:spPr>
        <p:txBody>
          <a:bodyPr/>
          <a:lstStyle/>
          <a:p>
            <a:endParaRPr lang="en-GB"/>
          </a:p>
        </p:txBody>
      </p:sp>
      <p:sp>
        <p:nvSpPr>
          <p:cNvPr id="6" name="Text 4"/>
          <p:cNvSpPr/>
          <p:nvPr/>
        </p:nvSpPr>
        <p:spPr>
          <a:xfrm>
            <a:off x="1033272" y="1453896"/>
            <a:ext cx="4425696" cy="3035808"/>
          </a:xfrm>
          <a:prstGeom prst="rect">
            <a:avLst/>
          </a:prstGeom>
          <a:noFill/>
          <a:ln/>
        </p:spPr>
        <p:txBody>
          <a:bodyPr wrap="square" lIns="254" tIns="254" rIns="254" bIns="254" rtlCol="0" anchor="t">
            <a:normAutofit/>
          </a:bodyPr>
          <a:lstStyle/>
          <a:p>
            <a:pPr marL="0" indent="0">
              <a:buNone/>
            </a:pPr>
            <a:r>
              <a:rPr lang="en-US" sz="1450" dirty="0">
                <a:solidFill>
                  <a:srgbClr val="24333A"/>
                </a:solidFill>
                <a:latin typeface="Aptos Mono" pitchFamily="34" charset="0"/>
                <a:ea typeface="Aptos Mono" pitchFamily="34" charset="-122"/>
                <a:cs typeface="Aptos Mono" pitchFamily="34" charset="-120"/>
              </a:rPr>
              <a:t># Test statistic</a:t>
            </a:r>
            <a:endParaRPr lang="en-US" sz="1450" dirty="0"/>
          </a:p>
          <a:p>
            <a:pPr marL="0" indent="0">
              <a:buNone/>
            </a:pPr>
            <a:r>
              <a:rPr lang="en-US" sz="1450" dirty="0">
                <a:solidFill>
                  <a:srgbClr val="24333A"/>
                </a:solidFill>
                <a:latin typeface="Aptos Mono" pitchFamily="34" charset="0"/>
                <a:ea typeface="Aptos Mono" pitchFamily="34" charset="-122"/>
                <a:cs typeface="Aptos Mono" pitchFamily="34" charset="-120"/>
              </a:rPr>
              <a:t>t &lt;- (b_2 - 0.055) / se_b2</a:t>
            </a:r>
            <a:endParaRPr lang="en-US" sz="1450" dirty="0"/>
          </a:p>
          <a:p>
            <a:pPr marL="0" indent="0">
              <a:buNone/>
            </a:pPr>
            <a:endParaRPr lang="en-US" sz="1450" dirty="0"/>
          </a:p>
          <a:p>
            <a:pPr marL="0" indent="0">
              <a:buNone/>
            </a:pPr>
            <a:r>
              <a:rPr lang="en-US" sz="1450" dirty="0">
                <a:solidFill>
                  <a:srgbClr val="24333A"/>
                </a:solidFill>
                <a:latin typeface="Aptos Mono" pitchFamily="34" charset="0"/>
                <a:ea typeface="Aptos Mono" pitchFamily="34" charset="-122"/>
                <a:cs typeface="Aptos Mono" pitchFamily="34" charset="-120"/>
              </a:rPr>
              <a:t># Critical value: right-tail 5% test</a:t>
            </a:r>
            <a:endParaRPr lang="en-US" sz="1450" dirty="0"/>
          </a:p>
          <a:p>
            <a:pPr marL="0" indent="0">
              <a:buNone/>
            </a:pPr>
            <a:r>
              <a:rPr lang="en-US" sz="1450" dirty="0">
                <a:solidFill>
                  <a:srgbClr val="24333A"/>
                </a:solidFill>
                <a:latin typeface="Aptos Mono" pitchFamily="34" charset="0"/>
                <a:ea typeface="Aptos Mono" pitchFamily="34" charset="-122"/>
                <a:cs typeface="Aptos Mono" pitchFamily="34" charset="-120"/>
              </a:rPr>
              <a:t>qt(0.95, df = 38)</a:t>
            </a:r>
            <a:endParaRPr lang="en-US" sz="1450" dirty="0"/>
          </a:p>
          <a:p>
            <a:pPr marL="0" indent="0">
              <a:buNone/>
            </a:pPr>
            <a:endParaRPr lang="en-US" sz="1450" dirty="0"/>
          </a:p>
          <a:p>
            <a:pPr marL="0" indent="0">
              <a:buNone/>
            </a:pPr>
            <a:r>
              <a:rPr lang="en-US" sz="1450" dirty="0">
                <a:solidFill>
                  <a:srgbClr val="24333A"/>
                </a:solidFill>
                <a:latin typeface="Aptos Mono" pitchFamily="34" charset="0"/>
                <a:ea typeface="Aptos Mono" pitchFamily="34" charset="-122"/>
                <a:cs typeface="Aptos Mono" pitchFamily="34" charset="-120"/>
              </a:rPr>
              <a:t># Right-tail p-value</a:t>
            </a:r>
            <a:endParaRPr lang="en-US" sz="1450" dirty="0"/>
          </a:p>
          <a:p>
            <a:pPr marL="0" indent="0">
              <a:buNone/>
            </a:pPr>
            <a:r>
              <a:rPr lang="en-US" sz="1450" dirty="0">
                <a:solidFill>
                  <a:srgbClr val="24333A"/>
                </a:solidFill>
                <a:latin typeface="Aptos Mono" pitchFamily="34" charset="0"/>
                <a:ea typeface="Aptos Mono" pitchFamily="34" charset="-122"/>
                <a:cs typeface="Aptos Mono" pitchFamily="34" charset="-120"/>
              </a:rPr>
              <a:t>1 - pt(t, df = 38)</a:t>
            </a:r>
            <a:endParaRPr lang="en-US" sz="1450" dirty="0"/>
          </a:p>
        </p:txBody>
      </p:sp>
      <p:sp>
        <p:nvSpPr>
          <p:cNvPr id="7" name="Text 5"/>
          <p:cNvSpPr/>
          <p:nvPr/>
        </p:nvSpPr>
        <p:spPr>
          <a:xfrm>
            <a:off x="6400800" y="1417320"/>
            <a:ext cx="3200400" cy="365760"/>
          </a:xfrm>
          <a:prstGeom prst="rect">
            <a:avLst/>
          </a:prstGeom>
          <a:noFill/>
          <a:ln/>
        </p:spPr>
        <p:txBody>
          <a:bodyPr wrap="square" lIns="0" tIns="0" rIns="0" bIns="0" rtlCol="0" anchor="ctr"/>
          <a:lstStyle/>
          <a:p>
            <a:pPr marL="0" indent="0" algn="ctr">
              <a:buNone/>
            </a:pPr>
            <a:r>
              <a:rPr lang="en-US" sz="2000" b="1" dirty="0">
                <a:solidFill>
                  <a:srgbClr val="1F2D33"/>
                </a:solidFill>
              </a:rPr>
              <a:t>Decision rules</a:t>
            </a:r>
            <a:endParaRPr lang="en-US" sz="2000" dirty="0"/>
          </a:p>
        </p:txBody>
      </p:sp>
      <p:sp>
        <p:nvSpPr>
          <p:cNvPr id="8" name="Shape 6"/>
          <p:cNvSpPr/>
          <p:nvPr/>
        </p:nvSpPr>
        <p:spPr>
          <a:xfrm>
            <a:off x="6263640" y="2057400"/>
            <a:ext cx="3657600" cy="685800"/>
          </a:xfrm>
          <a:prstGeom prst="roundRect">
            <a:avLst>
              <a:gd name="adj" fmla="val 8000"/>
            </a:avLst>
          </a:prstGeom>
          <a:solidFill>
            <a:srgbClr val="DDF4F9"/>
          </a:solidFill>
          <a:ln w="12700">
            <a:solidFill>
              <a:srgbClr val="DDF4F9"/>
            </a:solidFill>
            <a:prstDash val="solid"/>
          </a:ln>
        </p:spPr>
        <p:txBody>
          <a:bodyPr/>
          <a:lstStyle/>
          <a:p>
            <a:endParaRPr lang="en-GB"/>
          </a:p>
        </p:txBody>
      </p:sp>
      <mc:AlternateContent xmlns:mc="http://schemas.openxmlformats.org/markup-compatibility/2006" xmlns:a14="http://schemas.microsoft.com/office/drawing/2010/main">
        <mc:Choice Requires="a14">
          <p:sp>
            <p:nvSpPr>
              <p:cNvPr id="9" name="Text 7"/>
              <p:cNvSpPr/>
              <p:nvPr/>
            </p:nvSpPr>
            <p:spPr>
              <a:xfrm>
                <a:off x="6373368" y="2121408"/>
                <a:ext cx="3438144" cy="557784"/>
              </a:xfrm>
              <a:prstGeom prst="rect">
                <a:avLst/>
              </a:prstGeom>
              <a:noFill/>
              <a:ln/>
            </p:spPr>
            <p:txBody>
              <a:bodyPr wrap="square" lIns="254" tIns="254" rIns="254" bIns="254" rtlCol="0" anchor="ctr">
                <a:normAutofit/>
              </a:bodyPr>
              <a:lstStyle/>
              <a:p>
                <a:pPr marL="0" indent="0" algn="ctr">
                  <a:buNone/>
                </a:pPr>
                <a14:m>
                  <m:oMath xmlns:m="http://schemas.openxmlformats.org/officeDocument/2006/math">
                    <m:r>
                      <a:rPr lang="nb-NO" sz="2000" b="1" i="1" smtClean="0">
                        <a:solidFill>
                          <a:srgbClr val="00566B"/>
                        </a:solidFill>
                        <a:latin typeface="Cambria Math" panose="02040503050406030204" pitchFamily="18" charset="0"/>
                        <a:ea typeface="Cambria Math" pitchFamily="34" charset="-122"/>
                        <a:cs typeface="Cambria Math" pitchFamily="34" charset="-120"/>
                      </a:rPr>
                      <m:t>𝒕</m:t>
                    </m:r>
                    <m:r>
                      <a:rPr lang="nb-NO" sz="2000" b="1" i="1" smtClean="0">
                        <a:solidFill>
                          <a:srgbClr val="00566B"/>
                        </a:solidFill>
                        <a:latin typeface="Cambria Math" panose="02040503050406030204" pitchFamily="18" charset="0"/>
                        <a:ea typeface="Cambria Math" panose="02040503050406030204" pitchFamily="18" charset="0"/>
                        <a:cs typeface="Cambria Math" pitchFamily="34" charset="-120"/>
                      </a:rPr>
                      <m:t>≥</m:t>
                    </m:r>
                    <m:sSub>
                      <m:sSubPr>
                        <m:ctrlPr>
                          <a:rPr lang="nb-NO" sz="2000" b="1" i="1" smtClean="0">
                            <a:solidFill>
                              <a:srgbClr val="00566B"/>
                            </a:solidFill>
                            <a:latin typeface="Cambria Math" panose="02040503050406030204" pitchFamily="18" charset="0"/>
                            <a:ea typeface="Cambria Math" panose="02040503050406030204" pitchFamily="18" charset="0"/>
                          </a:rPr>
                        </m:ctrlPr>
                      </m:sSubPr>
                      <m:e>
                        <m:r>
                          <a:rPr lang="nb-NO" sz="2000" b="1" i="1" smtClean="0">
                            <a:solidFill>
                              <a:srgbClr val="00566B"/>
                            </a:solidFill>
                            <a:latin typeface="Cambria Math" panose="02040503050406030204" pitchFamily="18" charset="0"/>
                            <a:ea typeface="Cambria Math" panose="02040503050406030204" pitchFamily="18" charset="0"/>
                          </a:rPr>
                          <m:t>𝒕</m:t>
                        </m:r>
                      </m:e>
                      <m:sub>
                        <m:r>
                          <a:rPr lang="nb-NO" sz="2000" b="1" i="1" smtClean="0">
                            <a:solidFill>
                              <a:srgbClr val="00566B"/>
                            </a:solidFill>
                            <a:latin typeface="Cambria Math" panose="02040503050406030204" pitchFamily="18" charset="0"/>
                            <a:ea typeface="Cambria Math" panose="02040503050406030204" pitchFamily="18" charset="0"/>
                          </a:rPr>
                          <m:t>𝒄</m:t>
                        </m:r>
                      </m:sub>
                    </m:sSub>
                  </m:oMath>
                </a14:m>
                <a:r>
                  <a:rPr lang="en-US" sz="2000" b="1" dirty="0">
                    <a:solidFill>
                      <a:srgbClr val="00566B"/>
                    </a:solidFill>
                    <a:latin typeface="Cambria Math" pitchFamily="34" charset="0"/>
                    <a:ea typeface="Cambria Math" pitchFamily="34" charset="-122"/>
                    <a:cs typeface="Cambria Math" pitchFamily="34" charset="-120"/>
                  </a:rPr>
                  <a:t>  → reject H₀</a:t>
                </a:r>
                <a:endParaRPr lang="en-US" sz="2000" dirty="0"/>
              </a:p>
            </p:txBody>
          </p:sp>
        </mc:Choice>
        <mc:Fallback xmlns="">
          <p:sp>
            <p:nvSpPr>
              <p:cNvPr id="9" name="Text 7"/>
              <p:cNvSpPr>
                <a:spLocks noRot="1" noChangeAspect="1" noMove="1" noResize="1" noEditPoints="1" noAdjustHandles="1" noChangeArrowheads="1" noChangeShapeType="1" noTextEdit="1"/>
              </p:cNvSpPr>
              <p:nvPr/>
            </p:nvSpPr>
            <p:spPr>
              <a:xfrm>
                <a:off x="6373368" y="2121408"/>
                <a:ext cx="3438144" cy="557784"/>
              </a:xfrm>
              <a:prstGeom prst="rect">
                <a:avLst/>
              </a:prstGeom>
              <a:blipFill>
                <a:blip r:embed="rId3"/>
                <a:stretch>
                  <a:fillRect b="-2174"/>
                </a:stretch>
              </a:blipFill>
              <a:ln/>
            </p:spPr>
            <p:txBody>
              <a:bodyPr/>
              <a:lstStyle/>
              <a:p>
                <a:r>
                  <a:rPr lang="en-GB">
                    <a:noFill/>
                  </a:rPr>
                  <a:t> </a:t>
                </a:r>
              </a:p>
            </p:txBody>
          </p:sp>
        </mc:Fallback>
      </mc:AlternateContent>
      <p:sp>
        <p:nvSpPr>
          <p:cNvPr id="10" name="Shape 8"/>
          <p:cNvSpPr/>
          <p:nvPr/>
        </p:nvSpPr>
        <p:spPr>
          <a:xfrm>
            <a:off x="6263640" y="3063240"/>
            <a:ext cx="3657600" cy="685800"/>
          </a:xfrm>
          <a:prstGeom prst="roundRect">
            <a:avLst>
              <a:gd name="adj" fmla="val 8000"/>
            </a:avLst>
          </a:prstGeom>
          <a:solidFill>
            <a:srgbClr val="F4F6F7"/>
          </a:solidFill>
          <a:ln w="12700">
            <a:solidFill>
              <a:srgbClr val="F4F6F7"/>
            </a:solidFill>
            <a:prstDash val="solid"/>
          </a:ln>
        </p:spPr>
        <p:txBody>
          <a:bodyPr/>
          <a:lstStyle/>
          <a:p>
            <a:endParaRPr lang="en-GB"/>
          </a:p>
        </p:txBody>
      </p:sp>
      <p:sp>
        <p:nvSpPr>
          <p:cNvPr id="11" name="Text 9"/>
          <p:cNvSpPr/>
          <p:nvPr/>
        </p:nvSpPr>
        <p:spPr>
          <a:xfrm>
            <a:off x="6373368" y="3127248"/>
            <a:ext cx="3438144" cy="557784"/>
          </a:xfrm>
          <a:prstGeom prst="rect">
            <a:avLst/>
          </a:prstGeom>
          <a:noFill/>
          <a:ln/>
        </p:spPr>
        <p:txBody>
          <a:bodyPr wrap="square" lIns="254" tIns="254" rIns="254" bIns="254" rtlCol="0" anchor="ctr">
            <a:normAutofit/>
          </a:bodyPr>
          <a:lstStyle/>
          <a:p>
            <a:pPr marL="0" indent="0" algn="ctr">
              <a:buNone/>
            </a:pPr>
            <a:r>
              <a:rPr lang="en-US" sz="2000" b="1" dirty="0">
                <a:solidFill>
                  <a:srgbClr val="1F2D33"/>
                </a:solidFill>
                <a:latin typeface="Cambria Math" pitchFamily="34" charset="0"/>
                <a:ea typeface="Cambria Math" pitchFamily="34" charset="-122"/>
                <a:cs typeface="Cambria Math" pitchFamily="34" charset="-120"/>
              </a:rPr>
              <a:t>p ≤ α  → reject H₀</a:t>
            </a:r>
            <a:endParaRPr lang="en-US" sz="2000" dirty="0"/>
          </a:p>
        </p:txBody>
      </p:sp>
      <p:sp>
        <p:nvSpPr>
          <p:cNvPr id="12" name="Text 10"/>
          <p:cNvSpPr/>
          <p:nvPr/>
        </p:nvSpPr>
        <p:spPr>
          <a:xfrm>
            <a:off x="6263640" y="4297680"/>
            <a:ext cx="3657600" cy="502920"/>
          </a:xfrm>
          <a:prstGeom prst="rect">
            <a:avLst/>
          </a:prstGeom>
          <a:noFill/>
          <a:ln/>
        </p:spPr>
        <p:txBody>
          <a:bodyPr wrap="square" lIns="0" tIns="0" rIns="0" bIns="0" rtlCol="0" anchor="ctr"/>
          <a:lstStyle/>
          <a:p>
            <a:pPr marL="0" indent="0" algn="ctr">
              <a:buNone/>
            </a:pPr>
            <a:r>
              <a:rPr lang="en-US" sz="1800" b="1" dirty="0">
                <a:solidFill>
                  <a:srgbClr val="00566B"/>
                </a:solidFill>
              </a:rPr>
              <a:t>Two ways of expressing the same evidence.</a:t>
            </a:r>
            <a:endParaRPr lang="en-US" sz="18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E7C82"/>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8912" y="438912"/>
            <a:ext cx="2743200" cy="201168"/>
          </a:xfrm>
          <a:prstGeom prst="rect">
            <a:avLst/>
          </a:prstGeom>
          <a:noFill/>
          <a:ln/>
        </p:spPr>
        <p:txBody>
          <a:bodyPr wrap="square" lIns="0" tIns="0" rIns="0" bIns="0" rtlCol="0" anchor="ctr"/>
          <a:lstStyle/>
          <a:p>
            <a:pPr marL="0" indent="0">
              <a:buNone/>
            </a:pPr>
            <a:r>
              <a:rPr lang="en-US" sz="800" b="1" kern="0" spc="40" dirty="0">
                <a:solidFill>
                  <a:srgbClr val="20B4D6"/>
                </a:solidFill>
              </a:rPr>
              <a:t>P-VALUE</a:t>
            </a:r>
            <a:endParaRPr lang="en-US" sz="800" dirty="0"/>
          </a:p>
        </p:txBody>
      </p:sp>
      <p:sp>
        <p:nvSpPr>
          <p:cNvPr id="3" name="Text 1"/>
          <p:cNvSpPr/>
          <p:nvPr/>
        </p:nvSpPr>
        <p:spPr>
          <a:xfrm>
            <a:off x="438912" y="658368"/>
            <a:ext cx="10927080" cy="475488"/>
          </a:xfrm>
          <a:prstGeom prst="rect">
            <a:avLst/>
          </a:prstGeom>
          <a:noFill/>
          <a:ln/>
        </p:spPr>
        <p:txBody>
          <a:bodyPr wrap="square" lIns="0" tIns="0" rIns="0" bIns="0" rtlCol="0" anchor="ctr">
            <a:normAutofit/>
          </a:bodyPr>
          <a:lstStyle/>
          <a:p>
            <a:pPr marL="0" indent="0">
              <a:buNone/>
            </a:pPr>
            <a:r>
              <a:rPr lang="en-US" sz="2300" dirty="0">
                <a:solidFill>
                  <a:srgbClr val="16323D"/>
                </a:solidFill>
              </a:rPr>
              <a:t>Calculate the p-value</a:t>
            </a:r>
            <a:endParaRPr lang="en-US" sz="2300" dirty="0"/>
          </a:p>
        </p:txBody>
      </p:sp>
      <p:sp>
        <p:nvSpPr>
          <p:cNvPr id="4" name="Text 2"/>
          <p:cNvSpPr/>
          <p:nvPr/>
        </p:nvSpPr>
        <p:spPr>
          <a:xfrm>
            <a:off x="457200" y="1234440"/>
            <a:ext cx="2011680" cy="274320"/>
          </a:xfrm>
          <a:prstGeom prst="rect">
            <a:avLst/>
          </a:prstGeom>
          <a:noFill/>
          <a:ln/>
        </p:spPr>
        <p:txBody>
          <a:bodyPr wrap="square" lIns="0" tIns="0" rIns="0" bIns="0" rtlCol="0" anchor="ctr"/>
          <a:lstStyle/>
          <a:p>
            <a:pPr marL="0" indent="0">
              <a:buNone/>
            </a:pPr>
            <a:r>
              <a:rPr lang="en-US" sz="1100" b="1" dirty="0">
                <a:solidFill>
                  <a:srgbClr val="00566B"/>
                </a:solidFill>
              </a:rPr>
              <a:t>Supermarket test</a:t>
            </a:r>
            <a:endParaRPr lang="en-US" sz="1100" dirty="0"/>
          </a:p>
        </p:txBody>
      </p:sp>
      <p:sp>
        <p:nvSpPr>
          <p:cNvPr id="5" name="Text 3"/>
          <p:cNvSpPr/>
          <p:nvPr/>
        </p:nvSpPr>
        <p:spPr>
          <a:xfrm>
            <a:off x="457200" y="1536192"/>
            <a:ext cx="4389120" cy="347472"/>
          </a:xfrm>
          <a:prstGeom prst="rect">
            <a:avLst/>
          </a:prstGeom>
          <a:noFill/>
          <a:ln/>
        </p:spPr>
        <p:txBody>
          <a:bodyPr wrap="square" lIns="0" tIns="0" rIns="0" bIns="0" rtlCol="0" anchor="ctr"/>
          <a:lstStyle/>
          <a:p>
            <a:pPr marL="0" indent="0">
              <a:buNone/>
            </a:pPr>
            <a:r>
              <a:rPr lang="en-US" sz="2000" dirty="0">
                <a:solidFill>
                  <a:srgbClr val="16323D"/>
                </a:solidFill>
              </a:rPr>
              <a:t>H₀: β₂ ≤ 0.055     H₁: β₂ &gt; 0.055</a:t>
            </a:r>
            <a:endParaRPr lang="en-US" sz="2000" dirty="0"/>
          </a:p>
        </p:txBody>
      </p:sp>
      <p:sp>
        <p:nvSpPr>
          <p:cNvPr id="6" name="Text 4"/>
          <p:cNvSpPr/>
          <p:nvPr/>
        </p:nvSpPr>
        <p:spPr>
          <a:xfrm>
            <a:off x="457200" y="1993392"/>
            <a:ext cx="4389120" cy="320040"/>
          </a:xfrm>
          <a:prstGeom prst="rect">
            <a:avLst/>
          </a:prstGeom>
          <a:noFill/>
          <a:ln/>
        </p:spPr>
        <p:txBody>
          <a:bodyPr wrap="square" lIns="0" tIns="0" rIns="0" bIns="0" rtlCol="0" anchor="ctr"/>
          <a:lstStyle/>
          <a:p>
            <a:pPr marL="0" indent="0">
              <a:buNone/>
            </a:pPr>
            <a:r>
              <a:rPr lang="en-US" sz="1600" dirty="0">
                <a:solidFill>
                  <a:srgbClr val="16323D"/>
                </a:solidFill>
              </a:rPr>
              <a:t>Observed test statistic:  t = 2.25</a:t>
            </a:r>
            <a:endParaRPr lang="en-US" sz="1600" dirty="0"/>
          </a:p>
        </p:txBody>
      </p:sp>
      <p:sp>
        <p:nvSpPr>
          <p:cNvPr id="7" name="Shape 5"/>
          <p:cNvSpPr/>
          <p:nvPr/>
        </p:nvSpPr>
        <p:spPr>
          <a:xfrm>
            <a:off x="457200" y="2514600"/>
            <a:ext cx="4983480" cy="1828800"/>
          </a:xfrm>
          <a:prstGeom prst="roundRect">
            <a:avLst/>
          </a:prstGeom>
          <a:solidFill>
            <a:srgbClr val="F4F6F7"/>
          </a:solidFill>
          <a:ln w="10160">
            <a:solidFill>
              <a:srgbClr val="D5DEE2"/>
            </a:solidFill>
            <a:prstDash val="solid"/>
          </a:ln>
        </p:spPr>
        <p:txBody>
          <a:bodyPr/>
          <a:lstStyle/>
          <a:p>
            <a:endParaRPr lang="en-GB"/>
          </a:p>
        </p:txBody>
      </p:sp>
      <p:sp>
        <p:nvSpPr>
          <p:cNvPr id="8" name="Text 6"/>
          <p:cNvSpPr/>
          <p:nvPr/>
        </p:nvSpPr>
        <p:spPr>
          <a:xfrm>
            <a:off x="621792" y="2660904"/>
            <a:ext cx="4654296" cy="1554480"/>
          </a:xfrm>
          <a:prstGeom prst="rect">
            <a:avLst/>
          </a:prstGeom>
          <a:noFill/>
          <a:ln/>
        </p:spPr>
        <p:txBody>
          <a:bodyPr wrap="square" lIns="0" tIns="0" rIns="0" bIns="0" rtlCol="0" anchor="ctr">
            <a:normAutofit/>
          </a:bodyPr>
          <a:lstStyle/>
          <a:p>
            <a:pPr marL="0" indent="0">
              <a:buNone/>
            </a:pPr>
            <a:r>
              <a:rPr lang="en-US" sz="1400" dirty="0">
                <a:solidFill>
                  <a:srgbClr val="24343B"/>
                </a:solidFill>
                <a:latin typeface="Aptos Mono" pitchFamily="34" charset="0"/>
                <a:ea typeface="Aptos Mono" pitchFamily="34" charset="-122"/>
                <a:cs typeface="Aptos Mono" pitchFamily="34" charset="-120"/>
              </a:rPr>
              <a:t># Right-tail p-value</a:t>
            </a:r>
            <a:endParaRPr lang="en-US" sz="1400" dirty="0"/>
          </a:p>
          <a:p>
            <a:pPr marL="0" indent="0">
              <a:buNone/>
            </a:pPr>
            <a:r>
              <a:rPr lang="en-US" sz="1400" dirty="0">
                <a:solidFill>
                  <a:srgbClr val="24343B"/>
                </a:solidFill>
                <a:latin typeface="Aptos Mono" pitchFamily="34" charset="0"/>
                <a:ea typeface="Aptos Mono" pitchFamily="34" charset="-122"/>
                <a:cs typeface="Aptos Mono" pitchFamily="34" charset="-120"/>
              </a:rPr>
              <a:t>p_value &lt;- 1 - pt(t_food, df = 38)</a:t>
            </a:r>
            <a:endParaRPr lang="en-US" sz="1400" dirty="0"/>
          </a:p>
          <a:p>
            <a:pPr marL="0" indent="0">
              <a:buNone/>
            </a:pPr>
            <a:r>
              <a:rPr lang="en-US" sz="1400" dirty="0">
                <a:solidFill>
                  <a:srgbClr val="24343B"/>
                </a:solidFill>
                <a:latin typeface="Aptos Mono" pitchFamily="34" charset="0"/>
                <a:ea typeface="Aptos Mono" pitchFamily="34" charset="-122"/>
                <a:cs typeface="Aptos Mono" pitchFamily="34" charset="-120"/>
              </a:rPr>
              <a:t>p_value</a:t>
            </a:r>
            <a:endParaRPr lang="en-US" sz="1400" dirty="0"/>
          </a:p>
          <a:p>
            <a:pPr marL="0" indent="0">
              <a:buNone/>
            </a:pPr>
            <a:r>
              <a:rPr lang="en-US" sz="1400" dirty="0">
                <a:solidFill>
                  <a:srgbClr val="24343B"/>
                </a:solidFill>
                <a:latin typeface="Aptos Mono" pitchFamily="34" charset="0"/>
                <a:ea typeface="Aptos Mono" pitchFamily="34" charset="-122"/>
                <a:cs typeface="Aptos Mono" pitchFamily="34" charset="-120"/>
              </a:rPr>
              <a:t># 0.015</a:t>
            </a:r>
            <a:endParaRPr lang="en-US" sz="1400" dirty="0"/>
          </a:p>
        </p:txBody>
      </p:sp>
      <p:sp>
        <p:nvSpPr>
          <p:cNvPr id="9" name="Shape 7"/>
          <p:cNvSpPr/>
          <p:nvPr/>
        </p:nvSpPr>
        <p:spPr>
          <a:xfrm>
            <a:off x="5806440" y="1307592"/>
            <a:ext cx="5440680" cy="1874520"/>
          </a:xfrm>
          <a:prstGeom prst="roundRect">
            <a:avLst>
              <a:gd name="adj" fmla="val 3902"/>
            </a:avLst>
          </a:prstGeom>
          <a:solidFill>
            <a:srgbClr val="DDF4F9"/>
          </a:solidFill>
          <a:ln w="12700">
            <a:solidFill>
              <a:srgbClr val="CDEBF1"/>
            </a:solidFill>
            <a:prstDash val="solid"/>
          </a:ln>
        </p:spPr>
        <p:txBody>
          <a:bodyPr/>
          <a:lstStyle/>
          <a:p>
            <a:endParaRPr lang="en-GB"/>
          </a:p>
        </p:txBody>
      </p:sp>
      <p:sp>
        <p:nvSpPr>
          <p:cNvPr id="10" name="Text 8"/>
          <p:cNvSpPr/>
          <p:nvPr/>
        </p:nvSpPr>
        <p:spPr>
          <a:xfrm>
            <a:off x="6126480" y="1581912"/>
            <a:ext cx="4480560" cy="310896"/>
          </a:xfrm>
          <a:prstGeom prst="rect">
            <a:avLst/>
          </a:prstGeom>
          <a:noFill/>
          <a:ln/>
        </p:spPr>
        <p:txBody>
          <a:bodyPr wrap="square" lIns="0" tIns="0" rIns="0" bIns="0" rtlCol="0" anchor="ctr"/>
          <a:lstStyle/>
          <a:p>
            <a:pPr marL="0" indent="0" algn="ctr">
              <a:buNone/>
            </a:pPr>
            <a:r>
              <a:rPr lang="en-US" sz="1700" b="1" dirty="0">
                <a:solidFill>
                  <a:srgbClr val="00566B"/>
                </a:solidFill>
              </a:rPr>
              <a:t>What does 0.015 mean?</a:t>
            </a:r>
            <a:endParaRPr lang="en-US" sz="1700" dirty="0"/>
          </a:p>
        </p:txBody>
      </p:sp>
      <p:sp>
        <p:nvSpPr>
          <p:cNvPr id="11" name="Text 9"/>
          <p:cNvSpPr/>
          <p:nvPr/>
        </p:nvSpPr>
        <p:spPr>
          <a:xfrm>
            <a:off x="6199632" y="2011680"/>
            <a:ext cx="4343400" cy="841248"/>
          </a:xfrm>
          <a:prstGeom prst="rect">
            <a:avLst/>
          </a:prstGeom>
          <a:noFill/>
          <a:ln/>
        </p:spPr>
        <p:txBody>
          <a:bodyPr wrap="square" lIns="508" tIns="508" rIns="508" bIns="508" rtlCol="0" anchor="ctr"/>
          <a:lstStyle/>
          <a:p>
            <a:pPr marL="0" indent="0" algn="ctr">
              <a:buNone/>
            </a:pPr>
            <a:r>
              <a:rPr lang="en-US" sz="1500" dirty="0">
                <a:solidFill>
                  <a:srgbClr val="16323D"/>
                </a:solidFill>
              </a:rPr>
              <a:t>If the null value β₂ = 0.055 were true, the probability of obtaining a t-value of 2.25 or larger is about 1.5%.</a:t>
            </a:r>
            <a:endParaRPr lang="en-US" sz="1500" dirty="0"/>
          </a:p>
        </p:txBody>
      </p:sp>
      <p:sp>
        <p:nvSpPr>
          <p:cNvPr id="12" name="Shape 10"/>
          <p:cNvSpPr/>
          <p:nvPr/>
        </p:nvSpPr>
        <p:spPr>
          <a:xfrm>
            <a:off x="5806440" y="3493008"/>
            <a:ext cx="2514600" cy="1143000"/>
          </a:xfrm>
          <a:prstGeom prst="roundRect">
            <a:avLst>
              <a:gd name="adj" fmla="val 6400"/>
            </a:avLst>
          </a:prstGeom>
          <a:solidFill>
            <a:srgbClr val="E8F5F0"/>
          </a:solidFill>
          <a:ln w="12700">
            <a:solidFill>
              <a:srgbClr val="D7E9E2"/>
            </a:solidFill>
            <a:prstDash val="solid"/>
          </a:ln>
        </p:spPr>
        <p:txBody>
          <a:bodyPr/>
          <a:lstStyle/>
          <a:p>
            <a:endParaRPr lang="en-GB"/>
          </a:p>
        </p:txBody>
      </p:sp>
      <p:sp>
        <p:nvSpPr>
          <p:cNvPr id="13" name="Text 11"/>
          <p:cNvSpPr/>
          <p:nvPr/>
        </p:nvSpPr>
        <p:spPr>
          <a:xfrm>
            <a:off x="6080760" y="3675888"/>
            <a:ext cx="1965960" cy="274320"/>
          </a:xfrm>
          <a:prstGeom prst="rect">
            <a:avLst/>
          </a:prstGeom>
          <a:noFill/>
          <a:ln/>
        </p:spPr>
        <p:txBody>
          <a:bodyPr wrap="square" lIns="0" tIns="0" rIns="0" bIns="0" rtlCol="0" anchor="ctr"/>
          <a:lstStyle/>
          <a:p>
            <a:pPr marL="0" indent="0" algn="ctr">
              <a:buNone/>
            </a:pPr>
            <a:r>
              <a:rPr lang="en-US" sz="1400" b="1" dirty="0">
                <a:solidFill>
                  <a:srgbClr val="2F6F5E"/>
                </a:solidFill>
              </a:rPr>
              <a:t>α = 0.05</a:t>
            </a:r>
            <a:endParaRPr lang="en-US" sz="1400" dirty="0"/>
          </a:p>
        </p:txBody>
      </p:sp>
      <p:sp>
        <p:nvSpPr>
          <p:cNvPr id="14" name="Text 12"/>
          <p:cNvSpPr/>
          <p:nvPr/>
        </p:nvSpPr>
        <p:spPr>
          <a:xfrm>
            <a:off x="5989320" y="4050792"/>
            <a:ext cx="2148840" cy="274320"/>
          </a:xfrm>
          <a:prstGeom prst="rect">
            <a:avLst/>
          </a:prstGeom>
          <a:noFill/>
          <a:ln/>
        </p:spPr>
        <p:txBody>
          <a:bodyPr wrap="square" lIns="0" tIns="0" rIns="0" bIns="0" rtlCol="0" anchor="ctr"/>
          <a:lstStyle/>
          <a:p>
            <a:pPr marL="0" indent="0" algn="ctr">
              <a:buNone/>
            </a:pPr>
            <a:r>
              <a:rPr lang="en-US" sz="1300" dirty="0">
                <a:solidFill>
                  <a:srgbClr val="16323D"/>
                </a:solidFill>
              </a:rPr>
              <a:t>p &lt; α  →  Reject H₀</a:t>
            </a:r>
            <a:endParaRPr lang="en-US" sz="1300" dirty="0"/>
          </a:p>
        </p:txBody>
      </p:sp>
      <p:sp>
        <p:nvSpPr>
          <p:cNvPr id="15" name="Shape 13"/>
          <p:cNvSpPr/>
          <p:nvPr/>
        </p:nvSpPr>
        <p:spPr>
          <a:xfrm>
            <a:off x="8732520" y="3493008"/>
            <a:ext cx="2514600" cy="1143000"/>
          </a:xfrm>
          <a:prstGeom prst="roundRect">
            <a:avLst>
              <a:gd name="adj" fmla="val 6400"/>
            </a:avLst>
          </a:prstGeom>
          <a:solidFill>
            <a:srgbClr val="FCE9EA"/>
          </a:solidFill>
          <a:ln w="12700">
            <a:solidFill>
              <a:srgbClr val="F4D2D4"/>
            </a:solidFill>
            <a:prstDash val="solid"/>
          </a:ln>
        </p:spPr>
        <p:txBody>
          <a:bodyPr/>
          <a:lstStyle/>
          <a:p>
            <a:endParaRPr lang="en-GB"/>
          </a:p>
        </p:txBody>
      </p:sp>
      <p:sp>
        <p:nvSpPr>
          <p:cNvPr id="16" name="Text 14"/>
          <p:cNvSpPr/>
          <p:nvPr/>
        </p:nvSpPr>
        <p:spPr>
          <a:xfrm>
            <a:off x="9006840" y="3675888"/>
            <a:ext cx="1965960" cy="274320"/>
          </a:xfrm>
          <a:prstGeom prst="rect">
            <a:avLst/>
          </a:prstGeom>
          <a:noFill/>
          <a:ln/>
        </p:spPr>
        <p:txBody>
          <a:bodyPr wrap="square" lIns="0" tIns="0" rIns="0" bIns="0" rtlCol="0" anchor="ctr"/>
          <a:lstStyle/>
          <a:p>
            <a:pPr marL="0" indent="0" algn="ctr">
              <a:buNone/>
            </a:pPr>
            <a:r>
              <a:rPr lang="en-US" sz="1400" b="1" dirty="0">
                <a:solidFill>
                  <a:srgbClr val="D71920"/>
                </a:solidFill>
              </a:rPr>
              <a:t>α = 0.01</a:t>
            </a:r>
            <a:endParaRPr lang="en-US" sz="1400" dirty="0"/>
          </a:p>
        </p:txBody>
      </p:sp>
      <p:sp>
        <p:nvSpPr>
          <p:cNvPr id="17" name="Text 15"/>
          <p:cNvSpPr/>
          <p:nvPr/>
        </p:nvSpPr>
        <p:spPr>
          <a:xfrm>
            <a:off x="8887968" y="4050792"/>
            <a:ext cx="2194560" cy="274320"/>
          </a:xfrm>
          <a:prstGeom prst="rect">
            <a:avLst/>
          </a:prstGeom>
          <a:noFill/>
          <a:ln/>
        </p:spPr>
        <p:txBody>
          <a:bodyPr wrap="square" lIns="0" tIns="0" rIns="0" bIns="0" rtlCol="0" anchor="ctr"/>
          <a:lstStyle/>
          <a:p>
            <a:pPr marL="0" indent="0" algn="ctr">
              <a:buNone/>
            </a:pPr>
            <a:r>
              <a:rPr lang="en-US" sz="1300" dirty="0">
                <a:solidFill>
                  <a:srgbClr val="16323D"/>
                </a:solidFill>
              </a:rPr>
              <a:t>p &gt; α  →  Fail to reject H₀</a:t>
            </a:r>
            <a:endParaRPr lang="en-US" sz="1300" dirty="0"/>
          </a:p>
        </p:txBody>
      </p:sp>
      <p:sp>
        <p:nvSpPr>
          <p:cNvPr id="18" name="Text 16"/>
          <p:cNvSpPr/>
          <p:nvPr/>
        </p:nvSpPr>
        <p:spPr>
          <a:xfrm>
            <a:off x="5902452" y="4818888"/>
            <a:ext cx="5303520" cy="310896"/>
          </a:xfrm>
          <a:prstGeom prst="rect">
            <a:avLst/>
          </a:prstGeom>
          <a:noFill/>
          <a:ln/>
        </p:spPr>
        <p:txBody>
          <a:bodyPr wrap="square" lIns="0" tIns="0" rIns="0" bIns="0" rtlCol="0" anchor="ctr"/>
          <a:lstStyle/>
          <a:p>
            <a:pPr marL="0" indent="0" algn="ctr">
              <a:buNone/>
            </a:pPr>
            <a:r>
              <a:rPr lang="en-US" sz="1400" i="1" dirty="0">
                <a:solidFill>
                  <a:srgbClr val="66757C"/>
                </a:solidFill>
              </a:rPr>
              <a:t>Same data, different decision threshold.</a:t>
            </a:r>
            <a:endParaRPr lang="en-US" sz="1400" dirty="0"/>
          </a:p>
        </p:txBody>
      </p:sp>
      <p:sp>
        <p:nvSpPr>
          <p:cNvPr id="25" name="Slide Number Placeholder 0"/>
          <p:cNvSpPr>
            <a:spLocks noGrp="1"/>
          </p:cNvSpPr>
          <p:nvPr>
            <p:ph type="sldNum" sz="quarter" idx="4294967295"/>
          </p:nvPr>
        </p:nvSpPr>
        <p:spPr>
          <a:xfrm>
            <a:off x="11338560" y="6519672"/>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9AA3A8"/>
                </a:solidFill>
                <a:latin typeface="Aptos"/>
                <a:ea typeface="Aptos"/>
                <a:cs typeface="Aptos"/>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DO NOT LEARN THREE DIFFERENT TESTS</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One idea, three alternatives</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pic>
        <p:nvPicPr>
          <p:cNvPr id="5" name="Image 0" descr="/mnt/data/ch3_figs/three_tails.png"/>
          <p:cNvPicPr>
            <a:picLocks noChangeAspect="1"/>
          </p:cNvPicPr>
          <p:nvPr/>
        </p:nvPicPr>
        <p:blipFill>
          <a:blip r:embed="rId3"/>
          <a:stretch>
            <a:fillRect/>
          </a:stretch>
        </p:blipFill>
        <p:spPr>
          <a:xfrm>
            <a:off x="731520" y="1280160"/>
            <a:ext cx="10241280" cy="3429000"/>
          </a:xfrm>
          <a:prstGeom prst="rect">
            <a:avLst/>
          </a:prstGeom>
        </p:spPr>
      </p:pic>
      <p:sp>
        <p:nvSpPr>
          <p:cNvPr id="6" name="Text 3"/>
          <p:cNvSpPr/>
          <p:nvPr/>
        </p:nvSpPr>
        <p:spPr>
          <a:xfrm>
            <a:off x="1645920" y="5074920"/>
            <a:ext cx="8229600" cy="502920"/>
          </a:xfrm>
          <a:prstGeom prst="rect">
            <a:avLst/>
          </a:prstGeom>
          <a:noFill/>
          <a:ln/>
        </p:spPr>
        <p:txBody>
          <a:bodyPr wrap="square" lIns="0" tIns="0" rIns="0" bIns="0" rtlCol="0" anchor="ctr"/>
          <a:lstStyle/>
          <a:p>
            <a:pPr marL="0" indent="0" algn="ctr">
              <a:buNone/>
            </a:pPr>
            <a:r>
              <a:rPr lang="en-US" sz="2100" b="1" dirty="0">
                <a:solidFill>
                  <a:srgbClr val="00566B"/>
                </a:solidFill>
              </a:rPr>
              <a:t>Same test statistic. What changes is where “unusual” values lie.</a:t>
            </a:r>
            <a:endParaRPr lang="en-US" sz="2100" dirty="0"/>
          </a:p>
        </p:txBody>
      </p:sp>
      <p:sp>
        <p:nvSpPr>
          <p:cNvPr id="7" name="Text 4"/>
          <p:cNvSpPr/>
          <p:nvPr/>
        </p:nvSpPr>
        <p:spPr>
          <a:xfrm>
            <a:off x="1097280" y="5742432"/>
            <a:ext cx="9326880" cy="438912"/>
          </a:xfrm>
          <a:prstGeom prst="rect">
            <a:avLst/>
          </a:prstGeom>
          <a:noFill/>
          <a:ln/>
        </p:spPr>
        <p:txBody>
          <a:bodyPr wrap="square" lIns="0" tIns="0" rIns="0" bIns="0" rtlCol="0" anchor="ctr"/>
          <a:lstStyle/>
          <a:p>
            <a:pPr marL="0" indent="0" algn="ctr">
              <a:buNone/>
            </a:pPr>
            <a:r>
              <a:rPr lang="en-US" sz="1600" dirty="0">
                <a:solidFill>
                  <a:srgbClr val="64737A"/>
                </a:solidFill>
              </a:rPr>
              <a:t>In this course we will mostly use two-sided tests, but the supermarket question is naturally right-sided.</a:t>
            </a:r>
            <a:endParaRPr lang="en-US" sz="16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E7C82"/>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mnt/data/ch3_figs/three_tails.png">
            <a:extLst>
              <a:ext uri="{FF2B5EF4-FFF2-40B4-BE49-F238E27FC236}">
                <a16:creationId xmlns:a16="http://schemas.microsoft.com/office/drawing/2014/main" id="{2D120880-DD6F-F686-AA02-C739D4281A99}"/>
              </a:ext>
            </a:extLst>
          </p:cNvPr>
          <p:cNvPicPr>
            <a:picLocks noChangeAspect="1"/>
          </p:cNvPicPr>
          <p:nvPr/>
        </p:nvPicPr>
        <p:blipFill>
          <a:blip r:embed="rId2"/>
          <a:stretch>
            <a:fillRect/>
          </a:stretch>
        </p:blipFill>
        <p:spPr>
          <a:xfrm>
            <a:off x="556847" y="2317652"/>
            <a:ext cx="10241280" cy="3429000"/>
          </a:xfrm>
          <a:prstGeom prst="rect">
            <a:avLst/>
          </a:prstGeom>
        </p:spPr>
      </p:pic>
      <mc:AlternateContent xmlns:mc="http://schemas.openxmlformats.org/markup-compatibility/2006">
        <mc:Choice xmlns:a14="http://schemas.microsoft.com/office/drawing/2010/main" Requires="a14">
          <p:graphicFrame>
            <p:nvGraphicFramePr>
              <p:cNvPr id="2" name="Tabell 1">
                <a:extLst>
                  <a:ext uri="{FF2B5EF4-FFF2-40B4-BE49-F238E27FC236}">
                    <a16:creationId xmlns:a16="http://schemas.microsoft.com/office/drawing/2014/main" id="{5E35182D-DB71-400D-5C65-8DABE63767E7}"/>
                  </a:ext>
                </a:extLst>
              </p:cNvPr>
              <p:cNvGraphicFramePr>
                <a:graphicFrameLocks noGrp="1"/>
              </p:cNvGraphicFramePr>
              <p:nvPr>
                <p:extLst>
                  <p:ext uri="{D42A27DB-BD31-4B8C-83A1-F6EECF244321}">
                    <p14:modId xmlns:p14="http://schemas.microsoft.com/office/powerpoint/2010/main" val="447838333"/>
                  </p:ext>
                </p:extLst>
              </p:nvPr>
            </p:nvGraphicFramePr>
            <p:xfrm>
              <a:off x="486508" y="874193"/>
              <a:ext cx="10515600" cy="1793368"/>
            </p:xfrm>
            <a:graphic>
              <a:graphicData uri="http://schemas.openxmlformats.org/drawingml/2006/table">
                <a:tbl>
                  <a:tblPr>
                    <a:tableStyleId>{5C22544A-7EE6-4342-B048-85BDC9FD1C3A}</a:tableStyleId>
                  </a:tblPr>
                  <a:tblGrid>
                    <a:gridCol w="2103120">
                      <a:extLst>
                        <a:ext uri="{9D8B030D-6E8A-4147-A177-3AD203B41FA5}">
                          <a16:colId xmlns:a16="http://schemas.microsoft.com/office/drawing/2014/main" val="2557946815"/>
                        </a:ext>
                      </a:extLst>
                    </a:gridCol>
                    <a:gridCol w="1621888">
                      <a:extLst>
                        <a:ext uri="{9D8B030D-6E8A-4147-A177-3AD203B41FA5}">
                          <a16:colId xmlns:a16="http://schemas.microsoft.com/office/drawing/2014/main" val="176768322"/>
                        </a:ext>
                      </a:extLst>
                    </a:gridCol>
                    <a:gridCol w="2584352">
                      <a:extLst>
                        <a:ext uri="{9D8B030D-6E8A-4147-A177-3AD203B41FA5}">
                          <a16:colId xmlns:a16="http://schemas.microsoft.com/office/drawing/2014/main" val="1429696494"/>
                        </a:ext>
                      </a:extLst>
                    </a:gridCol>
                    <a:gridCol w="2103120">
                      <a:extLst>
                        <a:ext uri="{9D8B030D-6E8A-4147-A177-3AD203B41FA5}">
                          <a16:colId xmlns:a16="http://schemas.microsoft.com/office/drawing/2014/main" val="4125823728"/>
                        </a:ext>
                      </a:extLst>
                    </a:gridCol>
                    <a:gridCol w="2103120">
                      <a:extLst>
                        <a:ext uri="{9D8B030D-6E8A-4147-A177-3AD203B41FA5}">
                          <a16:colId xmlns:a16="http://schemas.microsoft.com/office/drawing/2014/main" val="4234190722"/>
                        </a:ext>
                      </a:extLst>
                    </a:gridCol>
                  </a:tblGrid>
                  <a:tr h="0">
                    <a:tc>
                      <a:txBody>
                        <a:bodyPr/>
                        <a:lstStyle/>
                        <a:p>
                          <a:pPr>
                            <a:buNone/>
                          </a:pPr>
                          <a:r>
                            <a:rPr lang="nb-NO"/>
                            <a:t>Test type</a:t>
                          </a:r>
                        </a:p>
                      </a:txBody>
                      <a:tcPr anchor="ctr"/>
                    </a:tc>
                    <a:tc>
                      <a:txBody>
                        <a:bodyPr/>
                        <a:lstStyle/>
                        <a:p>
                          <a:pPr>
                            <a:buNone/>
                          </a:pPr>
                          <a:r>
                            <a:rPr lang="nb-NO"/>
                            <a:t>Alternative hypothesis</a:t>
                          </a:r>
                        </a:p>
                      </a:txBody>
                      <a:tcPr anchor="ctr"/>
                    </a:tc>
                    <a:tc>
                      <a:txBody>
                        <a:bodyPr/>
                        <a:lstStyle/>
                        <a:p>
                          <a:pPr>
                            <a:buNone/>
                          </a:pPr>
                          <a:r>
                            <a:rPr lang="nb-NO"/>
                            <a:t>p-value in R</a:t>
                          </a:r>
                        </a:p>
                      </a:txBody>
                      <a:tcPr anchor="ctr"/>
                    </a:tc>
                    <a:tc>
                      <a:txBody>
                        <a:bodyPr/>
                        <a:lstStyle/>
                        <a:p>
                          <a:pPr>
                            <a:buNone/>
                          </a:pPr>
                          <a:r>
                            <a:rPr lang="nb-NO"/>
                            <a:t>Reject </a:t>
                          </a:r>
                          <a14:m>
                            <m:oMath xmlns:m="http://schemas.openxmlformats.org/officeDocument/2006/math">
                              <m:sSub>
                                <m:sSubPr>
                                  <m:ctrlPr>
                                    <a:rPr lang="nb-NO"/>
                                  </m:ctrlPr>
                                </m:sSubPr>
                                <m:e>
                                  <m:r>
                                    <a:rPr lang="nb-NO"/>
                                    <m:t>𝐻</m:t>
                                  </m:r>
                                </m:e>
                                <m:sub>
                                  <m:r>
                                    <a:rPr lang="nb-NO"/>
                                    <m:t>0</m:t>
                                  </m:r>
                                </m:sub>
                              </m:sSub>
                            </m:oMath>
                          </a14:m>
                          <a:r>
                            <a:rPr lang="nb-NO"/>
                            <a:t>when…</a:t>
                          </a:r>
                        </a:p>
                      </a:txBody>
                      <a:tcPr anchor="ctr"/>
                    </a:tc>
                    <a:tc>
                      <a:txBody>
                        <a:bodyPr/>
                        <a:lstStyle/>
                        <a:p>
                          <a:pPr>
                            <a:buNone/>
                          </a:pPr>
                          <a:r>
                            <a:rPr lang="nb-NO" dirty="0"/>
                            <a:t>Critical-</a:t>
                          </a:r>
                          <a:r>
                            <a:rPr lang="nb-NO" dirty="0" err="1"/>
                            <a:t>value</a:t>
                          </a:r>
                          <a:r>
                            <a:rPr lang="nb-NO" dirty="0"/>
                            <a:t> </a:t>
                          </a:r>
                          <a:r>
                            <a:rPr lang="nb-NO" dirty="0" err="1"/>
                            <a:t>rule</a:t>
                          </a:r>
                          <a:endParaRPr lang="nb-NO" dirty="0"/>
                        </a:p>
                      </a:txBody>
                      <a:tcPr anchor="ctr"/>
                    </a:tc>
                    <a:extLst>
                      <a:ext uri="{0D108BD9-81ED-4DB2-BD59-A6C34878D82A}">
                        <a16:rowId xmlns:a16="http://schemas.microsoft.com/office/drawing/2014/main" val="2357897600"/>
                      </a:ext>
                    </a:extLst>
                  </a:tr>
                  <a:tr h="0">
                    <a:tc>
                      <a:txBody>
                        <a:bodyPr/>
                        <a:lstStyle/>
                        <a:p>
                          <a:pPr>
                            <a:buNone/>
                          </a:pPr>
                          <a:r>
                            <a:rPr lang="nb-NO"/>
                            <a:t>Left-tail</a:t>
                          </a:r>
                        </a:p>
                      </a:txBody>
                      <a:tcPr anchor="ctr"/>
                    </a:tc>
                    <a:tc>
                      <a:txBody>
                        <a:bodyPr/>
                        <a:lstStyle/>
                        <a:p>
                          <a:pPr>
                            <a:buNone/>
                          </a:pPr>
                          <a14:m>
                            <m:oMathPara xmlns:m="http://schemas.openxmlformats.org/officeDocument/2006/math">
                              <m:oMath>
                                <m:sSub>
                                  <m:sSubPr>
                                    <m:ctrlPr>
                                      <a:rPr lang="nb-NO"/>
                                    </m:ctrlPr>
                                  </m:sSubPr>
                                  <m:e>
                                    <m:r>
                                      <a:rPr lang="nb-NO"/>
                                      <m:t>𝐻</m:t>
                                    </m:r>
                                  </m:e>
                                  <m:sub>
                                    <m:r>
                                      <a:rPr lang="nb-NO"/>
                                      <m:t>1</m:t>
                                    </m:r>
                                  </m:sub>
                                </m:sSub>
                                <m:r>
                                  <a:rPr lang="nb-NO"/>
                                  <m:t>:</m:t>
                                </m:r>
                                <m:r>
                                  <a:rPr lang="nb-NO"/>
                                  <m:t>𝛽</m:t>
                                </m:r>
                                <m:r>
                                  <a:rPr lang="nb-NO"/>
                                  <m:t>&lt;</m:t>
                                </m:r>
                                <m:r>
                                  <a:rPr lang="nb-NO"/>
                                  <m:t>𝑐</m:t>
                                </m:r>
                              </m:oMath>
                            </m:oMathPara>
                          </a14:m>
                          <a:endParaRPr lang="nb-NO"/>
                        </a:p>
                      </a:txBody>
                      <a:tcPr anchor="ctr"/>
                    </a:tc>
                    <a:tc>
                      <a:txBody>
                        <a:bodyPr/>
                        <a:lstStyle/>
                        <a:p>
                          <a:pPr>
                            <a:buNone/>
                          </a:pPr>
                          <a:r>
                            <a:rPr lang="nb-NO" i="1" dirty="0" err="1"/>
                            <a:t>pt</a:t>
                          </a:r>
                          <a:r>
                            <a:rPr lang="nb-NO" i="1" dirty="0"/>
                            <a:t>(</a:t>
                          </a:r>
                          <a:r>
                            <a:rPr lang="nb-NO" i="1" dirty="0" err="1"/>
                            <a:t>t_obs</a:t>
                          </a:r>
                          <a:r>
                            <a:rPr lang="nb-NO" i="1" dirty="0"/>
                            <a:t>, </a:t>
                          </a:r>
                          <a:r>
                            <a:rPr lang="nb-NO" i="1" dirty="0" err="1"/>
                            <a:t>df</a:t>
                          </a:r>
                          <a:r>
                            <a:rPr lang="nb-NO" i="1" dirty="0"/>
                            <a:t>)</a:t>
                          </a:r>
                        </a:p>
                      </a:txBody>
                      <a:tcPr anchor="ctr"/>
                    </a:tc>
                    <a:tc>
                      <a:txBody>
                        <a:bodyPr/>
                        <a:lstStyle/>
                        <a:p>
                          <a:pPr>
                            <a:buNone/>
                          </a:pPr>
                          <a14:m>
                            <m:oMathPara xmlns:m="http://schemas.openxmlformats.org/officeDocument/2006/math">
                              <m:oMath>
                                <m:r>
                                  <a:rPr lang="nb-NO"/>
                                  <m:t>𝑝</m:t>
                                </m:r>
                                <m:r>
                                  <a:rPr lang="nb-NO"/>
                                  <m:t>≤</m:t>
                                </m:r>
                                <m:r>
                                  <a:rPr lang="nb-NO"/>
                                  <m:t>𝛼</m:t>
                                </m:r>
                              </m:oMath>
                            </m:oMathPara>
                          </a14:m>
                          <a:endParaRPr lang="nb-NO" dirty="0"/>
                        </a:p>
                      </a:txBody>
                      <a:tcPr anchor="ctr"/>
                    </a:tc>
                    <a:tc>
                      <a:txBody>
                        <a:bodyPr/>
                        <a:lstStyle/>
                        <a:p>
                          <a:pPr>
                            <a:buNone/>
                          </a:pPr>
                          <a14:m>
                            <m:oMathPara xmlns:m="http://schemas.openxmlformats.org/officeDocument/2006/math">
                              <m:oMath>
                                <m:sSub>
                                  <m:sSubPr>
                                    <m:ctrlPr>
                                      <a:rPr lang="nb-NO"/>
                                    </m:ctrlPr>
                                  </m:sSubPr>
                                  <m:e>
                                    <m:r>
                                      <a:rPr lang="nb-NO"/>
                                      <m:t>𝑡</m:t>
                                    </m:r>
                                  </m:e>
                                  <m:sub>
                                    <m:r>
                                      <m:rPr>
                                        <m:nor/>
                                      </m:rPr>
                                      <a:rPr lang="nb-NO"/>
                                      <m:t>obs</m:t>
                                    </m:r>
                                  </m:sub>
                                </m:sSub>
                                <m:r>
                                  <a:rPr lang="nb-NO"/>
                                  <m:t>≤</m:t>
                                </m:r>
                                <m:sSub>
                                  <m:sSubPr>
                                    <m:ctrlPr>
                                      <a:rPr lang="nb-NO" b="0" i="1" smtClean="0">
                                        <a:latin typeface="Cambria Math" panose="02040503050406030204" pitchFamily="18" charset="0"/>
                                      </a:rPr>
                                    </m:ctrlPr>
                                  </m:sSubPr>
                                  <m:e>
                                    <m:r>
                                      <a:rPr lang="nb-NO" b="0" i="1" smtClean="0">
                                        <a:latin typeface="Cambria Math" panose="02040503050406030204" pitchFamily="18" charset="0"/>
                                      </a:rPr>
                                      <m:t>𝑡</m:t>
                                    </m:r>
                                  </m:e>
                                  <m:sub>
                                    <m:r>
                                      <a:rPr lang="nb-NO" b="0" i="1" smtClean="0">
                                        <a:latin typeface="Cambria Math" panose="02040503050406030204" pitchFamily="18" charset="0"/>
                                      </a:rPr>
                                      <m:t>𝑐</m:t>
                                    </m:r>
                                  </m:sub>
                                </m:sSub>
                              </m:oMath>
                            </m:oMathPara>
                          </a14:m>
                          <a:endParaRPr lang="nb-NO" dirty="0"/>
                        </a:p>
                      </a:txBody>
                      <a:tcPr anchor="ctr"/>
                    </a:tc>
                    <a:extLst>
                      <a:ext uri="{0D108BD9-81ED-4DB2-BD59-A6C34878D82A}">
                        <a16:rowId xmlns:a16="http://schemas.microsoft.com/office/drawing/2014/main" val="849687875"/>
                      </a:ext>
                    </a:extLst>
                  </a:tr>
                  <a:tr h="0">
                    <a:tc>
                      <a:txBody>
                        <a:bodyPr/>
                        <a:lstStyle/>
                        <a:p>
                          <a:pPr>
                            <a:buNone/>
                          </a:pPr>
                          <a:r>
                            <a:rPr lang="nb-NO"/>
                            <a:t>Right-tail</a:t>
                          </a:r>
                        </a:p>
                      </a:txBody>
                      <a:tcPr anchor="ctr"/>
                    </a:tc>
                    <a:tc>
                      <a:txBody>
                        <a:bodyPr/>
                        <a:lstStyle/>
                        <a:p>
                          <a:pPr>
                            <a:buNone/>
                          </a:pPr>
                          <a14:m>
                            <m:oMathPara xmlns:m="http://schemas.openxmlformats.org/officeDocument/2006/math">
                              <m:oMath>
                                <m:sSub>
                                  <m:sSubPr>
                                    <m:ctrlPr>
                                      <a:rPr lang="nb-NO"/>
                                    </m:ctrlPr>
                                  </m:sSubPr>
                                  <m:e>
                                    <m:r>
                                      <a:rPr lang="nb-NO"/>
                                      <m:t>𝐻</m:t>
                                    </m:r>
                                  </m:e>
                                  <m:sub>
                                    <m:r>
                                      <a:rPr lang="nb-NO"/>
                                      <m:t>1</m:t>
                                    </m:r>
                                  </m:sub>
                                </m:sSub>
                                <m:r>
                                  <a:rPr lang="nb-NO"/>
                                  <m:t>:</m:t>
                                </m:r>
                                <m:r>
                                  <a:rPr lang="nb-NO"/>
                                  <m:t>𝛽</m:t>
                                </m:r>
                                <m:r>
                                  <a:rPr lang="nb-NO"/>
                                  <m:t>&gt;</m:t>
                                </m:r>
                                <m:r>
                                  <a:rPr lang="nb-NO"/>
                                  <m:t>𝑐</m:t>
                                </m:r>
                              </m:oMath>
                            </m:oMathPara>
                          </a14:m>
                          <a:endParaRPr lang="nb-NO"/>
                        </a:p>
                      </a:txBody>
                      <a:tcPr anchor="ctr"/>
                    </a:tc>
                    <a:tc>
                      <a:txBody>
                        <a:bodyPr/>
                        <a:lstStyle/>
                        <a:p>
                          <a:pPr>
                            <a:buNone/>
                          </a:pPr>
                          <a:r>
                            <a:rPr lang="nb-NO" i="1" dirty="0"/>
                            <a:t>1 - </a:t>
                          </a:r>
                          <a:r>
                            <a:rPr lang="nb-NO" i="1" dirty="0" err="1"/>
                            <a:t>pt</a:t>
                          </a:r>
                          <a:r>
                            <a:rPr lang="nb-NO" i="1" dirty="0"/>
                            <a:t>(</a:t>
                          </a:r>
                          <a:r>
                            <a:rPr lang="nb-NO" i="1" dirty="0" err="1"/>
                            <a:t>t_obs</a:t>
                          </a:r>
                          <a:r>
                            <a:rPr lang="nb-NO" i="1" dirty="0"/>
                            <a:t>, </a:t>
                          </a:r>
                          <a:r>
                            <a:rPr lang="nb-NO" i="1" dirty="0" err="1"/>
                            <a:t>df</a:t>
                          </a:r>
                          <a:r>
                            <a:rPr lang="nb-NO" i="1" dirty="0"/>
                            <a:t>)</a:t>
                          </a:r>
                        </a:p>
                      </a:txBody>
                      <a:tcPr anchor="ctr"/>
                    </a:tc>
                    <a:tc>
                      <a:txBody>
                        <a:bodyPr/>
                        <a:lstStyle/>
                        <a:p>
                          <a:pPr>
                            <a:buNone/>
                          </a:pPr>
                          <a14:m>
                            <m:oMathPara xmlns:m="http://schemas.openxmlformats.org/officeDocument/2006/math">
                              <m:oMath>
                                <m:r>
                                  <a:rPr lang="nb-NO"/>
                                  <m:t>𝑝</m:t>
                                </m:r>
                                <m:r>
                                  <a:rPr lang="nb-NO"/>
                                  <m:t>≤</m:t>
                                </m:r>
                                <m:r>
                                  <a:rPr lang="nb-NO"/>
                                  <m:t>𝛼</m:t>
                                </m:r>
                              </m:oMath>
                            </m:oMathPara>
                          </a14:m>
                          <a:endParaRPr lang="nb-NO"/>
                        </a:p>
                      </a:txBody>
                      <a:tcPr anchor="ctr"/>
                    </a:tc>
                    <a:tc>
                      <a:txBody>
                        <a:bodyPr/>
                        <a:lstStyle/>
                        <a:p>
                          <a:pPr>
                            <a:buNone/>
                          </a:pPr>
                          <a14:m>
                            <m:oMathPara xmlns:m="http://schemas.openxmlformats.org/officeDocument/2006/math">
                              <m:oMath>
                                <m:sSub>
                                  <m:sSubPr>
                                    <m:ctrlPr>
                                      <a:rPr lang="nb-NO"/>
                                    </m:ctrlPr>
                                  </m:sSubPr>
                                  <m:e>
                                    <m:r>
                                      <a:rPr lang="nb-NO"/>
                                      <m:t>𝑡</m:t>
                                    </m:r>
                                  </m:e>
                                  <m:sub>
                                    <m:r>
                                      <m:rPr>
                                        <m:nor/>
                                      </m:rPr>
                                      <a:rPr lang="nb-NO"/>
                                      <m:t>obs</m:t>
                                    </m:r>
                                  </m:sub>
                                </m:sSub>
                                <m:r>
                                  <a:rPr lang="nb-NO"/>
                                  <m:t>≥</m:t>
                                </m:r>
                                <m:sSub>
                                  <m:sSubPr>
                                    <m:ctrlPr>
                                      <a:rPr lang="nb-NO" b="0" i="1" smtClean="0">
                                        <a:latin typeface="Cambria Math" panose="02040503050406030204" pitchFamily="18" charset="0"/>
                                      </a:rPr>
                                    </m:ctrlPr>
                                  </m:sSubPr>
                                  <m:e>
                                    <m:r>
                                      <a:rPr lang="nb-NO" b="0" i="1" smtClean="0">
                                        <a:latin typeface="Cambria Math" panose="02040503050406030204" pitchFamily="18" charset="0"/>
                                      </a:rPr>
                                      <m:t>𝑡</m:t>
                                    </m:r>
                                  </m:e>
                                  <m:sub>
                                    <m:r>
                                      <a:rPr lang="nb-NO" b="0" i="1" smtClean="0">
                                        <a:latin typeface="Cambria Math" panose="02040503050406030204" pitchFamily="18" charset="0"/>
                                      </a:rPr>
                                      <m:t>𝑐</m:t>
                                    </m:r>
                                  </m:sub>
                                </m:sSub>
                              </m:oMath>
                            </m:oMathPara>
                          </a14:m>
                          <a:endParaRPr lang="nb-NO" dirty="0"/>
                        </a:p>
                      </a:txBody>
                      <a:tcPr anchor="ctr"/>
                    </a:tc>
                    <a:extLst>
                      <a:ext uri="{0D108BD9-81ED-4DB2-BD59-A6C34878D82A}">
                        <a16:rowId xmlns:a16="http://schemas.microsoft.com/office/drawing/2014/main" val="1255600498"/>
                      </a:ext>
                    </a:extLst>
                  </a:tr>
                  <a:tr h="0">
                    <a:tc>
                      <a:txBody>
                        <a:bodyPr/>
                        <a:lstStyle/>
                        <a:p>
                          <a:pPr>
                            <a:buNone/>
                          </a:pPr>
                          <a:r>
                            <a:rPr lang="nb-NO"/>
                            <a:t>Two-tail</a:t>
                          </a:r>
                        </a:p>
                      </a:txBody>
                      <a:tcPr anchor="ctr"/>
                    </a:tc>
                    <a:tc>
                      <a:txBody>
                        <a:bodyPr/>
                        <a:lstStyle/>
                        <a:p>
                          <a:pPr>
                            <a:buNone/>
                          </a:pPr>
                          <a14:m>
                            <m:oMathPara xmlns:m="http://schemas.openxmlformats.org/officeDocument/2006/math">
                              <m:oMath>
                                <m:sSub>
                                  <m:sSubPr>
                                    <m:ctrlPr>
                                      <a:rPr lang="nb-NO"/>
                                    </m:ctrlPr>
                                  </m:sSubPr>
                                  <m:e>
                                    <m:r>
                                      <a:rPr lang="nb-NO"/>
                                      <m:t>𝐻</m:t>
                                    </m:r>
                                  </m:e>
                                  <m:sub>
                                    <m:r>
                                      <a:rPr lang="nb-NO"/>
                                      <m:t>1</m:t>
                                    </m:r>
                                  </m:sub>
                                </m:sSub>
                                <m:r>
                                  <a:rPr lang="nb-NO"/>
                                  <m:t>:</m:t>
                                </m:r>
                                <m:r>
                                  <a:rPr lang="nb-NO"/>
                                  <m:t>𝛽</m:t>
                                </m:r>
                                <m:r>
                                  <a:rPr lang="nb-NO"/>
                                  <m:t>≠</m:t>
                                </m:r>
                                <m:r>
                                  <a:rPr lang="nb-NO"/>
                                  <m:t>𝑐</m:t>
                                </m:r>
                              </m:oMath>
                            </m:oMathPara>
                          </a14:m>
                          <a:endParaRPr lang="nb-NO"/>
                        </a:p>
                      </a:txBody>
                      <a:tcPr anchor="ctr"/>
                    </a:tc>
                    <a:tc>
                      <a:txBody>
                        <a:bodyPr/>
                        <a:lstStyle/>
                        <a:p>
                          <a:pPr>
                            <a:buNone/>
                          </a:pPr>
                          <a:r>
                            <a:rPr lang="nb-NO" i="1" dirty="0"/>
                            <a:t>2 * (1 </a:t>
                          </a:r>
                          <a:r>
                            <a:rPr lang="nb-NO" i="1" dirty="0" err="1"/>
                            <a:t>pt</a:t>
                          </a:r>
                          <a:r>
                            <a:rPr lang="nb-NO" i="1" dirty="0"/>
                            <a:t>(abs(</a:t>
                          </a:r>
                          <a:r>
                            <a:rPr lang="nb-NO" i="1" dirty="0" err="1"/>
                            <a:t>t_obs</a:t>
                          </a:r>
                          <a:r>
                            <a:rPr lang="nb-NO" i="1" dirty="0"/>
                            <a:t>), </a:t>
                          </a:r>
                          <a:r>
                            <a:rPr lang="nb-NO" i="1" dirty="0" err="1"/>
                            <a:t>df</a:t>
                          </a:r>
                          <a:r>
                            <a:rPr lang="nb-NO" i="1" dirty="0"/>
                            <a:t>))</a:t>
                          </a:r>
                        </a:p>
                      </a:txBody>
                      <a:tcPr anchor="ctr"/>
                    </a:tc>
                    <a:tc>
                      <a:txBody>
                        <a:bodyPr/>
                        <a:lstStyle/>
                        <a:p>
                          <a:pPr>
                            <a:buNone/>
                          </a:pPr>
                          <a14:m>
                            <m:oMathPara xmlns:m="http://schemas.openxmlformats.org/officeDocument/2006/math">
                              <m:oMath>
                                <m:r>
                                  <a:rPr lang="nb-NO"/>
                                  <m:t>𝑝</m:t>
                                </m:r>
                                <m:r>
                                  <a:rPr lang="nb-NO"/>
                                  <m:t>≤</m:t>
                                </m:r>
                                <m:r>
                                  <a:rPr lang="nb-NO"/>
                                  <m:t>𝛼</m:t>
                                </m:r>
                              </m:oMath>
                            </m:oMathPara>
                          </a14:m>
                          <a:endParaRPr lang="nb-NO"/>
                        </a:p>
                      </a:txBody>
                      <a:tcPr anchor="ctr"/>
                    </a:tc>
                    <a:tc>
                      <a:txBody>
                        <a:bodyPr/>
                        <a:lstStyle/>
                        <a:p>
                          <a:pPr>
                            <a:buNone/>
                          </a:pPr>
                          <a14:m>
                            <m:oMathPara xmlns:m="http://schemas.openxmlformats.org/officeDocument/2006/math">
                              <m:oMath>
                                <m:d>
                                  <m:dPr>
                                    <m:begChr m:val="|"/>
                                    <m:endChr m:val="|"/>
                                    <m:ctrlPr>
                                      <a:rPr lang="nb-NO" i="1" smtClean="0">
                                        <a:latin typeface="Cambria Math" panose="02040503050406030204" pitchFamily="18" charset="0"/>
                                      </a:rPr>
                                    </m:ctrlPr>
                                  </m:dPr>
                                  <m:e>
                                    <m:sSub>
                                      <m:sSubPr>
                                        <m:ctrlPr>
                                          <a:rPr lang="nb-NO">
                                            <a:latin typeface="Cambria Math" panose="02040503050406030204" pitchFamily="18" charset="0"/>
                                          </a:rPr>
                                        </m:ctrlPr>
                                      </m:sSubPr>
                                      <m:e>
                                        <m:r>
                                          <a:rPr lang="nb-NO">
                                            <a:latin typeface="Cambria Math" panose="02040503050406030204" pitchFamily="18" charset="0"/>
                                          </a:rPr>
                                          <m:t>𝑡</m:t>
                                        </m:r>
                                      </m:e>
                                      <m:sub>
                                        <m:r>
                                          <m:rPr>
                                            <m:nor/>
                                          </m:rPr>
                                          <a:rPr lang="nb-NO" i="0"/>
                                          <m:t>obs</m:t>
                                        </m:r>
                                      </m:sub>
                                    </m:sSub>
                                  </m:e>
                                </m:d>
                                <m:r>
                                  <a:rPr lang="nb-NO" i="0" smtClean="0">
                                    <a:latin typeface="+mn-lt"/>
                                    <a:ea typeface="Cambria Math" panose="02040503050406030204" pitchFamily="18" charset="0"/>
                                  </a:rPr>
                                  <m:t>≥</m:t>
                                </m:r>
                                <m:sSub>
                                  <m:sSubPr>
                                    <m:ctrlPr>
                                      <a:rPr lang="nb-NO" b="0" i="1" smtClean="0">
                                        <a:latin typeface="Cambria Math" panose="02040503050406030204" pitchFamily="18" charset="0"/>
                                      </a:rPr>
                                    </m:ctrlPr>
                                  </m:sSubPr>
                                  <m:e>
                                    <m:r>
                                      <a:rPr lang="nb-NO" b="0" i="1" smtClean="0">
                                        <a:latin typeface="Cambria Math" panose="02040503050406030204" pitchFamily="18" charset="0"/>
                                      </a:rPr>
                                      <m:t>𝑡</m:t>
                                    </m:r>
                                  </m:e>
                                  <m:sub>
                                    <m:r>
                                      <a:rPr lang="nb-NO" b="0" i="1" smtClean="0">
                                        <a:latin typeface="Cambria Math" panose="02040503050406030204" pitchFamily="18" charset="0"/>
                                      </a:rPr>
                                      <m:t>𝑐</m:t>
                                    </m:r>
                                  </m:sub>
                                </m:sSub>
                              </m:oMath>
                            </m:oMathPara>
                          </a14:m>
                          <a:endParaRPr lang="nb-NO" dirty="0"/>
                        </a:p>
                      </a:txBody>
                      <a:tcPr anchor="ctr"/>
                    </a:tc>
                    <a:extLst>
                      <a:ext uri="{0D108BD9-81ED-4DB2-BD59-A6C34878D82A}">
                        <a16:rowId xmlns:a16="http://schemas.microsoft.com/office/drawing/2014/main" val="851425015"/>
                      </a:ext>
                    </a:extLst>
                  </a:tr>
                </a:tbl>
              </a:graphicData>
            </a:graphic>
          </p:graphicFrame>
        </mc:Choice>
        <mc:Fallback>
          <p:graphicFrame>
            <p:nvGraphicFramePr>
              <p:cNvPr id="2" name="Tabell 1">
                <a:extLst>
                  <a:ext uri="{FF2B5EF4-FFF2-40B4-BE49-F238E27FC236}">
                    <a16:creationId xmlns:a16="http://schemas.microsoft.com/office/drawing/2014/main" id="{5E35182D-DB71-400D-5C65-8DABE63767E7}"/>
                  </a:ext>
                </a:extLst>
              </p:cNvPr>
              <p:cNvGraphicFramePr>
                <a:graphicFrameLocks noGrp="1"/>
              </p:cNvGraphicFramePr>
              <p:nvPr>
                <p:extLst>
                  <p:ext uri="{D42A27DB-BD31-4B8C-83A1-F6EECF244321}">
                    <p14:modId xmlns:p14="http://schemas.microsoft.com/office/powerpoint/2010/main" val="447838333"/>
                  </p:ext>
                </p:extLst>
              </p:nvPr>
            </p:nvGraphicFramePr>
            <p:xfrm>
              <a:off x="486508" y="874193"/>
              <a:ext cx="10515600" cy="1793368"/>
            </p:xfrm>
            <a:graphic>
              <a:graphicData uri="http://schemas.openxmlformats.org/drawingml/2006/table">
                <a:tbl>
                  <a:tblPr>
                    <a:tableStyleId>{5C22544A-7EE6-4342-B048-85BDC9FD1C3A}</a:tableStyleId>
                  </a:tblPr>
                  <a:tblGrid>
                    <a:gridCol w="2103120">
                      <a:extLst>
                        <a:ext uri="{9D8B030D-6E8A-4147-A177-3AD203B41FA5}">
                          <a16:colId xmlns:a16="http://schemas.microsoft.com/office/drawing/2014/main" val="2557946815"/>
                        </a:ext>
                      </a:extLst>
                    </a:gridCol>
                    <a:gridCol w="1621888">
                      <a:extLst>
                        <a:ext uri="{9D8B030D-6E8A-4147-A177-3AD203B41FA5}">
                          <a16:colId xmlns:a16="http://schemas.microsoft.com/office/drawing/2014/main" val="176768322"/>
                        </a:ext>
                      </a:extLst>
                    </a:gridCol>
                    <a:gridCol w="2584352">
                      <a:extLst>
                        <a:ext uri="{9D8B030D-6E8A-4147-A177-3AD203B41FA5}">
                          <a16:colId xmlns:a16="http://schemas.microsoft.com/office/drawing/2014/main" val="1429696494"/>
                        </a:ext>
                      </a:extLst>
                    </a:gridCol>
                    <a:gridCol w="2103120">
                      <a:extLst>
                        <a:ext uri="{9D8B030D-6E8A-4147-A177-3AD203B41FA5}">
                          <a16:colId xmlns:a16="http://schemas.microsoft.com/office/drawing/2014/main" val="4125823728"/>
                        </a:ext>
                      </a:extLst>
                    </a:gridCol>
                    <a:gridCol w="2103120">
                      <a:extLst>
                        <a:ext uri="{9D8B030D-6E8A-4147-A177-3AD203B41FA5}">
                          <a16:colId xmlns:a16="http://schemas.microsoft.com/office/drawing/2014/main" val="4234190722"/>
                        </a:ext>
                      </a:extLst>
                    </a:gridCol>
                  </a:tblGrid>
                  <a:tr h="640080">
                    <a:tc>
                      <a:txBody>
                        <a:bodyPr/>
                        <a:lstStyle/>
                        <a:p>
                          <a:pPr>
                            <a:buNone/>
                          </a:pPr>
                          <a:r>
                            <a:rPr lang="nb-NO"/>
                            <a:t>Test type</a:t>
                          </a:r>
                        </a:p>
                      </a:txBody>
                      <a:tcPr anchor="ctr"/>
                    </a:tc>
                    <a:tc>
                      <a:txBody>
                        <a:bodyPr/>
                        <a:lstStyle/>
                        <a:p>
                          <a:pPr>
                            <a:buNone/>
                          </a:pPr>
                          <a:r>
                            <a:rPr lang="nb-NO"/>
                            <a:t>Alternative hypothesis</a:t>
                          </a:r>
                        </a:p>
                      </a:txBody>
                      <a:tcPr anchor="ctr"/>
                    </a:tc>
                    <a:tc>
                      <a:txBody>
                        <a:bodyPr/>
                        <a:lstStyle/>
                        <a:p>
                          <a:pPr>
                            <a:buNone/>
                          </a:pPr>
                          <a:r>
                            <a:rPr lang="nb-NO"/>
                            <a:t>p-value in R</a:t>
                          </a:r>
                        </a:p>
                      </a:txBody>
                      <a:tcPr anchor="ctr"/>
                    </a:tc>
                    <a:tc>
                      <a:txBody>
                        <a:bodyPr/>
                        <a:lstStyle/>
                        <a:p>
                          <a:endParaRPr lang="nb-NO"/>
                        </a:p>
                      </a:txBody>
                      <a:tcPr anchor="ctr">
                        <a:blipFill>
                          <a:blip r:embed="rId3"/>
                          <a:stretch>
                            <a:fillRect l="-300580" t="-3810" r="-100580" b="-194286"/>
                          </a:stretch>
                        </a:blipFill>
                      </a:tcPr>
                    </a:tc>
                    <a:tc>
                      <a:txBody>
                        <a:bodyPr/>
                        <a:lstStyle/>
                        <a:p>
                          <a:pPr>
                            <a:buNone/>
                          </a:pPr>
                          <a:r>
                            <a:rPr lang="nb-NO" dirty="0"/>
                            <a:t>Critical-</a:t>
                          </a:r>
                          <a:r>
                            <a:rPr lang="nb-NO" dirty="0" err="1"/>
                            <a:t>value</a:t>
                          </a:r>
                          <a:r>
                            <a:rPr lang="nb-NO" dirty="0"/>
                            <a:t> </a:t>
                          </a:r>
                          <a:r>
                            <a:rPr lang="nb-NO" dirty="0" err="1"/>
                            <a:t>rule</a:t>
                          </a:r>
                          <a:endParaRPr lang="nb-NO" dirty="0"/>
                        </a:p>
                      </a:txBody>
                      <a:tcPr anchor="ctr"/>
                    </a:tc>
                    <a:extLst>
                      <a:ext uri="{0D108BD9-81ED-4DB2-BD59-A6C34878D82A}">
                        <a16:rowId xmlns:a16="http://schemas.microsoft.com/office/drawing/2014/main" val="2357897600"/>
                      </a:ext>
                    </a:extLst>
                  </a:tr>
                  <a:tr h="376111">
                    <a:tc>
                      <a:txBody>
                        <a:bodyPr/>
                        <a:lstStyle/>
                        <a:p>
                          <a:pPr>
                            <a:buNone/>
                          </a:pPr>
                          <a:r>
                            <a:rPr lang="nb-NO"/>
                            <a:t>Left-tail</a:t>
                          </a:r>
                        </a:p>
                      </a:txBody>
                      <a:tcPr anchor="ctr"/>
                    </a:tc>
                    <a:tc>
                      <a:txBody>
                        <a:bodyPr/>
                        <a:lstStyle/>
                        <a:p>
                          <a:endParaRPr lang="nb-NO"/>
                        </a:p>
                      </a:txBody>
                      <a:tcPr anchor="ctr">
                        <a:blipFill>
                          <a:blip r:embed="rId3"/>
                          <a:stretch>
                            <a:fillRect l="-130075" t="-175806" r="-419925" b="-229032"/>
                          </a:stretch>
                        </a:blipFill>
                      </a:tcPr>
                    </a:tc>
                    <a:tc>
                      <a:txBody>
                        <a:bodyPr/>
                        <a:lstStyle/>
                        <a:p>
                          <a:pPr>
                            <a:buNone/>
                          </a:pPr>
                          <a:r>
                            <a:rPr lang="nb-NO" i="1" dirty="0" err="1"/>
                            <a:t>pt</a:t>
                          </a:r>
                          <a:r>
                            <a:rPr lang="nb-NO" i="1" dirty="0"/>
                            <a:t>(</a:t>
                          </a:r>
                          <a:r>
                            <a:rPr lang="nb-NO" i="1" dirty="0" err="1"/>
                            <a:t>t_obs</a:t>
                          </a:r>
                          <a:r>
                            <a:rPr lang="nb-NO" i="1" dirty="0"/>
                            <a:t>, </a:t>
                          </a:r>
                          <a:r>
                            <a:rPr lang="nb-NO" i="1" dirty="0" err="1"/>
                            <a:t>df</a:t>
                          </a:r>
                          <a:r>
                            <a:rPr lang="nb-NO" i="1" dirty="0"/>
                            <a:t>)</a:t>
                          </a:r>
                        </a:p>
                      </a:txBody>
                      <a:tcPr anchor="ctr"/>
                    </a:tc>
                    <a:tc>
                      <a:txBody>
                        <a:bodyPr/>
                        <a:lstStyle/>
                        <a:p>
                          <a:endParaRPr lang="nb-NO"/>
                        </a:p>
                      </a:txBody>
                      <a:tcPr anchor="ctr">
                        <a:blipFill>
                          <a:blip r:embed="rId3"/>
                          <a:stretch>
                            <a:fillRect l="-300580" t="-175806" r="-100580" b="-229032"/>
                          </a:stretch>
                        </a:blipFill>
                      </a:tcPr>
                    </a:tc>
                    <a:tc>
                      <a:txBody>
                        <a:bodyPr/>
                        <a:lstStyle/>
                        <a:p>
                          <a:endParaRPr lang="nb-NO"/>
                        </a:p>
                      </a:txBody>
                      <a:tcPr anchor="ctr">
                        <a:blipFill>
                          <a:blip r:embed="rId3"/>
                          <a:stretch>
                            <a:fillRect l="-400580" t="-175806" r="-580" b="-229032"/>
                          </a:stretch>
                        </a:blipFill>
                      </a:tcPr>
                    </a:tc>
                    <a:extLst>
                      <a:ext uri="{0D108BD9-81ED-4DB2-BD59-A6C34878D82A}">
                        <a16:rowId xmlns:a16="http://schemas.microsoft.com/office/drawing/2014/main" val="849687875"/>
                      </a:ext>
                    </a:extLst>
                  </a:tr>
                  <a:tr h="376111">
                    <a:tc>
                      <a:txBody>
                        <a:bodyPr/>
                        <a:lstStyle/>
                        <a:p>
                          <a:pPr>
                            <a:buNone/>
                          </a:pPr>
                          <a:r>
                            <a:rPr lang="nb-NO"/>
                            <a:t>Right-tail</a:t>
                          </a:r>
                        </a:p>
                      </a:txBody>
                      <a:tcPr anchor="ctr"/>
                    </a:tc>
                    <a:tc>
                      <a:txBody>
                        <a:bodyPr/>
                        <a:lstStyle/>
                        <a:p>
                          <a:endParaRPr lang="nb-NO"/>
                        </a:p>
                      </a:txBody>
                      <a:tcPr anchor="ctr">
                        <a:blipFill>
                          <a:blip r:embed="rId3"/>
                          <a:stretch>
                            <a:fillRect l="-130075" t="-275806" r="-419925" b="-129032"/>
                          </a:stretch>
                        </a:blipFill>
                      </a:tcPr>
                    </a:tc>
                    <a:tc>
                      <a:txBody>
                        <a:bodyPr/>
                        <a:lstStyle/>
                        <a:p>
                          <a:pPr>
                            <a:buNone/>
                          </a:pPr>
                          <a:r>
                            <a:rPr lang="nb-NO" i="1" dirty="0"/>
                            <a:t>1 - </a:t>
                          </a:r>
                          <a:r>
                            <a:rPr lang="nb-NO" i="1" dirty="0" err="1"/>
                            <a:t>pt</a:t>
                          </a:r>
                          <a:r>
                            <a:rPr lang="nb-NO" i="1" dirty="0"/>
                            <a:t>(</a:t>
                          </a:r>
                          <a:r>
                            <a:rPr lang="nb-NO" i="1" dirty="0" err="1"/>
                            <a:t>t_obs</a:t>
                          </a:r>
                          <a:r>
                            <a:rPr lang="nb-NO" i="1" dirty="0"/>
                            <a:t>, </a:t>
                          </a:r>
                          <a:r>
                            <a:rPr lang="nb-NO" i="1" dirty="0" err="1"/>
                            <a:t>df</a:t>
                          </a:r>
                          <a:r>
                            <a:rPr lang="nb-NO" i="1" dirty="0"/>
                            <a:t>)</a:t>
                          </a:r>
                        </a:p>
                      </a:txBody>
                      <a:tcPr anchor="ctr"/>
                    </a:tc>
                    <a:tc>
                      <a:txBody>
                        <a:bodyPr/>
                        <a:lstStyle/>
                        <a:p>
                          <a:endParaRPr lang="nb-NO"/>
                        </a:p>
                      </a:txBody>
                      <a:tcPr anchor="ctr">
                        <a:blipFill>
                          <a:blip r:embed="rId3"/>
                          <a:stretch>
                            <a:fillRect l="-300580" t="-275806" r="-100580" b="-129032"/>
                          </a:stretch>
                        </a:blipFill>
                      </a:tcPr>
                    </a:tc>
                    <a:tc>
                      <a:txBody>
                        <a:bodyPr/>
                        <a:lstStyle/>
                        <a:p>
                          <a:endParaRPr lang="nb-NO"/>
                        </a:p>
                      </a:txBody>
                      <a:tcPr anchor="ctr">
                        <a:blipFill>
                          <a:blip r:embed="rId3"/>
                          <a:stretch>
                            <a:fillRect l="-400580" t="-275806" r="-580" b="-129032"/>
                          </a:stretch>
                        </a:blipFill>
                      </a:tcPr>
                    </a:tc>
                    <a:extLst>
                      <a:ext uri="{0D108BD9-81ED-4DB2-BD59-A6C34878D82A}">
                        <a16:rowId xmlns:a16="http://schemas.microsoft.com/office/drawing/2014/main" val="1255600498"/>
                      </a:ext>
                    </a:extLst>
                  </a:tr>
                  <a:tr h="401066">
                    <a:tc>
                      <a:txBody>
                        <a:bodyPr/>
                        <a:lstStyle/>
                        <a:p>
                          <a:pPr>
                            <a:buNone/>
                          </a:pPr>
                          <a:r>
                            <a:rPr lang="nb-NO"/>
                            <a:t>Two-tail</a:t>
                          </a:r>
                        </a:p>
                      </a:txBody>
                      <a:tcPr anchor="ctr"/>
                    </a:tc>
                    <a:tc>
                      <a:txBody>
                        <a:bodyPr/>
                        <a:lstStyle/>
                        <a:p>
                          <a:endParaRPr lang="nb-NO"/>
                        </a:p>
                      </a:txBody>
                      <a:tcPr anchor="ctr">
                        <a:blipFill>
                          <a:blip r:embed="rId3"/>
                          <a:stretch>
                            <a:fillRect l="-130075" t="-353030" r="-419925" b="-21212"/>
                          </a:stretch>
                        </a:blipFill>
                      </a:tcPr>
                    </a:tc>
                    <a:tc>
                      <a:txBody>
                        <a:bodyPr/>
                        <a:lstStyle/>
                        <a:p>
                          <a:pPr>
                            <a:buNone/>
                          </a:pPr>
                          <a:r>
                            <a:rPr lang="nb-NO" i="1" dirty="0"/>
                            <a:t>2 * (1 </a:t>
                          </a:r>
                          <a:r>
                            <a:rPr lang="nb-NO" i="1" dirty="0" err="1"/>
                            <a:t>pt</a:t>
                          </a:r>
                          <a:r>
                            <a:rPr lang="nb-NO" i="1" dirty="0"/>
                            <a:t>(abs(</a:t>
                          </a:r>
                          <a:r>
                            <a:rPr lang="nb-NO" i="1" dirty="0" err="1"/>
                            <a:t>t_obs</a:t>
                          </a:r>
                          <a:r>
                            <a:rPr lang="nb-NO" i="1" dirty="0"/>
                            <a:t>), </a:t>
                          </a:r>
                          <a:r>
                            <a:rPr lang="nb-NO" i="1" dirty="0" err="1"/>
                            <a:t>df</a:t>
                          </a:r>
                          <a:r>
                            <a:rPr lang="nb-NO" i="1" dirty="0"/>
                            <a:t>))</a:t>
                          </a:r>
                        </a:p>
                      </a:txBody>
                      <a:tcPr anchor="ctr"/>
                    </a:tc>
                    <a:tc>
                      <a:txBody>
                        <a:bodyPr/>
                        <a:lstStyle/>
                        <a:p>
                          <a:endParaRPr lang="nb-NO"/>
                        </a:p>
                      </a:txBody>
                      <a:tcPr anchor="ctr">
                        <a:blipFill>
                          <a:blip r:embed="rId3"/>
                          <a:stretch>
                            <a:fillRect l="-300580" t="-353030" r="-100580" b="-21212"/>
                          </a:stretch>
                        </a:blipFill>
                      </a:tcPr>
                    </a:tc>
                    <a:tc>
                      <a:txBody>
                        <a:bodyPr/>
                        <a:lstStyle/>
                        <a:p>
                          <a:endParaRPr lang="nb-NO"/>
                        </a:p>
                      </a:txBody>
                      <a:tcPr anchor="ctr">
                        <a:blipFill>
                          <a:blip r:embed="rId3"/>
                          <a:stretch>
                            <a:fillRect l="-400580" t="-353030" r="-580" b="-21212"/>
                          </a:stretch>
                        </a:blipFill>
                      </a:tcPr>
                    </a:tc>
                    <a:extLst>
                      <a:ext uri="{0D108BD9-81ED-4DB2-BD59-A6C34878D82A}">
                        <a16:rowId xmlns:a16="http://schemas.microsoft.com/office/drawing/2014/main" val="851425015"/>
                      </a:ext>
                    </a:extLst>
                  </a:tr>
                </a:tbl>
              </a:graphicData>
            </a:graphic>
          </p:graphicFrame>
        </mc:Fallback>
      </mc:AlternateContent>
    </p:spTree>
    <p:extLst>
      <p:ext uri="{BB962C8B-B14F-4D97-AF65-F5344CB8AC3E}">
        <p14:creationId xmlns:p14="http://schemas.microsoft.com/office/powerpoint/2010/main" val="4844371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A USEFUL CONNECTION</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Two-sided tests and confidence intervals tell a consistent story</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Shape 3"/>
          <p:cNvSpPr/>
          <p:nvPr/>
        </p:nvSpPr>
        <p:spPr>
          <a:xfrm>
            <a:off x="1097280" y="1325880"/>
            <a:ext cx="4937760" cy="685800"/>
          </a:xfrm>
          <a:prstGeom prst="roundRect">
            <a:avLst>
              <a:gd name="adj" fmla="val 8000"/>
            </a:avLst>
          </a:prstGeom>
          <a:solidFill>
            <a:srgbClr val="DDF4F9"/>
          </a:solidFill>
          <a:ln w="12700">
            <a:solidFill>
              <a:srgbClr val="DDF4F9"/>
            </a:solidFill>
            <a:prstDash val="solid"/>
          </a:ln>
        </p:spPr>
        <p:txBody>
          <a:bodyPr/>
          <a:lstStyle/>
          <a:p>
            <a:endParaRPr lang="en-GB"/>
          </a:p>
        </p:txBody>
      </p:sp>
      <p:sp>
        <p:nvSpPr>
          <p:cNvPr id="6" name="Text 4"/>
          <p:cNvSpPr/>
          <p:nvPr/>
        </p:nvSpPr>
        <p:spPr>
          <a:xfrm>
            <a:off x="1207008" y="1389888"/>
            <a:ext cx="4718304" cy="557784"/>
          </a:xfrm>
          <a:prstGeom prst="rect">
            <a:avLst/>
          </a:prstGeom>
          <a:noFill/>
          <a:ln/>
        </p:spPr>
        <p:txBody>
          <a:bodyPr wrap="square" lIns="254" tIns="254" rIns="254" bIns="254" rtlCol="0" anchor="ctr">
            <a:normAutofit/>
          </a:bodyPr>
          <a:lstStyle/>
          <a:p>
            <a:pPr marL="0" indent="0" algn="ctr">
              <a:buNone/>
            </a:pPr>
            <a:r>
              <a:rPr lang="en-US" sz="2200" b="1" dirty="0">
                <a:solidFill>
                  <a:srgbClr val="00566B"/>
                </a:solidFill>
                <a:latin typeface="Cambria Math" pitchFamily="34" charset="0"/>
                <a:ea typeface="Cambria Math" pitchFamily="34" charset="-122"/>
                <a:cs typeface="Cambria Math" pitchFamily="34" charset="-120"/>
              </a:rPr>
              <a:t>H₀: β₂ = c    vs.    H₁: β₂ ≠ c</a:t>
            </a:r>
            <a:endParaRPr lang="en-US" sz="2200" dirty="0"/>
          </a:p>
        </p:txBody>
      </p:sp>
      <p:sp>
        <p:nvSpPr>
          <p:cNvPr id="7" name="Shape 5"/>
          <p:cNvSpPr/>
          <p:nvPr/>
        </p:nvSpPr>
        <p:spPr>
          <a:xfrm>
            <a:off x="1097280" y="2423160"/>
            <a:ext cx="3977640" cy="2011680"/>
          </a:xfrm>
          <a:prstGeom prst="roundRect">
            <a:avLst>
              <a:gd name="adj" fmla="val 3636"/>
            </a:avLst>
          </a:prstGeom>
          <a:solidFill>
            <a:srgbClr val="EFF9FB"/>
          </a:solidFill>
          <a:ln w="12700">
            <a:solidFill>
              <a:srgbClr val="EFF9FB"/>
            </a:solidFill>
            <a:prstDash val="solid"/>
          </a:ln>
        </p:spPr>
        <p:txBody>
          <a:bodyPr/>
          <a:lstStyle/>
          <a:p>
            <a:endParaRPr lang="en-GB"/>
          </a:p>
        </p:txBody>
      </p:sp>
      <p:sp>
        <p:nvSpPr>
          <p:cNvPr id="8" name="Text 6"/>
          <p:cNvSpPr/>
          <p:nvPr/>
        </p:nvSpPr>
        <p:spPr>
          <a:xfrm>
            <a:off x="1261872" y="2560320"/>
            <a:ext cx="3648456" cy="292608"/>
          </a:xfrm>
          <a:prstGeom prst="rect">
            <a:avLst/>
          </a:prstGeom>
          <a:noFill/>
          <a:ln/>
        </p:spPr>
        <p:txBody>
          <a:bodyPr wrap="square" lIns="0" tIns="0" rIns="0" bIns="0" rtlCol="0" anchor="ctr"/>
          <a:lstStyle/>
          <a:p>
            <a:pPr marL="0" indent="0" algn="ctr">
              <a:buNone/>
            </a:pPr>
            <a:r>
              <a:rPr lang="en-US" sz="1600" b="1" dirty="0">
                <a:solidFill>
                  <a:srgbClr val="00566B"/>
                </a:solidFill>
              </a:rPr>
              <a:t>If c is inside the 95% interval</a:t>
            </a:r>
            <a:endParaRPr lang="en-US" sz="1600" dirty="0"/>
          </a:p>
        </p:txBody>
      </p:sp>
      <p:sp>
        <p:nvSpPr>
          <p:cNvPr id="9" name="Text 7"/>
          <p:cNvSpPr/>
          <p:nvPr/>
        </p:nvSpPr>
        <p:spPr>
          <a:xfrm>
            <a:off x="1261872" y="2953512"/>
            <a:ext cx="3648456" cy="1325880"/>
          </a:xfrm>
          <a:prstGeom prst="rect">
            <a:avLst/>
          </a:prstGeom>
          <a:noFill/>
          <a:ln/>
        </p:spPr>
        <p:txBody>
          <a:bodyPr wrap="square" lIns="254" tIns="254" rIns="254" bIns="254" rtlCol="0" anchor="ctr"/>
          <a:lstStyle/>
          <a:p>
            <a:pPr marL="0" indent="0" algn="ctr">
              <a:buNone/>
            </a:pPr>
            <a:r>
              <a:rPr lang="en-US" sz="1400" dirty="0">
                <a:solidFill>
                  <a:srgbClr val="1F2D33"/>
                </a:solidFill>
              </a:rPr>
              <a:t>Fail to reject H₀</a:t>
            </a:r>
            <a:endParaRPr lang="en-US" sz="1400" dirty="0"/>
          </a:p>
          <a:p>
            <a:pPr marL="0" indent="0" algn="ctr">
              <a:buNone/>
            </a:pPr>
            <a:r>
              <a:rPr lang="en-US" sz="1400" dirty="0">
                <a:solidFill>
                  <a:srgbClr val="1F2D33"/>
                </a:solidFill>
              </a:rPr>
              <a:t>at α = 0.05</a:t>
            </a:r>
            <a:endParaRPr lang="en-US" sz="1400" dirty="0"/>
          </a:p>
        </p:txBody>
      </p:sp>
      <p:sp>
        <p:nvSpPr>
          <p:cNvPr id="10" name="Shape 8"/>
          <p:cNvSpPr/>
          <p:nvPr/>
        </p:nvSpPr>
        <p:spPr>
          <a:xfrm>
            <a:off x="6126480" y="2423160"/>
            <a:ext cx="3977640" cy="2011680"/>
          </a:xfrm>
          <a:prstGeom prst="roundRect">
            <a:avLst>
              <a:gd name="adj" fmla="val 3636"/>
            </a:avLst>
          </a:prstGeom>
          <a:solidFill>
            <a:srgbClr val="FFF1F2"/>
          </a:solidFill>
          <a:ln w="12700">
            <a:solidFill>
              <a:srgbClr val="FFF1F2"/>
            </a:solidFill>
            <a:prstDash val="solid"/>
          </a:ln>
        </p:spPr>
        <p:txBody>
          <a:bodyPr/>
          <a:lstStyle/>
          <a:p>
            <a:endParaRPr lang="en-GB"/>
          </a:p>
        </p:txBody>
      </p:sp>
      <p:sp>
        <p:nvSpPr>
          <p:cNvPr id="11" name="Text 9"/>
          <p:cNvSpPr/>
          <p:nvPr/>
        </p:nvSpPr>
        <p:spPr>
          <a:xfrm>
            <a:off x="6291072" y="2560320"/>
            <a:ext cx="3648456" cy="292608"/>
          </a:xfrm>
          <a:prstGeom prst="rect">
            <a:avLst/>
          </a:prstGeom>
          <a:noFill/>
          <a:ln/>
        </p:spPr>
        <p:txBody>
          <a:bodyPr wrap="square" lIns="0" tIns="0" rIns="0" bIns="0" rtlCol="0" anchor="ctr"/>
          <a:lstStyle/>
          <a:p>
            <a:pPr marL="0" indent="0" algn="ctr">
              <a:buNone/>
            </a:pPr>
            <a:r>
              <a:rPr lang="en-US" sz="1600" b="1" dirty="0">
                <a:solidFill>
                  <a:srgbClr val="D71920"/>
                </a:solidFill>
              </a:rPr>
              <a:t>If c is outside the 95% interval</a:t>
            </a:r>
            <a:endParaRPr lang="en-US" sz="1600" dirty="0"/>
          </a:p>
        </p:txBody>
      </p:sp>
      <p:sp>
        <p:nvSpPr>
          <p:cNvPr id="12" name="Text 10"/>
          <p:cNvSpPr/>
          <p:nvPr/>
        </p:nvSpPr>
        <p:spPr>
          <a:xfrm>
            <a:off x="6291072" y="2953512"/>
            <a:ext cx="3648456" cy="1325880"/>
          </a:xfrm>
          <a:prstGeom prst="rect">
            <a:avLst/>
          </a:prstGeom>
          <a:noFill/>
          <a:ln/>
        </p:spPr>
        <p:txBody>
          <a:bodyPr wrap="square" lIns="254" tIns="254" rIns="254" bIns="254" rtlCol="0" anchor="ctr"/>
          <a:lstStyle/>
          <a:p>
            <a:pPr marL="0" indent="0" algn="ctr">
              <a:buNone/>
            </a:pPr>
            <a:r>
              <a:rPr lang="en-US" sz="1400" dirty="0">
                <a:solidFill>
                  <a:srgbClr val="1F2D33"/>
                </a:solidFill>
              </a:rPr>
              <a:t>Reject H₀</a:t>
            </a:r>
            <a:endParaRPr lang="en-US" sz="1400" dirty="0"/>
          </a:p>
          <a:p>
            <a:pPr marL="0" indent="0" algn="ctr">
              <a:buNone/>
            </a:pPr>
            <a:r>
              <a:rPr lang="en-US" sz="1400" dirty="0">
                <a:solidFill>
                  <a:srgbClr val="1F2D33"/>
                </a:solidFill>
              </a:rPr>
              <a:t>at α = 0.05</a:t>
            </a:r>
            <a:endParaRPr lang="en-US" sz="1400" dirty="0"/>
          </a:p>
        </p:txBody>
      </p:sp>
      <p:sp>
        <p:nvSpPr>
          <p:cNvPr id="13" name="Text 11"/>
          <p:cNvSpPr/>
          <p:nvPr/>
        </p:nvSpPr>
        <p:spPr>
          <a:xfrm>
            <a:off x="1554480" y="5074920"/>
            <a:ext cx="8138160" cy="502920"/>
          </a:xfrm>
          <a:prstGeom prst="rect">
            <a:avLst/>
          </a:prstGeom>
          <a:noFill/>
          <a:ln/>
        </p:spPr>
        <p:txBody>
          <a:bodyPr wrap="square" lIns="0" tIns="0" rIns="0" bIns="0" rtlCol="0" anchor="ctr"/>
          <a:lstStyle/>
          <a:p>
            <a:pPr marL="0" indent="0" algn="ctr">
              <a:buNone/>
            </a:pPr>
            <a:r>
              <a:rPr lang="en-US" sz="1700" b="1" dirty="0">
                <a:solidFill>
                  <a:srgbClr val="64737A"/>
                </a:solidFill>
              </a:rPr>
              <a:t>This equivalence is for a two-sided 5% test and a 95% interval for the same parameter.</a:t>
            </a:r>
            <a:endParaRPr lang="en-US" sz="17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E7C82"/>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4206240" cy="256032"/>
          </a:xfrm>
          <a:prstGeom prst="rect">
            <a:avLst/>
          </a:prstGeom>
          <a:noFill/>
        </p:spPr>
        <p:txBody>
          <a:bodyPr wrap="none">
            <a:spAutoFit/>
          </a:bodyPr>
          <a:lstStyle/>
          <a:p>
            <a:pPr>
              <a:defRPr sz="900" b="1">
                <a:solidFill>
                  <a:srgbClr val="20B4D6"/>
                </a:solidFill>
              </a:defRPr>
            </a:pPr>
            <a:r>
              <a:t>HYPOTHESIS TESTING</a:t>
            </a:r>
          </a:p>
        </p:txBody>
      </p:sp>
      <p:sp>
        <p:nvSpPr>
          <p:cNvPr id="3" name="TextBox 2"/>
          <p:cNvSpPr txBox="1"/>
          <p:nvPr/>
        </p:nvSpPr>
        <p:spPr>
          <a:xfrm>
            <a:off x="548640" y="530352"/>
            <a:ext cx="10972800" cy="502920"/>
          </a:xfrm>
          <a:prstGeom prst="rect">
            <a:avLst/>
          </a:prstGeom>
          <a:noFill/>
        </p:spPr>
        <p:txBody>
          <a:bodyPr wrap="none">
            <a:spAutoFit/>
          </a:bodyPr>
          <a:lstStyle/>
          <a:p>
            <a:pPr>
              <a:defRPr sz="2600">
                <a:solidFill>
                  <a:srgbClr val="1F2D33"/>
                </a:solidFill>
              </a:defRPr>
            </a:pPr>
            <a:r>
              <a:t>Same null value — different question</a:t>
            </a:r>
          </a:p>
        </p:txBody>
      </p:sp>
      <p:sp>
        <p:nvSpPr>
          <p:cNvPr id="4" name="Rectangle 3"/>
          <p:cNvSpPr/>
          <p:nvPr/>
        </p:nvSpPr>
        <p:spPr>
          <a:xfrm>
            <a:off x="548640" y="1133856"/>
            <a:ext cx="10698480" cy="22860"/>
          </a:xfrm>
          <a:prstGeom prst="rect">
            <a:avLst/>
          </a:prstGeom>
          <a:solidFill>
            <a:srgbClr val="20B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77240" y="1645920"/>
            <a:ext cx="3840480" cy="3474720"/>
          </a:xfrm>
          <a:prstGeom prst="roundRect">
            <a:avLst/>
          </a:prstGeom>
          <a:solidFill>
            <a:srgbClr val="DDF4F9"/>
          </a:solidFill>
          <a:ln>
            <a:solidFill>
              <a:srgbClr val="DDF4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874519"/>
            <a:ext cx="3291840" cy="365760"/>
          </a:xfrm>
          <a:prstGeom prst="rect">
            <a:avLst/>
          </a:prstGeom>
          <a:noFill/>
        </p:spPr>
        <p:txBody>
          <a:bodyPr wrap="none">
            <a:spAutoFit/>
          </a:bodyPr>
          <a:lstStyle/>
          <a:p>
            <a:pPr>
              <a:defRPr sz="1800" b="1">
                <a:solidFill>
                  <a:srgbClr val="00566B"/>
                </a:solidFill>
              </a:defRPr>
            </a:pPr>
            <a:r>
              <a:t>Two-sided test</a:t>
            </a:r>
          </a:p>
        </p:txBody>
      </p:sp>
      <p:sp>
        <p:nvSpPr>
          <p:cNvPr id="7" name="TextBox 6"/>
          <p:cNvSpPr txBox="1"/>
          <p:nvPr/>
        </p:nvSpPr>
        <p:spPr>
          <a:xfrm>
            <a:off x="1005840" y="2331720"/>
            <a:ext cx="3200400" cy="320040"/>
          </a:xfrm>
          <a:prstGeom prst="rect">
            <a:avLst/>
          </a:prstGeom>
          <a:noFill/>
        </p:spPr>
        <p:txBody>
          <a:bodyPr wrap="none">
            <a:spAutoFit/>
          </a:bodyPr>
          <a:lstStyle/>
          <a:p>
            <a:pPr>
              <a:defRPr sz="2400" b="1">
                <a:solidFill>
                  <a:srgbClr val="1F2D33"/>
                </a:solidFill>
              </a:defRPr>
            </a:pPr>
            <a:r>
              <a:t>H₀: β₂ = 0.055</a:t>
            </a:r>
          </a:p>
        </p:txBody>
      </p:sp>
      <p:sp>
        <p:nvSpPr>
          <p:cNvPr id="8" name="TextBox 7"/>
          <p:cNvSpPr txBox="1"/>
          <p:nvPr/>
        </p:nvSpPr>
        <p:spPr>
          <a:xfrm>
            <a:off x="1005840" y="2880360"/>
            <a:ext cx="3200400" cy="320040"/>
          </a:xfrm>
          <a:prstGeom prst="rect">
            <a:avLst/>
          </a:prstGeom>
          <a:noFill/>
        </p:spPr>
        <p:txBody>
          <a:bodyPr wrap="none">
            <a:spAutoFit/>
          </a:bodyPr>
          <a:lstStyle/>
          <a:p>
            <a:pPr>
              <a:defRPr sz="2400" b="1">
                <a:solidFill>
                  <a:srgbClr val="D71920"/>
                </a:solidFill>
              </a:defRPr>
            </a:pPr>
            <a:r>
              <a:t>H₁: β₂ ≠ 0.055</a:t>
            </a:r>
          </a:p>
        </p:txBody>
      </p:sp>
      <p:sp>
        <p:nvSpPr>
          <p:cNvPr id="9" name="TextBox 8"/>
          <p:cNvSpPr txBox="1"/>
          <p:nvPr/>
        </p:nvSpPr>
        <p:spPr>
          <a:xfrm>
            <a:off x="1005840" y="3749039"/>
            <a:ext cx="3200400" cy="320040"/>
          </a:xfrm>
          <a:prstGeom prst="rect">
            <a:avLst/>
          </a:prstGeom>
          <a:noFill/>
        </p:spPr>
        <p:txBody>
          <a:bodyPr wrap="none">
            <a:spAutoFit/>
          </a:bodyPr>
          <a:lstStyle/>
          <a:p>
            <a:pPr>
              <a:defRPr sz="1600" b="0">
                <a:solidFill>
                  <a:srgbClr val="1F2D33"/>
                </a:solidFill>
              </a:defRPr>
            </a:pPr>
            <a:r>
              <a:t>We are now asking whether</a:t>
            </a:r>
          </a:p>
        </p:txBody>
      </p:sp>
      <p:sp>
        <p:nvSpPr>
          <p:cNvPr id="10" name="TextBox 9"/>
          <p:cNvSpPr txBox="1"/>
          <p:nvPr/>
        </p:nvSpPr>
        <p:spPr>
          <a:xfrm>
            <a:off x="1005840" y="4069080"/>
            <a:ext cx="3200400" cy="320040"/>
          </a:xfrm>
          <a:prstGeom prst="rect">
            <a:avLst/>
          </a:prstGeom>
          <a:noFill/>
        </p:spPr>
        <p:txBody>
          <a:bodyPr wrap="none">
            <a:spAutoFit/>
          </a:bodyPr>
          <a:lstStyle/>
          <a:p>
            <a:pPr>
              <a:defRPr sz="1600" b="0">
                <a:solidFill>
                  <a:srgbClr val="1F2D33"/>
                </a:solidFill>
              </a:defRPr>
            </a:pPr>
            <a:r>
              <a:t>the slope is different from 0.055</a:t>
            </a:r>
          </a:p>
        </p:txBody>
      </p:sp>
      <p:sp>
        <p:nvSpPr>
          <p:cNvPr id="11" name="TextBox 10"/>
          <p:cNvSpPr txBox="1"/>
          <p:nvPr/>
        </p:nvSpPr>
        <p:spPr>
          <a:xfrm>
            <a:off x="1005840" y="4389120"/>
            <a:ext cx="3200400" cy="320040"/>
          </a:xfrm>
          <a:prstGeom prst="rect">
            <a:avLst/>
          </a:prstGeom>
          <a:noFill/>
        </p:spPr>
        <p:txBody>
          <a:bodyPr wrap="none">
            <a:spAutoFit/>
          </a:bodyPr>
          <a:lstStyle/>
          <a:p>
            <a:pPr>
              <a:defRPr sz="1600" b="0">
                <a:solidFill>
                  <a:srgbClr val="1F2D33"/>
                </a:solidFill>
              </a:defRPr>
            </a:pPr>
            <a:r>
              <a:t>in either direction.</a:t>
            </a:r>
          </a:p>
        </p:txBody>
      </p:sp>
      <p:sp>
        <p:nvSpPr>
          <p:cNvPr id="12" name="Rounded Rectangle 11"/>
          <p:cNvSpPr/>
          <p:nvPr/>
        </p:nvSpPr>
        <p:spPr>
          <a:xfrm>
            <a:off x="4892040" y="1645920"/>
            <a:ext cx="6400800" cy="3849150"/>
          </a:xfrm>
          <a:prstGeom prst="roundRect">
            <a:avLst/>
          </a:prstGeom>
          <a:solidFill>
            <a:srgbClr val="F6F8F9"/>
          </a:solidFill>
          <a:ln>
            <a:solidFill>
              <a:srgbClr val="F6F8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12080" y="1874519"/>
            <a:ext cx="5760720" cy="365760"/>
          </a:xfrm>
          <a:prstGeom prst="rect">
            <a:avLst/>
          </a:prstGeom>
          <a:noFill/>
        </p:spPr>
        <p:txBody>
          <a:bodyPr wrap="none">
            <a:spAutoFit/>
          </a:bodyPr>
          <a:lstStyle/>
          <a:p>
            <a:pPr>
              <a:defRPr sz="1800" b="1">
                <a:solidFill>
                  <a:srgbClr val="00566B"/>
                </a:solidFill>
              </a:defRPr>
            </a:pPr>
            <a:r>
              <a:t>Observed estimate and test statistic</a:t>
            </a:r>
          </a:p>
        </p:txBody>
      </p:sp>
      <p:sp>
        <p:nvSpPr>
          <p:cNvPr id="14" name="TextBox 13"/>
          <p:cNvSpPr txBox="1"/>
          <p:nvPr/>
        </p:nvSpPr>
        <p:spPr>
          <a:xfrm>
            <a:off x="5257800" y="2377440"/>
            <a:ext cx="5577840" cy="320040"/>
          </a:xfrm>
          <a:prstGeom prst="rect">
            <a:avLst/>
          </a:prstGeom>
          <a:noFill/>
        </p:spPr>
        <p:txBody>
          <a:bodyPr wrap="none">
            <a:spAutoFit/>
          </a:bodyPr>
          <a:lstStyle/>
          <a:p>
            <a:pPr>
              <a:defRPr sz="2000" b="1">
                <a:solidFill>
                  <a:srgbClr val="1F2D33"/>
                </a:solidFill>
              </a:defRPr>
            </a:pPr>
            <a:r>
              <a:t>Observed estimate:  b₂ = 0.1021</a:t>
            </a:r>
          </a:p>
        </p:txBody>
      </p:sp>
      <p:sp>
        <p:nvSpPr>
          <p:cNvPr id="15" name="TextBox 14"/>
          <p:cNvSpPr txBox="1"/>
          <p:nvPr/>
        </p:nvSpPr>
        <p:spPr>
          <a:xfrm>
            <a:off x="5257800" y="2880360"/>
            <a:ext cx="5577840" cy="320040"/>
          </a:xfrm>
          <a:prstGeom prst="rect">
            <a:avLst/>
          </a:prstGeom>
          <a:noFill/>
        </p:spPr>
        <p:txBody>
          <a:bodyPr wrap="none">
            <a:spAutoFit/>
          </a:bodyPr>
          <a:lstStyle/>
          <a:p>
            <a:pPr>
              <a:defRPr sz="2000" b="1">
                <a:solidFill>
                  <a:srgbClr val="1F2D33"/>
                </a:solidFill>
              </a:defRPr>
            </a:pPr>
            <a:r>
              <a:t>Standard error:   se(b₂) = 0.0209</a:t>
            </a:r>
          </a:p>
        </p:txBody>
      </p:sp>
      <mc:AlternateContent xmlns:mc="http://schemas.openxmlformats.org/markup-compatibility/2006" xmlns:a14="http://schemas.microsoft.com/office/drawing/2010/main">
        <mc:Choice Requires="a14">
          <p:sp>
            <p:nvSpPr>
              <p:cNvPr id="16" name="TextBox 15"/>
              <p:cNvSpPr txBox="1"/>
              <p:nvPr/>
            </p:nvSpPr>
            <p:spPr>
              <a:xfrm>
                <a:off x="5445529" y="3319547"/>
                <a:ext cx="2806025" cy="801373"/>
              </a:xfrm>
              <a:prstGeom prst="rect">
                <a:avLst/>
              </a:prstGeom>
              <a:noFill/>
            </p:spPr>
            <p:txBody>
              <a:bodyPr wrap="none">
                <a:spAutoFit/>
              </a:bodyPr>
              <a:lstStyle/>
              <a:p>
                <a:pPr algn="ctr">
                  <a:defRPr sz="2300" b="1">
                    <a:solidFill>
                      <a:srgbClr val="D71920"/>
                    </a:solidFill>
                  </a:defRPr>
                </a:pPr>
                <a14:m>
                  <m:oMathPara xmlns:m="http://schemas.openxmlformats.org/officeDocument/2006/math">
                    <m:oMath>
                      <m:r>
                        <a:rPr lang="ar-AE" sz="2400" b="1" i="1">
                          <a:latin typeface="Cambria Math" panose="02040503050406030204" pitchFamily="18" charset="0"/>
                        </a:rPr>
                        <m:t>𝒕</m:t>
                      </m:r>
                      <m:r>
                        <a:rPr lang="ar-AE" sz="2400" b="1" i="1">
                          <a:latin typeface="Cambria Math" panose="02040503050406030204" pitchFamily="18" charset="0"/>
                        </a:rPr>
                        <m:t>=</m:t>
                      </m:r>
                      <m:f>
                        <m:fPr>
                          <m:ctrlPr>
                            <a:rPr lang="ar-AE" sz="2400" b="1" i="0" dirty="0"/>
                          </m:ctrlPr>
                        </m:fPr>
                        <m:num>
                          <m:r>
                            <m:rPr>
                              <m:nor/>
                            </m:rPr>
                            <a:rPr lang="ar-AE" sz="2400" b="1" i="0" dirty="0"/>
                            <m:t>0.0471</m:t>
                          </m:r>
                        </m:num>
                        <m:den>
                          <m:r>
                            <m:rPr>
                              <m:nor/>
                            </m:rPr>
                            <a:rPr lang="ar-AE" sz="2400" b="1" i="0" dirty="0"/>
                            <m:t>0.0209</m:t>
                          </m:r>
                        </m:den>
                      </m:f>
                      <m:r>
                        <a:rPr lang="ar-AE" sz="2400" b="1" i="1">
                          <a:latin typeface="Cambria Math" panose="02040503050406030204" pitchFamily="18" charset="0"/>
                          <a:ea typeface="Cambria Math" panose="02040503050406030204" pitchFamily="18" charset="0"/>
                        </a:rPr>
                        <m:t>≈</m:t>
                      </m:r>
                      <m:r>
                        <a:rPr lang="ar-AE" sz="2400" b="1" i="1">
                          <a:latin typeface="Cambria Math" panose="02040503050406030204" pitchFamily="18" charset="0"/>
                          <a:ea typeface="Cambria Math" panose="02040503050406030204" pitchFamily="18" charset="0"/>
                        </a:rPr>
                        <m:t>𝟐</m:t>
                      </m:r>
                      <m:r>
                        <a:rPr lang="ar-AE" sz="2400" b="1" i="1">
                          <a:latin typeface="Cambria Math" panose="02040503050406030204" pitchFamily="18" charset="0"/>
                          <a:ea typeface="Cambria Math" panose="02040503050406030204" pitchFamily="18" charset="0"/>
                        </a:rPr>
                        <m:t>.</m:t>
                      </m:r>
                      <m:r>
                        <a:rPr lang="ar-AE" sz="2400" b="1" i="1">
                          <a:latin typeface="Cambria Math" panose="02040503050406030204" pitchFamily="18" charset="0"/>
                          <a:ea typeface="Cambria Math" panose="02040503050406030204" pitchFamily="18" charset="0"/>
                        </a:rPr>
                        <m:t>𝟐𝟓</m:t>
                      </m:r>
                    </m:oMath>
                  </m:oMathPara>
                </a14:m>
                <a:endParaRPr lang="ar-AE" b="1" dirty="0"/>
              </a:p>
            </p:txBody>
          </p:sp>
        </mc:Choice>
        <mc:Fallback xmlns="">
          <p:sp>
            <p:nvSpPr>
              <p:cNvPr id="16" name="TextBox 15"/>
              <p:cNvSpPr txBox="1">
                <a:spLocks noRot="1" noChangeAspect="1" noMove="1" noResize="1" noEditPoints="1" noAdjustHandles="1" noChangeArrowheads="1" noChangeShapeType="1" noTextEdit="1"/>
              </p:cNvSpPr>
              <p:nvPr/>
            </p:nvSpPr>
            <p:spPr>
              <a:xfrm>
                <a:off x="5445529" y="3319547"/>
                <a:ext cx="2806025" cy="801373"/>
              </a:xfrm>
              <a:prstGeom prst="rect">
                <a:avLst/>
              </a:prstGeom>
              <a:blipFill>
                <a:blip r:embed="rId3"/>
                <a:stretch>
                  <a:fillRect/>
                </a:stretch>
              </a:blipFill>
            </p:spPr>
            <p:txBody>
              <a:bodyPr/>
              <a:lstStyle/>
              <a:p>
                <a:r>
                  <a:rPr lang="nb-NO">
                    <a:noFill/>
                  </a:rPr>
                  <a:t> </a:t>
                </a:r>
              </a:p>
            </p:txBody>
          </p:sp>
        </mc:Fallback>
      </mc:AlternateContent>
      <p:sp>
        <p:nvSpPr>
          <p:cNvPr id="17" name="TextBox 16"/>
          <p:cNvSpPr txBox="1"/>
          <p:nvPr/>
        </p:nvSpPr>
        <p:spPr>
          <a:xfrm>
            <a:off x="5257800" y="4297680"/>
            <a:ext cx="5577840" cy="320040"/>
          </a:xfrm>
          <a:prstGeom prst="rect">
            <a:avLst/>
          </a:prstGeom>
          <a:noFill/>
        </p:spPr>
        <p:txBody>
          <a:bodyPr wrap="none">
            <a:spAutoFit/>
          </a:bodyPr>
          <a:lstStyle/>
          <a:p>
            <a:pPr>
              <a:defRPr sz="1800" b="1">
                <a:solidFill>
                  <a:srgbClr val="00566B"/>
                </a:solidFill>
              </a:defRPr>
            </a:pPr>
            <a:r>
              <a:t>Same t-statistic as before.</a:t>
            </a:r>
          </a:p>
        </p:txBody>
      </p:sp>
      <p:sp>
        <p:nvSpPr>
          <p:cNvPr id="18" name="TextBox 17"/>
          <p:cNvSpPr txBox="1"/>
          <p:nvPr/>
        </p:nvSpPr>
        <p:spPr>
          <a:xfrm>
            <a:off x="5257800" y="4617720"/>
            <a:ext cx="5577840" cy="320040"/>
          </a:xfrm>
          <a:prstGeom prst="rect">
            <a:avLst/>
          </a:prstGeom>
          <a:noFill/>
        </p:spPr>
        <p:txBody>
          <a:bodyPr wrap="none">
            <a:spAutoFit/>
          </a:bodyPr>
          <a:lstStyle/>
          <a:p>
            <a:pPr>
              <a:defRPr sz="1600" b="0">
                <a:solidFill>
                  <a:srgbClr val="1F2D33"/>
                </a:solidFill>
              </a:defRPr>
            </a:pPr>
            <a:r>
              <a:t>What changes is the alternative hypothesis</a:t>
            </a:r>
          </a:p>
        </p:txBody>
      </p:sp>
      <p:sp>
        <p:nvSpPr>
          <p:cNvPr id="19" name="TextBox 18"/>
          <p:cNvSpPr txBox="1"/>
          <p:nvPr/>
        </p:nvSpPr>
        <p:spPr>
          <a:xfrm>
            <a:off x="5257800" y="4892040"/>
            <a:ext cx="5577840" cy="320040"/>
          </a:xfrm>
          <a:prstGeom prst="rect">
            <a:avLst/>
          </a:prstGeom>
          <a:noFill/>
        </p:spPr>
        <p:txBody>
          <a:bodyPr wrap="none">
            <a:spAutoFit/>
          </a:bodyPr>
          <a:lstStyle/>
          <a:p>
            <a:pPr>
              <a:defRPr sz="1600" b="0">
                <a:solidFill>
                  <a:srgbClr val="1F2D33"/>
                </a:solidFill>
              </a:defRPr>
            </a:pPr>
            <a:r>
              <a:t>and therefore where we look for unusual values.</a:t>
            </a:r>
          </a:p>
        </p:txBody>
      </p:sp>
      <p:sp>
        <p:nvSpPr>
          <p:cNvPr id="20" name="TextBox 19"/>
          <p:cNvSpPr txBox="1"/>
          <p:nvPr/>
        </p:nvSpPr>
        <p:spPr>
          <a:xfrm>
            <a:off x="566928" y="6437376"/>
            <a:ext cx="3657600" cy="182880"/>
          </a:xfrm>
          <a:prstGeom prst="rect">
            <a:avLst/>
          </a:prstGeom>
          <a:noFill/>
        </p:spPr>
        <p:txBody>
          <a:bodyPr wrap="none">
            <a:spAutoFit/>
          </a:bodyPr>
          <a:lstStyle/>
          <a:p>
            <a:pPr>
              <a:defRPr sz="800">
                <a:solidFill>
                  <a:srgbClr val="00566B"/>
                </a:solidFill>
              </a:defRPr>
            </a:pPr>
            <a:r>
              <a:t>SOK-3081  •  Chapter 3</a:t>
            </a:r>
          </a:p>
        </p:txBody>
      </p:sp>
      <p:sp>
        <p:nvSpPr>
          <p:cNvPr id="21" name="TextBox 20"/>
          <p:cNvSpPr txBox="1"/>
          <p:nvPr/>
        </p:nvSpPr>
        <p:spPr>
          <a:xfrm>
            <a:off x="11064240" y="6419088"/>
            <a:ext cx="457200" cy="201168"/>
          </a:xfrm>
          <a:prstGeom prst="rect">
            <a:avLst/>
          </a:prstGeom>
          <a:noFill/>
        </p:spPr>
        <p:txBody>
          <a:bodyPr wrap="none">
            <a:spAutoFit/>
          </a:bodyPr>
          <a:lstStyle/>
          <a:p>
            <a:pPr algn="r">
              <a:defRPr sz="800">
                <a:solidFill>
                  <a:srgbClr val="5A6469"/>
                </a:solidFill>
              </a:defRPr>
            </a:pPr>
            <a:r>
              <a:t>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4206240" cy="256032"/>
          </a:xfrm>
          <a:prstGeom prst="rect">
            <a:avLst/>
          </a:prstGeom>
          <a:noFill/>
        </p:spPr>
        <p:txBody>
          <a:bodyPr wrap="none">
            <a:spAutoFit/>
          </a:bodyPr>
          <a:lstStyle/>
          <a:p>
            <a:pPr>
              <a:defRPr sz="900" b="1">
                <a:solidFill>
                  <a:srgbClr val="20B4D6"/>
                </a:solidFill>
              </a:defRPr>
            </a:pPr>
            <a:r>
              <a:t>HYPOTHESIS TESTING</a:t>
            </a:r>
          </a:p>
        </p:txBody>
      </p:sp>
      <p:sp>
        <p:nvSpPr>
          <p:cNvPr id="3" name="TextBox 2"/>
          <p:cNvSpPr txBox="1"/>
          <p:nvPr/>
        </p:nvSpPr>
        <p:spPr>
          <a:xfrm>
            <a:off x="548640" y="530352"/>
            <a:ext cx="10972800" cy="502920"/>
          </a:xfrm>
          <a:prstGeom prst="rect">
            <a:avLst/>
          </a:prstGeom>
          <a:noFill/>
        </p:spPr>
        <p:txBody>
          <a:bodyPr wrap="none">
            <a:spAutoFit/>
          </a:bodyPr>
          <a:lstStyle/>
          <a:p>
            <a:pPr>
              <a:defRPr sz="2600">
                <a:solidFill>
                  <a:srgbClr val="1F2D33"/>
                </a:solidFill>
              </a:defRPr>
            </a:pPr>
            <a:r>
              <a:t>One-sided vs two-sided: what changes?</a:t>
            </a:r>
          </a:p>
        </p:txBody>
      </p:sp>
      <p:sp>
        <p:nvSpPr>
          <p:cNvPr id="4" name="Rectangle 3"/>
          <p:cNvSpPr/>
          <p:nvPr/>
        </p:nvSpPr>
        <p:spPr>
          <a:xfrm>
            <a:off x="548640" y="1133856"/>
            <a:ext cx="10698480" cy="22860"/>
          </a:xfrm>
          <a:prstGeom prst="rect">
            <a:avLst/>
          </a:prstGeom>
          <a:solidFill>
            <a:srgbClr val="20B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77240" y="1645920"/>
            <a:ext cx="4937760" cy="3611880"/>
          </a:xfrm>
          <a:prstGeom prst="roundRect">
            <a:avLst/>
          </a:prstGeom>
          <a:solidFill>
            <a:srgbClr val="DDF4F9"/>
          </a:solidFill>
          <a:ln>
            <a:solidFill>
              <a:srgbClr val="DDF4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874519"/>
            <a:ext cx="4480560" cy="347472"/>
          </a:xfrm>
          <a:prstGeom prst="rect">
            <a:avLst/>
          </a:prstGeom>
          <a:noFill/>
        </p:spPr>
        <p:txBody>
          <a:bodyPr wrap="none">
            <a:spAutoFit/>
          </a:bodyPr>
          <a:lstStyle/>
          <a:p>
            <a:pPr>
              <a:defRPr sz="1800" b="1">
                <a:solidFill>
                  <a:srgbClr val="00566B"/>
                </a:solidFill>
              </a:defRPr>
            </a:pPr>
            <a:r>
              <a:t>Right-tail test</a:t>
            </a:r>
          </a:p>
        </p:txBody>
      </p:sp>
      <p:sp>
        <p:nvSpPr>
          <p:cNvPr id="7" name="TextBox 6"/>
          <p:cNvSpPr txBox="1"/>
          <p:nvPr/>
        </p:nvSpPr>
        <p:spPr>
          <a:xfrm>
            <a:off x="1005840" y="2331720"/>
            <a:ext cx="4480560" cy="411480"/>
          </a:xfrm>
          <a:prstGeom prst="rect">
            <a:avLst/>
          </a:prstGeom>
          <a:noFill/>
        </p:spPr>
        <p:txBody>
          <a:bodyPr wrap="none">
            <a:spAutoFit/>
          </a:bodyPr>
          <a:lstStyle/>
          <a:p>
            <a:pPr>
              <a:defRPr sz="2400" b="1">
                <a:solidFill>
                  <a:srgbClr val="1F2D33"/>
                </a:solidFill>
              </a:defRPr>
            </a:pPr>
            <a:r>
              <a:t>H₁: β₂ &gt; 0.055</a:t>
            </a:r>
          </a:p>
        </p:txBody>
      </p:sp>
      <p:sp>
        <p:nvSpPr>
          <p:cNvPr id="8" name="TextBox 7"/>
          <p:cNvSpPr txBox="1"/>
          <p:nvPr/>
        </p:nvSpPr>
        <p:spPr>
          <a:xfrm>
            <a:off x="1005840" y="2926080"/>
            <a:ext cx="4526280" cy="384048"/>
          </a:xfrm>
          <a:prstGeom prst="rect">
            <a:avLst/>
          </a:prstGeom>
          <a:noFill/>
        </p:spPr>
        <p:txBody>
          <a:bodyPr wrap="none">
            <a:spAutoFit/>
          </a:bodyPr>
          <a:lstStyle/>
          <a:p>
            <a:pPr>
              <a:defRPr sz="1600" b="0">
                <a:solidFill>
                  <a:srgbClr val="1F2D33"/>
                </a:solidFill>
              </a:defRPr>
            </a:pPr>
            <a:r>
              <a:t>Evidence against H₀ is only in the right tail.</a:t>
            </a:r>
          </a:p>
        </p:txBody>
      </p:sp>
      <p:sp>
        <p:nvSpPr>
          <p:cNvPr id="9" name="TextBox 8"/>
          <p:cNvSpPr txBox="1"/>
          <p:nvPr/>
        </p:nvSpPr>
        <p:spPr>
          <a:xfrm>
            <a:off x="1005840" y="3703320"/>
            <a:ext cx="4526280" cy="384048"/>
          </a:xfrm>
          <a:prstGeom prst="rect">
            <a:avLst/>
          </a:prstGeom>
          <a:noFill/>
        </p:spPr>
        <p:txBody>
          <a:bodyPr wrap="none">
            <a:spAutoFit/>
          </a:bodyPr>
          <a:lstStyle/>
          <a:p>
            <a:pPr>
              <a:defRPr sz="1800" b="1">
                <a:solidFill>
                  <a:srgbClr val="00566B"/>
                </a:solidFill>
              </a:defRPr>
            </a:pPr>
            <a:r>
              <a:rPr dirty="0"/>
              <a:t>At α = 0.05:  </a:t>
            </a:r>
            <a:r>
              <a:rPr dirty="0" err="1"/>
              <a:t>t_c</a:t>
            </a:r>
            <a:r>
              <a:rPr dirty="0"/>
              <a:t> ≈ 1.686</a:t>
            </a:r>
          </a:p>
        </p:txBody>
      </p:sp>
      <p:sp>
        <p:nvSpPr>
          <p:cNvPr id="10" name="TextBox 9"/>
          <p:cNvSpPr txBox="1"/>
          <p:nvPr/>
        </p:nvSpPr>
        <p:spPr>
          <a:xfrm>
            <a:off x="1005840" y="4297680"/>
            <a:ext cx="4526280" cy="384048"/>
          </a:xfrm>
          <a:prstGeom prst="rect">
            <a:avLst/>
          </a:prstGeom>
          <a:noFill/>
        </p:spPr>
        <p:txBody>
          <a:bodyPr wrap="none">
            <a:spAutoFit/>
          </a:bodyPr>
          <a:lstStyle/>
          <a:p>
            <a:pPr>
              <a:defRPr sz="1800" b="1">
                <a:solidFill>
                  <a:srgbClr val="1F2D33"/>
                </a:solidFill>
              </a:defRPr>
            </a:pPr>
            <a:r>
              <a:rPr dirty="0"/>
              <a:t>Since 2.25 &gt; 1.686, reject H₀.</a:t>
            </a:r>
          </a:p>
        </p:txBody>
      </p:sp>
      <p:sp>
        <p:nvSpPr>
          <p:cNvPr id="11" name="Rounded Rectangle 10"/>
          <p:cNvSpPr/>
          <p:nvPr/>
        </p:nvSpPr>
        <p:spPr>
          <a:xfrm>
            <a:off x="6172200" y="1645920"/>
            <a:ext cx="4937760" cy="3611880"/>
          </a:xfrm>
          <a:prstGeom prst="roundRect">
            <a:avLst/>
          </a:prstGeom>
          <a:solidFill>
            <a:srgbClr val="FFF1F2"/>
          </a:solidFill>
          <a:ln>
            <a:solidFill>
              <a:srgbClr val="FFF1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874519"/>
            <a:ext cx="4480560" cy="347472"/>
          </a:xfrm>
          <a:prstGeom prst="rect">
            <a:avLst/>
          </a:prstGeom>
          <a:noFill/>
        </p:spPr>
        <p:txBody>
          <a:bodyPr wrap="none">
            <a:spAutoFit/>
          </a:bodyPr>
          <a:lstStyle/>
          <a:p>
            <a:pPr>
              <a:defRPr sz="1800" b="1">
                <a:solidFill>
                  <a:srgbClr val="D71920"/>
                </a:solidFill>
              </a:defRPr>
            </a:pPr>
            <a:r>
              <a:t>Two-sided test</a:t>
            </a:r>
          </a:p>
        </p:txBody>
      </p:sp>
      <p:sp>
        <p:nvSpPr>
          <p:cNvPr id="13" name="TextBox 12"/>
          <p:cNvSpPr txBox="1"/>
          <p:nvPr/>
        </p:nvSpPr>
        <p:spPr>
          <a:xfrm>
            <a:off x="6400800" y="2331720"/>
            <a:ext cx="4480560" cy="411480"/>
          </a:xfrm>
          <a:prstGeom prst="rect">
            <a:avLst/>
          </a:prstGeom>
          <a:noFill/>
        </p:spPr>
        <p:txBody>
          <a:bodyPr wrap="none">
            <a:spAutoFit/>
          </a:bodyPr>
          <a:lstStyle/>
          <a:p>
            <a:pPr>
              <a:defRPr sz="2400" b="1">
                <a:solidFill>
                  <a:srgbClr val="1F2D33"/>
                </a:solidFill>
              </a:defRPr>
            </a:pPr>
            <a:r>
              <a:t>H₁: β₂ ≠ 0.055</a:t>
            </a:r>
          </a:p>
        </p:txBody>
      </p:sp>
      <p:sp>
        <p:nvSpPr>
          <p:cNvPr id="14" name="TextBox 13"/>
          <p:cNvSpPr txBox="1"/>
          <p:nvPr/>
        </p:nvSpPr>
        <p:spPr>
          <a:xfrm>
            <a:off x="6400800" y="2926080"/>
            <a:ext cx="4526280" cy="384048"/>
          </a:xfrm>
          <a:prstGeom prst="rect">
            <a:avLst/>
          </a:prstGeom>
          <a:noFill/>
        </p:spPr>
        <p:txBody>
          <a:bodyPr wrap="none">
            <a:spAutoFit/>
          </a:bodyPr>
          <a:lstStyle/>
          <a:p>
            <a:pPr>
              <a:defRPr sz="1600" b="0">
                <a:solidFill>
                  <a:srgbClr val="1F2D33"/>
                </a:solidFill>
              </a:defRPr>
            </a:pPr>
            <a:r>
              <a:t>Evidence against H₀ can be in either tail.</a:t>
            </a:r>
          </a:p>
        </p:txBody>
      </p:sp>
      <p:sp>
        <p:nvSpPr>
          <p:cNvPr id="15" name="TextBox 14"/>
          <p:cNvSpPr txBox="1"/>
          <p:nvPr/>
        </p:nvSpPr>
        <p:spPr>
          <a:xfrm>
            <a:off x="6400800" y="3703320"/>
            <a:ext cx="4526280" cy="384048"/>
          </a:xfrm>
          <a:prstGeom prst="rect">
            <a:avLst/>
          </a:prstGeom>
          <a:noFill/>
        </p:spPr>
        <p:txBody>
          <a:bodyPr wrap="none">
            <a:spAutoFit/>
          </a:bodyPr>
          <a:lstStyle/>
          <a:p>
            <a:pPr>
              <a:defRPr sz="1800" b="1">
                <a:solidFill>
                  <a:srgbClr val="D71920"/>
                </a:solidFill>
              </a:defRPr>
            </a:pPr>
            <a:r>
              <a:t>At α = 0.05:  critical values ±2.024</a:t>
            </a:r>
          </a:p>
        </p:txBody>
      </p:sp>
      <p:sp>
        <p:nvSpPr>
          <p:cNvPr id="16" name="TextBox 15"/>
          <p:cNvSpPr txBox="1"/>
          <p:nvPr/>
        </p:nvSpPr>
        <p:spPr>
          <a:xfrm>
            <a:off x="6400800" y="4297680"/>
            <a:ext cx="4526280" cy="384048"/>
          </a:xfrm>
          <a:prstGeom prst="rect">
            <a:avLst/>
          </a:prstGeom>
          <a:noFill/>
        </p:spPr>
        <p:txBody>
          <a:bodyPr wrap="none">
            <a:spAutoFit/>
          </a:bodyPr>
          <a:lstStyle/>
          <a:p>
            <a:pPr>
              <a:defRPr sz="1800" b="1">
                <a:solidFill>
                  <a:srgbClr val="1F2D33"/>
                </a:solidFill>
              </a:defRPr>
            </a:pPr>
            <a:r>
              <a:rPr dirty="0"/>
              <a:t>Since |2.25| &gt; 2.024, reject H₀.</a:t>
            </a:r>
          </a:p>
        </p:txBody>
      </p:sp>
      <p:sp>
        <p:nvSpPr>
          <p:cNvPr id="17" name="Rounded Rectangle 16"/>
          <p:cNvSpPr/>
          <p:nvPr/>
        </p:nvSpPr>
        <p:spPr>
          <a:xfrm>
            <a:off x="137160" y="5486400"/>
            <a:ext cx="11921490" cy="658368"/>
          </a:xfrm>
          <a:prstGeom prst="roundRect">
            <a:avLst/>
          </a:prstGeom>
          <a:solidFill>
            <a:srgbClr val="F6F8F9"/>
          </a:solidFill>
          <a:ln>
            <a:solidFill>
              <a:srgbClr val="F6F8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25880" y="5641848"/>
            <a:ext cx="9555480" cy="292608"/>
          </a:xfrm>
          <a:prstGeom prst="rect">
            <a:avLst/>
          </a:prstGeom>
          <a:noFill/>
        </p:spPr>
        <p:txBody>
          <a:bodyPr wrap="none">
            <a:spAutoFit/>
          </a:bodyPr>
          <a:lstStyle/>
          <a:p>
            <a:pPr algn="ctr">
              <a:defRPr sz="1800" b="1">
                <a:solidFill>
                  <a:srgbClr val="1F2D33"/>
                </a:solidFill>
              </a:defRPr>
            </a:pPr>
            <a:r>
              <a:t>Takeaway: the test statistic does not change. The alternative hypothesis determines which tail — or tails — matter.</a:t>
            </a:r>
          </a:p>
        </p:txBody>
      </p:sp>
      <p:sp>
        <p:nvSpPr>
          <p:cNvPr id="19" name="TextBox 18"/>
          <p:cNvSpPr txBox="1"/>
          <p:nvPr/>
        </p:nvSpPr>
        <p:spPr>
          <a:xfrm>
            <a:off x="566928" y="6437376"/>
            <a:ext cx="3657600" cy="182880"/>
          </a:xfrm>
          <a:prstGeom prst="rect">
            <a:avLst/>
          </a:prstGeom>
          <a:noFill/>
        </p:spPr>
        <p:txBody>
          <a:bodyPr wrap="none">
            <a:spAutoFit/>
          </a:bodyPr>
          <a:lstStyle/>
          <a:p>
            <a:pPr>
              <a:defRPr sz="800">
                <a:solidFill>
                  <a:srgbClr val="00566B"/>
                </a:solidFill>
              </a:defRPr>
            </a:pPr>
            <a:r>
              <a:t>SOK-3081  •  Chapter 3</a:t>
            </a:r>
          </a:p>
        </p:txBody>
      </p:sp>
      <p:sp>
        <p:nvSpPr>
          <p:cNvPr id="20" name="TextBox 19"/>
          <p:cNvSpPr txBox="1"/>
          <p:nvPr/>
        </p:nvSpPr>
        <p:spPr>
          <a:xfrm>
            <a:off x="11064240" y="6419088"/>
            <a:ext cx="457200" cy="201168"/>
          </a:xfrm>
          <a:prstGeom prst="rect">
            <a:avLst/>
          </a:prstGeom>
          <a:noFill/>
        </p:spPr>
        <p:txBody>
          <a:bodyPr wrap="none">
            <a:spAutoFit/>
          </a:bodyPr>
          <a:lstStyle/>
          <a:p>
            <a:pPr algn="r">
              <a:defRPr sz="800">
                <a:solidFill>
                  <a:srgbClr val="5A6469"/>
                </a:solidFill>
              </a:defRPr>
            </a:pPr>
            <a:r>
              <a:t>2</a:t>
            </a:r>
          </a:p>
        </p:txBody>
      </p:sp>
      <p:sp>
        <p:nvSpPr>
          <p:cNvPr id="22" name="Ellipse 21">
            <a:extLst>
              <a:ext uri="{FF2B5EF4-FFF2-40B4-BE49-F238E27FC236}">
                <a16:creationId xmlns:a16="http://schemas.microsoft.com/office/drawing/2014/main" id="{A3910E89-9333-8E40-46A8-A99CACBE3E4F}"/>
              </a:ext>
            </a:extLst>
          </p:cNvPr>
          <p:cNvSpPr/>
          <p:nvPr/>
        </p:nvSpPr>
        <p:spPr>
          <a:xfrm>
            <a:off x="10467377" y="184198"/>
            <a:ext cx="1354914" cy="627398"/>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GB" dirty="0"/>
              <a:t>Lab 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7" name="Bilde 6">
            <a:extLst>
              <a:ext uri="{FF2B5EF4-FFF2-40B4-BE49-F238E27FC236}">
                <a16:creationId xmlns:a16="http://schemas.microsoft.com/office/drawing/2014/main" id="{BF7E5A0E-E117-CCD4-AD61-6304FD8BBD4A}"/>
              </a:ext>
            </a:extLst>
          </p:cNvPr>
          <p:cNvPicPr>
            <a:picLocks noChangeAspect="1"/>
          </p:cNvPicPr>
          <p:nvPr/>
        </p:nvPicPr>
        <p:blipFill>
          <a:blip r:embed="rId2"/>
          <a:stretch>
            <a:fillRect/>
          </a:stretch>
        </p:blipFill>
        <p:spPr>
          <a:xfrm>
            <a:off x="6253817" y="973626"/>
            <a:ext cx="5294715" cy="4910747"/>
          </a:xfrm>
          <a:prstGeom prst="rect">
            <a:avLst/>
          </a:prstGeom>
        </p:spPr>
      </p:pic>
      <p:pic>
        <p:nvPicPr>
          <p:cNvPr id="5" name="Bilde 4">
            <a:extLst>
              <a:ext uri="{FF2B5EF4-FFF2-40B4-BE49-F238E27FC236}">
                <a16:creationId xmlns:a16="http://schemas.microsoft.com/office/drawing/2014/main" id="{D4323394-3C2A-65E5-60CC-7952EA5536E1}"/>
              </a:ext>
            </a:extLst>
          </p:cNvPr>
          <p:cNvPicPr>
            <a:picLocks noChangeAspect="1"/>
          </p:cNvPicPr>
          <p:nvPr/>
        </p:nvPicPr>
        <p:blipFill>
          <a:blip r:embed="rId3"/>
          <a:stretch>
            <a:fillRect/>
          </a:stretch>
        </p:blipFill>
        <p:spPr>
          <a:xfrm>
            <a:off x="643467" y="973625"/>
            <a:ext cx="5294716" cy="4910748"/>
          </a:xfrm>
          <a:prstGeom prst="rect">
            <a:avLst/>
          </a:prstGeom>
        </p:spPr>
      </p:pic>
    </p:spTree>
    <p:extLst>
      <p:ext uri="{BB962C8B-B14F-4D97-AF65-F5344CB8AC3E}">
        <p14:creationId xmlns:p14="http://schemas.microsoft.com/office/powerpoint/2010/main" val="29548260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HYPOTHESIS TESTING</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A five-step routine</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Shape 3"/>
          <p:cNvSpPr/>
          <p:nvPr/>
        </p:nvSpPr>
        <p:spPr>
          <a:xfrm>
            <a:off x="914400" y="1234440"/>
            <a:ext cx="502920" cy="502920"/>
          </a:xfrm>
          <a:prstGeom prst="ellipse">
            <a:avLst/>
          </a:prstGeom>
          <a:solidFill>
            <a:srgbClr val="20B4D6"/>
          </a:solidFill>
          <a:ln w="12700">
            <a:solidFill>
              <a:srgbClr val="20B4D6"/>
            </a:solidFill>
            <a:prstDash val="solid"/>
          </a:ln>
        </p:spPr>
        <p:txBody>
          <a:bodyPr/>
          <a:lstStyle/>
          <a:p>
            <a:endParaRPr lang="en-GB"/>
          </a:p>
        </p:txBody>
      </p:sp>
      <p:sp>
        <p:nvSpPr>
          <p:cNvPr id="6" name="Text 4"/>
          <p:cNvSpPr/>
          <p:nvPr/>
        </p:nvSpPr>
        <p:spPr>
          <a:xfrm>
            <a:off x="914400" y="1307592"/>
            <a:ext cx="502920" cy="22860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7" name="Text 5"/>
          <p:cNvSpPr/>
          <p:nvPr/>
        </p:nvSpPr>
        <p:spPr>
          <a:xfrm>
            <a:off x="1691640" y="1261872"/>
            <a:ext cx="7863840" cy="411480"/>
          </a:xfrm>
          <a:prstGeom prst="rect">
            <a:avLst/>
          </a:prstGeom>
          <a:noFill/>
          <a:ln/>
        </p:spPr>
        <p:txBody>
          <a:bodyPr wrap="square" lIns="0" tIns="0" rIns="0" bIns="0" rtlCol="0" anchor="ctr"/>
          <a:lstStyle/>
          <a:p>
            <a:pPr marL="0" indent="0">
              <a:buNone/>
            </a:pPr>
            <a:r>
              <a:rPr lang="en-US" sz="2000" dirty="0">
                <a:solidFill>
                  <a:srgbClr val="1F2D33"/>
                </a:solidFill>
              </a:rPr>
              <a:t>State </a:t>
            </a:r>
            <a:r>
              <a:rPr lang="en-US" sz="2000" i="1" dirty="0">
                <a:solidFill>
                  <a:srgbClr val="1F2D33"/>
                </a:solidFill>
              </a:rPr>
              <a:t>H₀ </a:t>
            </a:r>
            <a:r>
              <a:rPr lang="en-US" sz="2000" dirty="0">
                <a:solidFill>
                  <a:srgbClr val="1F2D33"/>
                </a:solidFill>
              </a:rPr>
              <a:t>and </a:t>
            </a:r>
            <a:r>
              <a:rPr lang="en-US" sz="2000" i="1" dirty="0">
                <a:solidFill>
                  <a:srgbClr val="1F2D33"/>
                </a:solidFill>
              </a:rPr>
              <a:t>H₁</a:t>
            </a:r>
            <a:endParaRPr lang="en-US" sz="2000" i="1" dirty="0"/>
          </a:p>
        </p:txBody>
      </p:sp>
      <p:sp>
        <p:nvSpPr>
          <p:cNvPr id="8" name="Shape 6"/>
          <p:cNvSpPr/>
          <p:nvPr/>
        </p:nvSpPr>
        <p:spPr>
          <a:xfrm>
            <a:off x="914400" y="2112264"/>
            <a:ext cx="502920" cy="502920"/>
          </a:xfrm>
          <a:prstGeom prst="ellipse">
            <a:avLst/>
          </a:prstGeom>
          <a:solidFill>
            <a:srgbClr val="20B4D6"/>
          </a:solidFill>
          <a:ln w="12700">
            <a:solidFill>
              <a:srgbClr val="20B4D6"/>
            </a:solidFill>
            <a:prstDash val="solid"/>
          </a:ln>
        </p:spPr>
        <p:txBody>
          <a:bodyPr/>
          <a:lstStyle/>
          <a:p>
            <a:endParaRPr lang="en-GB"/>
          </a:p>
        </p:txBody>
      </p:sp>
      <p:sp>
        <p:nvSpPr>
          <p:cNvPr id="9" name="Text 7"/>
          <p:cNvSpPr/>
          <p:nvPr/>
        </p:nvSpPr>
        <p:spPr>
          <a:xfrm>
            <a:off x="914400" y="2185416"/>
            <a:ext cx="502920" cy="22860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0" name="Text 8"/>
          <p:cNvSpPr/>
          <p:nvPr/>
        </p:nvSpPr>
        <p:spPr>
          <a:xfrm>
            <a:off x="1691640" y="2139696"/>
            <a:ext cx="7863840" cy="411480"/>
          </a:xfrm>
          <a:prstGeom prst="rect">
            <a:avLst/>
          </a:prstGeom>
          <a:noFill/>
          <a:ln/>
        </p:spPr>
        <p:txBody>
          <a:bodyPr wrap="square" lIns="0" tIns="0" rIns="0" bIns="0" rtlCol="0" anchor="ctr"/>
          <a:lstStyle/>
          <a:p>
            <a:pPr marL="0" indent="0">
              <a:buNone/>
            </a:pPr>
            <a:r>
              <a:rPr lang="en-US" sz="2000" dirty="0">
                <a:solidFill>
                  <a:srgbClr val="1F2D33"/>
                </a:solidFill>
              </a:rPr>
              <a:t>Calculate the test statistic</a:t>
            </a:r>
            <a:endParaRPr lang="en-US" sz="2000" dirty="0"/>
          </a:p>
        </p:txBody>
      </p:sp>
      <p:sp>
        <p:nvSpPr>
          <p:cNvPr id="11" name="Shape 9"/>
          <p:cNvSpPr/>
          <p:nvPr/>
        </p:nvSpPr>
        <p:spPr>
          <a:xfrm>
            <a:off x="914400" y="2990088"/>
            <a:ext cx="502920" cy="502920"/>
          </a:xfrm>
          <a:prstGeom prst="ellipse">
            <a:avLst/>
          </a:prstGeom>
          <a:solidFill>
            <a:srgbClr val="20B4D6"/>
          </a:solidFill>
          <a:ln w="12700">
            <a:solidFill>
              <a:srgbClr val="20B4D6"/>
            </a:solidFill>
            <a:prstDash val="solid"/>
          </a:ln>
        </p:spPr>
        <p:txBody>
          <a:bodyPr/>
          <a:lstStyle/>
          <a:p>
            <a:endParaRPr lang="en-GB"/>
          </a:p>
        </p:txBody>
      </p:sp>
      <p:sp>
        <p:nvSpPr>
          <p:cNvPr id="12" name="Text 10"/>
          <p:cNvSpPr/>
          <p:nvPr/>
        </p:nvSpPr>
        <p:spPr>
          <a:xfrm>
            <a:off x="914400" y="3063240"/>
            <a:ext cx="502920" cy="22860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mc:AlternateContent xmlns:mc="http://schemas.openxmlformats.org/markup-compatibility/2006" xmlns:a14="http://schemas.microsoft.com/office/drawing/2010/main">
        <mc:Choice Requires="a14">
          <p:sp>
            <p:nvSpPr>
              <p:cNvPr id="13" name="Text 11"/>
              <p:cNvSpPr/>
              <p:nvPr/>
            </p:nvSpPr>
            <p:spPr>
              <a:xfrm>
                <a:off x="1691640" y="3017520"/>
                <a:ext cx="7863840" cy="411480"/>
              </a:xfrm>
              <a:prstGeom prst="rect">
                <a:avLst/>
              </a:prstGeom>
              <a:noFill/>
              <a:ln/>
            </p:spPr>
            <p:txBody>
              <a:bodyPr wrap="square" lIns="0" tIns="0" rIns="0" bIns="0" rtlCol="0" anchor="ctr"/>
              <a:lstStyle/>
              <a:p>
                <a:pPr marL="0" indent="0">
                  <a:buNone/>
                </a:pPr>
                <a:r>
                  <a:rPr lang="en-US" sz="2000" dirty="0">
                    <a:solidFill>
                      <a:srgbClr val="1F2D33"/>
                    </a:solidFill>
                  </a:rPr>
                  <a:t>Choose </a:t>
                </a:r>
                <a14:m>
                  <m:oMath xmlns:m="http://schemas.openxmlformats.org/officeDocument/2006/math">
                    <m:r>
                      <a:rPr lang="en-US" sz="2000" i="1" smtClean="0">
                        <a:solidFill>
                          <a:srgbClr val="1F2D33"/>
                        </a:solidFill>
                        <a:latin typeface="Cambria Math" panose="02040503050406030204" pitchFamily="18" charset="0"/>
                        <a:ea typeface="Cambria Math" panose="02040503050406030204" pitchFamily="18" charset="0"/>
                      </a:rPr>
                      <m:t>∝</m:t>
                    </m:r>
                  </m:oMath>
                </a14:m>
                <a:r>
                  <a:rPr lang="en-US" sz="2000" dirty="0">
                    <a:solidFill>
                      <a:srgbClr val="1F2D33"/>
                    </a:solidFill>
                  </a:rPr>
                  <a:t> and the relevant tail(s)</a:t>
                </a:r>
                <a:endParaRPr lang="en-US" sz="2000" dirty="0"/>
              </a:p>
            </p:txBody>
          </p:sp>
        </mc:Choice>
        <mc:Fallback xmlns="">
          <p:sp>
            <p:nvSpPr>
              <p:cNvPr id="13" name="Text 11"/>
              <p:cNvSpPr>
                <a:spLocks noRot="1" noChangeAspect="1" noMove="1" noResize="1" noEditPoints="1" noAdjustHandles="1" noChangeArrowheads="1" noChangeShapeType="1" noTextEdit="1"/>
              </p:cNvSpPr>
              <p:nvPr/>
            </p:nvSpPr>
            <p:spPr>
              <a:xfrm>
                <a:off x="1691640" y="3017520"/>
                <a:ext cx="7863840" cy="411480"/>
              </a:xfrm>
              <a:prstGeom prst="rect">
                <a:avLst/>
              </a:prstGeom>
              <a:blipFill>
                <a:blip r:embed="rId3"/>
                <a:stretch>
                  <a:fillRect l="-2016" t="-4412" b="-25000"/>
                </a:stretch>
              </a:blipFill>
              <a:ln/>
            </p:spPr>
            <p:txBody>
              <a:bodyPr/>
              <a:lstStyle/>
              <a:p>
                <a:r>
                  <a:rPr lang="en-GB">
                    <a:noFill/>
                  </a:rPr>
                  <a:t> </a:t>
                </a:r>
              </a:p>
            </p:txBody>
          </p:sp>
        </mc:Fallback>
      </mc:AlternateContent>
      <p:sp>
        <p:nvSpPr>
          <p:cNvPr id="14" name="Shape 12"/>
          <p:cNvSpPr/>
          <p:nvPr/>
        </p:nvSpPr>
        <p:spPr>
          <a:xfrm>
            <a:off x="914400" y="3867912"/>
            <a:ext cx="502920" cy="502920"/>
          </a:xfrm>
          <a:prstGeom prst="ellipse">
            <a:avLst/>
          </a:prstGeom>
          <a:solidFill>
            <a:srgbClr val="20B4D6"/>
          </a:solidFill>
          <a:ln w="12700">
            <a:solidFill>
              <a:srgbClr val="20B4D6"/>
            </a:solidFill>
            <a:prstDash val="solid"/>
          </a:ln>
        </p:spPr>
        <p:txBody>
          <a:bodyPr/>
          <a:lstStyle/>
          <a:p>
            <a:endParaRPr lang="en-GB"/>
          </a:p>
        </p:txBody>
      </p:sp>
      <p:sp>
        <p:nvSpPr>
          <p:cNvPr id="15" name="Text 13"/>
          <p:cNvSpPr/>
          <p:nvPr/>
        </p:nvSpPr>
        <p:spPr>
          <a:xfrm>
            <a:off x="914400" y="3941064"/>
            <a:ext cx="502920" cy="22860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16" name="Text 14"/>
          <p:cNvSpPr/>
          <p:nvPr/>
        </p:nvSpPr>
        <p:spPr>
          <a:xfrm>
            <a:off x="1691640" y="3895344"/>
            <a:ext cx="7863840" cy="411480"/>
          </a:xfrm>
          <a:prstGeom prst="rect">
            <a:avLst/>
          </a:prstGeom>
          <a:noFill/>
          <a:ln/>
        </p:spPr>
        <p:txBody>
          <a:bodyPr wrap="square" lIns="0" tIns="0" rIns="0" bIns="0" rtlCol="0" anchor="ctr"/>
          <a:lstStyle/>
          <a:p>
            <a:pPr marL="0" indent="0">
              <a:buNone/>
            </a:pPr>
            <a:r>
              <a:rPr lang="en-US" sz="2000" dirty="0">
                <a:solidFill>
                  <a:srgbClr val="1F2D33"/>
                </a:solidFill>
              </a:rPr>
              <a:t>Compare with a critical value or p-value</a:t>
            </a:r>
            <a:endParaRPr lang="en-US" sz="2000" dirty="0"/>
          </a:p>
        </p:txBody>
      </p:sp>
      <p:sp>
        <p:nvSpPr>
          <p:cNvPr id="17" name="Shape 15"/>
          <p:cNvSpPr/>
          <p:nvPr/>
        </p:nvSpPr>
        <p:spPr>
          <a:xfrm>
            <a:off x="914400" y="4745736"/>
            <a:ext cx="502920" cy="502920"/>
          </a:xfrm>
          <a:prstGeom prst="ellipse">
            <a:avLst/>
          </a:prstGeom>
          <a:solidFill>
            <a:srgbClr val="D71920"/>
          </a:solidFill>
          <a:ln w="12700">
            <a:solidFill>
              <a:srgbClr val="D71920"/>
            </a:solidFill>
            <a:prstDash val="solid"/>
          </a:ln>
        </p:spPr>
        <p:txBody>
          <a:bodyPr/>
          <a:lstStyle/>
          <a:p>
            <a:endParaRPr lang="en-GB"/>
          </a:p>
        </p:txBody>
      </p:sp>
      <p:sp>
        <p:nvSpPr>
          <p:cNvPr id="18" name="Text 16"/>
          <p:cNvSpPr/>
          <p:nvPr/>
        </p:nvSpPr>
        <p:spPr>
          <a:xfrm>
            <a:off x="914400" y="4818888"/>
            <a:ext cx="502920" cy="228600"/>
          </a:xfrm>
          <a:prstGeom prst="rect">
            <a:avLst/>
          </a:prstGeom>
          <a:noFill/>
          <a:ln/>
        </p:spPr>
        <p:txBody>
          <a:bodyPr wrap="square" lIns="0" tIns="0" rIns="0" bIns="0" rtlCol="0" anchor="ctr"/>
          <a:lstStyle/>
          <a:p>
            <a:pPr marL="0" indent="0" algn="ctr">
              <a:buNone/>
            </a:pPr>
            <a:r>
              <a:rPr lang="en-US" sz="1600" b="1" dirty="0">
                <a:solidFill>
                  <a:srgbClr val="FFFFFF"/>
                </a:solidFill>
              </a:rPr>
              <a:t>5</a:t>
            </a:r>
            <a:endParaRPr lang="en-US" sz="1600" dirty="0"/>
          </a:p>
        </p:txBody>
      </p:sp>
      <p:sp>
        <p:nvSpPr>
          <p:cNvPr id="19" name="Text 17"/>
          <p:cNvSpPr/>
          <p:nvPr/>
        </p:nvSpPr>
        <p:spPr>
          <a:xfrm>
            <a:off x="1691640" y="4773168"/>
            <a:ext cx="7863840" cy="411480"/>
          </a:xfrm>
          <a:prstGeom prst="rect">
            <a:avLst/>
          </a:prstGeom>
          <a:noFill/>
          <a:ln/>
        </p:spPr>
        <p:txBody>
          <a:bodyPr wrap="square" lIns="0" tIns="0" rIns="0" bIns="0" rtlCol="0" anchor="ctr"/>
          <a:lstStyle/>
          <a:p>
            <a:pPr marL="0" indent="0">
              <a:buNone/>
            </a:pPr>
            <a:r>
              <a:rPr lang="en-US" sz="2000" b="1" dirty="0">
                <a:solidFill>
                  <a:srgbClr val="D71920"/>
                </a:solidFill>
              </a:rPr>
              <a:t>State the conclusion in context</a:t>
            </a:r>
            <a:endParaRPr lang="en-US" sz="2000" dirty="0"/>
          </a:p>
        </p:txBody>
      </p:sp>
      <p:sp>
        <p:nvSpPr>
          <p:cNvPr id="20" name="Text 18"/>
          <p:cNvSpPr/>
          <p:nvPr/>
        </p:nvSpPr>
        <p:spPr>
          <a:xfrm>
            <a:off x="7132320" y="5074920"/>
            <a:ext cx="3291840" cy="868680"/>
          </a:xfrm>
          <a:prstGeom prst="rect">
            <a:avLst/>
          </a:prstGeom>
          <a:noFill/>
          <a:ln/>
        </p:spPr>
        <p:txBody>
          <a:bodyPr wrap="square" lIns="381" tIns="381" rIns="381" bIns="381" rtlCol="0" anchor="ctr"/>
          <a:lstStyle/>
          <a:p>
            <a:pPr marL="0" indent="0" algn="ctr">
              <a:buNone/>
            </a:pPr>
            <a:r>
              <a:rPr lang="en-US" sz="1600" b="1" dirty="0">
                <a:solidFill>
                  <a:srgbClr val="00566B"/>
                </a:solidFill>
              </a:rPr>
              <a:t>The last step should use words from the economic question — not only H₀, H₁, and Greek letters.</a:t>
            </a:r>
            <a:endParaRPr lang="en-US" sz="16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E7C82"/>
                </a:solidFill>
              </a:defRPr>
            </a:lvl1pPr>
          </a:lstStyle>
          <a:p>
            <a:pPr algn="l"/>
            <a:fld id="{F7021451-1387-4CA6-816F-3879F97B5CBC}" type="slidenum">
              <a:rPr lang="en-US" b="0"/>
              <a:t>30</a:t>
            </a:fld>
            <a:endParaRPr lang="en-US"/>
          </a:p>
        </p:txBody>
      </p:sp>
      <p:pic>
        <p:nvPicPr>
          <p:cNvPr id="22" name="Bilde 21">
            <a:extLst>
              <a:ext uri="{FF2B5EF4-FFF2-40B4-BE49-F238E27FC236}">
                <a16:creationId xmlns:a16="http://schemas.microsoft.com/office/drawing/2014/main" id="{DAF636A9-447A-B5E9-D420-FD806A41DF71}"/>
              </a:ext>
            </a:extLst>
          </p:cNvPr>
          <p:cNvPicPr>
            <a:picLocks noChangeAspect="1"/>
          </p:cNvPicPr>
          <p:nvPr/>
        </p:nvPicPr>
        <p:blipFill>
          <a:blip r:embed="rId4"/>
          <a:stretch>
            <a:fillRect/>
          </a:stretch>
        </p:blipFill>
        <p:spPr>
          <a:xfrm>
            <a:off x="7894320" y="1092110"/>
            <a:ext cx="3642360" cy="208543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TYPE I AND TYPE II</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Errors are possible because we make decisions from samples</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Shape 3"/>
          <p:cNvSpPr/>
          <p:nvPr/>
        </p:nvSpPr>
        <p:spPr>
          <a:xfrm>
            <a:off x="914400" y="1417320"/>
            <a:ext cx="4206240" cy="2148840"/>
          </a:xfrm>
          <a:prstGeom prst="roundRect">
            <a:avLst>
              <a:gd name="adj" fmla="val 3404"/>
            </a:avLst>
          </a:prstGeom>
          <a:solidFill>
            <a:srgbClr val="FFF1F2"/>
          </a:solidFill>
          <a:ln w="12700">
            <a:solidFill>
              <a:srgbClr val="FFF1F2"/>
            </a:solidFill>
            <a:prstDash val="solid"/>
          </a:ln>
        </p:spPr>
        <p:txBody>
          <a:bodyPr/>
          <a:lstStyle/>
          <a:p>
            <a:endParaRPr lang="en-GB"/>
          </a:p>
        </p:txBody>
      </p:sp>
      <p:sp>
        <p:nvSpPr>
          <p:cNvPr id="6" name="Text 4"/>
          <p:cNvSpPr/>
          <p:nvPr/>
        </p:nvSpPr>
        <p:spPr>
          <a:xfrm>
            <a:off x="1078992" y="1554480"/>
            <a:ext cx="3877056" cy="292608"/>
          </a:xfrm>
          <a:prstGeom prst="rect">
            <a:avLst/>
          </a:prstGeom>
          <a:noFill/>
          <a:ln/>
        </p:spPr>
        <p:txBody>
          <a:bodyPr wrap="square" lIns="0" tIns="0" rIns="0" bIns="0" rtlCol="0" anchor="ctr"/>
          <a:lstStyle/>
          <a:p>
            <a:pPr marL="0" indent="0" algn="ctr">
              <a:buNone/>
            </a:pPr>
            <a:r>
              <a:rPr lang="en-US" sz="1600" b="1" dirty="0">
                <a:solidFill>
                  <a:srgbClr val="D71920"/>
                </a:solidFill>
              </a:rPr>
              <a:t>Type I error</a:t>
            </a:r>
            <a:endParaRPr lang="en-US" sz="1600" dirty="0"/>
          </a:p>
        </p:txBody>
      </p:sp>
      <p:sp>
        <p:nvSpPr>
          <p:cNvPr id="7" name="Text 5"/>
          <p:cNvSpPr/>
          <p:nvPr/>
        </p:nvSpPr>
        <p:spPr>
          <a:xfrm>
            <a:off x="1078992" y="1947672"/>
            <a:ext cx="3877056" cy="1463040"/>
          </a:xfrm>
          <a:prstGeom prst="rect">
            <a:avLst/>
          </a:prstGeom>
          <a:noFill/>
          <a:ln/>
        </p:spPr>
        <p:txBody>
          <a:bodyPr wrap="square" lIns="254" tIns="254" rIns="254" bIns="254" rtlCol="0" anchor="ctr"/>
          <a:lstStyle/>
          <a:p>
            <a:pPr marL="0" indent="0" algn="ctr">
              <a:buNone/>
            </a:pPr>
            <a:r>
              <a:rPr lang="en-US" sz="1400" dirty="0">
                <a:solidFill>
                  <a:srgbClr val="1F2D33"/>
                </a:solidFill>
              </a:rPr>
              <a:t>Reject H₀ even though H₀ is true.</a:t>
            </a:r>
            <a:endParaRPr lang="en-US" sz="1400" dirty="0"/>
          </a:p>
          <a:p>
            <a:pPr marL="0" indent="0" algn="ctr">
              <a:buNone/>
            </a:pPr>
            <a:endParaRPr lang="en-US" sz="1400" dirty="0"/>
          </a:p>
          <a:p>
            <a:pPr marL="0" indent="0" algn="ctr">
              <a:buNone/>
            </a:pPr>
            <a:r>
              <a:rPr lang="en-US" sz="1400" dirty="0">
                <a:solidFill>
                  <a:srgbClr val="1F2D33"/>
                </a:solidFill>
              </a:rPr>
              <a:t>For the supermarket: invest because we conclude β₂ &gt; 0.055 when the true slope is not above the threshold.</a:t>
            </a:r>
            <a:endParaRPr lang="en-US" sz="1400" dirty="0"/>
          </a:p>
        </p:txBody>
      </p:sp>
      <p:sp>
        <p:nvSpPr>
          <p:cNvPr id="8" name="Shape 6"/>
          <p:cNvSpPr/>
          <p:nvPr/>
        </p:nvSpPr>
        <p:spPr>
          <a:xfrm>
            <a:off x="6035040" y="1417320"/>
            <a:ext cx="4206240" cy="2148840"/>
          </a:xfrm>
          <a:prstGeom prst="roundRect">
            <a:avLst>
              <a:gd name="adj" fmla="val 3404"/>
            </a:avLst>
          </a:prstGeom>
          <a:solidFill>
            <a:srgbClr val="DDF4F9"/>
          </a:solidFill>
          <a:ln w="12700">
            <a:solidFill>
              <a:srgbClr val="DDF4F9"/>
            </a:solidFill>
            <a:prstDash val="solid"/>
          </a:ln>
        </p:spPr>
        <p:txBody>
          <a:bodyPr/>
          <a:lstStyle/>
          <a:p>
            <a:endParaRPr lang="en-GB"/>
          </a:p>
        </p:txBody>
      </p:sp>
      <p:sp>
        <p:nvSpPr>
          <p:cNvPr id="9" name="Text 7"/>
          <p:cNvSpPr/>
          <p:nvPr/>
        </p:nvSpPr>
        <p:spPr>
          <a:xfrm>
            <a:off x="6199632" y="1554480"/>
            <a:ext cx="3877056" cy="292608"/>
          </a:xfrm>
          <a:prstGeom prst="rect">
            <a:avLst/>
          </a:prstGeom>
          <a:noFill/>
          <a:ln/>
        </p:spPr>
        <p:txBody>
          <a:bodyPr wrap="square" lIns="0" tIns="0" rIns="0" bIns="0" rtlCol="0" anchor="ctr"/>
          <a:lstStyle/>
          <a:p>
            <a:pPr marL="0" indent="0" algn="ctr">
              <a:buNone/>
            </a:pPr>
            <a:r>
              <a:rPr lang="en-US" sz="1600" b="1" dirty="0">
                <a:solidFill>
                  <a:srgbClr val="00566B"/>
                </a:solidFill>
              </a:rPr>
              <a:t>Type II error</a:t>
            </a:r>
            <a:endParaRPr lang="en-US" sz="1600" dirty="0"/>
          </a:p>
        </p:txBody>
      </p:sp>
      <p:sp>
        <p:nvSpPr>
          <p:cNvPr id="10" name="Text 8"/>
          <p:cNvSpPr/>
          <p:nvPr/>
        </p:nvSpPr>
        <p:spPr>
          <a:xfrm>
            <a:off x="6199632" y="1947672"/>
            <a:ext cx="3877056" cy="1463040"/>
          </a:xfrm>
          <a:prstGeom prst="rect">
            <a:avLst/>
          </a:prstGeom>
          <a:noFill/>
          <a:ln/>
        </p:spPr>
        <p:txBody>
          <a:bodyPr wrap="square" lIns="254" tIns="254" rIns="254" bIns="254" rtlCol="0" anchor="ctr"/>
          <a:lstStyle/>
          <a:p>
            <a:pPr marL="0" indent="0" algn="ctr">
              <a:buNone/>
            </a:pPr>
            <a:r>
              <a:rPr lang="en-US" sz="1400" dirty="0">
                <a:solidFill>
                  <a:srgbClr val="1F2D33"/>
                </a:solidFill>
              </a:rPr>
              <a:t>Fail to reject H₀ even though the alternative is true.</a:t>
            </a:r>
            <a:endParaRPr lang="en-US" sz="1400" dirty="0"/>
          </a:p>
          <a:p>
            <a:pPr marL="0" indent="0" algn="ctr">
              <a:buNone/>
            </a:pPr>
            <a:endParaRPr lang="en-US" sz="1400" dirty="0"/>
          </a:p>
          <a:p>
            <a:pPr marL="0" indent="0" algn="ctr">
              <a:buNone/>
            </a:pPr>
            <a:r>
              <a:rPr lang="en-US" sz="1400" dirty="0">
                <a:solidFill>
                  <a:srgbClr val="1F2D33"/>
                </a:solidFill>
              </a:rPr>
              <a:t>For the supermarket: do not establish the threshold even though β₂ really is above 0.055.</a:t>
            </a:r>
            <a:endParaRPr lang="en-US" sz="1400" dirty="0"/>
          </a:p>
        </p:txBody>
      </p:sp>
      <p:sp>
        <p:nvSpPr>
          <p:cNvPr id="11" name="Text 9"/>
          <p:cNvSpPr/>
          <p:nvPr/>
        </p:nvSpPr>
        <p:spPr>
          <a:xfrm>
            <a:off x="1828800" y="4251960"/>
            <a:ext cx="7498080" cy="502920"/>
          </a:xfrm>
          <a:prstGeom prst="rect">
            <a:avLst/>
          </a:prstGeom>
          <a:noFill/>
          <a:ln/>
        </p:spPr>
        <p:txBody>
          <a:bodyPr wrap="square" lIns="0" tIns="0" rIns="0" bIns="0" rtlCol="0" anchor="ctr"/>
          <a:lstStyle/>
          <a:p>
            <a:pPr marL="0" indent="0" algn="ctr">
              <a:buNone/>
            </a:pPr>
            <a:r>
              <a:rPr lang="en-US" sz="2100" b="1" dirty="0">
                <a:solidFill>
                  <a:srgbClr val="1F2D33"/>
                </a:solidFill>
              </a:rPr>
              <a:t>α controls the probability of a Type I error under the null.</a:t>
            </a:r>
            <a:endParaRPr lang="en-US" sz="21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E7C82"/>
                </a:solidFill>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1">
            <a:extLst>
              <a:ext uri="{FF2B5EF4-FFF2-40B4-BE49-F238E27FC236}">
                <a16:creationId xmlns:a16="http://schemas.microsoft.com/office/drawing/2014/main" id="{F988A268-A3BF-0D3B-FC1F-1A111DFD0ED7}"/>
              </a:ext>
            </a:extLst>
          </p:cNvPr>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Type I and Type II error illustrated</a:t>
            </a:r>
            <a:endParaRPr lang="en-US" sz="2400" dirty="0"/>
          </a:p>
        </p:txBody>
      </p:sp>
      <p:sp>
        <p:nvSpPr>
          <p:cNvPr id="7" name="Shape 2">
            <a:extLst>
              <a:ext uri="{FF2B5EF4-FFF2-40B4-BE49-F238E27FC236}">
                <a16:creationId xmlns:a16="http://schemas.microsoft.com/office/drawing/2014/main" id="{558B9A19-E2C3-0431-90E6-DB353620524E}"/>
              </a:ext>
            </a:extLst>
          </p:cNvPr>
          <p:cNvSpPr/>
          <p:nvPr/>
        </p:nvSpPr>
        <p:spPr>
          <a:xfrm>
            <a:off x="463973" y="1214119"/>
            <a:ext cx="1051560" cy="0"/>
          </a:xfrm>
          <a:prstGeom prst="line">
            <a:avLst/>
          </a:prstGeom>
          <a:noFill/>
          <a:ln w="38100">
            <a:solidFill>
              <a:srgbClr val="20B4D6"/>
            </a:solidFill>
            <a:prstDash val="solid"/>
          </a:ln>
        </p:spPr>
        <p:txBody>
          <a:bodyPr/>
          <a:lstStyle/>
          <a:p>
            <a:endParaRPr lang="en-GB"/>
          </a:p>
        </p:txBody>
      </p:sp>
      <p:pic>
        <p:nvPicPr>
          <p:cNvPr id="12" name="Bilde 11" descr="Type I and Type II errors explained! 🧑‍⚕️ A false positive can mislead,  just as a false negative can hide the truth. Knowing the difference between  errors is crucial in hypothesis testing. #">
            <a:extLst>
              <a:ext uri="{FF2B5EF4-FFF2-40B4-BE49-F238E27FC236}">
                <a16:creationId xmlns:a16="http://schemas.microsoft.com/office/drawing/2014/main" id="{B1A84C91-987A-61E0-781D-C355C04C841D}"/>
              </a:ext>
            </a:extLst>
          </p:cNvPr>
          <p:cNvPicPr>
            <a:picLocks noChangeAspect="1"/>
          </p:cNvPicPr>
          <p:nvPr/>
        </p:nvPicPr>
        <p:blipFill>
          <a:blip r:embed="rId3"/>
          <a:srcRect t="16195" b="17189"/>
          <a:stretch>
            <a:fillRect/>
          </a:stretch>
        </p:blipFill>
        <p:spPr>
          <a:xfrm>
            <a:off x="3141579" y="2548806"/>
            <a:ext cx="5617588" cy="3742266"/>
          </a:xfrm>
          <a:prstGeom prst="rect">
            <a:avLst/>
          </a:prstGeom>
        </p:spPr>
      </p:pic>
      <p:cxnSp>
        <p:nvCxnSpPr>
          <p:cNvPr id="14" name="Rett linje 13">
            <a:extLst>
              <a:ext uri="{FF2B5EF4-FFF2-40B4-BE49-F238E27FC236}">
                <a16:creationId xmlns:a16="http://schemas.microsoft.com/office/drawing/2014/main" id="{93F94010-F7DF-3676-5D96-EA8B6B69E62B}"/>
              </a:ext>
            </a:extLst>
          </p:cNvPr>
          <p:cNvCxnSpPr/>
          <p:nvPr/>
        </p:nvCxnSpPr>
        <p:spPr>
          <a:xfrm>
            <a:off x="828040" y="4458886"/>
            <a:ext cx="983826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Rett linje 14">
            <a:extLst>
              <a:ext uri="{FF2B5EF4-FFF2-40B4-BE49-F238E27FC236}">
                <a16:creationId xmlns:a16="http://schemas.microsoft.com/office/drawing/2014/main" id="{C104FE64-61E3-BA8B-9F45-3B324AE85CF5}"/>
              </a:ext>
            </a:extLst>
          </p:cNvPr>
          <p:cNvCxnSpPr>
            <a:cxnSpLocks/>
          </p:cNvCxnSpPr>
          <p:nvPr/>
        </p:nvCxnSpPr>
        <p:spPr>
          <a:xfrm>
            <a:off x="5950373" y="1791885"/>
            <a:ext cx="0" cy="48852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kstSylinder 18">
                <a:extLst>
                  <a:ext uri="{FF2B5EF4-FFF2-40B4-BE49-F238E27FC236}">
                    <a16:creationId xmlns:a16="http://schemas.microsoft.com/office/drawing/2014/main" id="{C6E78B09-E0F2-DC55-29E9-DBFBBDA5BDD3}"/>
                  </a:ext>
                </a:extLst>
              </p:cNvPr>
              <p:cNvSpPr txBox="1"/>
              <p:nvPr/>
            </p:nvSpPr>
            <p:spPr>
              <a:xfrm>
                <a:off x="6575837" y="1873214"/>
                <a:ext cx="1557866" cy="369332"/>
              </a:xfrm>
              <a:prstGeom prst="rect">
                <a:avLst/>
              </a:prstGeom>
              <a:noFill/>
            </p:spPr>
            <p:txBody>
              <a:bodyPr wrap="square" rtlCol="0">
                <a:spAutoFit/>
              </a:bodyPr>
              <a:lstStyle/>
              <a:p>
                <a14:m>
                  <m:oMath xmlns:m="http://schemas.openxmlformats.org/officeDocument/2006/math">
                    <m:sSub>
                      <m:sSubPr>
                        <m:ctrlPr>
                          <a:rPr lang="nb-NO" b="0" i="1" smtClean="0">
                            <a:latin typeface="Cambria Math" panose="02040503050406030204" pitchFamily="18" charset="0"/>
                          </a:rPr>
                        </m:ctrlPr>
                      </m:sSubPr>
                      <m:e>
                        <m:r>
                          <a:rPr lang="nb-NO" b="0" i="1" smtClean="0">
                            <a:latin typeface="Cambria Math" panose="02040503050406030204" pitchFamily="18" charset="0"/>
                          </a:rPr>
                          <m:t>𝐻</m:t>
                        </m:r>
                      </m:e>
                      <m:sub>
                        <m:r>
                          <a:rPr lang="nb-NO" b="0" i="1" smtClean="0">
                            <a:latin typeface="Cambria Math" panose="02040503050406030204" pitchFamily="18" charset="0"/>
                          </a:rPr>
                          <m:t>0</m:t>
                        </m:r>
                      </m:sub>
                    </m:sSub>
                  </m:oMath>
                </a14:m>
                <a:r>
                  <a:rPr lang="en-GB" dirty="0"/>
                  <a:t>: is true</a:t>
                </a:r>
              </a:p>
            </p:txBody>
          </p:sp>
        </mc:Choice>
        <mc:Fallback xmlns="">
          <p:sp>
            <p:nvSpPr>
              <p:cNvPr id="19" name="TekstSylinder 18">
                <a:extLst>
                  <a:ext uri="{FF2B5EF4-FFF2-40B4-BE49-F238E27FC236}">
                    <a16:creationId xmlns:a16="http://schemas.microsoft.com/office/drawing/2014/main" id="{C6E78B09-E0F2-DC55-29E9-DBFBBDA5BDD3}"/>
                  </a:ext>
                </a:extLst>
              </p:cNvPr>
              <p:cNvSpPr txBox="1">
                <a:spLocks noRot="1" noChangeAspect="1" noMove="1" noResize="1" noEditPoints="1" noAdjustHandles="1" noChangeArrowheads="1" noChangeShapeType="1" noTextEdit="1"/>
              </p:cNvSpPr>
              <p:nvPr/>
            </p:nvSpPr>
            <p:spPr>
              <a:xfrm>
                <a:off x="6575837" y="1873214"/>
                <a:ext cx="1557866" cy="369332"/>
              </a:xfrm>
              <a:prstGeom prst="rect">
                <a:avLst/>
              </a:prstGeom>
              <a:blipFill>
                <a:blip r:embed="rId4"/>
                <a:stretch>
                  <a:fillRect t="-6557" b="-2623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kstSylinder 20">
                <a:extLst>
                  <a:ext uri="{FF2B5EF4-FFF2-40B4-BE49-F238E27FC236}">
                    <a16:creationId xmlns:a16="http://schemas.microsoft.com/office/drawing/2014/main" id="{147CF1C5-92EE-B327-5559-9C8D0CCD452D}"/>
                  </a:ext>
                </a:extLst>
              </p:cNvPr>
              <p:cNvSpPr txBox="1"/>
              <p:nvPr/>
            </p:nvSpPr>
            <p:spPr>
              <a:xfrm>
                <a:off x="3592519" y="1867318"/>
                <a:ext cx="2013371" cy="369332"/>
              </a:xfrm>
              <a:prstGeom prst="rect">
                <a:avLst/>
              </a:prstGeom>
              <a:noFill/>
            </p:spPr>
            <p:txBody>
              <a:bodyPr wrap="square" rtlCol="0">
                <a:spAutoFit/>
              </a:bodyPr>
              <a:lstStyle/>
              <a:p>
                <a14:m>
                  <m:oMath xmlns:m="http://schemas.openxmlformats.org/officeDocument/2006/math">
                    <m:sSub>
                      <m:sSubPr>
                        <m:ctrlPr>
                          <a:rPr lang="nb-NO" i="1">
                            <a:latin typeface="Cambria Math" panose="02040503050406030204" pitchFamily="18" charset="0"/>
                          </a:rPr>
                        </m:ctrlPr>
                      </m:sSubPr>
                      <m:e>
                        <m:r>
                          <a:rPr lang="nb-NO" i="1">
                            <a:latin typeface="Cambria Math" panose="02040503050406030204" pitchFamily="18" charset="0"/>
                          </a:rPr>
                          <m:t>𝐻</m:t>
                        </m:r>
                      </m:e>
                      <m:sub>
                        <m:r>
                          <a:rPr lang="nb-NO" i="1">
                            <a:latin typeface="Cambria Math" panose="02040503050406030204" pitchFamily="18" charset="0"/>
                          </a:rPr>
                          <m:t>0</m:t>
                        </m:r>
                      </m:sub>
                    </m:sSub>
                  </m:oMath>
                </a14:m>
                <a:r>
                  <a:rPr lang="en-GB" dirty="0"/>
                  <a:t>:  is </a:t>
                </a:r>
                <a:r>
                  <a:rPr lang="en-GB" b="1" dirty="0"/>
                  <a:t>not</a:t>
                </a:r>
                <a:r>
                  <a:rPr lang="en-GB" dirty="0"/>
                  <a:t> true</a:t>
                </a:r>
              </a:p>
            </p:txBody>
          </p:sp>
        </mc:Choice>
        <mc:Fallback xmlns="">
          <p:sp>
            <p:nvSpPr>
              <p:cNvPr id="21" name="TekstSylinder 20">
                <a:extLst>
                  <a:ext uri="{FF2B5EF4-FFF2-40B4-BE49-F238E27FC236}">
                    <a16:creationId xmlns:a16="http://schemas.microsoft.com/office/drawing/2014/main" id="{147CF1C5-92EE-B327-5559-9C8D0CCD452D}"/>
                  </a:ext>
                </a:extLst>
              </p:cNvPr>
              <p:cNvSpPr txBox="1">
                <a:spLocks noRot="1" noChangeAspect="1" noMove="1" noResize="1" noEditPoints="1" noAdjustHandles="1" noChangeArrowheads="1" noChangeShapeType="1" noTextEdit="1"/>
              </p:cNvSpPr>
              <p:nvPr/>
            </p:nvSpPr>
            <p:spPr>
              <a:xfrm>
                <a:off x="3592519" y="1867318"/>
                <a:ext cx="2013371" cy="369332"/>
              </a:xfrm>
              <a:prstGeom prst="rect">
                <a:avLst/>
              </a:prstGeom>
              <a:blipFill>
                <a:blip r:embed="rId5"/>
                <a:stretch>
                  <a:fillRect t="-6557" b="-2623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kstSylinder 22">
                <a:extLst>
                  <a:ext uri="{FF2B5EF4-FFF2-40B4-BE49-F238E27FC236}">
                    <a16:creationId xmlns:a16="http://schemas.microsoft.com/office/drawing/2014/main" id="{25A623F5-E3DC-5F31-DD8B-C5D9D22BC8A9}"/>
                  </a:ext>
                </a:extLst>
              </p:cNvPr>
              <p:cNvSpPr txBox="1"/>
              <p:nvPr/>
            </p:nvSpPr>
            <p:spPr>
              <a:xfrm>
                <a:off x="1270981" y="3292084"/>
                <a:ext cx="1557866" cy="369332"/>
              </a:xfrm>
              <a:prstGeom prst="rect">
                <a:avLst/>
              </a:prstGeom>
              <a:noFill/>
            </p:spPr>
            <p:txBody>
              <a:bodyPr wrap="square" rtlCol="0">
                <a:spAutoFit/>
              </a:bodyPr>
              <a:lstStyle/>
              <a:p>
                <a:r>
                  <a:rPr lang="nb-NO" b="0" dirty="0" err="1"/>
                  <a:t>Reject</a:t>
                </a:r>
                <a:r>
                  <a:rPr lang="nb-NO" b="0" dirty="0"/>
                  <a:t> </a:t>
                </a:r>
                <a14:m>
                  <m:oMath xmlns:m="http://schemas.openxmlformats.org/officeDocument/2006/math">
                    <m:sSub>
                      <m:sSubPr>
                        <m:ctrlPr>
                          <a:rPr lang="nb-NO" b="0" i="1" smtClean="0">
                            <a:latin typeface="Cambria Math" panose="02040503050406030204" pitchFamily="18" charset="0"/>
                          </a:rPr>
                        </m:ctrlPr>
                      </m:sSubPr>
                      <m:e>
                        <m:r>
                          <a:rPr lang="nb-NO" b="0" i="1" smtClean="0">
                            <a:latin typeface="Cambria Math" panose="02040503050406030204" pitchFamily="18" charset="0"/>
                          </a:rPr>
                          <m:t>𝐻</m:t>
                        </m:r>
                      </m:e>
                      <m:sub>
                        <m:r>
                          <a:rPr lang="nb-NO" b="0" i="1" smtClean="0">
                            <a:latin typeface="Cambria Math" panose="02040503050406030204" pitchFamily="18" charset="0"/>
                          </a:rPr>
                          <m:t>0</m:t>
                        </m:r>
                      </m:sub>
                    </m:sSub>
                  </m:oMath>
                </a14:m>
                <a:endParaRPr lang="en-GB" dirty="0"/>
              </a:p>
            </p:txBody>
          </p:sp>
        </mc:Choice>
        <mc:Fallback xmlns="">
          <p:sp>
            <p:nvSpPr>
              <p:cNvPr id="23" name="TekstSylinder 22">
                <a:extLst>
                  <a:ext uri="{FF2B5EF4-FFF2-40B4-BE49-F238E27FC236}">
                    <a16:creationId xmlns:a16="http://schemas.microsoft.com/office/drawing/2014/main" id="{25A623F5-E3DC-5F31-DD8B-C5D9D22BC8A9}"/>
                  </a:ext>
                </a:extLst>
              </p:cNvPr>
              <p:cNvSpPr txBox="1">
                <a:spLocks noRot="1" noChangeAspect="1" noMove="1" noResize="1" noEditPoints="1" noAdjustHandles="1" noChangeArrowheads="1" noChangeShapeType="1" noTextEdit="1"/>
              </p:cNvSpPr>
              <p:nvPr/>
            </p:nvSpPr>
            <p:spPr>
              <a:xfrm>
                <a:off x="1270981" y="3292084"/>
                <a:ext cx="1557866" cy="369332"/>
              </a:xfrm>
              <a:prstGeom prst="rect">
                <a:avLst/>
              </a:prstGeom>
              <a:blipFill>
                <a:blip r:embed="rId6"/>
                <a:stretch>
                  <a:fillRect l="-3125" t="-6557" b="-2623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kstSylinder 24">
                <a:extLst>
                  <a:ext uri="{FF2B5EF4-FFF2-40B4-BE49-F238E27FC236}">
                    <a16:creationId xmlns:a16="http://schemas.microsoft.com/office/drawing/2014/main" id="{DA7C99A1-9F7E-C757-F9E0-059D039E3AD2}"/>
                  </a:ext>
                </a:extLst>
              </p:cNvPr>
              <p:cNvSpPr txBox="1"/>
              <p:nvPr/>
            </p:nvSpPr>
            <p:spPr>
              <a:xfrm>
                <a:off x="1234439" y="5196340"/>
                <a:ext cx="1557866" cy="369332"/>
              </a:xfrm>
              <a:prstGeom prst="rect">
                <a:avLst/>
              </a:prstGeom>
              <a:noFill/>
            </p:spPr>
            <p:txBody>
              <a:bodyPr wrap="square" rtlCol="0">
                <a:spAutoFit/>
              </a:bodyPr>
              <a:lstStyle/>
              <a:p>
                <a:r>
                  <a:rPr lang="nb-NO" b="0" dirty="0" err="1"/>
                  <a:t>Keep</a:t>
                </a:r>
                <a:r>
                  <a:rPr lang="nb-NO" b="0" dirty="0"/>
                  <a:t> </a:t>
                </a:r>
                <a14:m>
                  <m:oMath xmlns:m="http://schemas.openxmlformats.org/officeDocument/2006/math">
                    <m:sSub>
                      <m:sSubPr>
                        <m:ctrlPr>
                          <a:rPr lang="nb-NO" b="0" i="1" smtClean="0">
                            <a:latin typeface="Cambria Math" panose="02040503050406030204" pitchFamily="18" charset="0"/>
                          </a:rPr>
                        </m:ctrlPr>
                      </m:sSubPr>
                      <m:e>
                        <m:r>
                          <a:rPr lang="nb-NO" b="0" i="1" smtClean="0">
                            <a:latin typeface="Cambria Math" panose="02040503050406030204" pitchFamily="18" charset="0"/>
                          </a:rPr>
                          <m:t>𝐻</m:t>
                        </m:r>
                      </m:e>
                      <m:sub>
                        <m:r>
                          <a:rPr lang="nb-NO" b="0" i="1" smtClean="0">
                            <a:latin typeface="Cambria Math" panose="02040503050406030204" pitchFamily="18" charset="0"/>
                          </a:rPr>
                          <m:t>0</m:t>
                        </m:r>
                      </m:sub>
                    </m:sSub>
                  </m:oMath>
                </a14:m>
                <a:endParaRPr lang="en-GB" dirty="0"/>
              </a:p>
            </p:txBody>
          </p:sp>
        </mc:Choice>
        <mc:Fallback xmlns="">
          <p:sp>
            <p:nvSpPr>
              <p:cNvPr id="25" name="TekstSylinder 24">
                <a:extLst>
                  <a:ext uri="{FF2B5EF4-FFF2-40B4-BE49-F238E27FC236}">
                    <a16:creationId xmlns:a16="http://schemas.microsoft.com/office/drawing/2014/main" id="{DA7C99A1-9F7E-C757-F9E0-059D039E3AD2}"/>
                  </a:ext>
                </a:extLst>
              </p:cNvPr>
              <p:cNvSpPr txBox="1">
                <a:spLocks noRot="1" noChangeAspect="1" noMove="1" noResize="1" noEditPoints="1" noAdjustHandles="1" noChangeArrowheads="1" noChangeShapeType="1" noTextEdit="1"/>
              </p:cNvSpPr>
              <p:nvPr/>
            </p:nvSpPr>
            <p:spPr>
              <a:xfrm>
                <a:off x="1234439" y="5196340"/>
                <a:ext cx="1557866" cy="369332"/>
              </a:xfrm>
              <a:prstGeom prst="rect">
                <a:avLst/>
              </a:prstGeom>
              <a:blipFill>
                <a:blip r:embed="rId7"/>
                <a:stretch>
                  <a:fillRect l="-3125" t="-6557" b="-2623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kstSylinder 26">
                <a:extLst>
                  <a:ext uri="{FF2B5EF4-FFF2-40B4-BE49-F238E27FC236}">
                    <a16:creationId xmlns:a16="http://schemas.microsoft.com/office/drawing/2014/main" id="{34629342-EA0B-9CA6-1215-ED47328E0D93}"/>
                  </a:ext>
                </a:extLst>
              </p:cNvPr>
              <p:cNvSpPr txBox="1"/>
              <p:nvPr/>
            </p:nvSpPr>
            <p:spPr>
              <a:xfrm>
                <a:off x="7247467" y="355107"/>
                <a:ext cx="3663948" cy="646331"/>
              </a:xfrm>
              <a:prstGeom prst="rect">
                <a:avLst/>
              </a:prstGeom>
              <a:noFill/>
            </p:spPr>
            <p:txBody>
              <a:bodyPr wrap="square">
                <a:spAutoFit/>
              </a:bodyPr>
              <a:lstStyle/>
              <a:p>
                <a14:m>
                  <m:oMath xmlns:m="http://schemas.openxmlformats.org/officeDocument/2006/math">
                    <m:sSub>
                      <m:sSubPr>
                        <m:ctrlPr>
                          <a:rPr lang="nb-NO" sz="1800" b="0" i="1" smtClean="0">
                            <a:latin typeface="Cambria Math" panose="02040503050406030204" pitchFamily="18" charset="0"/>
                          </a:rPr>
                        </m:ctrlPr>
                      </m:sSubPr>
                      <m:e>
                        <m:r>
                          <a:rPr lang="nb-NO" sz="1800" b="0" i="1" smtClean="0">
                            <a:latin typeface="Cambria Math" panose="02040503050406030204" pitchFamily="18" charset="0"/>
                          </a:rPr>
                          <m:t>𝐻</m:t>
                        </m:r>
                      </m:e>
                      <m:sub>
                        <m:r>
                          <a:rPr lang="nb-NO" sz="1800" b="0" i="1" smtClean="0">
                            <a:latin typeface="Cambria Math" panose="02040503050406030204" pitchFamily="18" charset="0"/>
                          </a:rPr>
                          <m:t>0</m:t>
                        </m:r>
                      </m:sub>
                    </m:sSub>
                  </m:oMath>
                </a14:m>
                <a:r>
                  <a:rPr lang="en-GB" dirty="0"/>
                  <a:t>: The person is </a:t>
                </a:r>
                <a:r>
                  <a:rPr lang="en-GB" b="1" dirty="0"/>
                  <a:t>not</a:t>
                </a:r>
                <a:r>
                  <a:rPr lang="en-GB" dirty="0"/>
                  <a:t> pregnant</a:t>
                </a:r>
              </a:p>
              <a:p>
                <a14:m>
                  <m:oMath xmlns:m="http://schemas.openxmlformats.org/officeDocument/2006/math">
                    <m:sSub>
                      <m:sSubPr>
                        <m:ctrlPr>
                          <a:rPr lang="nb-NO" i="1">
                            <a:latin typeface="Cambria Math" panose="02040503050406030204" pitchFamily="18" charset="0"/>
                          </a:rPr>
                        </m:ctrlPr>
                      </m:sSubPr>
                      <m:e>
                        <m:r>
                          <a:rPr lang="nb-NO" i="1">
                            <a:latin typeface="Cambria Math" panose="02040503050406030204" pitchFamily="18" charset="0"/>
                          </a:rPr>
                          <m:t>𝐻</m:t>
                        </m:r>
                      </m:e>
                      <m:sub>
                        <m:r>
                          <a:rPr lang="nb-NO" b="0" i="1" smtClean="0">
                            <a:latin typeface="Cambria Math" panose="02040503050406030204" pitchFamily="18" charset="0"/>
                          </a:rPr>
                          <m:t>1</m:t>
                        </m:r>
                      </m:sub>
                    </m:sSub>
                  </m:oMath>
                </a14:m>
                <a:r>
                  <a:rPr lang="en-GB" dirty="0"/>
                  <a:t>: The person is pregnant</a:t>
                </a:r>
              </a:p>
            </p:txBody>
          </p:sp>
        </mc:Choice>
        <mc:Fallback xmlns="">
          <p:sp>
            <p:nvSpPr>
              <p:cNvPr id="27" name="TekstSylinder 26">
                <a:extLst>
                  <a:ext uri="{FF2B5EF4-FFF2-40B4-BE49-F238E27FC236}">
                    <a16:creationId xmlns:a16="http://schemas.microsoft.com/office/drawing/2014/main" id="{34629342-EA0B-9CA6-1215-ED47328E0D93}"/>
                  </a:ext>
                </a:extLst>
              </p:cNvPr>
              <p:cNvSpPr txBox="1">
                <a:spLocks noRot="1" noChangeAspect="1" noMove="1" noResize="1" noEditPoints="1" noAdjustHandles="1" noChangeArrowheads="1" noChangeShapeType="1" noTextEdit="1"/>
              </p:cNvSpPr>
              <p:nvPr/>
            </p:nvSpPr>
            <p:spPr>
              <a:xfrm>
                <a:off x="7247467" y="355107"/>
                <a:ext cx="3663948" cy="646331"/>
              </a:xfrm>
              <a:prstGeom prst="rect">
                <a:avLst/>
              </a:prstGeom>
              <a:blipFill>
                <a:blip r:embed="rId8"/>
                <a:stretch>
                  <a:fillRect t="-3774" b="-15094"/>
                </a:stretch>
              </a:blipFill>
            </p:spPr>
            <p:txBody>
              <a:bodyPr/>
              <a:lstStyle/>
              <a:p>
                <a:r>
                  <a:rPr lang="en-GB">
                    <a:noFill/>
                  </a:rPr>
                  <a:t> </a:t>
                </a:r>
              </a:p>
            </p:txBody>
          </p:sp>
        </mc:Fallback>
      </mc:AlternateContent>
    </p:spTree>
    <p:extLst>
      <p:ext uri="{BB962C8B-B14F-4D97-AF65-F5344CB8AC3E}">
        <p14:creationId xmlns:p14="http://schemas.microsoft.com/office/powerpoint/2010/main" val="20544806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SMALL CALCULATION</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Your turn: a new study</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Text 3"/>
          <p:cNvSpPr/>
          <p:nvPr/>
        </p:nvSpPr>
        <p:spPr>
          <a:xfrm>
            <a:off x="914400" y="1280160"/>
            <a:ext cx="2011680" cy="320040"/>
          </a:xfrm>
          <a:prstGeom prst="rect">
            <a:avLst/>
          </a:prstGeom>
          <a:noFill/>
          <a:ln/>
        </p:spPr>
        <p:txBody>
          <a:bodyPr wrap="square" lIns="0" tIns="0" rIns="0" bIns="0" rtlCol="0" anchor="ctr"/>
          <a:lstStyle/>
          <a:p>
            <a:pPr marL="0" indent="0">
              <a:buNone/>
            </a:pPr>
            <a:r>
              <a:rPr lang="en-US" sz="1800" b="1" dirty="0">
                <a:solidFill>
                  <a:srgbClr val="1F2D33"/>
                </a:solidFill>
              </a:rPr>
              <a:t>A study reports:</a:t>
            </a:r>
            <a:endParaRPr lang="en-US" sz="1800" dirty="0"/>
          </a:p>
        </p:txBody>
      </p:sp>
      <p:sp>
        <p:nvSpPr>
          <p:cNvPr id="6" name="Shape 4"/>
          <p:cNvSpPr/>
          <p:nvPr/>
        </p:nvSpPr>
        <p:spPr>
          <a:xfrm>
            <a:off x="914400" y="1783080"/>
            <a:ext cx="2194560" cy="594360"/>
          </a:xfrm>
          <a:prstGeom prst="roundRect">
            <a:avLst>
              <a:gd name="adj" fmla="val 9231"/>
            </a:avLst>
          </a:prstGeom>
          <a:solidFill>
            <a:srgbClr val="DDF4F9"/>
          </a:solidFill>
          <a:ln w="12700">
            <a:solidFill>
              <a:srgbClr val="DDF4F9"/>
            </a:solidFill>
            <a:prstDash val="solid"/>
          </a:ln>
        </p:spPr>
        <p:txBody>
          <a:bodyPr/>
          <a:lstStyle/>
          <a:p>
            <a:endParaRPr lang="en-GB"/>
          </a:p>
        </p:txBody>
      </p:sp>
      <p:sp>
        <p:nvSpPr>
          <p:cNvPr id="7" name="Text 5"/>
          <p:cNvSpPr/>
          <p:nvPr/>
        </p:nvSpPr>
        <p:spPr>
          <a:xfrm>
            <a:off x="1024128" y="1847088"/>
            <a:ext cx="1975104" cy="466344"/>
          </a:xfrm>
          <a:prstGeom prst="rect">
            <a:avLst/>
          </a:prstGeom>
          <a:noFill/>
          <a:ln/>
        </p:spPr>
        <p:txBody>
          <a:bodyPr wrap="square" lIns="254" tIns="254" rIns="254" bIns="254" rtlCol="0" anchor="ctr">
            <a:normAutofit/>
          </a:bodyPr>
          <a:lstStyle/>
          <a:p>
            <a:pPr marL="0" indent="0" algn="ctr">
              <a:buNone/>
            </a:pPr>
            <a:r>
              <a:rPr lang="en-US" sz="2200" b="1" dirty="0">
                <a:solidFill>
                  <a:srgbClr val="00566B"/>
                </a:solidFill>
                <a:latin typeface="Cambria Math" pitchFamily="34" charset="0"/>
                <a:ea typeface="Cambria Math" pitchFamily="34" charset="-122"/>
                <a:cs typeface="Cambria Math" pitchFamily="34" charset="-120"/>
              </a:rPr>
              <a:t>b₂ = 0.084</a:t>
            </a:r>
            <a:endParaRPr lang="en-US" sz="2200" dirty="0"/>
          </a:p>
        </p:txBody>
      </p:sp>
      <p:sp>
        <p:nvSpPr>
          <p:cNvPr id="8" name="Shape 6"/>
          <p:cNvSpPr/>
          <p:nvPr/>
        </p:nvSpPr>
        <p:spPr>
          <a:xfrm>
            <a:off x="3429000" y="1783080"/>
            <a:ext cx="2651760" cy="594360"/>
          </a:xfrm>
          <a:prstGeom prst="roundRect">
            <a:avLst>
              <a:gd name="adj" fmla="val 9231"/>
            </a:avLst>
          </a:prstGeom>
          <a:solidFill>
            <a:srgbClr val="F4F6F7"/>
          </a:solidFill>
          <a:ln w="12700">
            <a:solidFill>
              <a:srgbClr val="F4F6F7"/>
            </a:solidFill>
            <a:prstDash val="solid"/>
          </a:ln>
        </p:spPr>
        <p:txBody>
          <a:bodyPr/>
          <a:lstStyle/>
          <a:p>
            <a:endParaRPr lang="en-GB"/>
          </a:p>
        </p:txBody>
      </p:sp>
      <p:sp>
        <p:nvSpPr>
          <p:cNvPr id="9" name="Text 7"/>
          <p:cNvSpPr/>
          <p:nvPr/>
        </p:nvSpPr>
        <p:spPr>
          <a:xfrm>
            <a:off x="3538728" y="1847088"/>
            <a:ext cx="2432304" cy="466344"/>
          </a:xfrm>
          <a:prstGeom prst="rect">
            <a:avLst/>
          </a:prstGeom>
          <a:noFill/>
          <a:ln/>
        </p:spPr>
        <p:txBody>
          <a:bodyPr wrap="square" lIns="254" tIns="254" rIns="254" bIns="254" rtlCol="0" anchor="ctr">
            <a:normAutofit/>
          </a:bodyPr>
          <a:lstStyle/>
          <a:p>
            <a:pPr marL="0" indent="0" algn="ctr">
              <a:buNone/>
            </a:pPr>
            <a:r>
              <a:rPr lang="en-US" sz="2100" b="1" dirty="0">
                <a:solidFill>
                  <a:srgbClr val="1F2D33"/>
                </a:solidFill>
                <a:latin typeface="Cambria Math" pitchFamily="34" charset="0"/>
                <a:ea typeface="Cambria Math" pitchFamily="34" charset="-122"/>
                <a:cs typeface="Cambria Math" pitchFamily="34" charset="-120"/>
              </a:rPr>
              <a:t>se(b₂) = 0.016</a:t>
            </a:r>
            <a:endParaRPr lang="en-US" sz="2100" dirty="0"/>
          </a:p>
        </p:txBody>
      </p:sp>
      <p:sp>
        <p:nvSpPr>
          <p:cNvPr id="10" name="Shape 8"/>
          <p:cNvSpPr/>
          <p:nvPr/>
        </p:nvSpPr>
        <p:spPr>
          <a:xfrm>
            <a:off x="6400800" y="1783080"/>
            <a:ext cx="1828800" cy="594360"/>
          </a:xfrm>
          <a:prstGeom prst="roundRect">
            <a:avLst>
              <a:gd name="adj" fmla="val 9231"/>
            </a:avLst>
          </a:prstGeom>
          <a:solidFill>
            <a:srgbClr val="FFF1F2"/>
          </a:solidFill>
          <a:ln w="12700">
            <a:solidFill>
              <a:srgbClr val="FFF1F2"/>
            </a:solidFill>
            <a:prstDash val="solid"/>
          </a:ln>
        </p:spPr>
        <p:txBody>
          <a:bodyPr/>
          <a:lstStyle/>
          <a:p>
            <a:endParaRPr lang="en-GB"/>
          </a:p>
        </p:txBody>
      </p:sp>
      <p:sp>
        <p:nvSpPr>
          <p:cNvPr id="11" name="Text 9"/>
          <p:cNvSpPr/>
          <p:nvPr/>
        </p:nvSpPr>
        <p:spPr>
          <a:xfrm>
            <a:off x="6510528" y="1847088"/>
            <a:ext cx="1609344" cy="466344"/>
          </a:xfrm>
          <a:prstGeom prst="rect">
            <a:avLst/>
          </a:prstGeom>
          <a:noFill/>
          <a:ln/>
        </p:spPr>
        <p:txBody>
          <a:bodyPr wrap="square" lIns="254" tIns="254" rIns="254" bIns="254" rtlCol="0" anchor="ctr">
            <a:normAutofit/>
          </a:bodyPr>
          <a:lstStyle/>
          <a:p>
            <a:pPr marL="0" indent="0" algn="ctr">
              <a:buNone/>
            </a:pPr>
            <a:r>
              <a:rPr lang="en-US" sz="2100" b="1" dirty="0">
                <a:solidFill>
                  <a:srgbClr val="D71920"/>
                </a:solidFill>
                <a:latin typeface="Cambria Math" pitchFamily="34" charset="0"/>
                <a:ea typeface="Cambria Math" pitchFamily="34" charset="-122"/>
                <a:cs typeface="Cambria Math" pitchFamily="34" charset="-120"/>
              </a:rPr>
              <a:t>df = 48</a:t>
            </a:r>
            <a:endParaRPr lang="en-US" sz="2100" dirty="0"/>
          </a:p>
        </p:txBody>
      </p:sp>
      <p:sp>
        <p:nvSpPr>
          <p:cNvPr id="12" name="Text 10"/>
          <p:cNvSpPr/>
          <p:nvPr/>
        </p:nvSpPr>
        <p:spPr>
          <a:xfrm>
            <a:off x="914400" y="2743200"/>
            <a:ext cx="2560320" cy="320040"/>
          </a:xfrm>
          <a:prstGeom prst="rect">
            <a:avLst/>
          </a:prstGeom>
          <a:noFill/>
          <a:ln/>
        </p:spPr>
        <p:txBody>
          <a:bodyPr wrap="square" lIns="0" tIns="0" rIns="0" bIns="0" rtlCol="0" anchor="ctr"/>
          <a:lstStyle/>
          <a:p>
            <a:pPr marL="0" indent="0">
              <a:buNone/>
            </a:pPr>
            <a:r>
              <a:rPr lang="en-US" sz="1800" b="1" dirty="0">
                <a:solidFill>
                  <a:srgbClr val="1F2D33"/>
                </a:solidFill>
              </a:rPr>
              <a:t>Test at α = 0.05:</a:t>
            </a:r>
            <a:endParaRPr lang="en-US" sz="1800" dirty="0"/>
          </a:p>
        </p:txBody>
      </p:sp>
      <p:sp>
        <p:nvSpPr>
          <p:cNvPr id="13" name="Shape 11"/>
          <p:cNvSpPr/>
          <p:nvPr/>
        </p:nvSpPr>
        <p:spPr>
          <a:xfrm>
            <a:off x="914400" y="3246120"/>
            <a:ext cx="7315200" cy="640080"/>
          </a:xfrm>
          <a:prstGeom prst="roundRect">
            <a:avLst>
              <a:gd name="adj" fmla="val 8571"/>
            </a:avLst>
          </a:prstGeom>
          <a:solidFill>
            <a:srgbClr val="FFFFFF"/>
          </a:solidFill>
          <a:ln w="12700">
            <a:solidFill>
              <a:srgbClr val="FFFFFF"/>
            </a:solidFill>
            <a:prstDash val="solid"/>
          </a:ln>
        </p:spPr>
        <p:txBody>
          <a:bodyPr/>
          <a:lstStyle/>
          <a:p>
            <a:endParaRPr lang="en-GB"/>
          </a:p>
        </p:txBody>
      </p:sp>
      <p:sp>
        <p:nvSpPr>
          <p:cNvPr id="14" name="Text 12"/>
          <p:cNvSpPr/>
          <p:nvPr/>
        </p:nvSpPr>
        <p:spPr>
          <a:xfrm>
            <a:off x="1024128" y="3310128"/>
            <a:ext cx="7095744" cy="512064"/>
          </a:xfrm>
          <a:prstGeom prst="rect">
            <a:avLst/>
          </a:prstGeom>
          <a:noFill/>
          <a:ln/>
        </p:spPr>
        <p:txBody>
          <a:bodyPr wrap="square" lIns="254" tIns="254" rIns="254" bIns="254" rtlCol="0" anchor="ctr">
            <a:normAutofit/>
          </a:bodyPr>
          <a:lstStyle/>
          <a:p>
            <a:pPr marL="0" indent="0" algn="ctr">
              <a:buNone/>
            </a:pPr>
            <a:r>
              <a:rPr lang="en-US" sz="2100" b="1" dirty="0">
                <a:solidFill>
                  <a:srgbClr val="00566B"/>
                </a:solidFill>
                <a:latin typeface="Cambria Math" pitchFamily="34" charset="0"/>
                <a:ea typeface="Cambria Math" pitchFamily="34" charset="-122"/>
                <a:cs typeface="Cambria Math" pitchFamily="34" charset="-120"/>
              </a:rPr>
              <a:t>H₀: β₂ ≤ 0.055    vs.    H₁: β₂ &gt; 0.055</a:t>
            </a:r>
            <a:endParaRPr lang="en-US" sz="2100" dirty="0"/>
          </a:p>
        </p:txBody>
      </p:sp>
      <p:sp>
        <p:nvSpPr>
          <p:cNvPr id="15" name="Text 13"/>
          <p:cNvSpPr/>
          <p:nvPr/>
        </p:nvSpPr>
        <p:spPr>
          <a:xfrm>
            <a:off x="914400" y="4251960"/>
            <a:ext cx="5669280" cy="1371600"/>
          </a:xfrm>
          <a:prstGeom prst="rect">
            <a:avLst/>
          </a:prstGeom>
          <a:noFill/>
          <a:ln/>
        </p:spPr>
        <p:txBody>
          <a:bodyPr wrap="square" lIns="635" tIns="635" rIns="635" bIns="635" rtlCol="0" anchor="t"/>
          <a:lstStyle/>
          <a:p>
            <a:pPr marL="203200" indent="-203200">
              <a:buSzPct val="100000"/>
              <a:buChar char="•"/>
            </a:pPr>
            <a:r>
              <a:rPr lang="en-US" sz="1700" dirty="0">
                <a:solidFill>
                  <a:srgbClr val="1F2D33"/>
                </a:solidFill>
              </a:rPr>
              <a:t>Calculate t.</a:t>
            </a:r>
            <a:endParaRPr lang="en-US" sz="1700" dirty="0"/>
          </a:p>
          <a:p>
            <a:pPr marL="203200" indent="-203200">
              <a:buSzPct val="100000"/>
              <a:buChar char="•"/>
            </a:pPr>
            <a:r>
              <a:rPr lang="en-US" sz="1700" dirty="0">
                <a:solidFill>
                  <a:srgbClr val="1F2D33"/>
                </a:solidFill>
              </a:rPr>
              <a:t>Find the critical value or p-value.</a:t>
            </a:r>
            <a:endParaRPr lang="en-US" sz="1700" dirty="0"/>
          </a:p>
          <a:p>
            <a:pPr marL="203200" indent="-203200">
              <a:buSzPct val="100000"/>
              <a:buChar char="•"/>
            </a:pPr>
            <a:r>
              <a:rPr lang="en-US" sz="1700" dirty="0">
                <a:solidFill>
                  <a:srgbClr val="1F2D33"/>
                </a:solidFill>
              </a:rPr>
              <a:t>State the conclusion in one sentence.</a:t>
            </a:r>
            <a:endParaRPr lang="en-US" sz="1700" dirty="0"/>
          </a:p>
        </p:txBody>
      </p:sp>
      <p:sp>
        <p:nvSpPr>
          <p:cNvPr id="16" name="Text 14"/>
          <p:cNvSpPr/>
          <p:nvPr/>
        </p:nvSpPr>
        <p:spPr>
          <a:xfrm>
            <a:off x="7315200" y="4709160"/>
            <a:ext cx="2926080" cy="411480"/>
          </a:xfrm>
          <a:prstGeom prst="rect">
            <a:avLst/>
          </a:prstGeom>
          <a:noFill/>
          <a:ln/>
        </p:spPr>
        <p:txBody>
          <a:bodyPr wrap="square" lIns="0" tIns="0" rIns="0" bIns="0" rtlCol="0" anchor="ctr"/>
          <a:lstStyle/>
          <a:p>
            <a:pPr marL="0" indent="0" algn="ctr">
              <a:buNone/>
            </a:pPr>
            <a:r>
              <a:rPr lang="en-US" sz="1700" b="1" dirty="0">
                <a:solidFill>
                  <a:srgbClr val="D71920"/>
                </a:solidFill>
              </a:rPr>
              <a:t>Use R as a calculator.</a:t>
            </a:r>
            <a:endParaRPr lang="en-US" sz="17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E7C82"/>
                </a:solidFill>
              </a:defRPr>
            </a:lvl1pPr>
          </a:lstStyle>
          <a:p>
            <a:pPr algn="l"/>
            <a:fld id="{F7021451-1387-4CA6-816F-3879F97B5CBC}" type="slidenum">
              <a:rPr lang="en-US" b="0"/>
              <a:t>33</a:t>
            </a:fld>
            <a:endParaRPr lang="en-US"/>
          </a:p>
        </p:txBody>
      </p:sp>
      <p:sp>
        <p:nvSpPr>
          <p:cNvPr id="18" name="Ellipse 17">
            <a:extLst>
              <a:ext uri="{FF2B5EF4-FFF2-40B4-BE49-F238E27FC236}">
                <a16:creationId xmlns:a16="http://schemas.microsoft.com/office/drawing/2014/main" id="{F783A658-AE40-836F-7997-F92E5D69913E}"/>
              </a:ext>
            </a:extLst>
          </p:cNvPr>
          <p:cNvSpPr/>
          <p:nvPr/>
        </p:nvSpPr>
        <p:spPr>
          <a:xfrm>
            <a:off x="10467377" y="184198"/>
            <a:ext cx="1354914" cy="627398"/>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GB" dirty="0"/>
              <a:t>Lab 7</a:t>
            </a:r>
          </a:p>
        </p:txBody>
      </p:sp>
      <mc:AlternateContent xmlns:mc="http://schemas.openxmlformats.org/markup-compatibility/2006" xmlns:a14="http://schemas.microsoft.com/office/drawing/2010/main">
        <mc:Choice Requires="a14">
          <p:sp>
            <p:nvSpPr>
              <p:cNvPr id="19" name="TekstSylinder 18">
                <a:extLst>
                  <a:ext uri="{FF2B5EF4-FFF2-40B4-BE49-F238E27FC236}">
                    <a16:creationId xmlns:a16="http://schemas.microsoft.com/office/drawing/2014/main" id="{C9F56ED7-99BD-6DF6-53D1-076E0AA82FF8}"/>
                  </a:ext>
                </a:extLst>
              </p:cNvPr>
              <p:cNvSpPr txBox="1"/>
              <p:nvPr/>
            </p:nvSpPr>
            <p:spPr>
              <a:xfrm>
                <a:off x="5507818" y="4426527"/>
                <a:ext cx="1441622" cy="369332"/>
              </a:xfrm>
              <a:prstGeom prst="rect">
                <a:avLst/>
              </a:prstGeom>
              <a:noFill/>
            </p:spPr>
            <p:txBody>
              <a:bodyPr wrap="square" rtlCol="0">
                <a:spAutoFit/>
              </a:bodyPr>
              <a:lstStyle/>
              <a:p>
                <a:r>
                  <a:rPr lang="nb-NO" b="0" dirty="0"/>
                  <a:t>R: </a:t>
                </a:r>
                <a14:m>
                  <m:oMath xmlns:m="http://schemas.openxmlformats.org/officeDocument/2006/math">
                    <m:r>
                      <a:rPr lang="nb-NO" b="0" i="1" smtClean="0">
                        <a:latin typeface="Cambria Math" panose="02040503050406030204" pitchFamily="18" charset="0"/>
                      </a:rPr>
                      <m:t>𝑝𝑡</m:t>
                    </m:r>
                    <m:r>
                      <a:rPr lang="nb-NO" b="0" i="1" smtClean="0">
                        <a:latin typeface="Cambria Math" panose="02040503050406030204" pitchFamily="18" charset="0"/>
                      </a:rPr>
                      <m:t>(</m:t>
                    </m:r>
                    <m:r>
                      <a:rPr lang="nb-NO" b="0" i="1" smtClean="0">
                        <a:latin typeface="Cambria Math" panose="02040503050406030204" pitchFamily="18" charset="0"/>
                      </a:rPr>
                      <m:t>𝑡</m:t>
                    </m:r>
                    <m:r>
                      <a:rPr lang="nb-NO" b="0" i="1" smtClean="0">
                        <a:latin typeface="Cambria Math" panose="02040503050406030204" pitchFamily="18" charset="0"/>
                      </a:rPr>
                      <m:t>, </m:t>
                    </m:r>
                    <m:r>
                      <a:rPr lang="nb-NO" b="0" i="1" smtClean="0">
                        <a:latin typeface="Cambria Math" panose="02040503050406030204" pitchFamily="18" charset="0"/>
                      </a:rPr>
                      <m:t>𝑑𝑓</m:t>
                    </m:r>
                    <m:r>
                      <a:rPr lang="nb-NO" b="0" i="1" smtClean="0">
                        <a:latin typeface="Cambria Math" panose="02040503050406030204" pitchFamily="18" charset="0"/>
                      </a:rPr>
                      <m:t>)</m:t>
                    </m:r>
                  </m:oMath>
                </a14:m>
                <a:endParaRPr lang="nb-NO" dirty="0"/>
              </a:p>
            </p:txBody>
          </p:sp>
        </mc:Choice>
        <mc:Fallback xmlns="">
          <p:sp>
            <p:nvSpPr>
              <p:cNvPr id="19" name="TekstSylinder 18">
                <a:extLst>
                  <a:ext uri="{FF2B5EF4-FFF2-40B4-BE49-F238E27FC236}">
                    <a16:creationId xmlns:a16="http://schemas.microsoft.com/office/drawing/2014/main" id="{C9F56ED7-99BD-6DF6-53D1-076E0AA82FF8}"/>
                  </a:ext>
                </a:extLst>
              </p:cNvPr>
              <p:cNvSpPr txBox="1">
                <a:spLocks noRot="1" noChangeAspect="1" noMove="1" noResize="1" noEditPoints="1" noAdjustHandles="1" noChangeArrowheads="1" noChangeShapeType="1" noTextEdit="1"/>
              </p:cNvSpPr>
              <p:nvPr/>
            </p:nvSpPr>
            <p:spPr>
              <a:xfrm>
                <a:off x="5507818" y="4426527"/>
                <a:ext cx="1441622" cy="369332"/>
              </a:xfrm>
              <a:prstGeom prst="rect">
                <a:avLst/>
              </a:prstGeom>
              <a:blipFill>
                <a:blip r:embed="rId3"/>
                <a:stretch>
                  <a:fillRect l="-3814" t="-6557" b="-26230"/>
                </a:stretch>
              </a:blipFill>
            </p:spPr>
            <p:txBody>
              <a:bodyPr/>
              <a:lstStyle/>
              <a:p>
                <a:r>
                  <a:rPr lang="nb-NO">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INTERPRETATION</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Statistical significance is not economic importance</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Shape 3"/>
          <p:cNvSpPr/>
          <p:nvPr/>
        </p:nvSpPr>
        <p:spPr>
          <a:xfrm>
            <a:off x="822960" y="1417320"/>
            <a:ext cx="4297680" cy="2468880"/>
          </a:xfrm>
          <a:prstGeom prst="roundRect">
            <a:avLst>
              <a:gd name="adj" fmla="val 2963"/>
            </a:avLst>
          </a:prstGeom>
          <a:solidFill>
            <a:srgbClr val="DDF4F9"/>
          </a:solidFill>
          <a:ln w="12700">
            <a:solidFill>
              <a:srgbClr val="DDF4F9"/>
            </a:solidFill>
            <a:prstDash val="solid"/>
          </a:ln>
        </p:spPr>
        <p:txBody>
          <a:bodyPr/>
          <a:lstStyle/>
          <a:p>
            <a:endParaRPr lang="en-GB"/>
          </a:p>
        </p:txBody>
      </p:sp>
      <p:sp>
        <p:nvSpPr>
          <p:cNvPr id="6" name="Text 4"/>
          <p:cNvSpPr/>
          <p:nvPr/>
        </p:nvSpPr>
        <p:spPr>
          <a:xfrm>
            <a:off x="987552" y="1554480"/>
            <a:ext cx="3968496" cy="292608"/>
          </a:xfrm>
          <a:prstGeom prst="rect">
            <a:avLst/>
          </a:prstGeom>
          <a:noFill/>
          <a:ln/>
        </p:spPr>
        <p:txBody>
          <a:bodyPr wrap="square" lIns="0" tIns="0" rIns="0" bIns="0" rtlCol="0" anchor="ctr"/>
          <a:lstStyle/>
          <a:p>
            <a:pPr marL="0" indent="0" algn="ctr">
              <a:buNone/>
            </a:pPr>
            <a:r>
              <a:rPr lang="en-US" sz="1600" b="1" dirty="0">
                <a:solidFill>
                  <a:srgbClr val="00566B"/>
                </a:solidFill>
              </a:rPr>
              <a:t>Statistical question</a:t>
            </a:r>
            <a:endParaRPr lang="en-US" sz="1600" dirty="0"/>
          </a:p>
        </p:txBody>
      </p:sp>
      <p:sp>
        <p:nvSpPr>
          <p:cNvPr id="7" name="Text 5"/>
          <p:cNvSpPr/>
          <p:nvPr/>
        </p:nvSpPr>
        <p:spPr>
          <a:xfrm>
            <a:off x="987552" y="1947672"/>
            <a:ext cx="3968496" cy="1783080"/>
          </a:xfrm>
          <a:prstGeom prst="rect">
            <a:avLst/>
          </a:prstGeom>
          <a:noFill/>
          <a:ln/>
        </p:spPr>
        <p:txBody>
          <a:bodyPr wrap="square" lIns="254" tIns="254" rIns="254" bIns="254" rtlCol="0" anchor="ctr"/>
          <a:lstStyle/>
          <a:p>
            <a:pPr marL="0" indent="0" algn="ctr">
              <a:buNone/>
            </a:pPr>
            <a:r>
              <a:rPr lang="en-US" sz="1400" dirty="0">
                <a:solidFill>
                  <a:srgbClr val="1F2D33"/>
                </a:solidFill>
              </a:rPr>
              <a:t>Is the estimated difference large relative to its sampling uncertainty?</a:t>
            </a:r>
            <a:endParaRPr lang="en-US" sz="1400" dirty="0"/>
          </a:p>
          <a:p>
            <a:pPr marL="0" indent="0" algn="ctr">
              <a:buNone/>
            </a:pPr>
            <a:endParaRPr lang="en-US" sz="1400" dirty="0"/>
          </a:p>
          <a:p>
            <a:pPr marL="0" indent="0" algn="ctr">
              <a:buNone/>
            </a:pPr>
            <a:r>
              <a:rPr lang="en-US" sz="1400" dirty="0">
                <a:solidFill>
                  <a:srgbClr val="1F2D33"/>
                </a:solidFill>
              </a:rPr>
              <a:t>This is what the t-statistic and p-value address.</a:t>
            </a:r>
            <a:endParaRPr lang="en-US" sz="1400" dirty="0"/>
          </a:p>
        </p:txBody>
      </p:sp>
      <p:sp>
        <p:nvSpPr>
          <p:cNvPr id="8" name="Shape 6"/>
          <p:cNvSpPr/>
          <p:nvPr/>
        </p:nvSpPr>
        <p:spPr>
          <a:xfrm>
            <a:off x="5852160" y="1417320"/>
            <a:ext cx="4297680" cy="2468880"/>
          </a:xfrm>
          <a:prstGeom prst="roundRect">
            <a:avLst>
              <a:gd name="adj" fmla="val 2963"/>
            </a:avLst>
          </a:prstGeom>
          <a:solidFill>
            <a:srgbClr val="F4F6F7"/>
          </a:solidFill>
          <a:ln w="12700">
            <a:solidFill>
              <a:srgbClr val="F4F6F7"/>
            </a:solidFill>
            <a:prstDash val="solid"/>
          </a:ln>
        </p:spPr>
        <p:txBody>
          <a:bodyPr/>
          <a:lstStyle/>
          <a:p>
            <a:endParaRPr lang="en-GB"/>
          </a:p>
        </p:txBody>
      </p:sp>
      <p:sp>
        <p:nvSpPr>
          <p:cNvPr id="9" name="Text 7"/>
          <p:cNvSpPr/>
          <p:nvPr/>
        </p:nvSpPr>
        <p:spPr>
          <a:xfrm>
            <a:off x="6016752" y="1554480"/>
            <a:ext cx="3968496" cy="292608"/>
          </a:xfrm>
          <a:prstGeom prst="rect">
            <a:avLst/>
          </a:prstGeom>
          <a:noFill/>
          <a:ln/>
        </p:spPr>
        <p:txBody>
          <a:bodyPr wrap="square" lIns="0" tIns="0" rIns="0" bIns="0" rtlCol="0" anchor="ctr"/>
          <a:lstStyle/>
          <a:p>
            <a:pPr marL="0" indent="0" algn="ctr">
              <a:buNone/>
            </a:pPr>
            <a:r>
              <a:rPr lang="en-US" sz="1600" b="1" dirty="0">
                <a:solidFill>
                  <a:srgbClr val="1F2D33"/>
                </a:solidFill>
              </a:rPr>
              <a:t>Economic question</a:t>
            </a:r>
            <a:endParaRPr lang="en-US" sz="1600" dirty="0"/>
          </a:p>
        </p:txBody>
      </p:sp>
      <p:sp>
        <p:nvSpPr>
          <p:cNvPr id="10" name="Text 8"/>
          <p:cNvSpPr/>
          <p:nvPr/>
        </p:nvSpPr>
        <p:spPr>
          <a:xfrm>
            <a:off x="6016752" y="1947672"/>
            <a:ext cx="3968496" cy="1783080"/>
          </a:xfrm>
          <a:prstGeom prst="rect">
            <a:avLst/>
          </a:prstGeom>
          <a:noFill/>
          <a:ln/>
        </p:spPr>
        <p:txBody>
          <a:bodyPr wrap="square" lIns="254" tIns="254" rIns="254" bIns="254" rtlCol="0" anchor="ctr"/>
          <a:lstStyle/>
          <a:p>
            <a:pPr marL="0" indent="0" algn="ctr">
              <a:buNone/>
            </a:pPr>
            <a:r>
              <a:rPr lang="en-US" sz="1400" dirty="0">
                <a:solidFill>
                  <a:srgbClr val="1F2D33"/>
                </a:solidFill>
              </a:rPr>
              <a:t>Is the magnitude large enough to matter for the actual decision?</a:t>
            </a:r>
            <a:endParaRPr lang="en-US" sz="1400" dirty="0"/>
          </a:p>
          <a:p>
            <a:pPr marL="0" indent="0" algn="ctr">
              <a:buNone/>
            </a:pPr>
            <a:endParaRPr lang="en-US" sz="1400" dirty="0"/>
          </a:p>
          <a:p>
            <a:pPr marL="0" indent="0" algn="ctr">
              <a:buNone/>
            </a:pPr>
            <a:r>
              <a:rPr lang="en-US" sz="1400" dirty="0">
                <a:solidFill>
                  <a:srgbClr val="1F2D33"/>
                </a:solidFill>
              </a:rPr>
              <a:t>This requires context, units, costs, benefits, and thresholds.</a:t>
            </a:r>
            <a:endParaRPr lang="en-US" sz="1400" dirty="0"/>
          </a:p>
        </p:txBody>
      </p:sp>
      <p:sp>
        <p:nvSpPr>
          <p:cNvPr id="11" name="Text 9"/>
          <p:cNvSpPr/>
          <p:nvPr/>
        </p:nvSpPr>
        <p:spPr>
          <a:xfrm>
            <a:off x="1097280" y="4617720"/>
            <a:ext cx="8778240" cy="685800"/>
          </a:xfrm>
          <a:prstGeom prst="rect">
            <a:avLst/>
          </a:prstGeom>
          <a:noFill/>
          <a:ln/>
        </p:spPr>
        <p:txBody>
          <a:bodyPr wrap="square" lIns="254" tIns="254" rIns="254" bIns="254" rtlCol="0" anchor="ctr"/>
          <a:lstStyle/>
          <a:p>
            <a:pPr marL="0" indent="0" algn="ctr">
              <a:buNone/>
            </a:pPr>
            <a:r>
              <a:rPr lang="en-US" sz="2000" b="1" dirty="0">
                <a:solidFill>
                  <a:srgbClr val="D71920"/>
                </a:solidFill>
              </a:rPr>
              <a:t>A tiny effect can be statistically significant in a large sample. A large estimate can be too imprecise to be statistically significant.</a:t>
            </a:r>
            <a:endParaRPr lang="en-US" sz="20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E7C82"/>
                </a:solidFill>
              </a:defRPr>
            </a:lvl1pPr>
          </a:lstStyle>
          <a:p>
            <a:pPr algn="l"/>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SCOPE OF THE REGRESSION</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Inference does not create causality</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Text 3"/>
          <p:cNvSpPr/>
          <p:nvPr/>
        </p:nvSpPr>
        <p:spPr>
          <a:xfrm>
            <a:off x="914400" y="1234440"/>
            <a:ext cx="3840480" cy="365760"/>
          </a:xfrm>
          <a:prstGeom prst="rect">
            <a:avLst/>
          </a:prstGeom>
          <a:noFill/>
          <a:ln/>
        </p:spPr>
        <p:txBody>
          <a:bodyPr wrap="square" lIns="0" tIns="0" rIns="0" bIns="0" rtlCol="0" anchor="ctr"/>
          <a:lstStyle/>
          <a:p>
            <a:pPr marL="0" indent="0">
              <a:buNone/>
            </a:pPr>
            <a:r>
              <a:rPr lang="en-US" sz="2000" b="1" dirty="0">
                <a:solidFill>
                  <a:srgbClr val="1F2D33"/>
                </a:solidFill>
              </a:rPr>
              <a:t>Which statement is defensible?</a:t>
            </a:r>
            <a:endParaRPr lang="en-US" sz="2000" dirty="0"/>
          </a:p>
        </p:txBody>
      </p:sp>
      <p:sp>
        <p:nvSpPr>
          <p:cNvPr id="6" name="Shape 4"/>
          <p:cNvSpPr/>
          <p:nvPr/>
        </p:nvSpPr>
        <p:spPr>
          <a:xfrm>
            <a:off x="914400" y="1874520"/>
            <a:ext cx="3931920" cy="1234440"/>
          </a:xfrm>
          <a:prstGeom prst="roundRect">
            <a:avLst>
              <a:gd name="adj" fmla="val 5926"/>
            </a:avLst>
          </a:prstGeom>
          <a:solidFill>
            <a:srgbClr val="FFF1F2"/>
          </a:solidFill>
          <a:ln w="12700">
            <a:solidFill>
              <a:srgbClr val="FFF1F2"/>
            </a:solidFill>
            <a:prstDash val="solid"/>
          </a:ln>
        </p:spPr>
        <p:txBody>
          <a:bodyPr/>
          <a:lstStyle/>
          <a:p>
            <a:endParaRPr lang="en-GB"/>
          </a:p>
        </p:txBody>
      </p:sp>
      <p:sp>
        <p:nvSpPr>
          <p:cNvPr id="7" name="Text 5"/>
          <p:cNvSpPr/>
          <p:nvPr/>
        </p:nvSpPr>
        <p:spPr>
          <a:xfrm>
            <a:off x="1078992" y="2011680"/>
            <a:ext cx="3602736" cy="292608"/>
          </a:xfrm>
          <a:prstGeom prst="rect">
            <a:avLst/>
          </a:prstGeom>
          <a:noFill/>
          <a:ln/>
        </p:spPr>
        <p:txBody>
          <a:bodyPr wrap="square" lIns="0" tIns="0" rIns="0" bIns="0" rtlCol="0" anchor="ctr"/>
          <a:lstStyle/>
          <a:p>
            <a:pPr marL="0" indent="0" algn="ctr">
              <a:buNone/>
            </a:pPr>
            <a:r>
              <a:rPr lang="en-US" sz="1600" b="1" dirty="0">
                <a:solidFill>
                  <a:srgbClr val="D71920"/>
                </a:solidFill>
              </a:rPr>
              <a:t>A</a:t>
            </a:r>
            <a:endParaRPr lang="en-US" sz="1600" dirty="0"/>
          </a:p>
        </p:txBody>
      </p:sp>
      <p:sp>
        <p:nvSpPr>
          <p:cNvPr id="8" name="Text 6"/>
          <p:cNvSpPr/>
          <p:nvPr/>
        </p:nvSpPr>
        <p:spPr>
          <a:xfrm>
            <a:off x="1078992" y="2404872"/>
            <a:ext cx="3602736" cy="548640"/>
          </a:xfrm>
          <a:prstGeom prst="rect">
            <a:avLst/>
          </a:prstGeom>
          <a:noFill/>
          <a:ln/>
        </p:spPr>
        <p:txBody>
          <a:bodyPr wrap="square" lIns="254" tIns="254" rIns="254" bIns="254" rtlCol="0" anchor="ctr"/>
          <a:lstStyle/>
          <a:p>
            <a:pPr marL="0" indent="0" algn="ctr">
              <a:buNone/>
            </a:pPr>
            <a:r>
              <a:rPr lang="en-US" sz="1400" dirty="0">
                <a:solidFill>
                  <a:srgbClr val="1F2D33"/>
                </a:solidFill>
              </a:rPr>
              <a:t>Raising a household’s income by USD 100 causes food expenditure to rise by USD 10.21.</a:t>
            </a:r>
            <a:endParaRPr lang="en-US" sz="1400" dirty="0"/>
          </a:p>
        </p:txBody>
      </p:sp>
      <p:sp>
        <p:nvSpPr>
          <p:cNvPr id="9" name="Shape 7"/>
          <p:cNvSpPr/>
          <p:nvPr/>
        </p:nvSpPr>
        <p:spPr>
          <a:xfrm>
            <a:off x="5486400" y="1874520"/>
            <a:ext cx="3931920" cy="1234440"/>
          </a:xfrm>
          <a:prstGeom prst="roundRect">
            <a:avLst>
              <a:gd name="adj" fmla="val 5926"/>
            </a:avLst>
          </a:prstGeom>
          <a:solidFill>
            <a:srgbClr val="DDF4F9"/>
          </a:solidFill>
          <a:ln w="12700">
            <a:solidFill>
              <a:srgbClr val="DDF4F9"/>
            </a:solidFill>
            <a:prstDash val="solid"/>
          </a:ln>
        </p:spPr>
        <p:txBody>
          <a:bodyPr/>
          <a:lstStyle/>
          <a:p>
            <a:endParaRPr lang="en-GB"/>
          </a:p>
        </p:txBody>
      </p:sp>
      <p:sp>
        <p:nvSpPr>
          <p:cNvPr id="10" name="Text 8"/>
          <p:cNvSpPr/>
          <p:nvPr/>
        </p:nvSpPr>
        <p:spPr>
          <a:xfrm>
            <a:off x="5650992" y="2011680"/>
            <a:ext cx="3602736" cy="292608"/>
          </a:xfrm>
          <a:prstGeom prst="rect">
            <a:avLst/>
          </a:prstGeom>
          <a:noFill/>
          <a:ln/>
        </p:spPr>
        <p:txBody>
          <a:bodyPr wrap="square" lIns="0" tIns="0" rIns="0" bIns="0" rtlCol="0" anchor="ctr"/>
          <a:lstStyle/>
          <a:p>
            <a:pPr marL="0" indent="0" algn="ctr">
              <a:buNone/>
            </a:pPr>
            <a:r>
              <a:rPr lang="en-US" sz="1600" b="1" dirty="0">
                <a:solidFill>
                  <a:srgbClr val="00566B"/>
                </a:solidFill>
              </a:rPr>
              <a:t>B</a:t>
            </a:r>
            <a:endParaRPr lang="en-US" sz="1600" dirty="0"/>
          </a:p>
        </p:txBody>
      </p:sp>
      <p:sp>
        <p:nvSpPr>
          <p:cNvPr id="11" name="Text 9"/>
          <p:cNvSpPr/>
          <p:nvPr/>
        </p:nvSpPr>
        <p:spPr>
          <a:xfrm>
            <a:off x="5650992" y="2404872"/>
            <a:ext cx="3602736" cy="548640"/>
          </a:xfrm>
          <a:prstGeom prst="rect">
            <a:avLst/>
          </a:prstGeom>
          <a:noFill/>
          <a:ln/>
        </p:spPr>
        <p:txBody>
          <a:bodyPr wrap="square" lIns="254" tIns="254" rIns="254" bIns="254" rtlCol="0" anchor="ctr"/>
          <a:lstStyle/>
          <a:p>
            <a:pPr marL="0" indent="0" algn="ctr">
              <a:buNone/>
            </a:pPr>
            <a:r>
              <a:rPr lang="en-US" sz="1400" dirty="0">
                <a:solidFill>
                  <a:srgbClr val="1F2D33"/>
                </a:solidFill>
              </a:rPr>
              <a:t>In this sample, higher income is associated with higher food expenditure; the estimated slope is 0.1021.</a:t>
            </a:r>
            <a:endParaRPr lang="en-US" sz="1400" dirty="0"/>
          </a:p>
        </p:txBody>
      </p:sp>
      <p:sp>
        <p:nvSpPr>
          <p:cNvPr id="12" name="Text 10"/>
          <p:cNvSpPr/>
          <p:nvPr/>
        </p:nvSpPr>
        <p:spPr>
          <a:xfrm>
            <a:off x="1143000" y="4251960"/>
            <a:ext cx="8869680" cy="777240"/>
          </a:xfrm>
          <a:prstGeom prst="rect">
            <a:avLst/>
          </a:prstGeom>
          <a:noFill/>
          <a:ln/>
        </p:spPr>
        <p:txBody>
          <a:bodyPr wrap="square" lIns="254" tIns="254" rIns="254" bIns="254" rtlCol="0" anchor="ctr"/>
          <a:lstStyle/>
          <a:p>
            <a:pPr marL="0" indent="0" algn="ctr">
              <a:buNone/>
            </a:pPr>
            <a:r>
              <a:rPr lang="en-US" sz="2000" b="1" dirty="0">
                <a:solidFill>
                  <a:srgbClr val="00566B"/>
                </a:solidFill>
              </a:rPr>
              <a:t>Confidence intervals and hypothesis tests quantify sampling uncertainty conditional on the model assumptions. They do not solve identification.</a:t>
            </a:r>
            <a:endParaRPr lang="en-US" sz="2000" dirty="0"/>
          </a:p>
        </p:txBody>
      </p:sp>
      <p:sp>
        <p:nvSpPr>
          <p:cNvPr id="25"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E7C82"/>
                </a:solidFill>
              </a:defRPr>
            </a:lvl1pPr>
          </a:lstStyle>
          <a:p>
            <a:pPr algn="l"/>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48640" y="310896"/>
            <a:ext cx="4023360" cy="201168"/>
          </a:xfrm>
          <a:prstGeom prst="rect">
            <a:avLst/>
          </a:prstGeom>
          <a:noFill/>
          <a:ln/>
        </p:spPr>
        <p:txBody>
          <a:bodyPr wrap="square" lIns="0" tIns="0" rIns="0" bIns="0" rtlCol="0" anchor="ctr"/>
          <a:lstStyle/>
          <a:p>
            <a:pPr marL="0" indent="0">
              <a:buNone/>
            </a:pPr>
            <a:r>
              <a:rPr lang="en-US" sz="900" b="1" kern="0" spc="110" dirty="0">
                <a:solidFill>
                  <a:srgbClr val="20B4D6"/>
                </a:solidFill>
              </a:rPr>
              <a:t>SUMMARY</a:t>
            </a:r>
            <a:endParaRPr lang="en-US" sz="900" dirty="0"/>
          </a:p>
        </p:txBody>
      </p:sp>
      <p:sp>
        <p:nvSpPr>
          <p:cNvPr id="3" name="Text 1"/>
          <p:cNvSpPr/>
          <p:nvPr/>
        </p:nvSpPr>
        <p:spPr>
          <a:xfrm>
            <a:off x="548640" y="566928"/>
            <a:ext cx="10515600" cy="502920"/>
          </a:xfrm>
          <a:prstGeom prst="rect">
            <a:avLst/>
          </a:prstGeom>
          <a:noFill/>
          <a:ln/>
        </p:spPr>
        <p:txBody>
          <a:bodyPr wrap="square" lIns="0" tIns="0" rIns="0" bIns="0" rtlCol="0" anchor="ctr"/>
          <a:lstStyle/>
          <a:p>
            <a:pPr marL="0" indent="0">
              <a:buNone/>
            </a:pPr>
            <a:r>
              <a:rPr lang="en-US" sz="2400" dirty="0">
                <a:solidFill>
                  <a:srgbClr val="1F2D33"/>
                </a:solidFill>
              </a:rPr>
              <a:t>Chapter 3: one chain of reasoning</a:t>
            </a:r>
            <a:endParaRPr lang="en-US" sz="2400" dirty="0"/>
          </a:p>
        </p:txBody>
      </p:sp>
      <p:sp>
        <p:nvSpPr>
          <p:cNvPr id="4" name="Shape 2"/>
          <p:cNvSpPr/>
          <p:nvPr/>
        </p:nvSpPr>
        <p:spPr>
          <a:xfrm>
            <a:off x="548640" y="1115568"/>
            <a:ext cx="1051560" cy="0"/>
          </a:xfrm>
          <a:prstGeom prst="line">
            <a:avLst/>
          </a:prstGeom>
          <a:noFill/>
          <a:ln w="38100">
            <a:solidFill>
              <a:srgbClr val="20B4D6"/>
            </a:solidFill>
            <a:prstDash val="solid"/>
          </a:ln>
        </p:spPr>
        <p:txBody>
          <a:bodyPr/>
          <a:lstStyle/>
          <a:p>
            <a:endParaRPr lang="en-GB"/>
          </a:p>
        </p:txBody>
      </p:sp>
      <p:sp>
        <p:nvSpPr>
          <p:cNvPr id="5" name="Shape 3"/>
          <p:cNvSpPr/>
          <p:nvPr/>
        </p:nvSpPr>
        <p:spPr>
          <a:xfrm>
            <a:off x="868680" y="1188720"/>
            <a:ext cx="3017520" cy="530352"/>
          </a:xfrm>
          <a:prstGeom prst="roundRect">
            <a:avLst/>
          </a:prstGeom>
          <a:solidFill>
            <a:srgbClr val="DDF4F9"/>
          </a:solidFill>
          <a:ln w="12700">
            <a:solidFill>
              <a:srgbClr val="20B4D6"/>
            </a:solidFill>
            <a:prstDash val="solid"/>
          </a:ln>
        </p:spPr>
        <p:txBody>
          <a:bodyPr/>
          <a:lstStyle/>
          <a:p>
            <a:endParaRPr lang="en-GB"/>
          </a:p>
        </p:txBody>
      </p:sp>
      <p:sp>
        <p:nvSpPr>
          <p:cNvPr id="6" name="Text 4"/>
          <p:cNvSpPr/>
          <p:nvPr/>
        </p:nvSpPr>
        <p:spPr>
          <a:xfrm>
            <a:off x="960120" y="1271016"/>
            <a:ext cx="2834640" cy="256032"/>
          </a:xfrm>
          <a:prstGeom prst="rect">
            <a:avLst/>
          </a:prstGeom>
          <a:noFill/>
          <a:ln/>
        </p:spPr>
        <p:txBody>
          <a:bodyPr wrap="square" lIns="0" tIns="0" rIns="0" bIns="0" rtlCol="0" anchor="ctr"/>
          <a:lstStyle/>
          <a:p>
            <a:pPr marL="0" indent="0" algn="ctr">
              <a:buNone/>
            </a:pPr>
            <a:r>
              <a:rPr lang="en-US" sz="1800" b="1" dirty="0">
                <a:solidFill>
                  <a:srgbClr val="00566B"/>
                </a:solidFill>
                <a:latin typeface="Cambria Math" pitchFamily="34" charset="0"/>
                <a:ea typeface="Cambria Math" pitchFamily="34" charset="-122"/>
                <a:cs typeface="Cambria Math" pitchFamily="34" charset="-120"/>
              </a:rPr>
              <a:t>β₂</a:t>
            </a:r>
            <a:endParaRPr lang="en-US" sz="1800" dirty="0"/>
          </a:p>
        </p:txBody>
      </p:sp>
      <p:sp>
        <p:nvSpPr>
          <p:cNvPr id="7" name="Text 5"/>
          <p:cNvSpPr/>
          <p:nvPr/>
        </p:nvSpPr>
        <p:spPr>
          <a:xfrm>
            <a:off x="4297680" y="1225296"/>
            <a:ext cx="5669280" cy="411480"/>
          </a:xfrm>
          <a:prstGeom prst="rect">
            <a:avLst/>
          </a:prstGeom>
          <a:noFill/>
          <a:ln/>
        </p:spPr>
        <p:txBody>
          <a:bodyPr wrap="square" lIns="0" tIns="0" rIns="0" bIns="0" rtlCol="0" anchor="ctr"/>
          <a:lstStyle/>
          <a:p>
            <a:pPr marL="0" indent="0">
              <a:buNone/>
            </a:pPr>
            <a:r>
              <a:rPr lang="en-US" sz="1700" dirty="0">
                <a:solidFill>
                  <a:srgbClr val="1F2D33"/>
                </a:solidFill>
              </a:rPr>
              <a:t>Fixed but unknown population parameter</a:t>
            </a:r>
            <a:endParaRPr lang="en-US" sz="1700" dirty="0"/>
          </a:p>
        </p:txBody>
      </p:sp>
      <p:sp>
        <p:nvSpPr>
          <p:cNvPr id="8" name="Text 6"/>
          <p:cNvSpPr/>
          <p:nvPr/>
        </p:nvSpPr>
        <p:spPr>
          <a:xfrm>
            <a:off x="2148840" y="1709928"/>
            <a:ext cx="457200" cy="256032"/>
          </a:xfrm>
          <a:prstGeom prst="rect">
            <a:avLst/>
          </a:prstGeom>
          <a:noFill/>
          <a:ln/>
        </p:spPr>
        <p:txBody>
          <a:bodyPr wrap="square" lIns="0" tIns="0" rIns="0" bIns="0" rtlCol="0" anchor="ctr"/>
          <a:lstStyle/>
          <a:p>
            <a:pPr marL="0" indent="0" algn="ctr">
              <a:buNone/>
            </a:pPr>
            <a:r>
              <a:rPr lang="en-US" sz="1700" dirty="0">
                <a:solidFill>
                  <a:srgbClr val="64737A"/>
                </a:solidFill>
              </a:rPr>
              <a:t>↓</a:t>
            </a:r>
            <a:endParaRPr lang="en-US" sz="1700" dirty="0"/>
          </a:p>
        </p:txBody>
      </p:sp>
      <p:sp>
        <p:nvSpPr>
          <p:cNvPr id="9" name="Shape 7"/>
          <p:cNvSpPr/>
          <p:nvPr/>
        </p:nvSpPr>
        <p:spPr>
          <a:xfrm>
            <a:off x="868680" y="1993392"/>
            <a:ext cx="3017520" cy="530352"/>
          </a:xfrm>
          <a:prstGeom prst="roundRect">
            <a:avLst/>
          </a:prstGeom>
          <a:solidFill>
            <a:srgbClr val="DDF4F9"/>
          </a:solidFill>
          <a:ln w="12700">
            <a:solidFill>
              <a:srgbClr val="20B4D6"/>
            </a:solidFill>
            <a:prstDash val="solid"/>
          </a:ln>
        </p:spPr>
        <p:txBody>
          <a:bodyPr/>
          <a:lstStyle/>
          <a:p>
            <a:endParaRPr lang="en-GB"/>
          </a:p>
        </p:txBody>
      </p:sp>
      <p:sp>
        <p:nvSpPr>
          <p:cNvPr id="10" name="Text 8"/>
          <p:cNvSpPr/>
          <p:nvPr/>
        </p:nvSpPr>
        <p:spPr>
          <a:xfrm>
            <a:off x="960120" y="2075688"/>
            <a:ext cx="2834640" cy="256032"/>
          </a:xfrm>
          <a:prstGeom prst="rect">
            <a:avLst/>
          </a:prstGeom>
          <a:noFill/>
          <a:ln/>
        </p:spPr>
        <p:txBody>
          <a:bodyPr wrap="square" lIns="0" tIns="0" rIns="0" bIns="0" rtlCol="0" anchor="ctr"/>
          <a:lstStyle/>
          <a:p>
            <a:pPr marL="0" indent="0" algn="ctr">
              <a:buNone/>
            </a:pPr>
            <a:r>
              <a:rPr lang="en-US" sz="1800" b="1" dirty="0">
                <a:solidFill>
                  <a:srgbClr val="00566B"/>
                </a:solidFill>
                <a:latin typeface="Cambria Math" pitchFamily="34" charset="0"/>
                <a:ea typeface="Cambria Math" pitchFamily="34" charset="-122"/>
                <a:cs typeface="Cambria Math" pitchFamily="34" charset="-120"/>
              </a:rPr>
              <a:t>b₂</a:t>
            </a:r>
            <a:endParaRPr lang="en-US" sz="1800" dirty="0"/>
          </a:p>
        </p:txBody>
      </p:sp>
      <p:sp>
        <p:nvSpPr>
          <p:cNvPr id="11" name="Text 9"/>
          <p:cNvSpPr/>
          <p:nvPr/>
        </p:nvSpPr>
        <p:spPr>
          <a:xfrm>
            <a:off x="4297680" y="2029968"/>
            <a:ext cx="5669280" cy="411480"/>
          </a:xfrm>
          <a:prstGeom prst="rect">
            <a:avLst/>
          </a:prstGeom>
          <a:noFill/>
          <a:ln/>
        </p:spPr>
        <p:txBody>
          <a:bodyPr wrap="square" lIns="0" tIns="0" rIns="0" bIns="0" rtlCol="0" anchor="ctr"/>
          <a:lstStyle/>
          <a:p>
            <a:pPr marL="0" indent="0">
              <a:buNone/>
            </a:pPr>
            <a:r>
              <a:rPr lang="en-US" sz="1700" dirty="0">
                <a:solidFill>
                  <a:srgbClr val="1F2D33"/>
                </a:solidFill>
              </a:rPr>
              <a:t>Estimate from one random sample</a:t>
            </a:r>
            <a:endParaRPr lang="en-US" sz="1700" dirty="0"/>
          </a:p>
        </p:txBody>
      </p:sp>
      <p:sp>
        <p:nvSpPr>
          <p:cNvPr id="12" name="Text 10"/>
          <p:cNvSpPr/>
          <p:nvPr/>
        </p:nvSpPr>
        <p:spPr>
          <a:xfrm>
            <a:off x="2148840" y="2514600"/>
            <a:ext cx="457200" cy="256032"/>
          </a:xfrm>
          <a:prstGeom prst="rect">
            <a:avLst/>
          </a:prstGeom>
          <a:noFill/>
          <a:ln/>
        </p:spPr>
        <p:txBody>
          <a:bodyPr wrap="square" lIns="0" tIns="0" rIns="0" bIns="0" rtlCol="0" anchor="ctr"/>
          <a:lstStyle/>
          <a:p>
            <a:pPr marL="0" indent="0" algn="ctr">
              <a:buNone/>
            </a:pPr>
            <a:r>
              <a:rPr lang="en-US" sz="1700" dirty="0">
                <a:solidFill>
                  <a:srgbClr val="64737A"/>
                </a:solidFill>
              </a:rPr>
              <a:t>↓</a:t>
            </a:r>
            <a:endParaRPr lang="en-US" sz="1700" dirty="0"/>
          </a:p>
        </p:txBody>
      </p:sp>
      <p:sp>
        <p:nvSpPr>
          <p:cNvPr id="13" name="Shape 11"/>
          <p:cNvSpPr/>
          <p:nvPr/>
        </p:nvSpPr>
        <p:spPr>
          <a:xfrm>
            <a:off x="868680" y="2798064"/>
            <a:ext cx="3017520" cy="530352"/>
          </a:xfrm>
          <a:prstGeom prst="roundRect">
            <a:avLst/>
          </a:prstGeom>
          <a:solidFill>
            <a:srgbClr val="DDF4F9"/>
          </a:solidFill>
          <a:ln w="12700">
            <a:solidFill>
              <a:srgbClr val="20B4D6"/>
            </a:solidFill>
            <a:prstDash val="solid"/>
          </a:ln>
        </p:spPr>
        <p:txBody>
          <a:bodyPr/>
          <a:lstStyle/>
          <a:p>
            <a:endParaRPr lang="en-GB"/>
          </a:p>
        </p:txBody>
      </p:sp>
      <p:sp>
        <p:nvSpPr>
          <p:cNvPr id="14" name="Text 12"/>
          <p:cNvSpPr/>
          <p:nvPr/>
        </p:nvSpPr>
        <p:spPr>
          <a:xfrm>
            <a:off x="960120" y="2880360"/>
            <a:ext cx="2834640" cy="256032"/>
          </a:xfrm>
          <a:prstGeom prst="rect">
            <a:avLst/>
          </a:prstGeom>
          <a:noFill/>
          <a:ln/>
        </p:spPr>
        <p:txBody>
          <a:bodyPr wrap="square" lIns="0" tIns="0" rIns="0" bIns="0" rtlCol="0" anchor="ctr"/>
          <a:lstStyle/>
          <a:p>
            <a:pPr marL="0" indent="0" algn="ctr">
              <a:buNone/>
            </a:pPr>
            <a:r>
              <a:rPr lang="en-US" sz="1800" b="1" dirty="0">
                <a:solidFill>
                  <a:srgbClr val="00566B"/>
                </a:solidFill>
                <a:latin typeface="Cambria Math" pitchFamily="34" charset="0"/>
                <a:ea typeface="Cambria Math" pitchFamily="34" charset="-122"/>
                <a:cs typeface="Cambria Math" pitchFamily="34" charset="-120"/>
              </a:rPr>
              <a:t>se(b₂)</a:t>
            </a:r>
            <a:endParaRPr lang="en-US" sz="1800" dirty="0"/>
          </a:p>
        </p:txBody>
      </p:sp>
      <p:sp>
        <p:nvSpPr>
          <p:cNvPr id="15" name="Text 13"/>
          <p:cNvSpPr/>
          <p:nvPr/>
        </p:nvSpPr>
        <p:spPr>
          <a:xfrm>
            <a:off x="4297680" y="2834640"/>
            <a:ext cx="5669280" cy="411480"/>
          </a:xfrm>
          <a:prstGeom prst="rect">
            <a:avLst/>
          </a:prstGeom>
          <a:noFill/>
          <a:ln/>
        </p:spPr>
        <p:txBody>
          <a:bodyPr wrap="square" lIns="0" tIns="0" rIns="0" bIns="0" rtlCol="0" anchor="ctr"/>
          <a:lstStyle/>
          <a:p>
            <a:pPr marL="0" indent="0">
              <a:buNone/>
            </a:pPr>
            <a:r>
              <a:rPr lang="en-US" sz="1700" dirty="0">
                <a:solidFill>
                  <a:srgbClr val="1F2D33"/>
                </a:solidFill>
              </a:rPr>
              <a:t>Estimated sampling variability</a:t>
            </a:r>
            <a:endParaRPr lang="en-US" sz="1700" dirty="0"/>
          </a:p>
        </p:txBody>
      </p:sp>
      <p:sp>
        <p:nvSpPr>
          <p:cNvPr id="16" name="Text 14"/>
          <p:cNvSpPr/>
          <p:nvPr/>
        </p:nvSpPr>
        <p:spPr>
          <a:xfrm>
            <a:off x="2148840" y="3319272"/>
            <a:ext cx="457200" cy="256032"/>
          </a:xfrm>
          <a:prstGeom prst="rect">
            <a:avLst/>
          </a:prstGeom>
          <a:noFill/>
          <a:ln/>
        </p:spPr>
        <p:txBody>
          <a:bodyPr wrap="square" lIns="0" tIns="0" rIns="0" bIns="0" rtlCol="0" anchor="ctr"/>
          <a:lstStyle/>
          <a:p>
            <a:pPr marL="0" indent="0" algn="ctr">
              <a:buNone/>
            </a:pPr>
            <a:r>
              <a:rPr lang="en-US" sz="1700" dirty="0">
                <a:solidFill>
                  <a:srgbClr val="64737A"/>
                </a:solidFill>
              </a:rPr>
              <a:t>↓</a:t>
            </a:r>
            <a:endParaRPr lang="en-US" sz="1700" dirty="0"/>
          </a:p>
        </p:txBody>
      </p:sp>
      <p:sp>
        <p:nvSpPr>
          <p:cNvPr id="17" name="Shape 15"/>
          <p:cNvSpPr/>
          <p:nvPr/>
        </p:nvSpPr>
        <p:spPr>
          <a:xfrm>
            <a:off x="868680" y="3602736"/>
            <a:ext cx="3017520" cy="530352"/>
          </a:xfrm>
          <a:prstGeom prst="roundRect">
            <a:avLst/>
          </a:prstGeom>
          <a:solidFill>
            <a:srgbClr val="F4F6F7"/>
          </a:solidFill>
          <a:ln w="12700">
            <a:solidFill>
              <a:srgbClr val="20B4D6"/>
            </a:solidFill>
            <a:prstDash val="solid"/>
          </a:ln>
        </p:spPr>
        <p:txBody>
          <a:bodyPr/>
          <a:lstStyle/>
          <a:p>
            <a:endParaRPr lang="en-GB"/>
          </a:p>
        </p:txBody>
      </p:sp>
      <p:sp>
        <p:nvSpPr>
          <p:cNvPr id="18" name="Text 16"/>
          <p:cNvSpPr/>
          <p:nvPr/>
        </p:nvSpPr>
        <p:spPr>
          <a:xfrm>
            <a:off x="960120" y="3685032"/>
            <a:ext cx="2834640" cy="256032"/>
          </a:xfrm>
          <a:prstGeom prst="rect">
            <a:avLst/>
          </a:prstGeom>
          <a:noFill/>
          <a:ln/>
        </p:spPr>
        <p:txBody>
          <a:bodyPr wrap="square" lIns="0" tIns="0" rIns="0" bIns="0" rtlCol="0" anchor="ctr"/>
          <a:lstStyle/>
          <a:p>
            <a:pPr marL="0" indent="0" algn="ctr">
              <a:buNone/>
            </a:pPr>
            <a:r>
              <a:rPr lang="en-US" sz="1800" b="1" dirty="0">
                <a:solidFill>
                  <a:srgbClr val="00566B"/>
                </a:solidFill>
                <a:latin typeface="Cambria Math" pitchFamily="34" charset="0"/>
                <a:ea typeface="Cambria Math" pitchFamily="34" charset="-122"/>
                <a:cs typeface="Cambria Math" pitchFamily="34" charset="-120"/>
              </a:rPr>
              <a:t>b₂ ± </a:t>
            </a:r>
            <a:r>
              <a:rPr lang="en-US" sz="1800" b="1" dirty="0" err="1">
                <a:solidFill>
                  <a:srgbClr val="00566B"/>
                </a:solidFill>
                <a:latin typeface="Cambria Math" pitchFamily="34" charset="0"/>
                <a:ea typeface="Cambria Math" pitchFamily="34" charset="-122"/>
                <a:cs typeface="Cambria Math" pitchFamily="34" charset="-120"/>
              </a:rPr>
              <a:t>t_c</a:t>
            </a:r>
            <a:r>
              <a:rPr lang="en-US" sz="1800" b="1" dirty="0">
                <a:solidFill>
                  <a:srgbClr val="00566B"/>
                </a:solidFill>
                <a:latin typeface="Cambria Math" pitchFamily="34" charset="0"/>
                <a:ea typeface="Cambria Math" pitchFamily="34" charset="-122"/>
                <a:cs typeface="Cambria Math" pitchFamily="34" charset="-120"/>
              </a:rPr>
              <a:t> * se(b₂)</a:t>
            </a:r>
            <a:endParaRPr lang="en-US" sz="1800" dirty="0"/>
          </a:p>
        </p:txBody>
      </p:sp>
      <p:sp>
        <p:nvSpPr>
          <p:cNvPr id="19" name="Text 17"/>
          <p:cNvSpPr/>
          <p:nvPr/>
        </p:nvSpPr>
        <p:spPr>
          <a:xfrm>
            <a:off x="4297680" y="3639312"/>
            <a:ext cx="5669280" cy="411480"/>
          </a:xfrm>
          <a:prstGeom prst="rect">
            <a:avLst/>
          </a:prstGeom>
          <a:noFill/>
          <a:ln/>
        </p:spPr>
        <p:txBody>
          <a:bodyPr wrap="square" lIns="0" tIns="0" rIns="0" bIns="0" rtlCol="0" anchor="ctr"/>
          <a:lstStyle/>
          <a:p>
            <a:pPr marL="0" indent="0">
              <a:buNone/>
            </a:pPr>
            <a:r>
              <a:rPr lang="en-US" sz="1700" dirty="0">
                <a:solidFill>
                  <a:srgbClr val="1F2D33"/>
                </a:solidFill>
              </a:rPr>
              <a:t>Range of parameter values compatible with the sample</a:t>
            </a:r>
            <a:endParaRPr lang="en-US" sz="1700" dirty="0"/>
          </a:p>
        </p:txBody>
      </p:sp>
      <p:sp>
        <p:nvSpPr>
          <p:cNvPr id="20" name="Text 18"/>
          <p:cNvSpPr/>
          <p:nvPr/>
        </p:nvSpPr>
        <p:spPr>
          <a:xfrm>
            <a:off x="2148840" y="4123944"/>
            <a:ext cx="457200" cy="256032"/>
          </a:xfrm>
          <a:prstGeom prst="rect">
            <a:avLst/>
          </a:prstGeom>
          <a:noFill/>
          <a:ln/>
        </p:spPr>
        <p:txBody>
          <a:bodyPr wrap="square" lIns="0" tIns="0" rIns="0" bIns="0" rtlCol="0" anchor="ctr"/>
          <a:lstStyle/>
          <a:p>
            <a:pPr marL="0" indent="0" algn="ctr">
              <a:buNone/>
            </a:pPr>
            <a:r>
              <a:rPr lang="en-US" sz="1700" dirty="0">
                <a:solidFill>
                  <a:srgbClr val="64737A"/>
                </a:solidFill>
              </a:rPr>
              <a:t>↓</a:t>
            </a:r>
            <a:endParaRPr lang="en-US" sz="1700" dirty="0"/>
          </a:p>
        </p:txBody>
      </p:sp>
      <p:sp>
        <p:nvSpPr>
          <p:cNvPr id="21" name="Shape 19"/>
          <p:cNvSpPr/>
          <p:nvPr/>
        </p:nvSpPr>
        <p:spPr>
          <a:xfrm>
            <a:off x="868680" y="4407408"/>
            <a:ext cx="3017520" cy="530352"/>
          </a:xfrm>
          <a:prstGeom prst="roundRect">
            <a:avLst/>
          </a:prstGeom>
          <a:solidFill>
            <a:srgbClr val="F4F6F7"/>
          </a:solidFill>
          <a:ln w="12700">
            <a:solidFill>
              <a:srgbClr val="20B4D6"/>
            </a:solidFill>
            <a:prstDash val="solid"/>
          </a:ln>
        </p:spPr>
        <p:txBody>
          <a:bodyPr/>
          <a:lstStyle/>
          <a:p>
            <a:endParaRPr lang="en-GB"/>
          </a:p>
        </p:txBody>
      </p:sp>
      <p:sp>
        <p:nvSpPr>
          <p:cNvPr id="22" name="Text 20"/>
          <p:cNvSpPr/>
          <p:nvPr/>
        </p:nvSpPr>
        <p:spPr>
          <a:xfrm>
            <a:off x="960120" y="4489704"/>
            <a:ext cx="2834640" cy="256032"/>
          </a:xfrm>
          <a:prstGeom prst="rect">
            <a:avLst/>
          </a:prstGeom>
          <a:noFill/>
          <a:ln/>
        </p:spPr>
        <p:txBody>
          <a:bodyPr wrap="square" lIns="0" tIns="0" rIns="0" bIns="0" rtlCol="0" anchor="ctr"/>
          <a:lstStyle/>
          <a:p>
            <a:pPr marL="0" indent="0" algn="ctr">
              <a:buNone/>
            </a:pPr>
            <a:r>
              <a:rPr lang="en-US" sz="1800" b="1" dirty="0">
                <a:solidFill>
                  <a:srgbClr val="00566B"/>
                </a:solidFill>
                <a:latin typeface="Cambria Math" pitchFamily="34" charset="0"/>
                <a:ea typeface="Cambria Math" pitchFamily="34" charset="-122"/>
                <a:cs typeface="Cambria Math" pitchFamily="34" charset="-120"/>
              </a:rPr>
              <a:t>t = (b₂ − c) / se(b₂)</a:t>
            </a:r>
            <a:endParaRPr lang="en-US" sz="1800" dirty="0"/>
          </a:p>
        </p:txBody>
      </p:sp>
      <p:sp>
        <p:nvSpPr>
          <p:cNvPr id="23" name="Text 21"/>
          <p:cNvSpPr/>
          <p:nvPr/>
        </p:nvSpPr>
        <p:spPr>
          <a:xfrm>
            <a:off x="4297680" y="4443984"/>
            <a:ext cx="5669280" cy="411480"/>
          </a:xfrm>
          <a:prstGeom prst="rect">
            <a:avLst/>
          </a:prstGeom>
          <a:noFill/>
          <a:ln/>
        </p:spPr>
        <p:txBody>
          <a:bodyPr wrap="square" lIns="0" tIns="0" rIns="0" bIns="0" rtlCol="0" anchor="ctr"/>
          <a:lstStyle/>
          <a:p>
            <a:pPr marL="0" indent="0">
              <a:buNone/>
            </a:pPr>
            <a:r>
              <a:rPr lang="en-US" sz="1700" dirty="0">
                <a:solidFill>
                  <a:srgbClr val="1F2D33"/>
                </a:solidFill>
              </a:rPr>
              <a:t>Distance from a specific claim</a:t>
            </a:r>
            <a:endParaRPr lang="en-US" sz="1700" dirty="0"/>
          </a:p>
        </p:txBody>
      </p:sp>
      <p:sp>
        <p:nvSpPr>
          <p:cNvPr id="24" name="Text 22"/>
          <p:cNvSpPr/>
          <p:nvPr/>
        </p:nvSpPr>
        <p:spPr>
          <a:xfrm>
            <a:off x="2148840" y="4928616"/>
            <a:ext cx="457200" cy="256032"/>
          </a:xfrm>
          <a:prstGeom prst="rect">
            <a:avLst/>
          </a:prstGeom>
          <a:noFill/>
          <a:ln/>
        </p:spPr>
        <p:txBody>
          <a:bodyPr wrap="square" lIns="0" tIns="0" rIns="0" bIns="0" rtlCol="0" anchor="ctr"/>
          <a:lstStyle/>
          <a:p>
            <a:pPr marL="0" indent="0" algn="ctr">
              <a:buNone/>
            </a:pPr>
            <a:r>
              <a:rPr lang="en-US" sz="1700" dirty="0">
                <a:solidFill>
                  <a:srgbClr val="64737A"/>
                </a:solidFill>
              </a:rPr>
              <a:t>↓</a:t>
            </a:r>
            <a:endParaRPr lang="en-US" sz="1700" dirty="0"/>
          </a:p>
        </p:txBody>
      </p:sp>
      <p:sp>
        <p:nvSpPr>
          <p:cNvPr id="25" name="Shape 23"/>
          <p:cNvSpPr/>
          <p:nvPr/>
        </p:nvSpPr>
        <p:spPr>
          <a:xfrm>
            <a:off x="868680" y="5212080"/>
            <a:ext cx="3017520" cy="530352"/>
          </a:xfrm>
          <a:prstGeom prst="roundRect">
            <a:avLst/>
          </a:prstGeom>
          <a:solidFill>
            <a:srgbClr val="F4F6F7"/>
          </a:solidFill>
          <a:ln w="25400">
            <a:solidFill>
              <a:srgbClr val="D71920"/>
            </a:solidFill>
            <a:prstDash val="solid"/>
          </a:ln>
        </p:spPr>
        <p:txBody>
          <a:bodyPr/>
          <a:lstStyle/>
          <a:p>
            <a:endParaRPr lang="en-GB"/>
          </a:p>
        </p:txBody>
      </p:sp>
      <p:sp>
        <p:nvSpPr>
          <p:cNvPr id="26" name="Text 24"/>
          <p:cNvSpPr/>
          <p:nvPr/>
        </p:nvSpPr>
        <p:spPr>
          <a:xfrm>
            <a:off x="960120" y="5294376"/>
            <a:ext cx="2834640" cy="256032"/>
          </a:xfrm>
          <a:prstGeom prst="rect">
            <a:avLst/>
          </a:prstGeom>
          <a:noFill/>
          <a:ln/>
        </p:spPr>
        <p:txBody>
          <a:bodyPr wrap="square" lIns="0" tIns="0" rIns="0" bIns="0" rtlCol="0" anchor="ctr"/>
          <a:lstStyle/>
          <a:p>
            <a:pPr marL="0" indent="0" algn="ctr">
              <a:buNone/>
            </a:pPr>
            <a:r>
              <a:rPr lang="en-US" sz="1800" b="1" dirty="0">
                <a:solidFill>
                  <a:srgbClr val="D71920"/>
                </a:solidFill>
                <a:latin typeface="Cambria Math" pitchFamily="34" charset="0"/>
                <a:ea typeface="Cambria Math" pitchFamily="34" charset="-122"/>
                <a:cs typeface="Cambria Math" pitchFamily="34" charset="-120"/>
              </a:rPr>
              <a:t>p-value</a:t>
            </a:r>
            <a:endParaRPr lang="en-US" sz="1800" dirty="0"/>
          </a:p>
        </p:txBody>
      </p:sp>
      <p:sp>
        <p:nvSpPr>
          <p:cNvPr id="27" name="Text 25"/>
          <p:cNvSpPr/>
          <p:nvPr/>
        </p:nvSpPr>
        <p:spPr>
          <a:xfrm>
            <a:off x="4297680" y="5248656"/>
            <a:ext cx="5669280" cy="411480"/>
          </a:xfrm>
          <a:prstGeom prst="rect">
            <a:avLst/>
          </a:prstGeom>
          <a:noFill/>
          <a:ln/>
        </p:spPr>
        <p:txBody>
          <a:bodyPr wrap="square" lIns="0" tIns="0" rIns="0" bIns="0" rtlCol="0" anchor="ctr"/>
          <a:lstStyle/>
          <a:p>
            <a:pPr marL="0" indent="0">
              <a:buNone/>
            </a:pPr>
            <a:r>
              <a:rPr lang="en-US" sz="1700" dirty="0">
                <a:solidFill>
                  <a:srgbClr val="1F2D33"/>
                </a:solidFill>
              </a:rPr>
              <a:t>How unusual the observed t would be under H₀</a:t>
            </a:r>
            <a:endParaRPr lang="en-US" sz="1700" dirty="0"/>
          </a:p>
        </p:txBody>
      </p:sp>
      <p:sp>
        <p:nvSpPr>
          <p:cNvPr id="28" name="Text 26"/>
          <p:cNvSpPr/>
          <p:nvPr/>
        </p:nvSpPr>
        <p:spPr>
          <a:xfrm>
            <a:off x="1188720" y="6053328"/>
            <a:ext cx="8869680" cy="457200"/>
          </a:xfrm>
          <a:prstGeom prst="rect">
            <a:avLst/>
          </a:prstGeom>
          <a:noFill/>
          <a:ln/>
        </p:spPr>
        <p:txBody>
          <a:bodyPr wrap="square" lIns="0" tIns="0" rIns="0" bIns="0" rtlCol="0" anchor="ctr"/>
          <a:lstStyle/>
          <a:p>
            <a:pPr marL="0" indent="0" algn="ctr">
              <a:buNone/>
            </a:pPr>
            <a:r>
              <a:rPr lang="en-US" sz="1900" b="1" dirty="0">
                <a:solidFill>
                  <a:srgbClr val="D71920"/>
                </a:solidFill>
              </a:rPr>
              <a:t>The same sampling uncertainty underlies both interval estimation and hypothesis testing.</a:t>
            </a:r>
            <a:endParaRPr lang="en-US" sz="1900" dirty="0"/>
          </a:p>
        </p:txBody>
      </p:sp>
      <p:sp>
        <p:nvSpPr>
          <p:cNvPr id="29" name="Slide Number Placeholder 0"/>
          <p:cNvSpPr>
            <a:spLocks noGrp="1"/>
          </p:cNvSpPr>
          <p:nvPr>
            <p:ph type="sldNum" sz="quarter" idx="4294967295"/>
          </p:nvPr>
        </p:nvSpPr>
        <p:spPr>
          <a:xfrm>
            <a:off x="10927080" y="6528816"/>
            <a:ext cx="27432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E7C82"/>
                </a:solidFill>
              </a:defRPr>
            </a:lvl1pPr>
          </a:lstStyle>
          <a:p>
            <a:pPr algn="l"/>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8912" y="438912"/>
            <a:ext cx="2743200" cy="201168"/>
          </a:xfrm>
          <a:prstGeom prst="rect">
            <a:avLst/>
          </a:prstGeom>
          <a:noFill/>
          <a:ln/>
        </p:spPr>
        <p:txBody>
          <a:bodyPr wrap="square" lIns="0" tIns="0" rIns="0" bIns="0" rtlCol="0" anchor="ctr"/>
          <a:lstStyle/>
          <a:p>
            <a:pPr marL="0" indent="0">
              <a:buNone/>
            </a:pPr>
            <a:r>
              <a:rPr lang="en-US" sz="800" b="1" kern="0" spc="40" dirty="0">
                <a:solidFill>
                  <a:srgbClr val="20B4D6"/>
                </a:solidFill>
              </a:rPr>
              <a:t>BOOK EXERCISE 3.19(C)</a:t>
            </a:r>
            <a:endParaRPr lang="en-US" sz="800" dirty="0"/>
          </a:p>
        </p:txBody>
      </p:sp>
      <p:sp>
        <p:nvSpPr>
          <p:cNvPr id="3" name="Text 1"/>
          <p:cNvSpPr/>
          <p:nvPr/>
        </p:nvSpPr>
        <p:spPr>
          <a:xfrm>
            <a:off x="438912" y="658368"/>
            <a:ext cx="10927080" cy="475488"/>
          </a:xfrm>
          <a:prstGeom prst="rect">
            <a:avLst/>
          </a:prstGeom>
          <a:noFill/>
          <a:ln/>
        </p:spPr>
        <p:txBody>
          <a:bodyPr wrap="square" lIns="0" tIns="0" rIns="0" bIns="0" rtlCol="0" anchor="ctr">
            <a:normAutofit/>
          </a:bodyPr>
          <a:lstStyle/>
          <a:p>
            <a:pPr marL="0" indent="0">
              <a:buNone/>
            </a:pPr>
            <a:r>
              <a:rPr lang="en-US" sz="2300" dirty="0">
                <a:solidFill>
                  <a:srgbClr val="16323D"/>
                </a:solidFill>
              </a:rPr>
              <a:t>Worked example — motel occupancy</a:t>
            </a:r>
            <a:endParaRPr lang="en-US" sz="2300" dirty="0"/>
          </a:p>
        </p:txBody>
      </p:sp>
      <p:sp>
        <p:nvSpPr>
          <p:cNvPr id="4" name="Text 2"/>
          <p:cNvSpPr/>
          <p:nvPr/>
        </p:nvSpPr>
        <p:spPr>
          <a:xfrm>
            <a:off x="475488" y="1234440"/>
            <a:ext cx="1097280" cy="228600"/>
          </a:xfrm>
          <a:prstGeom prst="rect">
            <a:avLst/>
          </a:prstGeom>
          <a:noFill/>
          <a:ln/>
        </p:spPr>
        <p:txBody>
          <a:bodyPr wrap="square" lIns="0" tIns="0" rIns="0" bIns="0" rtlCol="0" anchor="ctr"/>
          <a:lstStyle/>
          <a:p>
            <a:pPr marL="0" indent="0">
              <a:buNone/>
            </a:pPr>
            <a:r>
              <a:rPr lang="en-US" sz="1000" b="1" dirty="0">
                <a:solidFill>
                  <a:srgbClr val="20B4D6"/>
                </a:solidFill>
              </a:rPr>
              <a:t>Model</a:t>
            </a:r>
            <a:endParaRPr lang="en-US" sz="1000" dirty="0"/>
          </a:p>
        </p:txBody>
      </p:sp>
      <p:sp>
        <p:nvSpPr>
          <p:cNvPr id="5" name="Shape 3"/>
          <p:cNvSpPr/>
          <p:nvPr/>
        </p:nvSpPr>
        <p:spPr>
          <a:xfrm>
            <a:off x="457200" y="1508760"/>
            <a:ext cx="5486400" cy="1188720"/>
          </a:xfrm>
          <a:prstGeom prst="roundRect">
            <a:avLst>
              <a:gd name="adj" fmla="val 6154"/>
            </a:avLst>
          </a:prstGeom>
          <a:solidFill>
            <a:srgbClr val="DDF4F9"/>
          </a:solidFill>
          <a:ln w="12700">
            <a:solidFill>
              <a:srgbClr val="CDEBF1"/>
            </a:solidFill>
            <a:prstDash val="solid"/>
          </a:ln>
        </p:spPr>
        <p:txBody>
          <a:bodyPr/>
          <a:lstStyle/>
          <a:p>
            <a:endParaRPr lang="en-GB"/>
          </a:p>
        </p:txBody>
      </p:sp>
      <p:sp>
        <p:nvSpPr>
          <p:cNvPr id="6" name="Text 4"/>
          <p:cNvSpPr/>
          <p:nvPr/>
        </p:nvSpPr>
        <p:spPr>
          <a:xfrm>
            <a:off x="713232" y="1792224"/>
            <a:ext cx="4983480" cy="365760"/>
          </a:xfrm>
          <a:prstGeom prst="rect">
            <a:avLst/>
          </a:prstGeom>
          <a:noFill/>
          <a:ln/>
        </p:spPr>
        <p:txBody>
          <a:bodyPr wrap="square" lIns="0" tIns="0" rIns="0" bIns="0" rtlCol="0" anchor="ctr"/>
          <a:lstStyle/>
          <a:p>
            <a:pPr marL="0" indent="0" algn="ctr">
              <a:buNone/>
            </a:pPr>
            <a:r>
              <a:rPr lang="en-US" sz="2000" b="1" dirty="0">
                <a:solidFill>
                  <a:srgbClr val="00566B"/>
                </a:solidFill>
              </a:rPr>
              <a:t>MOTEL_PCT = β₁ + β₂ COMP_PCT + e</a:t>
            </a:r>
            <a:endParaRPr lang="en-US" sz="2000" dirty="0"/>
          </a:p>
        </p:txBody>
      </p:sp>
      <p:sp>
        <p:nvSpPr>
          <p:cNvPr id="7" name="Text 5"/>
          <p:cNvSpPr/>
          <p:nvPr/>
        </p:nvSpPr>
        <p:spPr>
          <a:xfrm>
            <a:off x="475488" y="2971800"/>
            <a:ext cx="2560320" cy="228600"/>
          </a:xfrm>
          <a:prstGeom prst="rect">
            <a:avLst/>
          </a:prstGeom>
          <a:noFill/>
          <a:ln/>
        </p:spPr>
        <p:txBody>
          <a:bodyPr wrap="square" lIns="0" tIns="0" rIns="0" bIns="0" rtlCol="0" anchor="ctr"/>
          <a:lstStyle/>
          <a:p>
            <a:pPr marL="0" indent="0">
              <a:buNone/>
            </a:pPr>
            <a:r>
              <a:rPr lang="en-US" sz="1000" b="1" dirty="0">
                <a:solidFill>
                  <a:srgbClr val="20B4D6"/>
                </a:solidFill>
              </a:rPr>
              <a:t>What we estimate from the data</a:t>
            </a:r>
            <a:endParaRPr lang="en-US" sz="1000" dirty="0"/>
          </a:p>
        </p:txBody>
      </p:sp>
      <p:sp>
        <p:nvSpPr>
          <p:cNvPr id="8" name="Shape 6"/>
          <p:cNvSpPr/>
          <p:nvPr/>
        </p:nvSpPr>
        <p:spPr>
          <a:xfrm>
            <a:off x="457200" y="3246120"/>
            <a:ext cx="5486400" cy="1600200"/>
          </a:xfrm>
          <a:prstGeom prst="roundRect">
            <a:avLst>
              <a:gd name="adj" fmla="val 4571"/>
            </a:avLst>
          </a:prstGeom>
          <a:solidFill>
            <a:srgbClr val="F7FAFB"/>
          </a:solidFill>
          <a:ln w="12700">
            <a:solidFill>
              <a:srgbClr val="E1E8EB"/>
            </a:solidFill>
            <a:prstDash val="solid"/>
          </a:ln>
        </p:spPr>
        <p:txBody>
          <a:bodyPr/>
          <a:lstStyle/>
          <a:p>
            <a:endParaRPr lang="en-GB"/>
          </a:p>
        </p:txBody>
      </p:sp>
      <p:sp>
        <p:nvSpPr>
          <p:cNvPr id="9" name="Text 7"/>
          <p:cNvSpPr/>
          <p:nvPr/>
        </p:nvSpPr>
        <p:spPr>
          <a:xfrm>
            <a:off x="749808" y="3547872"/>
            <a:ext cx="4892040" cy="384048"/>
          </a:xfrm>
          <a:prstGeom prst="rect">
            <a:avLst/>
          </a:prstGeom>
          <a:noFill/>
          <a:ln/>
        </p:spPr>
        <p:txBody>
          <a:bodyPr wrap="square" lIns="0" tIns="0" rIns="0" bIns="0" rtlCol="0" anchor="ctr"/>
          <a:lstStyle/>
          <a:p>
            <a:pPr marL="0" indent="0" algn="ctr">
              <a:buNone/>
            </a:pPr>
            <a:r>
              <a:rPr lang="en-US" sz="1800" b="1" dirty="0">
                <a:solidFill>
                  <a:srgbClr val="16323D"/>
                </a:solidFill>
              </a:rPr>
              <a:t>MOTEL_PCT  =  21.340  +  0.865 COMP_PCT</a:t>
            </a:r>
            <a:endParaRPr lang="en-US" sz="1800" dirty="0"/>
          </a:p>
        </p:txBody>
      </p:sp>
      <p:sp>
        <p:nvSpPr>
          <p:cNvPr id="10" name="Text 8"/>
          <p:cNvSpPr/>
          <p:nvPr/>
        </p:nvSpPr>
        <p:spPr>
          <a:xfrm>
            <a:off x="1143000" y="4096512"/>
            <a:ext cx="4114800" cy="292608"/>
          </a:xfrm>
          <a:prstGeom prst="rect">
            <a:avLst/>
          </a:prstGeom>
          <a:noFill/>
          <a:ln/>
        </p:spPr>
        <p:txBody>
          <a:bodyPr wrap="square" lIns="0" tIns="0" rIns="0" bIns="0" rtlCol="0" anchor="ctr"/>
          <a:lstStyle/>
          <a:p>
            <a:pPr marL="0" indent="0" algn="ctr">
              <a:buNone/>
            </a:pPr>
            <a:r>
              <a:rPr lang="en-US" sz="1400" dirty="0">
                <a:solidFill>
                  <a:srgbClr val="66757C"/>
                </a:solidFill>
                <a:latin typeface="Aptos Mono" pitchFamily="34" charset="0"/>
                <a:ea typeface="Aptos Mono" pitchFamily="34" charset="-122"/>
                <a:cs typeface="Aptos Mono" pitchFamily="34" charset="-120"/>
              </a:rPr>
              <a:t>SE                 (12.907)       (0.203)</a:t>
            </a:r>
            <a:endParaRPr lang="en-US" sz="1400" dirty="0"/>
          </a:p>
        </p:txBody>
      </p:sp>
      <p:sp>
        <p:nvSpPr>
          <p:cNvPr id="11" name="Text 9"/>
          <p:cNvSpPr/>
          <p:nvPr/>
        </p:nvSpPr>
        <p:spPr>
          <a:xfrm>
            <a:off x="1554480" y="4507992"/>
            <a:ext cx="3200400" cy="237744"/>
          </a:xfrm>
          <a:prstGeom prst="rect">
            <a:avLst/>
          </a:prstGeom>
          <a:noFill/>
          <a:ln/>
        </p:spPr>
        <p:txBody>
          <a:bodyPr wrap="square" lIns="0" tIns="0" rIns="0" bIns="0" rtlCol="0" anchor="ctr"/>
          <a:lstStyle/>
          <a:p>
            <a:pPr marL="0" indent="0" algn="ctr">
              <a:buNone/>
            </a:pPr>
            <a:r>
              <a:rPr lang="en-US" sz="1200" dirty="0">
                <a:solidFill>
                  <a:srgbClr val="66757C"/>
                </a:solidFill>
              </a:rPr>
              <a:t>N = 25     df = 23</a:t>
            </a:r>
            <a:endParaRPr lang="en-US" sz="1200" dirty="0"/>
          </a:p>
        </p:txBody>
      </p:sp>
      <p:sp>
        <p:nvSpPr>
          <p:cNvPr id="12" name="Shape 10"/>
          <p:cNvSpPr/>
          <p:nvPr/>
        </p:nvSpPr>
        <p:spPr>
          <a:xfrm>
            <a:off x="6355080" y="1508760"/>
            <a:ext cx="4892040" cy="3337560"/>
          </a:xfrm>
          <a:prstGeom prst="roundRect">
            <a:avLst>
              <a:gd name="adj" fmla="val 2192"/>
            </a:avLst>
          </a:prstGeom>
          <a:solidFill>
            <a:srgbClr val="FFFFFF"/>
          </a:solidFill>
          <a:ln w="12700">
            <a:solidFill>
              <a:srgbClr val="DCE4E8"/>
            </a:solidFill>
            <a:prstDash val="solid"/>
          </a:ln>
        </p:spPr>
        <p:txBody>
          <a:bodyPr/>
          <a:lstStyle/>
          <a:p>
            <a:endParaRPr lang="en-GB"/>
          </a:p>
        </p:txBody>
      </p:sp>
      <p:sp>
        <p:nvSpPr>
          <p:cNvPr id="13" name="Text 11"/>
          <p:cNvSpPr/>
          <p:nvPr/>
        </p:nvSpPr>
        <p:spPr>
          <a:xfrm>
            <a:off x="6675120" y="1783080"/>
            <a:ext cx="1097280" cy="274320"/>
          </a:xfrm>
          <a:prstGeom prst="rect">
            <a:avLst/>
          </a:prstGeom>
          <a:noFill/>
          <a:ln/>
        </p:spPr>
        <p:txBody>
          <a:bodyPr wrap="square" lIns="0" tIns="0" rIns="0" bIns="0" rtlCol="0" anchor="ctr"/>
          <a:lstStyle/>
          <a:p>
            <a:pPr marL="0" indent="0">
              <a:buNone/>
            </a:pPr>
            <a:r>
              <a:rPr lang="en-US" sz="1200" b="1" dirty="0">
                <a:solidFill>
                  <a:srgbClr val="D71920"/>
                </a:solidFill>
              </a:rPr>
              <a:t>Question</a:t>
            </a:r>
            <a:endParaRPr lang="en-US" sz="1200" dirty="0"/>
          </a:p>
        </p:txBody>
      </p:sp>
      <p:sp>
        <p:nvSpPr>
          <p:cNvPr id="14" name="Text 12"/>
          <p:cNvSpPr/>
          <p:nvPr/>
        </p:nvSpPr>
        <p:spPr>
          <a:xfrm>
            <a:off x="6675120" y="2176272"/>
            <a:ext cx="4206240" cy="1024128"/>
          </a:xfrm>
          <a:prstGeom prst="rect">
            <a:avLst/>
          </a:prstGeom>
          <a:noFill/>
          <a:ln/>
        </p:spPr>
        <p:txBody>
          <a:bodyPr wrap="square" lIns="254" tIns="254" rIns="254" bIns="254" rtlCol="0" anchor="ctr">
            <a:normAutofit/>
          </a:bodyPr>
          <a:lstStyle/>
          <a:p>
            <a:pPr marL="0" indent="0">
              <a:buNone/>
            </a:pPr>
            <a:r>
              <a:rPr lang="en-US" sz="1600" dirty="0">
                <a:solidFill>
                  <a:srgbClr val="16323D"/>
                </a:solidFill>
              </a:rPr>
              <a:t>Do the data provide strong evidence that the competitor’s occupancy rate is positively associated with the motel’s occupancy rate?</a:t>
            </a:r>
            <a:endParaRPr lang="en-US" sz="1600" dirty="0"/>
          </a:p>
        </p:txBody>
      </p:sp>
      <p:sp>
        <p:nvSpPr>
          <p:cNvPr id="15" name="Text 13"/>
          <p:cNvSpPr/>
          <p:nvPr/>
        </p:nvSpPr>
        <p:spPr>
          <a:xfrm>
            <a:off x="6812280" y="3383280"/>
            <a:ext cx="2057400" cy="1024128"/>
          </a:xfrm>
          <a:prstGeom prst="rect">
            <a:avLst/>
          </a:prstGeom>
          <a:noFill/>
          <a:ln/>
        </p:spPr>
        <p:txBody>
          <a:bodyPr wrap="square" lIns="254" tIns="254" rIns="254" bIns="254" rtlCol="0" anchor="ctr"/>
          <a:lstStyle/>
          <a:p>
            <a:pPr marL="0" indent="0">
              <a:buNone/>
            </a:pPr>
            <a:r>
              <a:rPr lang="en-US" sz="2000" dirty="0">
                <a:solidFill>
                  <a:srgbClr val="16323D"/>
                </a:solidFill>
              </a:rPr>
              <a:t>H₀: β₂ ≤ 0</a:t>
            </a:r>
            <a:endParaRPr lang="en-US" sz="2000" dirty="0"/>
          </a:p>
          <a:p>
            <a:pPr marL="0" indent="0">
              <a:buNone/>
            </a:pPr>
            <a:r>
              <a:rPr lang="en-US" sz="2000" dirty="0">
                <a:solidFill>
                  <a:srgbClr val="16323D"/>
                </a:solidFill>
              </a:rPr>
              <a:t>H₁: β₂ &gt; 0</a:t>
            </a:r>
            <a:endParaRPr lang="en-US" sz="2000" dirty="0"/>
          </a:p>
          <a:p>
            <a:pPr marL="0" indent="0">
              <a:buNone/>
            </a:pPr>
            <a:r>
              <a:rPr lang="en-US" sz="2000" dirty="0">
                <a:solidFill>
                  <a:srgbClr val="16323D"/>
                </a:solidFill>
              </a:rPr>
              <a:t>α = 0.01</a:t>
            </a:r>
            <a:endParaRPr lang="en-US" sz="2000" dirty="0"/>
          </a:p>
        </p:txBody>
      </p:sp>
      <p:sp>
        <p:nvSpPr>
          <p:cNvPr id="16" name="Shape 14"/>
          <p:cNvSpPr/>
          <p:nvPr/>
        </p:nvSpPr>
        <p:spPr>
          <a:xfrm>
            <a:off x="9326880" y="3529584"/>
            <a:ext cx="1188720" cy="566928"/>
          </a:xfrm>
          <a:prstGeom prst="chevron">
            <a:avLst/>
          </a:prstGeom>
          <a:solidFill>
            <a:srgbClr val="D71920"/>
          </a:solidFill>
          <a:ln w="12700">
            <a:solidFill>
              <a:srgbClr val="D71920"/>
            </a:solidFill>
            <a:prstDash val="solid"/>
          </a:ln>
        </p:spPr>
        <p:txBody>
          <a:bodyPr/>
          <a:lstStyle/>
          <a:p>
            <a:endParaRPr lang="en-GB"/>
          </a:p>
        </p:txBody>
      </p:sp>
      <p:sp>
        <p:nvSpPr>
          <p:cNvPr id="17" name="Text 15"/>
          <p:cNvSpPr/>
          <p:nvPr/>
        </p:nvSpPr>
        <p:spPr>
          <a:xfrm>
            <a:off x="9198864" y="4187952"/>
            <a:ext cx="1508760" cy="256032"/>
          </a:xfrm>
          <a:prstGeom prst="rect">
            <a:avLst/>
          </a:prstGeom>
          <a:noFill/>
          <a:ln/>
        </p:spPr>
        <p:txBody>
          <a:bodyPr wrap="square" lIns="0" tIns="0" rIns="0" bIns="0" rtlCol="0" anchor="ctr"/>
          <a:lstStyle/>
          <a:p>
            <a:pPr marL="0" indent="0" algn="ctr">
              <a:buNone/>
            </a:pPr>
            <a:r>
              <a:rPr lang="en-US" sz="1100" b="1" dirty="0">
                <a:solidFill>
                  <a:srgbClr val="D71920"/>
                </a:solidFill>
              </a:rPr>
              <a:t>Right-tail</a:t>
            </a:r>
            <a:endParaRPr lang="en-US" sz="1100" dirty="0"/>
          </a:p>
        </p:txBody>
      </p:sp>
      <p:sp>
        <p:nvSpPr>
          <p:cNvPr id="18" name="Text 16"/>
          <p:cNvSpPr/>
          <p:nvPr/>
        </p:nvSpPr>
        <p:spPr>
          <a:xfrm>
            <a:off x="6949440" y="5175504"/>
            <a:ext cx="4297680" cy="320040"/>
          </a:xfrm>
          <a:prstGeom prst="rect">
            <a:avLst/>
          </a:prstGeom>
          <a:noFill/>
          <a:ln/>
        </p:spPr>
        <p:txBody>
          <a:bodyPr wrap="square" lIns="0" tIns="0" rIns="0" bIns="0" rtlCol="0" anchor="ctr"/>
          <a:lstStyle/>
          <a:p>
            <a:pPr marL="0" indent="0" algn="ctr">
              <a:buNone/>
            </a:pPr>
            <a:r>
              <a:rPr lang="en-US" sz="1500" b="1" dirty="0">
                <a:solidFill>
                  <a:srgbClr val="00566B"/>
                </a:solidFill>
              </a:rPr>
              <a:t>I will work this one through first.</a:t>
            </a:r>
            <a:endParaRPr lang="en-US" sz="1500" dirty="0"/>
          </a:p>
        </p:txBody>
      </p:sp>
      <p:sp>
        <p:nvSpPr>
          <p:cNvPr id="19" name="Text 17"/>
          <p:cNvSpPr/>
          <p:nvPr/>
        </p:nvSpPr>
        <p:spPr>
          <a:xfrm>
            <a:off x="502920" y="6144768"/>
            <a:ext cx="7315200" cy="182880"/>
          </a:xfrm>
          <a:prstGeom prst="rect">
            <a:avLst/>
          </a:prstGeom>
          <a:noFill/>
          <a:ln/>
        </p:spPr>
        <p:txBody>
          <a:bodyPr wrap="square" lIns="0" tIns="0" rIns="0" bIns="0" rtlCol="0" anchor="ctr"/>
          <a:lstStyle/>
          <a:p>
            <a:pPr marL="0" indent="0">
              <a:buNone/>
            </a:pPr>
            <a:r>
              <a:rPr lang="en-US" sz="750" dirty="0">
                <a:solidFill>
                  <a:srgbClr val="8B969B"/>
                </a:solidFill>
              </a:rPr>
              <a:t>Source: Hill, Griffiths &amp; Lim, Principles of Econometrics 5e, Exercise 3.19(c)</a:t>
            </a:r>
            <a:endParaRPr lang="en-US" sz="750" dirty="0"/>
          </a:p>
        </p:txBody>
      </p:sp>
      <p:sp>
        <p:nvSpPr>
          <p:cNvPr id="25" name="Slide Number Placeholder 0"/>
          <p:cNvSpPr>
            <a:spLocks noGrp="1"/>
          </p:cNvSpPr>
          <p:nvPr>
            <p:ph type="sldNum" sz="quarter" idx="4294967295"/>
          </p:nvPr>
        </p:nvSpPr>
        <p:spPr>
          <a:xfrm>
            <a:off x="11338560" y="6519672"/>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9AA3A8"/>
                </a:solidFill>
                <a:latin typeface="Aptos"/>
                <a:ea typeface="Aptos"/>
                <a:cs typeface="Aptos"/>
              </a:defRPr>
            </a:lvl1pPr>
          </a:lstStyle>
          <a:p>
            <a:pPr algn="l"/>
            <a:fld id="{F7021451-1387-4CA6-816F-3879F97B5CBC}" type="slidenum">
              <a:rPr lang="en-US" b="0"/>
              <a:t>37</a:t>
            </a:fld>
            <a:endParaRPr lang="en-US"/>
          </a:p>
        </p:txBody>
      </p:sp>
      <p:sp>
        <p:nvSpPr>
          <p:cNvPr id="21" name="Ellipse 20">
            <a:extLst>
              <a:ext uri="{FF2B5EF4-FFF2-40B4-BE49-F238E27FC236}">
                <a16:creationId xmlns:a16="http://schemas.microsoft.com/office/drawing/2014/main" id="{550B956F-429B-2248-B0D0-B5E65C3F368F}"/>
              </a:ext>
            </a:extLst>
          </p:cNvPr>
          <p:cNvSpPr/>
          <p:nvPr/>
        </p:nvSpPr>
        <p:spPr>
          <a:xfrm>
            <a:off x="10467377" y="184198"/>
            <a:ext cx="1354914" cy="627398"/>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GB" dirty="0"/>
              <a:t>Lab 9</a:t>
            </a:r>
          </a:p>
        </p:txBody>
      </p:sp>
      <p:sp>
        <p:nvSpPr>
          <p:cNvPr id="22" name="TekstSylinder 21">
            <a:extLst>
              <a:ext uri="{FF2B5EF4-FFF2-40B4-BE49-F238E27FC236}">
                <a16:creationId xmlns:a16="http://schemas.microsoft.com/office/drawing/2014/main" id="{273CA75A-4AA1-99AB-241F-0F91AA4B9918}"/>
              </a:ext>
            </a:extLst>
          </p:cNvPr>
          <p:cNvSpPr txBox="1"/>
          <p:nvPr/>
        </p:nvSpPr>
        <p:spPr>
          <a:xfrm>
            <a:off x="436098" y="5231481"/>
            <a:ext cx="7315200" cy="707886"/>
          </a:xfrm>
          <a:prstGeom prst="rect">
            <a:avLst/>
          </a:prstGeom>
          <a:noFill/>
        </p:spPr>
        <p:txBody>
          <a:bodyPr wrap="square">
            <a:spAutoFit/>
          </a:bodyPr>
          <a:lstStyle/>
          <a:p>
            <a:r>
              <a:rPr lang="en-US" sz="2000" b="1" dirty="0">
                <a:solidFill>
                  <a:srgbClr val="00566B"/>
                </a:solidFill>
              </a:rPr>
              <a:t>MOTEL_PCT: </a:t>
            </a:r>
            <a:r>
              <a:rPr lang="nb-NO" sz="2000" dirty="0" err="1"/>
              <a:t>Occupancy</a:t>
            </a:r>
            <a:r>
              <a:rPr lang="nb-NO" sz="2000" dirty="0"/>
              <a:t> rate </a:t>
            </a:r>
            <a:r>
              <a:rPr lang="nb-NO" sz="2000" dirty="0" err="1"/>
              <a:t>of</a:t>
            </a:r>
            <a:r>
              <a:rPr lang="nb-NO" sz="2000" dirty="0"/>
              <a:t> </a:t>
            </a:r>
            <a:r>
              <a:rPr lang="nb-NO" sz="2000" dirty="0" err="1"/>
              <a:t>the</a:t>
            </a:r>
            <a:r>
              <a:rPr lang="nb-NO" sz="2000" dirty="0"/>
              <a:t> </a:t>
            </a:r>
            <a:r>
              <a:rPr lang="nb-NO" sz="2000" dirty="0" err="1"/>
              <a:t>motel</a:t>
            </a:r>
            <a:r>
              <a:rPr lang="nb-NO" sz="2000" dirty="0"/>
              <a:t>, in </a:t>
            </a:r>
            <a:r>
              <a:rPr lang="nb-NO" sz="2000" dirty="0" err="1"/>
              <a:t>percent</a:t>
            </a:r>
            <a:endParaRPr lang="nb-NO" sz="2000" dirty="0"/>
          </a:p>
          <a:p>
            <a:r>
              <a:rPr lang="en-US" sz="2000" b="1" dirty="0">
                <a:solidFill>
                  <a:srgbClr val="00566B"/>
                </a:solidFill>
              </a:rPr>
              <a:t>COMP_PCT: </a:t>
            </a:r>
            <a:r>
              <a:rPr lang="nb-NO" sz="2000" dirty="0" err="1"/>
              <a:t>Occupancy</a:t>
            </a:r>
            <a:r>
              <a:rPr lang="nb-NO" sz="2000" dirty="0"/>
              <a:t> rate </a:t>
            </a:r>
            <a:r>
              <a:rPr lang="nb-NO" sz="2000" dirty="0" err="1"/>
              <a:t>of</a:t>
            </a:r>
            <a:r>
              <a:rPr lang="nb-NO" sz="2000" dirty="0"/>
              <a:t> </a:t>
            </a:r>
            <a:r>
              <a:rPr lang="nb-NO" sz="2000" dirty="0" err="1"/>
              <a:t>the</a:t>
            </a:r>
            <a:r>
              <a:rPr lang="nb-NO" sz="2000" dirty="0"/>
              <a:t> </a:t>
            </a:r>
            <a:r>
              <a:rPr lang="nb-NO" sz="2000" dirty="0" err="1"/>
              <a:t>competitor</a:t>
            </a:r>
            <a:r>
              <a:rPr lang="nb-NO" sz="2000" dirty="0"/>
              <a:t> </a:t>
            </a:r>
            <a:r>
              <a:rPr lang="nb-NO" sz="2000" dirty="0" err="1"/>
              <a:t>motel</a:t>
            </a:r>
            <a:r>
              <a:rPr lang="nb-NO" sz="2000" dirty="0"/>
              <a:t>, in </a:t>
            </a:r>
            <a:r>
              <a:rPr lang="nb-NO" sz="2000" dirty="0" err="1"/>
              <a:t>percent</a:t>
            </a:r>
            <a:r>
              <a:rPr lang="en-US" sz="2000" b="1" dirty="0">
                <a:solidFill>
                  <a:srgbClr val="00566B"/>
                </a:solidFill>
              </a:rPr>
              <a:t> </a:t>
            </a:r>
            <a:endParaRPr lang="nb-NO"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8912" y="438912"/>
            <a:ext cx="2743200" cy="201168"/>
          </a:xfrm>
          <a:prstGeom prst="rect">
            <a:avLst/>
          </a:prstGeom>
          <a:noFill/>
          <a:ln/>
        </p:spPr>
        <p:txBody>
          <a:bodyPr wrap="square" lIns="0" tIns="0" rIns="0" bIns="0" rtlCol="0" anchor="ctr"/>
          <a:lstStyle/>
          <a:p>
            <a:pPr marL="0" indent="0">
              <a:buNone/>
            </a:pPr>
            <a:r>
              <a:rPr lang="en-US" sz="800" b="1" kern="0" spc="40" dirty="0">
                <a:solidFill>
                  <a:srgbClr val="20B4D6"/>
                </a:solidFill>
              </a:rPr>
              <a:t>BOOK EXERCISE 3.19(C)</a:t>
            </a:r>
            <a:endParaRPr lang="en-US" sz="800" dirty="0"/>
          </a:p>
        </p:txBody>
      </p:sp>
      <p:sp>
        <p:nvSpPr>
          <p:cNvPr id="3" name="Text 1"/>
          <p:cNvSpPr/>
          <p:nvPr/>
        </p:nvSpPr>
        <p:spPr>
          <a:xfrm>
            <a:off x="438912" y="658368"/>
            <a:ext cx="10927080" cy="475488"/>
          </a:xfrm>
          <a:prstGeom prst="rect">
            <a:avLst/>
          </a:prstGeom>
          <a:noFill/>
          <a:ln/>
        </p:spPr>
        <p:txBody>
          <a:bodyPr wrap="square" lIns="0" tIns="0" rIns="0" bIns="0" rtlCol="0" anchor="ctr">
            <a:normAutofit/>
          </a:bodyPr>
          <a:lstStyle/>
          <a:p>
            <a:pPr marL="0" indent="0">
              <a:buNone/>
            </a:pPr>
            <a:r>
              <a:rPr lang="en-US" sz="2300" dirty="0">
                <a:solidFill>
                  <a:srgbClr val="16323D"/>
                </a:solidFill>
              </a:rPr>
              <a:t>Worked example — calculation and decision</a:t>
            </a:r>
            <a:endParaRPr lang="en-US" sz="2300" dirty="0"/>
          </a:p>
        </p:txBody>
      </p:sp>
      <p:sp>
        <p:nvSpPr>
          <p:cNvPr id="4" name="Text 2"/>
          <p:cNvSpPr/>
          <p:nvPr/>
        </p:nvSpPr>
        <p:spPr>
          <a:xfrm>
            <a:off x="502920" y="1298448"/>
            <a:ext cx="1828800" cy="274320"/>
          </a:xfrm>
          <a:prstGeom prst="rect">
            <a:avLst/>
          </a:prstGeom>
          <a:noFill/>
          <a:ln/>
        </p:spPr>
        <p:txBody>
          <a:bodyPr wrap="square" lIns="0" tIns="0" rIns="0" bIns="0" rtlCol="0" anchor="ctr"/>
          <a:lstStyle/>
          <a:p>
            <a:pPr marL="0" indent="0">
              <a:buNone/>
            </a:pPr>
            <a:r>
              <a:rPr lang="en-US" sz="1200" b="1" dirty="0">
                <a:solidFill>
                  <a:srgbClr val="20B4D6"/>
                </a:solidFill>
              </a:rPr>
              <a:t>1. Test statistic</a:t>
            </a:r>
            <a:endParaRPr lang="en-US" sz="1200" dirty="0"/>
          </a:p>
        </p:txBody>
      </p:sp>
      <p:sp>
        <p:nvSpPr>
          <p:cNvPr id="5" name="Shape 3"/>
          <p:cNvSpPr/>
          <p:nvPr/>
        </p:nvSpPr>
        <p:spPr>
          <a:xfrm>
            <a:off x="475488" y="1627632"/>
            <a:ext cx="5120640" cy="1353312"/>
          </a:xfrm>
          <a:prstGeom prst="roundRect">
            <a:avLst/>
          </a:prstGeom>
          <a:solidFill>
            <a:srgbClr val="F4F6F7"/>
          </a:solidFill>
          <a:ln w="10160">
            <a:solidFill>
              <a:srgbClr val="D5DEE2"/>
            </a:solidFill>
            <a:prstDash val="solid"/>
          </a:ln>
        </p:spPr>
        <p:txBody>
          <a:bodyPr/>
          <a:lstStyle/>
          <a:p>
            <a:endParaRPr lang="en-GB"/>
          </a:p>
        </p:txBody>
      </p:sp>
      <p:sp>
        <p:nvSpPr>
          <p:cNvPr id="6" name="Text 4"/>
          <p:cNvSpPr/>
          <p:nvPr/>
        </p:nvSpPr>
        <p:spPr>
          <a:xfrm>
            <a:off x="640080" y="1773936"/>
            <a:ext cx="4791456" cy="1078992"/>
          </a:xfrm>
          <a:prstGeom prst="rect">
            <a:avLst/>
          </a:prstGeom>
          <a:noFill/>
          <a:ln/>
        </p:spPr>
        <p:txBody>
          <a:bodyPr wrap="square" lIns="0" tIns="0" rIns="0" bIns="0" rtlCol="0" anchor="ctr">
            <a:normAutofit/>
          </a:bodyPr>
          <a:lstStyle/>
          <a:p>
            <a:pPr marL="0" indent="0">
              <a:buNone/>
            </a:pPr>
            <a:r>
              <a:rPr lang="en-US" sz="1400" dirty="0">
                <a:solidFill>
                  <a:srgbClr val="24343B"/>
                </a:solidFill>
                <a:latin typeface="Aptos Mono" pitchFamily="34" charset="0"/>
                <a:ea typeface="Aptos Mono" pitchFamily="34" charset="-122"/>
                <a:cs typeface="Aptos Mono" pitchFamily="34" charset="-120"/>
              </a:rPr>
              <a:t>motel_t &lt;- (motel_b2 - 0) / motel_se_b2</a:t>
            </a:r>
            <a:endParaRPr lang="en-US" sz="1400" dirty="0"/>
          </a:p>
          <a:p>
            <a:pPr marL="0" indent="0">
              <a:buNone/>
            </a:pPr>
            <a:r>
              <a:rPr lang="en-US" sz="1400" dirty="0">
                <a:solidFill>
                  <a:srgbClr val="24343B"/>
                </a:solidFill>
                <a:latin typeface="Aptos Mono" pitchFamily="34" charset="0"/>
                <a:ea typeface="Aptos Mono" pitchFamily="34" charset="-122"/>
                <a:cs typeface="Aptos Mono" pitchFamily="34" charset="-120"/>
              </a:rPr>
              <a:t>motel_t</a:t>
            </a:r>
            <a:endParaRPr lang="en-US" sz="1400" dirty="0"/>
          </a:p>
          <a:p>
            <a:pPr marL="0" indent="0">
              <a:buNone/>
            </a:pPr>
            <a:r>
              <a:rPr lang="en-US" sz="1400" dirty="0">
                <a:solidFill>
                  <a:srgbClr val="24343B"/>
                </a:solidFill>
                <a:latin typeface="Aptos Mono" pitchFamily="34" charset="0"/>
                <a:ea typeface="Aptos Mono" pitchFamily="34" charset="-122"/>
                <a:cs typeface="Aptos Mono" pitchFamily="34" charset="-120"/>
              </a:rPr>
              <a:t># 4.27</a:t>
            </a:r>
            <a:endParaRPr lang="en-US" sz="1400" dirty="0"/>
          </a:p>
        </p:txBody>
      </p:sp>
      <p:sp>
        <p:nvSpPr>
          <p:cNvPr id="7" name="Text 5"/>
          <p:cNvSpPr/>
          <p:nvPr/>
        </p:nvSpPr>
        <p:spPr>
          <a:xfrm>
            <a:off x="502920" y="3246120"/>
            <a:ext cx="3108960" cy="274320"/>
          </a:xfrm>
          <a:prstGeom prst="rect">
            <a:avLst/>
          </a:prstGeom>
          <a:noFill/>
          <a:ln/>
        </p:spPr>
        <p:txBody>
          <a:bodyPr wrap="square" lIns="0" tIns="0" rIns="0" bIns="0" rtlCol="0" anchor="ctr"/>
          <a:lstStyle/>
          <a:p>
            <a:pPr marL="0" indent="0">
              <a:buNone/>
            </a:pPr>
            <a:r>
              <a:rPr lang="en-US" sz="1200" b="1" dirty="0">
                <a:solidFill>
                  <a:srgbClr val="20B4D6"/>
                </a:solidFill>
              </a:rPr>
              <a:t>2. Critical value, right-tail α = 0.01</a:t>
            </a:r>
            <a:endParaRPr lang="en-US" sz="1200" dirty="0"/>
          </a:p>
        </p:txBody>
      </p:sp>
      <p:sp>
        <p:nvSpPr>
          <p:cNvPr id="8" name="Shape 6"/>
          <p:cNvSpPr/>
          <p:nvPr/>
        </p:nvSpPr>
        <p:spPr>
          <a:xfrm>
            <a:off x="475488" y="3566160"/>
            <a:ext cx="5120640" cy="1051560"/>
          </a:xfrm>
          <a:prstGeom prst="roundRect">
            <a:avLst/>
          </a:prstGeom>
          <a:solidFill>
            <a:srgbClr val="F4F6F7"/>
          </a:solidFill>
          <a:ln w="10160">
            <a:solidFill>
              <a:srgbClr val="D5DEE2"/>
            </a:solidFill>
            <a:prstDash val="solid"/>
          </a:ln>
        </p:spPr>
        <p:txBody>
          <a:bodyPr/>
          <a:lstStyle/>
          <a:p>
            <a:endParaRPr lang="en-GB"/>
          </a:p>
        </p:txBody>
      </p:sp>
      <p:sp>
        <p:nvSpPr>
          <p:cNvPr id="9" name="Text 7"/>
          <p:cNvSpPr/>
          <p:nvPr/>
        </p:nvSpPr>
        <p:spPr>
          <a:xfrm>
            <a:off x="640080" y="3712464"/>
            <a:ext cx="4791456" cy="777240"/>
          </a:xfrm>
          <a:prstGeom prst="rect">
            <a:avLst/>
          </a:prstGeom>
          <a:noFill/>
          <a:ln/>
        </p:spPr>
        <p:txBody>
          <a:bodyPr wrap="square" lIns="0" tIns="0" rIns="0" bIns="0" rtlCol="0" anchor="ctr">
            <a:normAutofit/>
          </a:bodyPr>
          <a:lstStyle/>
          <a:p>
            <a:pPr marL="0" indent="0">
              <a:buNone/>
            </a:pPr>
            <a:r>
              <a:rPr lang="en-US" sz="1400" dirty="0">
                <a:solidFill>
                  <a:srgbClr val="24343B"/>
                </a:solidFill>
                <a:latin typeface="Aptos Mono" pitchFamily="34" charset="0"/>
                <a:ea typeface="Aptos Mono" pitchFamily="34" charset="-122"/>
                <a:cs typeface="Aptos Mono" pitchFamily="34" charset="-120"/>
              </a:rPr>
              <a:t>qt(0.99, df = 23)</a:t>
            </a:r>
            <a:endParaRPr lang="en-US" sz="1400" dirty="0"/>
          </a:p>
          <a:p>
            <a:pPr marL="0" indent="0">
              <a:buNone/>
            </a:pPr>
            <a:r>
              <a:rPr lang="en-US" sz="1400" dirty="0">
                <a:solidFill>
                  <a:srgbClr val="24343B"/>
                </a:solidFill>
                <a:latin typeface="Aptos Mono" pitchFamily="34" charset="0"/>
                <a:ea typeface="Aptos Mono" pitchFamily="34" charset="-122"/>
                <a:cs typeface="Aptos Mono" pitchFamily="34" charset="-120"/>
              </a:rPr>
              <a:t># 2.50</a:t>
            </a:r>
            <a:endParaRPr lang="en-US" sz="1400" dirty="0"/>
          </a:p>
        </p:txBody>
      </p:sp>
      <p:sp>
        <p:nvSpPr>
          <p:cNvPr id="10" name="Text 8"/>
          <p:cNvSpPr/>
          <p:nvPr/>
        </p:nvSpPr>
        <p:spPr>
          <a:xfrm>
            <a:off x="502920" y="4910328"/>
            <a:ext cx="1645920" cy="274320"/>
          </a:xfrm>
          <a:prstGeom prst="rect">
            <a:avLst/>
          </a:prstGeom>
          <a:noFill/>
          <a:ln/>
        </p:spPr>
        <p:txBody>
          <a:bodyPr wrap="square" lIns="0" tIns="0" rIns="0" bIns="0" rtlCol="0" anchor="ctr"/>
          <a:lstStyle/>
          <a:p>
            <a:pPr marL="0" indent="0">
              <a:buNone/>
            </a:pPr>
            <a:r>
              <a:rPr lang="en-US" sz="1200" b="1" dirty="0">
                <a:solidFill>
                  <a:srgbClr val="20B4D6"/>
                </a:solidFill>
              </a:rPr>
              <a:t>3. p-value</a:t>
            </a:r>
            <a:endParaRPr lang="en-US" sz="1200" dirty="0"/>
          </a:p>
        </p:txBody>
      </p:sp>
      <p:sp>
        <p:nvSpPr>
          <p:cNvPr id="11" name="Shape 9"/>
          <p:cNvSpPr/>
          <p:nvPr/>
        </p:nvSpPr>
        <p:spPr>
          <a:xfrm>
            <a:off x="475488" y="5212080"/>
            <a:ext cx="5120640" cy="914400"/>
          </a:xfrm>
          <a:prstGeom prst="roundRect">
            <a:avLst/>
          </a:prstGeom>
          <a:solidFill>
            <a:srgbClr val="F4F6F7"/>
          </a:solidFill>
          <a:ln w="10160">
            <a:solidFill>
              <a:srgbClr val="D5DEE2"/>
            </a:solidFill>
            <a:prstDash val="solid"/>
          </a:ln>
        </p:spPr>
        <p:txBody>
          <a:bodyPr/>
          <a:lstStyle/>
          <a:p>
            <a:endParaRPr lang="en-GB"/>
          </a:p>
        </p:txBody>
      </p:sp>
      <p:sp>
        <p:nvSpPr>
          <p:cNvPr id="12" name="Text 10"/>
          <p:cNvSpPr/>
          <p:nvPr/>
        </p:nvSpPr>
        <p:spPr>
          <a:xfrm>
            <a:off x="640080" y="5358384"/>
            <a:ext cx="4791456" cy="640080"/>
          </a:xfrm>
          <a:prstGeom prst="rect">
            <a:avLst/>
          </a:prstGeom>
          <a:noFill/>
          <a:ln/>
        </p:spPr>
        <p:txBody>
          <a:bodyPr wrap="square" lIns="0" tIns="0" rIns="0" bIns="0" rtlCol="0" anchor="ctr">
            <a:normAutofit/>
          </a:bodyPr>
          <a:lstStyle/>
          <a:p>
            <a:pPr marL="0" indent="0">
              <a:buNone/>
            </a:pPr>
            <a:r>
              <a:rPr lang="en-US" sz="1400" dirty="0">
                <a:solidFill>
                  <a:srgbClr val="24343B"/>
                </a:solidFill>
                <a:latin typeface="Aptos Mono" pitchFamily="34" charset="0"/>
                <a:ea typeface="Aptos Mono" pitchFamily="34" charset="-122"/>
                <a:cs typeface="Aptos Mono" pitchFamily="34" charset="-120"/>
              </a:rPr>
              <a:t>1 - pt(motel_t, df = 23)</a:t>
            </a:r>
            <a:endParaRPr lang="en-US" sz="1400" dirty="0"/>
          </a:p>
          <a:p>
            <a:pPr marL="0" indent="0">
              <a:buNone/>
            </a:pPr>
            <a:r>
              <a:rPr lang="en-US" sz="1400" dirty="0">
                <a:solidFill>
                  <a:srgbClr val="24343B"/>
                </a:solidFill>
                <a:latin typeface="Aptos Mono" pitchFamily="34" charset="0"/>
                <a:ea typeface="Aptos Mono" pitchFamily="34" charset="-122"/>
                <a:cs typeface="Aptos Mono" pitchFamily="34" charset="-120"/>
              </a:rPr>
              <a:t># &lt; 0.001</a:t>
            </a:r>
            <a:endParaRPr lang="en-US" sz="1400" dirty="0"/>
          </a:p>
        </p:txBody>
      </p:sp>
      <p:sp>
        <p:nvSpPr>
          <p:cNvPr id="13" name="Shape 11"/>
          <p:cNvSpPr/>
          <p:nvPr/>
        </p:nvSpPr>
        <p:spPr>
          <a:xfrm>
            <a:off x="6035040" y="1417320"/>
            <a:ext cx="5166360" cy="2103120"/>
          </a:xfrm>
          <a:prstGeom prst="roundRect">
            <a:avLst>
              <a:gd name="adj" fmla="val 3478"/>
            </a:avLst>
          </a:prstGeom>
          <a:solidFill>
            <a:srgbClr val="DDF4F9"/>
          </a:solidFill>
          <a:ln w="12700">
            <a:solidFill>
              <a:srgbClr val="CDEBF1"/>
            </a:solidFill>
            <a:prstDash val="solid"/>
          </a:ln>
        </p:spPr>
        <p:txBody>
          <a:bodyPr/>
          <a:lstStyle/>
          <a:p>
            <a:endParaRPr lang="en-GB"/>
          </a:p>
        </p:txBody>
      </p:sp>
      <p:sp>
        <p:nvSpPr>
          <p:cNvPr id="14" name="Text 12"/>
          <p:cNvSpPr/>
          <p:nvPr/>
        </p:nvSpPr>
        <p:spPr>
          <a:xfrm>
            <a:off x="6355080" y="1719072"/>
            <a:ext cx="1280160" cy="274320"/>
          </a:xfrm>
          <a:prstGeom prst="rect">
            <a:avLst/>
          </a:prstGeom>
          <a:noFill/>
          <a:ln/>
        </p:spPr>
        <p:txBody>
          <a:bodyPr wrap="square" lIns="0" tIns="0" rIns="0" bIns="0" rtlCol="0" anchor="ctr"/>
          <a:lstStyle/>
          <a:p>
            <a:pPr marL="0" indent="0">
              <a:buNone/>
            </a:pPr>
            <a:r>
              <a:rPr lang="en-US" sz="1500" b="1" dirty="0">
                <a:solidFill>
                  <a:srgbClr val="00566B"/>
                </a:solidFill>
              </a:rPr>
              <a:t>Decision</a:t>
            </a:r>
            <a:endParaRPr lang="en-US" sz="1500" dirty="0"/>
          </a:p>
        </p:txBody>
      </p:sp>
      <p:sp>
        <p:nvSpPr>
          <p:cNvPr id="15" name="Text 13"/>
          <p:cNvSpPr/>
          <p:nvPr/>
        </p:nvSpPr>
        <p:spPr>
          <a:xfrm>
            <a:off x="6446520" y="2212848"/>
            <a:ext cx="4297680" cy="384048"/>
          </a:xfrm>
          <a:prstGeom prst="rect">
            <a:avLst/>
          </a:prstGeom>
          <a:noFill/>
          <a:ln/>
        </p:spPr>
        <p:txBody>
          <a:bodyPr wrap="square" lIns="0" tIns="0" rIns="0" bIns="0" rtlCol="0" anchor="ctr"/>
          <a:lstStyle/>
          <a:p>
            <a:pPr marL="0" indent="0" algn="ctr">
              <a:buNone/>
            </a:pPr>
            <a:r>
              <a:rPr lang="en-US" sz="2300" b="1" dirty="0">
                <a:solidFill>
                  <a:srgbClr val="16323D"/>
                </a:solidFill>
              </a:rPr>
              <a:t>t = 4.27  &gt;  2.50</a:t>
            </a:r>
            <a:endParaRPr lang="en-US" sz="2300" dirty="0"/>
          </a:p>
        </p:txBody>
      </p:sp>
      <p:sp>
        <p:nvSpPr>
          <p:cNvPr id="16" name="Text 14"/>
          <p:cNvSpPr/>
          <p:nvPr/>
        </p:nvSpPr>
        <p:spPr>
          <a:xfrm>
            <a:off x="6446520" y="2706624"/>
            <a:ext cx="4297680" cy="347472"/>
          </a:xfrm>
          <a:prstGeom prst="rect">
            <a:avLst/>
          </a:prstGeom>
          <a:noFill/>
          <a:ln/>
        </p:spPr>
        <p:txBody>
          <a:bodyPr wrap="square" lIns="0" tIns="0" rIns="0" bIns="0" rtlCol="0" anchor="ctr"/>
          <a:lstStyle/>
          <a:p>
            <a:pPr marL="0" indent="0" algn="ctr">
              <a:buNone/>
            </a:pPr>
            <a:r>
              <a:rPr lang="en-US" sz="1800" dirty="0">
                <a:solidFill>
                  <a:srgbClr val="16323D"/>
                </a:solidFill>
              </a:rPr>
              <a:t>and  p &lt; 0.01</a:t>
            </a:r>
            <a:endParaRPr lang="en-US" sz="1800" dirty="0"/>
          </a:p>
        </p:txBody>
      </p:sp>
      <p:sp>
        <p:nvSpPr>
          <p:cNvPr id="17" name="Shape 15"/>
          <p:cNvSpPr/>
          <p:nvPr/>
        </p:nvSpPr>
        <p:spPr>
          <a:xfrm>
            <a:off x="6035040" y="3822192"/>
            <a:ext cx="5166360" cy="1463040"/>
          </a:xfrm>
          <a:prstGeom prst="roundRect">
            <a:avLst>
              <a:gd name="adj" fmla="val 5000"/>
            </a:avLst>
          </a:prstGeom>
          <a:solidFill>
            <a:srgbClr val="FCE9EA"/>
          </a:solidFill>
          <a:ln w="12700">
            <a:solidFill>
              <a:srgbClr val="F3D0D3"/>
            </a:solidFill>
            <a:prstDash val="solid"/>
          </a:ln>
        </p:spPr>
        <p:txBody>
          <a:bodyPr/>
          <a:lstStyle/>
          <a:p>
            <a:endParaRPr lang="en-GB"/>
          </a:p>
        </p:txBody>
      </p:sp>
      <p:sp>
        <p:nvSpPr>
          <p:cNvPr id="18" name="Text 16"/>
          <p:cNvSpPr/>
          <p:nvPr/>
        </p:nvSpPr>
        <p:spPr>
          <a:xfrm>
            <a:off x="6400800" y="4114800"/>
            <a:ext cx="4389120" cy="347472"/>
          </a:xfrm>
          <a:prstGeom prst="rect">
            <a:avLst/>
          </a:prstGeom>
          <a:noFill/>
          <a:ln/>
        </p:spPr>
        <p:txBody>
          <a:bodyPr wrap="square" lIns="0" tIns="0" rIns="0" bIns="0" rtlCol="0" anchor="ctr"/>
          <a:lstStyle/>
          <a:p>
            <a:pPr marL="0" indent="0" algn="ctr">
              <a:buNone/>
            </a:pPr>
            <a:r>
              <a:rPr lang="en-US" sz="2300" b="1" dirty="0">
                <a:solidFill>
                  <a:srgbClr val="D71920"/>
                </a:solidFill>
              </a:rPr>
              <a:t>Reject H₀</a:t>
            </a:r>
            <a:endParaRPr lang="en-US" sz="2300" dirty="0"/>
          </a:p>
        </p:txBody>
      </p:sp>
      <p:sp>
        <p:nvSpPr>
          <p:cNvPr id="19" name="Text 17"/>
          <p:cNvSpPr/>
          <p:nvPr/>
        </p:nvSpPr>
        <p:spPr>
          <a:xfrm>
            <a:off x="6537960" y="4590288"/>
            <a:ext cx="4114800" cy="502920"/>
          </a:xfrm>
          <a:prstGeom prst="rect">
            <a:avLst/>
          </a:prstGeom>
          <a:noFill/>
          <a:ln/>
        </p:spPr>
        <p:txBody>
          <a:bodyPr wrap="square" lIns="254" tIns="254" rIns="254" bIns="254" rtlCol="0" anchor="ctr">
            <a:normAutofit fontScale="92500"/>
          </a:bodyPr>
          <a:lstStyle/>
          <a:p>
            <a:pPr marL="0" indent="0" algn="ctr">
              <a:buNone/>
            </a:pPr>
            <a:r>
              <a:rPr lang="en-US" sz="1400" dirty="0">
                <a:solidFill>
                  <a:srgbClr val="16323D"/>
                </a:solidFill>
              </a:rPr>
              <a:t>At the 1% level, the data provide evidence of a positive association between the two occupancy rates.</a:t>
            </a:r>
            <a:endParaRPr lang="en-US" sz="1400" dirty="0"/>
          </a:p>
        </p:txBody>
      </p:sp>
      <p:sp>
        <p:nvSpPr>
          <p:cNvPr id="20" name="Text 18"/>
          <p:cNvSpPr/>
          <p:nvPr/>
        </p:nvSpPr>
        <p:spPr>
          <a:xfrm>
            <a:off x="6199632" y="5650992"/>
            <a:ext cx="4846320" cy="310896"/>
          </a:xfrm>
          <a:prstGeom prst="rect">
            <a:avLst/>
          </a:prstGeom>
          <a:noFill/>
          <a:ln/>
        </p:spPr>
        <p:txBody>
          <a:bodyPr wrap="square" lIns="0" tIns="0" rIns="0" bIns="0" rtlCol="0" anchor="ctr"/>
          <a:lstStyle/>
          <a:p>
            <a:pPr marL="0" indent="0" algn="ctr">
              <a:buNone/>
            </a:pPr>
            <a:r>
              <a:rPr lang="en-US" sz="1300" i="1" dirty="0">
                <a:solidFill>
                  <a:srgbClr val="66757C"/>
                </a:solidFill>
              </a:rPr>
              <a:t>Always return to the economic question after the calculation.</a:t>
            </a:r>
            <a:endParaRPr lang="en-US" sz="1300" dirty="0"/>
          </a:p>
        </p:txBody>
      </p:sp>
      <p:sp>
        <p:nvSpPr>
          <p:cNvPr id="25" name="Slide Number Placeholder 0"/>
          <p:cNvSpPr>
            <a:spLocks noGrp="1"/>
          </p:cNvSpPr>
          <p:nvPr>
            <p:ph type="sldNum" sz="quarter" idx="4294967295"/>
          </p:nvPr>
        </p:nvSpPr>
        <p:spPr>
          <a:xfrm>
            <a:off x="11338560" y="6519672"/>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9AA3A8"/>
                </a:solidFill>
                <a:latin typeface="Aptos"/>
                <a:ea typeface="Aptos"/>
                <a:cs typeface="Aptos"/>
              </a:defRPr>
            </a:lvl1pPr>
          </a:lstStyle>
          <a:p>
            <a:pPr algn="l"/>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8912" y="438912"/>
            <a:ext cx="2743200" cy="201168"/>
          </a:xfrm>
          <a:prstGeom prst="rect">
            <a:avLst/>
          </a:prstGeom>
          <a:noFill/>
          <a:ln/>
        </p:spPr>
        <p:txBody>
          <a:bodyPr wrap="square" lIns="0" tIns="0" rIns="0" bIns="0" rtlCol="0" anchor="ctr"/>
          <a:lstStyle/>
          <a:p>
            <a:pPr marL="0" indent="0">
              <a:buNone/>
            </a:pPr>
            <a:r>
              <a:rPr lang="en-US" sz="800" b="1" kern="0" spc="40" dirty="0">
                <a:solidFill>
                  <a:srgbClr val="20B4D6"/>
                </a:solidFill>
              </a:rPr>
              <a:t>BOOK EXERCISE 3.19(D)</a:t>
            </a:r>
            <a:endParaRPr lang="en-US" sz="800" dirty="0"/>
          </a:p>
        </p:txBody>
      </p:sp>
      <p:sp>
        <p:nvSpPr>
          <p:cNvPr id="3" name="Text 1"/>
          <p:cNvSpPr/>
          <p:nvPr/>
        </p:nvSpPr>
        <p:spPr>
          <a:xfrm>
            <a:off x="438912" y="658368"/>
            <a:ext cx="10927080" cy="475488"/>
          </a:xfrm>
          <a:prstGeom prst="rect">
            <a:avLst/>
          </a:prstGeom>
          <a:noFill/>
          <a:ln/>
        </p:spPr>
        <p:txBody>
          <a:bodyPr wrap="square" lIns="0" tIns="0" rIns="0" bIns="0" rtlCol="0" anchor="ctr">
            <a:normAutofit/>
          </a:bodyPr>
          <a:lstStyle/>
          <a:p>
            <a:pPr marL="0" indent="0">
              <a:buNone/>
            </a:pPr>
            <a:r>
              <a:rPr lang="en-US" sz="2300" dirty="0">
                <a:solidFill>
                  <a:srgbClr val="16323D"/>
                </a:solidFill>
              </a:rPr>
              <a:t>Your turn — same data, a different claim</a:t>
            </a:r>
            <a:endParaRPr lang="en-US" sz="2300" dirty="0"/>
          </a:p>
        </p:txBody>
      </p:sp>
      <p:sp>
        <p:nvSpPr>
          <p:cNvPr id="4" name="Shape 2"/>
          <p:cNvSpPr/>
          <p:nvPr/>
        </p:nvSpPr>
        <p:spPr>
          <a:xfrm>
            <a:off x="502920" y="1353312"/>
            <a:ext cx="4480560" cy="1920240"/>
          </a:xfrm>
          <a:prstGeom prst="roundRect">
            <a:avLst>
              <a:gd name="adj" fmla="val 3810"/>
            </a:avLst>
          </a:prstGeom>
          <a:solidFill>
            <a:srgbClr val="DDF4F9"/>
          </a:solidFill>
          <a:ln w="12700">
            <a:solidFill>
              <a:srgbClr val="CDEBF1"/>
            </a:solidFill>
            <a:prstDash val="solid"/>
          </a:ln>
        </p:spPr>
        <p:txBody>
          <a:bodyPr/>
          <a:lstStyle/>
          <a:p>
            <a:endParaRPr lang="en-GB"/>
          </a:p>
        </p:txBody>
      </p:sp>
      <p:sp>
        <p:nvSpPr>
          <p:cNvPr id="5" name="Text 3"/>
          <p:cNvSpPr/>
          <p:nvPr/>
        </p:nvSpPr>
        <p:spPr>
          <a:xfrm>
            <a:off x="804672" y="1636776"/>
            <a:ext cx="731520" cy="256032"/>
          </a:xfrm>
          <a:prstGeom prst="rect">
            <a:avLst/>
          </a:prstGeom>
          <a:noFill/>
          <a:ln/>
        </p:spPr>
        <p:txBody>
          <a:bodyPr wrap="square" lIns="0" tIns="0" rIns="0" bIns="0" rtlCol="0" anchor="ctr"/>
          <a:lstStyle/>
          <a:p>
            <a:pPr marL="0" indent="0">
              <a:buNone/>
            </a:pPr>
            <a:r>
              <a:rPr lang="en-US" sz="1200" b="1" dirty="0">
                <a:solidFill>
                  <a:srgbClr val="00566B"/>
                </a:solidFill>
              </a:rPr>
              <a:t>Test</a:t>
            </a:r>
            <a:endParaRPr lang="en-US" sz="1200" dirty="0"/>
          </a:p>
        </p:txBody>
      </p:sp>
      <p:sp>
        <p:nvSpPr>
          <p:cNvPr id="6" name="Text 4"/>
          <p:cNvSpPr/>
          <p:nvPr/>
        </p:nvSpPr>
        <p:spPr>
          <a:xfrm>
            <a:off x="914400" y="2029968"/>
            <a:ext cx="3383280" cy="914400"/>
          </a:xfrm>
          <a:prstGeom prst="rect">
            <a:avLst/>
          </a:prstGeom>
          <a:noFill/>
          <a:ln/>
        </p:spPr>
        <p:txBody>
          <a:bodyPr wrap="square" lIns="0" tIns="0" rIns="0" bIns="0" rtlCol="0" anchor="ctr"/>
          <a:lstStyle/>
          <a:p>
            <a:pPr marL="0" indent="0" algn="ctr">
              <a:buNone/>
            </a:pPr>
            <a:r>
              <a:rPr lang="en-US" sz="2200" dirty="0">
                <a:solidFill>
                  <a:srgbClr val="16323D"/>
                </a:solidFill>
              </a:rPr>
              <a:t>H₀: β₂ = 1</a:t>
            </a:r>
            <a:endParaRPr lang="en-US" sz="2200" dirty="0"/>
          </a:p>
          <a:p>
            <a:pPr marL="0" indent="0" algn="ctr">
              <a:buNone/>
            </a:pPr>
            <a:r>
              <a:rPr lang="en-US" sz="2200" dirty="0">
                <a:solidFill>
                  <a:srgbClr val="16323D"/>
                </a:solidFill>
              </a:rPr>
              <a:t>H₁: β₂ ≠ 1</a:t>
            </a:r>
            <a:endParaRPr lang="en-US" sz="2200" dirty="0"/>
          </a:p>
          <a:p>
            <a:pPr marL="0" indent="0" algn="ctr">
              <a:buNone/>
            </a:pPr>
            <a:r>
              <a:rPr lang="en-US" sz="2200" dirty="0">
                <a:solidFill>
                  <a:srgbClr val="16323D"/>
                </a:solidFill>
              </a:rPr>
              <a:t>α = 0.01</a:t>
            </a:r>
            <a:endParaRPr lang="en-US" sz="2200" dirty="0"/>
          </a:p>
        </p:txBody>
      </p:sp>
      <p:sp>
        <p:nvSpPr>
          <p:cNvPr id="7" name="Text 5"/>
          <p:cNvSpPr/>
          <p:nvPr/>
        </p:nvSpPr>
        <p:spPr>
          <a:xfrm>
            <a:off x="640080" y="3611880"/>
            <a:ext cx="4160520" cy="384048"/>
          </a:xfrm>
          <a:prstGeom prst="rect">
            <a:avLst/>
          </a:prstGeom>
          <a:noFill/>
          <a:ln/>
        </p:spPr>
        <p:txBody>
          <a:bodyPr wrap="square" lIns="0" tIns="0" rIns="0" bIns="0" rtlCol="0" anchor="ctr"/>
          <a:lstStyle/>
          <a:p>
            <a:pPr marL="0" indent="0" algn="ctr">
              <a:buNone/>
            </a:pPr>
            <a:r>
              <a:rPr lang="en-US" sz="1600" b="1" dirty="0">
                <a:solidFill>
                  <a:srgbClr val="D71920"/>
                </a:solidFill>
              </a:rPr>
              <a:t>What would β₂ = 1 mean economically?</a:t>
            </a:r>
            <a:endParaRPr lang="en-US" sz="1600" dirty="0"/>
          </a:p>
        </p:txBody>
      </p:sp>
      <p:sp>
        <p:nvSpPr>
          <p:cNvPr id="8" name="Text 6"/>
          <p:cNvSpPr/>
          <p:nvPr/>
        </p:nvSpPr>
        <p:spPr>
          <a:xfrm>
            <a:off x="685800" y="4160520"/>
            <a:ext cx="4069080" cy="320040"/>
          </a:xfrm>
          <a:prstGeom prst="rect">
            <a:avLst/>
          </a:prstGeom>
          <a:noFill/>
          <a:ln/>
        </p:spPr>
        <p:txBody>
          <a:bodyPr wrap="square" lIns="0" tIns="0" rIns="0" bIns="0" rtlCol="0" anchor="ctr"/>
          <a:lstStyle/>
          <a:p>
            <a:pPr marL="0" indent="0" algn="ctr">
              <a:buNone/>
            </a:pPr>
            <a:r>
              <a:rPr lang="en-US" sz="1400" dirty="0">
                <a:solidFill>
                  <a:srgbClr val="66757C"/>
                </a:solidFill>
              </a:rPr>
              <a:t>Use the regression you already estimated.</a:t>
            </a:r>
            <a:endParaRPr lang="en-US" sz="1400" dirty="0"/>
          </a:p>
        </p:txBody>
      </p:sp>
      <p:sp>
        <p:nvSpPr>
          <p:cNvPr id="9" name="Shape 7"/>
          <p:cNvSpPr/>
          <p:nvPr/>
        </p:nvSpPr>
        <p:spPr>
          <a:xfrm>
            <a:off x="822960" y="4709160"/>
            <a:ext cx="3703320" cy="1051560"/>
          </a:xfrm>
          <a:prstGeom prst="roundRect">
            <a:avLst/>
          </a:prstGeom>
          <a:solidFill>
            <a:srgbClr val="F4F6F7"/>
          </a:solidFill>
          <a:ln w="10160">
            <a:solidFill>
              <a:srgbClr val="D5DEE2"/>
            </a:solidFill>
            <a:prstDash val="solid"/>
          </a:ln>
        </p:spPr>
        <p:txBody>
          <a:bodyPr/>
          <a:lstStyle/>
          <a:p>
            <a:endParaRPr lang="en-GB"/>
          </a:p>
        </p:txBody>
      </p:sp>
      <p:sp>
        <p:nvSpPr>
          <p:cNvPr id="10" name="Text 8"/>
          <p:cNvSpPr/>
          <p:nvPr/>
        </p:nvSpPr>
        <p:spPr>
          <a:xfrm>
            <a:off x="987552" y="4855464"/>
            <a:ext cx="3374136" cy="777240"/>
          </a:xfrm>
          <a:prstGeom prst="rect">
            <a:avLst/>
          </a:prstGeom>
          <a:noFill/>
          <a:ln/>
        </p:spPr>
        <p:txBody>
          <a:bodyPr wrap="square" lIns="0" tIns="0" rIns="0" bIns="0" rtlCol="0" anchor="ctr">
            <a:normAutofit/>
          </a:bodyPr>
          <a:lstStyle/>
          <a:p>
            <a:pPr marL="0" indent="0">
              <a:buNone/>
            </a:pPr>
            <a:r>
              <a:rPr lang="en-US" sz="1400" dirty="0">
                <a:solidFill>
                  <a:srgbClr val="24343B"/>
                </a:solidFill>
                <a:latin typeface="Aptos Mono" pitchFamily="34" charset="0"/>
                <a:ea typeface="Aptos Mono" pitchFamily="34" charset="-122"/>
                <a:cs typeface="Aptos Mono" pitchFamily="34" charset="-120"/>
              </a:rPr>
              <a:t>motel_b2</a:t>
            </a:r>
            <a:endParaRPr lang="en-US" sz="1400" dirty="0"/>
          </a:p>
          <a:p>
            <a:pPr marL="0" indent="0">
              <a:buNone/>
            </a:pPr>
            <a:r>
              <a:rPr lang="en-US" sz="1400" dirty="0">
                <a:solidFill>
                  <a:srgbClr val="24343B"/>
                </a:solidFill>
                <a:latin typeface="Aptos Mono" pitchFamily="34" charset="0"/>
                <a:ea typeface="Aptos Mono" pitchFamily="34" charset="-122"/>
                <a:cs typeface="Aptos Mono" pitchFamily="34" charset="-120"/>
              </a:rPr>
              <a:t>motel_se_b2</a:t>
            </a:r>
            <a:endParaRPr lang="en-US" sz="1400" dirty="0"/>
          </a:p>
          <a:p>
            <a:pPr marL="0" indent="0">
              <a:buNone/>
            </a:pPr>
            <a:r>
              <a:rPr lang="en-US" sz="1400" dirty="0">
                <a:solidFill>
                  <a:srgbClr val="24343B"/>
                </a:solidFill>
                <a:latin typeface="Aptos Mono" pitchFamily="34" charset="0"/>
                <a:ea typeface="Aptos Mono" pitchFamily="34" charset="-122"/>
                <a:cs typeface="Aptos Mono" pitchFamily="34" charset="-120"/>
              </a:rPr>
              <a:t>motel_df</a:t>
            </a:r>
            <a:endParaRPr lang="en-US" sz="1400" dirty="0"/>
          </a:p>
        </p:txBody>
      </p:sp>
      <p:sp>
        <p:nvSpPr>
          <p:cNvPr id="11" name="Text 9"/>
          <p:cNvSpPr/>
          <p:nvPr/>
        </p:nvSpPr>
        <p:spPr>
          <a:xfrm>
            <a:off x="5532120" y="1353312"/>
            <a:ext cx="1005840" cy="274320"/>
          </a:xfrm>
          <a:prstGeom prst="rect">
            <a:avLst/>
          </a:prstGeom>
          <a:noFill/>
          <a:ln/>
        </p:spPr>
        <p:txBody>
          <a:bodyPr wrap="square" lIns="0" tIns="0" rIns="0" bIns="0" rtlCol="0" anchor="ctr"/>
          <a:lstStyle/>
          <a:p>
            <a:pPr marL="0" indent="0">
              <a:buNone/>
            </a:pPr>
            <a:r>
              <a:rPr lang="en-US" sz="1200" b="1" dirty="0">
                <a:solidFill>
                  <a:srgbClr val="20B4D6"/>
                </a:solidFill>
              </a:rPr>
              <a:t>Tasks</a:t>
            </a:r>
            <a:endParaRPr lang="en-US" sz="1200" dirty="0"/>
          </a:p>
        </p:txBody>
      </p:sp>
      <p:sp>
        <p:nvSpPr>
          <p:cNvPr id="12" name="Shape 10"/>
          <p:cNvSpPr/>
          <p:nvPr/>
        </p:nvSpPr>
        <p:spPr>
          <a:xfrm>
            <a:off x="5577840" y="1783080"/>
            <a:ext cx="384048" cy="384048"/>
          </a:xfrm>
          <a:prstGeom prst="ellipse">
            <a:avLst/>
          </a:prstGeom>
          <a:solidFill>
            <a:srgbClr val="20B4D6"/>
          </a:solidFill>
          <a:ln w="12700">
            <a:solidFill>
              <a:srgbClr val="20B4D6"/>
            </a:solidFill>
            <a:prstDash val="solid"/>
          </a:ln>
        </p:spPr>
        <p:txBody>
          <a:bodyPr/>
          <a:lstStyle/>
          <a:p>
            <a:endParaRPr lang="en-GB"/>
          </a:p>
        </p:txBody>
      </p:sp>
      <p:sp>
        <p:nvSpPr>
          <p:cNvPr id="13" name="Text 11"/>
          <p:cNvSpPr/>
          <p:nvPr/>
        </p:nvSpPr>
        <p:spPr>
          <a:xfrm>
            <a:off x="5577840" y="1847088"/>
            <a:ext cx="384048" cy="182880"/>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14" name="Text 12"/>
          <p:cNvSpPr/>
          <p:nvPr/>
        </p:nvSpPr>
        <p:spPr>
          <a:xfrm>
            <a:off x="6144768" y="1773936"/>
            <a:ext cx="4572000" cy="411480"/>
          </a:xfrm>
          <a:prstGeom prst="rect">
            <a:avLst/>
          </a:prstGeom>
          <a:noFill/>
          <a:ln/>
        </p:spPr>
        <p:txBody>
          <a:bodyPr wrap="square" lIns="254" tIns="254" rIns="254" bIns="254" rtlCol="0" anchor="ctr">
            <a:normAutofit/>
          </a:bodyPr>
          <a:lstStyle/>
          <a:p>
            <a:pPr marL="0" indent="0">
              <a:buNone/>
            </a:pPr>
            <a:r>
              <a:rPr lang="en-US" sz="1400" dirty="0">
                <a:solidFill>
                  <a:srgbClr val="16323D"/>
                </a:solidFill>
              </a:rPr>
              <a:t>Write down the test statistic.</a:t>
            </a:r>
            <a:endParaRPr lang="en-US" sz="1400" dirty="0"/>
          </a:p>
        </p:txBody>
      </p:sp>
      <p:sp>
        <p:nvSpPr>
          <p:cNvPr id="15" name="Shape 13"/>
          <p:cNvSpPr/>
          <p:nvPr/>
        </p:nvSpPr>
        <p:spPr>
          <a:xfrm>
            <a:off x="5577840" y="2542032"/>
            <a:ext cx="384048" cy="384048"/>
          </a:xfrm>
          <a:prstGeom prst="ellipse">
            <a:avLst/>
          </a:prstGeom>
          <a:solidFill>
            <a:srgbClr val="20B4D6"/>
          </a:solidFill>
          <a:ln w="12700">
            <a:solidFill>
              <a:srgbClr val="20B4D6"/>
            </a:solidFill>
            <a:prstDash val="solid"/>
          </a:ln>
        </p:spPr>
        <p:txBody>
          <a:bodyPr/>
          <a:lstStyle/>
          <a:p>
            <a:endParaRPr lang="en-GB"/>
          </a:p>
        </p:txBody>
      </p:sp>
      <p:sp>
        <p:nvSpPr>
          <p:cNvPr id="16" name="Text 14"/>
          <p:cNvSpPr/>
          <p:nvPr/>
        </p:nvSpPr>
        <p:spPr>
          <a:xfrm>
            <a:off x="5577840" y="2606040"/>
            <a:ext cx="384048" cy="182880"/>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7" name="Text 15"/>
          <p:cNvSpPr/>
          <p:nvPr/>
        </p:nvSpPr>
        <p:spPr>
          <a:xfrm>
            <a:off x="6144768" y="2532888"/>
            <a:ext cx="4572000" cy="411480"/>
          </a:xfrm>
          <a:prstGeom prst="rect">
            <a:avLst/>
          </a:prstGeom>
          <a:noFill/>
          <a:ln/>
        </p:spPr>
        <p:txBody>
          <a:bodyPr wrap="square" lIns="254" tIns="254" rIns="254" bIns="254" rtlCol="0" anchor="ctr">
            <a:normAutofit/>
          </a:bodyPr>
          <a:lstStyle/>
          <a:p>
            <a:pPr marL="0" indent="0">
              <a:buNone/>
            </a:pPr>
            <a:r>
              <a:rPr lang="en-US" sz="1400" dirty="0">
                <a:solidFill>
                  <a:srgbClr val="16323D"/>
                </a:solidFill>
              </a:rPr>
              <a:t>Calculate t in R.</a:t>
            </a:r>
            <a:endParaRPr lang="en-US" sz="1400" dirty="0"/>
          </a:p>
        </p:txBody>
      </p:sp>
      <p:sp>
        <p:nvSpPr>
          <p:cNvPr id="18" name="Shape 16"/>
          <p:cNvSpPr/>
          <p:nvPr/>
        </p:nvSpPr>
        <p:spPr>
          <a:xfrm>
            <a:off x="5577840" y="3300984"/>
            <a:ext cx="384048" cy="384048"/>
          </a:xfrm>
          <a:prstGeom prst="ellipse">
            <a:avLst/>
          </a:prstGeom>
          <a:solidFill>
            <a:srgbClr val="20B4D6"/>
          </a:solidFill>
          <a:ln w="12700">
            <a:solidFill>
              <a:srgbClr val="20B4D6"/>
            </a:solidFill>
            <a:prstDash val="solid"/>
          </a:ln>
        </p:spPr>
        <p:txBody>
          <a:bodyPr/>
          <a:lstStyle/>
          <a:p>
            <a:endParaRPr lang="en-GB"/>
          </a:p>
        </p:txBody>
      </p:sp>
      <p:sp>
        <p:nvSpPr>
          <p:cNvPr id="19" name="Text 17"/>
          <p:cNvSpPr/>
          <p:nvPr/>
        </p:nvSpPr>
        <p:spPr>
          <a:xfrm>
            <a:off x="5577840" y="3364992"/>
            <a:ext cx="384048" cy="182880"/>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20" name="Text 18"/>
          <p:cNvSpPr/>
          <p:nvPr/>
        </p:nvSpPr>
        <p:spPr>
          <a:xfrm>
            <a:off x="6144768" y="3291840"/>
            <a:ext cx="4572000" cy="411480"/>
          </a:xfrm>
          <a:prstGeom prst="rect">
            <a:avLst/>
          </a:prstGeom>
          <a:noFill/>
          <a:ln/>
        </p:spPr>
        <p:txBody>
          <a:bodyPr wrap="square" lIns="254" tIns="254" rIns="254" bIns="254" rtlCol="0" anchor="ctr">
            <a:normAutofit/>
          </a:bodyPr>
          <a:lstStyle/>
          <a:p>
            <a:pPr marL="0" indent="0">
              <a:buNone/>
            </a:pPr>
            <a:r>
              <a:rPr lang="en-US" sz="1400" dirty="0">
                <a:solidFill>
                  <a:srgbClr val="16323D"/>
                </a:solidFill>
              </a:rPr>
              <a:t>Find the two-sided critical value.</a:t>
            </a:r>
            <a:endParaRPr lang="en-US" sz="1400" dirty="0"/>
          </a:p>
        </p:txBody>
      </p:sp>
      <p:sp>
        <p:nvSpPr>
          <p:cNvPr id="21" name="Shape 19"/>
          <p:cNvSpPr/>
          <p:nvPr/>
        </p:nvSpPr>
        <p:spPr>
          <a:xfrm>
            <a:off x="5577840" y="4059936"/>
            <a:ext cx="384048" cy="384048"/>
          </a:xfrm>
          <a:prstGeom prst="ellipse">
            <a:avLst/>
          </a:prstGeom>
          <a:solidFill>
            <a:srgbClr val="20B4D6"/>
          </a:solidFill>
          <a:ln w="12700">
            <a:solidFill>
              <a:srgbClr val="20B4D6"/>
            </a:solidFill>
            <a:prstDash val="solid"/>
          </a:ln>
        </p:spPr>
        <p:txBody>
          <a:bodyPr/>
          <a:lstStyle/>
          <a:p>
            <a:endParaRPr lang="en-GB"/>
          </a:p>
        </p:txBody>
      </p:sp>
      <p:sp>
        <p:nvSpPr>
          <p:cNvPr id="22" name="Text 20"/>
          <p:cNvSpPr/>
          <p:nvPr/>
        </p:nvSpPr>
        <p:spPr>
          <a:xfrm>
            <a:off x="5577840" y="4123944"/>
            <a:ext cx="384048" cy="182880"/>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23" name="Text 21"/>
          <p:cNvSpPr/>
          <p:nvPr/>
        </p:nvSpPr>
        <p:spPr>
          <a:xfrm>
            <a:off x="6144768" y="4050792"/>
            <a:ext cx="4572000" cy="411480"/>
          </a:xfrm>
          <a:prstGeom prst="rect">
            <a:avLst/>
          </a:prstGeom>
          <a:noFill/>
          <a:ln/>
        </p:spPr>
        <p:txBody>
          <a:bodyPr wrap="square" lIns="254" tIns="254" rIns="254" bIns="254" rtlCol="0" anchor="ctr">
            <a:normAutofit/>
          </a:bodyPr>
          <a:lstStyle/>
          <a:p>
            <a:pPr marL="0" indent="0">
              <a:buNone/>
            </a:pPr>
            <a:r>
              <a:rPr lang="en-US" sz="1400" dirty="0">
                <a:solidFill>
                  <a:srgbClr val="16323D"/>
                </a:solidFill>
              </a:rPr>
              <a:t>Calculate the two-sided p-value.</a:t>
            </a:r>
            <a:endParaRPr lang="en-US" sz="1400" dirty="0"/>
          </a:p>
        </p:txBody>
      </p:sp>
      <p:sp>
        <p:nvSpPr>
          <p:cNvPr id="24" name="Shape 22"/>
          <p:cNvSpPr/>
          <p:nvPr/>
        </p:nvSpPr>
        <p:spPr>
          <a:xfrm>
            <a:off x="5577840" y="4818888"/>
            <a:ext cx="384048" cy="384048"/>
          </a:xfrm>
          <a:prstGeom prst="ellipse">
            <a:avLst/>
          </a:prstGeom>
          <a:solidFill>
            <a:srgbClr val="D71920"/>
          </a:solidFill>
          <a:ln w="12700">
            <a:solidFill>
              <a:srgbClr val="D71920"/>
            </a:solidFill>
            <a:prstDash val="solid"/>
          </a:ln>
        </p:spPr>
        <p:txBody>
          <a:bodyPr/>
          <a:lstStyle/>
          <a:p>
            <a:endParaRPr lang="en-GB"/>
          </a:p>
        </p:txBody>
      </p:sp>
      <p:sp>
        <p:nvSpPr>
          <p:cNvPr id="25" name="Text 23"/>
          <p:cNvSpPr/>
          <p:nvPr/>
        </p:nvSpPr>
        <p:spPr>
          <a:xfrm>
            <a:off x="5577840" y="4882896"/>
            <a:ext cx="384048" cy="182880"/>
          </a:xfrm>
          <a:prstGeom prst="rect">
            <a:avLst/>
          </a:prstGeom>
          <a:noFill/>
          <a:ln/>
        </p:spPr>
        <p:txBody>
          <a:bodyPr wrap="square" lIns="0" tIns="0" rIns="0" bIns="0" rtlCol="0" anchor="ctr"/>
          <a:lstStyle/>
          <a:p>
            <a:pPr marL="0" indent="0" algn="ctr">
              <a:buNone/>
            </a:pPr>
            <a:r>
              <a:rPr lang="en-US" sz="1000" b="1" dirty="0">
                <a:solidFill>
                  <a:srgbClr val="FFFFFF"/>
                </a:solidFill>
              </a:rPr>
              <a:t>5</a:t>
            </a:r>
            <a:endParaRPr lang="en-US" sz="1000" dirty="0"/>
          </a:p>
        </p:txBody>
      </p:sp>
      <p:sp>
        <p:nvSpPr>
          <p:cNvPr id="26" name="Text 24"/>
          <p:cNvSpPr/>
          <p:nvPr/>
        </p:nvSpPr>
        <p:spPr>
          <a:xfrm>
            <a:off x="6144768" y="4809744"/>
            <a:ext cx="4572000" cy="411480"/>
          </a:xfrm>
          <a:prstGeom prst="rect">
            <a:avLst/>
          </a:prstGeom>
          <a:noFill/>
          <a:ln/>
        </p:spPr>
        <p:txBody>
          <a:bodyPr wrap="square" lIns="254" tIns="254" rIns="254" bIns="254" rtlCol="0" anchor="ctr">
            <a:normAutofit/>
          </a:bodyPr>
          <a:lstStyle/>
          <a:p>
            <a:pPr marL="0" indent="0">
              <a:buNone/>
            </a:pPr>
            <a:r>
              <a:rPr lang="en-US" sz="1400" dirty="0">
                <a:solidFill>
                  <a:srgbClr val="16323D"/>
                </a:solidFill>
              </a:rPr>
              <a:t>State the statistical and economic conclusion.</a:t>
            </a:r>
            <a:endParaRPr lang="en-US" sz="1400" dirty="0"/>
          </a:p>
        </p:txBody>
      </p:sp>
      <p:sp>
        <p:nvSpPr>
          <p:cNvPr id="27" name="Text 25"/>
          <p:cNvSpPr/>
          <p:nvPr/>
        </p:nvSpPr>
        <p:spPr>
          <a:xfrm>
            <a:off x="5623560" y="5715000"/>
            <a:ext cx="5074920" cy="438912"/>
          </a:xfrm>
          <a:prstGeom prst="rect">
            <a:avLst/>
          </a:prstGeom>
          <a:noFill/>
          <a:ln/>
        </p:spPr>
        <p:txBody>
          <a:bodyPr wrap="square" lIns="0" tIns="0" rIns="0" bIns="0" rtlCol="0" anchor="ctr"/>
          <a:lstStyle/>
          <a:p>
            <a:pPr marL="0" indent="0" algn="ctr">
              <a:buNone/>
            </a:pPr>
            <a:r>
              <a:rPr lang="en-US" sz="1250" b="1" dirty="0">
                <a:solidFill>
                  <a:srgbClr val="D71920"/>
                </a:solidFill>
              </a:rPr>
              <a:t>Do not use the p-value reported by summary(lm()) — that tests β₂ = 0.</a:t>
            </a:r>
            <a:endParaRPr lang="en-US" sz="1250" dirty="0"/>
          </a:p>
        </p:txBody>
      </p:sp>
      <p:sp>
        <p:nvSpPr>
          <p:cNvPr id="28" name="Slide Number Placeholder 0"/>
          <p:cNvSpPr>
            <a:spLocks noGrp="1"/>
          </p:cNvSpPr>
          <p:nvPr>
            <p:ph type="sldNum" sz="quarter" idx="4294967295"/>
          </p:nvPr>
        </p:nvSpPr>
        <p:spPr>
          <a:xfrm>
            <a:off x="11338560" y="6519672"/>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9AA3A8"/>
                </a:solidFill>
                <a:latin typeface="Aptos"/>
                <a:ea typeface="Aptos"/>
                <a:cs typeface="Aptos"/>
              </a:defRPr>
            </a:lvl1pPr>
          </a:lstStyle>
          <a:p>
            <a:pPr algn="l"/>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8912" y="438912"/>
            <a:ext cx="2743200" cy="201168"/>
          </a:xfrm>
          <a:prstGeom prst="rect">
            <a:avLst/>
          </a:prstGeom>
          <a:noFill/>
          <a:ln/>
        </p:spPr>
        <p:txBody>
          <a:bodyPr wrap="square" lIns="0" tIns="0" rIns="0" bIns="0" rtlCol="0" anchor="ctr"/>
          <a:lstStyle/>
          <a:p>
            <a:pPr marL="0" indent="0">
              <a:buNone/>
            </a:pPr>
            <a:r>
              <a:rPr lang="en-US" sz="800" b="1" kern="0" spc="40" dirty="0">
                <a:solidFill>
                  <a:srgbClr val="20B4D6"/>
                </a:solidFill>
              </a:rPr>
              <a:t>BOOK EXERCISE 3.20(D)</a:t>
            </a:r>
            <a:endParaRPr lang="en-US" sz="800" dirty="0"/>
          </a:p>
        </p:txBody>
      </p:sp>
      <p:sp>
        <p:nvSpPr>
          <p:cNvPr id="3" name="Text 1"/>
          <p:cNvSpPr/>
          <p:nvPr/>
        </p:nvSpPr>
        <p:spPr>
          <a:xfrm>
            <a:off x="438912" y="658368"/>
            <a:ext cx="10927080" cy="475488"/>
          </a:xfrm>
          <a:prstGeom prst="rect">
            <a:avLst/>
          </a:prstGeom>
          <a:noFill/>
          <a:ln/>
        </p:spPr>
        <p:txBody>
          <a:bodyPr wrap="square" lIns="0" tIns="0" rIns="0" bIns="0" rtlCol="0" anchor="ctr">
            <a:normAutofit/>
          </a:bodyPr>
          <a:lstStyle/>
          <a:p>
            <a:pPr marL="0" indent="0">
              <a:buNone/>
            </a:pPr>
            <a:r>
              <a:rPr lang="en-US" sz="2300" dirty="0">
                <a:solidFill>
                  <a:srgbClr val="16323D"/>
                </a:solidFill>
              </a:rPr>
              <a:t>Your turn — a left-tail test with the motel data</a:t>
            </a:r>
            <a:endParaRPr lang="en-US" sz="2300" dirty="0"/>
          </a:p>
        </p:txBody>
      </p:sp>
      <p:sp>
        <p:nvSpPr>
          <p:cNvPr id="4" name="Text 2"/>
          <p:cNvSpPr/>
          <p:nvPr/>
        </p:nvSpPr>
        <p:spPr>
          <a:xfrm>
            <a:off x="475488" y="1280160"/>
            <a:ext cx="1920240" cy="274320"/>
          </a:xfrm>
          <a:prstGeom prst="rect">
            <a:avLst/>
          </a:prstGeom>
          <a:noFill/>
          <a:ln/>
        </p:spPr>
        <p:txBody>
          <a:bodyPr wrap="square" lIns="0" tIns="0" rIns="0" bIns="0" rtlCol="0" anchor="ctr"/>
          <a:lstStyle/>
          <a:p>
            <a:pPr marL="0" indent="0">
              <a:buNone/>
            </a:pPr>
            <a:r>
              <a:rPr lang="en-US" sz="1200" b="1" dirty="0">
                <a:solidFill>
                  <a:srgbClr val="20B4D6"/>
                </a:solidFill>
              </a:rPr>
              <a:t>A different regression</a:t>
            </a:r>
            <a:endParaRPr lang="en-US" sz="1200" dirty="0"/>
          </a:p>
        </p:txBody>
      </p:sp>
      <p:sp>
        <p:nvSpPr>
          <p:cNvPr id="5" name="Shape 3"/>
          <p:cNvSpPr/>
          <p:nvPr/>
        </p:nvSpPr>
        <p:spPr>
          <a:xfrm>
            <a:off x="457200" y="1627632"/>
            <a:ext cx="5257800" cy="1097280"/>
          </a:xfrm>
          <a:prstGeom prst="roundRect">
            <a:avLst>
              <a:gd name="adj" fmla="val 6667"/>
            </a:avLst>
          </a:prstGeom>
          <a:solidFill>
            <a:srgbClr val="DDF4F9"/>
          </a:solidFill>
          <a:ln w="12700">
            <a:solidFill>
              <a:srgbClr val="CDEBF1"/>
            </a:solidFill>
            <a:prstDash val="solid"/>
          </a:ln>
        </p:spPr>
        <p:txBody>
          <a:bodyPr/>
          <a:lstStyle/>
          <a:p>
            <a:endParaRPr lang="en-GB"/>
          </a:p>
        </p:txBody>
      </p:sp>
      <p:sp>
        <p:nvSpPr>
          <p:cNvPr id="6" name="Text 4"/>
          <p:cNvSpPr/>
          <p:nvPr/>
        </p:nvSpPr>
        <p:spPr>
          <a:xfrm>
            <a:off x="758952" y="1947672"/>
            <a:ext cx="4663440" cy="365760"/>
          </a:xfrm>
          <a:prstGeom prst="rect">
            <a:avLst/>
          </a:prstGeom>
          <a:noFill/>
          <a:ln/>
        </p:spPr>
        <p:txBody>
          <a:bodyPr wrap="square" lIns="0" tIns="0" rIns="0" bIns="0" rtlCol="0" anchor="ctr"/>
          <a:lstStyle/>
          <a:p>
            <a:pPr marL="0" indent="0" algn="ctr">
              <a:buNone/>
            </a:pPr>
            <a:r>
              <a:rPr lang="en-US" sz="2000" b="1" dirty="0">
                <a:solidFill>
                  <a:srgbClr val="00566B"/>
                </a:solidFill>
              </a:rPr>
              <a:t>MOTEL_PCT = δ₁ + δ₂ REPAIR + e</a:t>
            </a:r>
            <a:endParaRPr lang="en-US" sz="2000" dirty="0"/>
          </a:p>
        </p:txBody>
      </p:sp>
      <p:sp>
        <p:nvSpPr>
          <p:cNvPr id="7" name="Shape 5"/>
          <p:cNvSpPr/>
          <p:nvPr/>
        </p:nvSpPr>
        <p:spPr>
          <a:xfrm>
            <a:off x="475488" y="3017520"/>
            <a:ext cx="5212080" cy="1234440"/>
          </a:xfrm>
          <a:prstGeom prst="roundRect">
            <a:avLst/>
          </a:prstGeom>
          <a:solidFill>
            <a:srgbClr val="F4F6F7"/>
          </a:solidFill>
          <a:ln w="10160">
            <a:solidFill>
              <a:srgbClr val="D5DEE2"/>
            </a:solidFill>
            <a:prstDash val="solid"/>
          </a:ln>
        </p:spPr>
        <p:txBody>
          <a:bodyPr/>
          <a:lstStyle/>
          <a:p>
            <a:endParaRPr lang="en-GB"/>
          </a:p>
        </p:txBody>
      </p:sp>
      <p:sp>
        <p:nvSpPr>
          <p:cNvPr id="8" name="Text 6"/>
          <p:cNvSpPr/>
          <p:nvPr/>
        </p:nvSpPr>
        <p:spPr>
          <a:xfrm>
            <a:off x="640080" y="3163824"/>
            <a:ext cx="4882896" cy="960120"/>
          </a:xfrm>
          <a:prstGeom prst="rect">
            <a:avLst/>
          </a:prstGeom>
          <a:noFill/>
          <a:ln/>
        </p:spPr>
        <p:txBody>
          <a:bodyPr wrap="square" lIns="0" tIns="0" rIns="0" bIns="0" rtlCol="0" anchor="ctr">
            <a:normAutofit/>
          </a:bodyPr>
          <a:lstStyle/>
          <a:p>
            <a:pPr marL="0" indent="0">
              <a:buNone/>
            </a:pPr>
            <a:r>
              <a:rPr lang="en-US" sz="1300" dirty="0">
                <a:solidFill>
                  <a:srgbClr val="24343B"/>
                </a:solidFill>
                <a:latin typeface="Aptos Mono" pitchFamily="34" charset="0"/>
                <a:ea typeface="Aptos Mono" pitchFamily="34" charset="-122"/>
                <a:cs typeface="Aptos Mono" pitchFamily="34" charset="-120"/>
              </a:rPr>
              <a:t>model_repair &lt;- lm(motel_pct ~ repair, data = motel)</a:t>
            </a:r>
            <a:endParaRPr lang="en-US" sz="1300" dirty="0"/>
          </a:p>
          <a:p>
            <a:pPr marL="0" indent="0">
              <a:buNone/>
            </a:pPr>
            <a:r>
              <a:rPr lang="en-US" sz="1300" dirty="0">
                <a:solidFill>
                  <a:srgbClr val="24343B"/>
                </a:solidFill>
                <a:latin typeface="Aptos Mono" pitchFamily="34" charset="0"/>
                <a:ea typeface="Aptos Mono" pitchFamily="34" charset="-122"/>
                <a:cs typeface="Aptos Mono" pitchFamily="34" charset="-120"/>
              </a:rPr>
              <a:t>summary(model_repair)</a:t>
            </a:r>
            <a:endParaRPr lang="en-US" sz="1300" dirty="0"/>
          </a:p>
        </p:txBody>
      </p:sp>
      <p:sp>
        <p:nvSpPr>
          <p:cNvPr id="9" name="Text 7"/>
          <p:cNvSpPr/>
          <p:nvPr/>
        </p:nvSpPr>
        <p:spPr>
          <a:xfrm>
            <a:off x="621792" y="4645152"/>
            <a:ext cx="4937760" cy="347472"/>
          </a:xfrm>
          <a:prstGeom prst="rect">
            <a:avLst/>
          </a:prstGeom>
          <a:noFill/>
          <a:ln/>
        </p:spPr>
        <p:txBody>
          <a:bodyPr wrap="square" lIns="0" tIns="0" rIns="0" bIns="0" rtlCol="0" anchor="ctr"/>
          <a:lstStyle/>
          <a:p>
            <a:pPr marL="0" indent="0" algn="ctr">
              <a:buNone/>
            </a:pPr>
            <a:r>
              <a:rPr lang="en-US" sz="1700" b="1" dirty="0">
                <a:solidFill>
                  <a:srgbClr val="D71920"/>
                </a:solidFill>
              </a:rPr>
              <a:t>Question: did the repairs reduce occupancy?</a:t>
            </a:r>
            <a:endParaRPr lang="en-US" sz="1700" dirty="0"/>
          </a:p>
        </p:txBody>
      </p:sp>
      <p:sp>
        <p:nvSpPr>
          <p:cNvPr id="10" name="Text 8"/>
          <p:cNvSpPr/>
          <p:nvPr/>
        </p:nvSpPr>
        <p:spPr>
          <a:xfrm>
            <a:off x="694944" y="5230368"/>
            <a:ext cx="4709160" cy="384048"/>
          </a:xfrm>
          <a:prstGeom prst="rect">
            <a:avLst/>
          </a:prstGeom>
          <a:noFill/>
          <a:ln/>
        </p:spPr>
        <p:txBody>
          <a:bodyPr wrap="square" lIns="0" tIns="0" rIns="0" bIns="0" rtlCol="0" anchor="ctr"/>
          <a:lstStyle/>
          <a:p>
            <a:pPr marL="0" indent="0" algn="ctr">
              <a:buNone/>
            </a:pPr>
            <a:r>
              <a:rPr lang="en-US" sz="1800" dirty="0">
                <a:solidFill>
                  <a:srgbClr val="16323D"/>
                </a:solidFill>
              </a:rPr>
              <a:t>H₀: δ₂ ≥ 0     H₁: δ₂ &lt; 0     α = 0.05</a:t>
            </a:r>
            <a:endParaRPr lang="en-US" sz="1800" dirty="0"/>
          </a:p>
        </p:txBody>
      </p:sp>
      <p:sp>
        <p:nvSpPr>
          <p:cNvPr id="11" name="Text 9"/>
          <p:cNvSpPr/>
          <p:nvPr/>
        </p:nvSpPr>
        <p:spPr>
          <a:xfrm>
            <a:off x="6172200" y="1280160"/>
            <a:ext cx="914400" cy="274320"/>
          </a:xfrm>
          <a:prstGeom prst="rect">
            <a:avLst/>
          </a:prstGeom>
          <a:noFill/>
          <a:ln/>
        </p:spPr>
        <p:txBody>
          <a:bodyPr wrap="square" lIns="0" tIns="0" rIns="0" bIns="0" rtlCol="0" anchor="ctr"/>
          <a:lstStyle/>
          <a:p>
            <a:pPr marL="0" indent="0">
              <a:buNone/>
            </a:pPr>
            <a:r>
              <a:rPr lang="en-US" sz="1200" b="1" dirty="0">
                <a:solidFill>
                  <a:srgbClr val="20B4D6"/>
                </a:solidFill>
              </a:rPr>
              <a:t>Tasks</a:t>
            </a:r>
            <a:endParaRPr lang="en-US" sz="1200" dirty="0"/>
          </a:p>
        </p:txBody>
      </p:sp>
      <p:sp>
        <p:nvSpPr>
          <p:cNvPr id="12" name="Shape 10"/>
          <p:cNvSpPr/>
          <p:nvPr/>
        </p:nvSpPr>
        <p:spPr>
          <a:xfrm>
            <a:off x="6236208" y="1755648"/>
            <a:ext cx="384048" cy="384048"/>
          </a:xfrm>
          <a:prstGeom prst="ellipse">
            <a:avLst/>
          </a:prstGeom>
          <a:solidFill>
            <a:srgbClr val="20B4D6"/>
          </a:solidFill>
          <a:ln w="12700">
            <a:solidFill>
              <a:srgbClr val="20B4D6"/>
            </a:solidFill>
            <a:prstDash val="solid"/>
          </a:ln>
        </p:spPr>
        <p:txBody>
          <a:bodyPr/>
          <a:lstStyle/>
          <a:p>
            <a:endParaRPr lang="en-GB"/>
          </a:p>
        </p:txBody>
      </p:sp>
      <p:sp>
        <p:nvSpPr>
          <p:cNvPr id="13" name="Text 11"/>
          <p:cNvSpPr/>
          <p:nvPr/>
        </p:nvSpPr>
        <p:spPr>
          <a:xfrm>
            <a:off x="6236208" y="1819656"/>
            <a:ext cx="384048" cy="182880"/>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14" name="Text 12"/>
          <p:cNvSpPr/>
          <p:nvPr/>
        </p:nvSpPr>
        <p:spPr>
          <a:xfrm>
            <a:off x="6812280" y="1719072"/>
            <a:ext cx="4297680" cy="493776"/>
          </a:xfrm>
          <a:prstGeom prst="rect">
            <a:avLst/>
          </a:prstGeom>
          <a:noFill/>
          <a:ln/>
        </p:spPr>
        <p:txBody>
          <a:bodyPr wrap="square" lIns="254" tIns="254" rIns="254" bIns="254" rtlCol="0" anchor="ctr">
            <a:normAutofit/>
          </a:bodyPr>
          <a:lstStyle/>
          <a:p>
            <a:pPr marL="0" indent="0">
              <a:buNone/>
            </a:pPr>
            <a:r>
              <a:rPr lang="en-US" sz="1400" dirty="0">
                <a:solidFill>
                  <a:srgbClr val="16323D"/>
                </a:solidFill>
              </a:rPr>
              <a:t>Interpret the estimated REPAIR coefficient.</a:t>
            </a:r>
            <a:endParaRPr lang="en-US" sz="1400" dirty="0"/>
          </a:p>
        </p:txBody>
      </p:sp>
      <p:sp>
        <p:nvSpPr>
          <p:cNvPr id="15" name="Shape 13"/>
          <p:cNvSpPr/>
          <p:nvPr/>
        </p:nvSpPr>
        <p:spPr>
          <a:xfrm>
            <a:off x="6236208" y="2542032"/>
            <a:ext cx="384048" cy="384048"/>
          </a:xfrm>
          <a:prstGeom prst="ellipse">
            <a:avLst/>
          </a:prstGeom>
          <a:solidFill>
            <a:srgbClr val="20B4D6"/>
          </a:solidFill>
          <a:ln w="12700">
            <a:solidFill>
              <a:srgbClr val="20B4D6"/>
            </a:solidFill>
            <a:prstDash val="solid"/>
          </a:ln>
        </p:spPr>
        <p:txBody>
          <a:bodyPr/>
          <a:lstStyle/>
          <a:p>
            <a:endParaRPr lang="en-GB"/>
          </a:p>
        </p:txBody>
      </p:sp>
      <p:sp>
        <p:nvSpPr>
          <p:cNvPr id="16" name="Text 14"/>
          <p:cNvSpPr/>
          <p:nvPr/>
        </p:nvSpPr>
        <p:spPr>
          <a:xfrm>
            <a:off x="6236208" y="2606040"/>
            <a:ext cx="384048" cy="182880"/>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7" name="Text 15"/>
          <p:cNvSpPr/>
          <p:nvPr/>
        </p:nvSpPr>
        <p:spPr>
          <a:xfrm>
            <a:off x="6812280" y="2505456"/>
            <a:ext cx="4297680" cy="493776"/>
          </a:xfrm>
          <a:prstGeom prst="rect">
            <a:avLst/>
          </a:prstGeom>
          <a:noFill/>
          <a:ln/>
        </p:spPr>
        <p:txBody>
          <a:bodyPr wrap="square" lIns="254" tIns="254" rIns="254" bIns="254" rtlCol="0" anchor="ctr">
            <a:normAutofit/>
          </a:bodyPr>
          <a:lstStyle/>
          <a:p>
            <a:pPr marL="0" indent="0">
              <a:buNone/>
            </a:pPr>
            <a:r>
              <a:rPr lang="en-US" sz="1400" dirty="0">
                <a:solidFill>
                  <a:srgbClr val="16323D"/>
                </a:solidFill>
              </a:rPr>
              <a:t>Calculate the t-statistic for the boundary value δ₂ = 0.</a:t>
            </a:r>
            <a:endParaRPr lang="en-US" sz="1400" dirty="0"/>
          </a:p>
        </p:txBody>
      </p:sp>
      <p:sp>
        <p:nvSpPr>
          <p:cNvPr id="18" name="Shape 16"/>
          <p:cNvSpPr/>
          <p:nvPr/>
        </p:nvSpPr>
        <p:spPr>
          <a:xfrm>
            <a:off x="6236208" y="3328416"/>
            <a:ext cx="384048" cy="384048"/>
          </a:xfrm>
          <a:prstGeom prst="ellipse">
            <a:avLst/>
          </a:prstGeom>
          <a:solidFill>
            <a:srgbClr val="20B4D6"/>
          </a:solidFill>
          <a:ln w="12700">
            <a:solidFill>
              <a:srgbClr val="20B4D6"/>
            </a:solidFill>
            <a:prstDash val="solid"/>
          </a:ln>
        </p:spPr>
        <p:txBody>
          <a:bodyPr/>
          <a:lstStyle/>
          <a:p>
            <a:endParaRPr lang="en-GB"/>
          </a:p>
        </p:txBody>
      </p:sp>
      <p:sp>
        <p:nvSpPr>
          <p:cNvPr id="19" name="Text 17"/>
          <p:cNvSpPr/>
          <p:nvPr/>
        </p:nvSpPr>
        <p:spPr>
          <a:xfrm>
            <a:off x="6236208" y="3392424"/>
            <a:ext cx="384048" cy="182880"/>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20" name="Text 18"/>
          <p:cNvSpPr/>
          <p:nvPr/>
        </p:nvSpPr>
        <p:spPr>
          <a:xfrm>
            <a:off x="6812280" y="3291840"/>
            <a:ext cx="4297680" cy="493776"/>
          </a:xfrm>
          <a:prstGeom prst="rect">
            <a:avLst/>
          </a:prstGeom>
          <a:noFill/>
          <a:ln/>
        </p:spPr>
        <p:txBody>
          <a:bodyPr wrap="square" lIns="254" tIns="254" rIns="254" bIns="254" rtlCol="0" anchor="ctr">
            <a:normAutofit/>
          </a:bodyPr>
          <a:lstStyle/>
          <a:p>
            <a:pPr marL="0" indent="0">
              <a:buNone/>
            </a:pPr>
            <a:r>
              <a:rPr lang="en-US" sz="1400" dirty="0">
                <a:solidFill>
                  <a:srgbClr val="16323D"/>
                </a:solidFill>
              </a:rPr>
              <a:t>Find the left-tail critical value.</a:t>
            </a:r>
            <a:endParaRPr lang="en-US" sz="1400" dirty="0"/>
          </a:p>
        </p:txBody>
      </p:sp>
      <p:sp>
        <p:nvSpPr>
          <p:cNvPr id="21" name="Shape 19"/>
          <p:cNvSpPr/>
          <p:nvPr/>
        </p:nvSpPr>
        <p:spPr>
          <a:xfrm>
            <a:off x="6236208" y="4114800"/>
            <a:ext cx="384048" cy="384048"/>
          </a:xfrm>
          <a:prstGeom prst="ellipse">
            <a:avLst/>
          </a:prstGeom>
          <a:solidFill>
            <a:srgbClr val="20B4D6"/>
          </a:solidFill>
          <a:ln w="12700">
            <a:solidFill>
              <a:srgbClr val="20B4D6"/>
            </a:solidFill>
            <a:prstDash val="solid"/>
          </a:ln>
        </p:spPr>
        <p:txBody>
          <a:bodyPr/>
          <a:lstStyle/>
          <a:p>
            <a:endParaRPr lang="en-GB"/>
          </a:p>
        </p:txBody>
      </p:sp>
      <p:sp>
        <p:nvSpPr>
          <p:cNvPr id="22" name="Text 20"/>
          <p:cNvSpPr/>
          <p:nvPr/>
        </p:nvSpPr>
        <p:spPr>
          <a:xfrm>
            <a:off x="6236208" y="4178808"/>
            <a:ext cx="384048" cy="182880"/>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23" name="Text 21"/>
          <p:cNvSpPr/>
          <p:nvPr/>
        </p:nvSpPr>
        <p:spPr>
          <a:xfrm>
            <a:off x="6812280" y="4078224"/>
            <a:ext cx="4297680" cy="493776"/>
          </a:xfrm>
          <a:prstGeom prst="rect">
            <a:avLst/>
          </a:prstGeom>
          <a:noFill/>
          <a:ln/>
        </p:spPr>
        <p:txBody>
          <a:bodyPr wrap="square" lIns="254" tIns="254" rIns="254" bIns="254" rtlCol="0" anchor="ctr">
            <a:normAutofit/>
          </a:bodyPr>
          <a:lstStyle/>
          <a:p>
            <a:pPr marL="0" indent="0">
              <a:buNone/>
            </a:pPr>
            <a:r>
              <a:rPr lang="en-US" sz="1400" dirty="0">
                <a:solidFill>
                  <a:srgbClr val="16323D"/>
                </a:solidFill>
              </a:rPr>
              <a:t>Calculate the left-tail p-value.</a:t>
            </a:r>
            <a:endParaRPr lang="en-US" sz="1400" dirty="0"/>
          </a:p>
        </p:txBody>
      </p:sp>
      <p:sp>
        <p:nvSpPr>
          <p:cNvPr id="24" name="Shape 22"/>
          <p:cNvSpPr/>
          <p:nvPr/>
        </p:nvSpPr>
        <p:spPr>
          <a:xfrm>
            <a:off x="6236208" y="4901184"/>
            <a:ext cx="384048" cy="384048"/>
          </a:xfrm>
          <a:prstGeom prst="ellipse">
            <a:avLst/>
          </a:prstGeom>
          <a:solidFill>
            <a:srgbClr val="D71920"/>
          </a:solidFill>
          <a:ln w="12700">
            <a:solidFill>
              <a:srgbClr val="D71920"/>
            </a:solidFill>
            <a:prstDash val="solid"/>
          </a:ln>
        </p:spPr>
        <p:txBody>
          <a:bodyPr/>
          <a:lstStyle/>
          <a:p>
            <a:endParaRPr lang="en-GB"/>
          </a:p>
        </p:txBody>
      </p:sp>
      <p:sp>
        <p:nvSpPr>
          <p:cNvPr id="25" name="Text 23"/>
          <p:cNvSpPr/>
          <p:nvPr/>
        </p:nvSpPr>
        <p:spPr>
          <a:xfrm>
            <a:off x="6236208" y="4965192"/>
            <a:ext cx="384048" cy="182880"/>
          </a:xfrm>
          <a:prstGeom prst="rect">
            <a:avLst/>
          </a:prstGeom>
          <a:noFill/>
          <a:ln/>
        </p:spPr>
        <p:txBody>
          <a:bodyPr wrap="square" lIns="0" tIns="0" rIns="0" bIns="0" rtlCol="0" anchor="ctr"/>
          <a:lstStyle/>
          <a:p>
            <a:pPr marL="0" indent="0" algn="ctr">
              <a:buNone/>
            </a:pPr>
            <a:r>
              <a:rPr lang="en-US" sz="1000" b="1" dirty="0">
                <a:solidFill>
                  <a:srgbClr val="FFFFFF"/>
                </a:solidFill>
              </a:rPr>
              <a:t>5</a:t>
            </a:r>
            <a:endParaRPr lang="en-US" sz="1000" dirty="0"/>
          </a:p>
        </p:txBody>
      </p:sp>
      <p:sp>
        <p:nvSpPr>
          <p:cNvPr id="26" name="Text 24"/>
          <p:cNvSpPr/>
          <p:nvPr/>
        </p:nvSpPr>
        <p:spPr>
          <a:xfrm>
            <a:off x="6812280" y="4864608"/>
            <a:ext cx="4297680" cy="493776"/>
          </a:xfrm>
          <a:prstGeom prst="rect">
            <a:avLst/>
          </a:prstGeom>
          <a:noFill/>
          <a:ln/>
        </p:spPr>
        <p:txBody>
          <a:bodyPr wrap="square" lIns="254" tIns="254" rIns="254" bIns="254" rtlCol="0" anchor="ctr">
            <a:normAutofit/>
          </a:bodyPr>
          <a:lstStyle/>
          <a:p>
            <a:pPr marL="0" indent="0">
              <a:buNone/>
            </a:pPr>
            <a:r>
              <a:rPr lang="en-US" sz="1400" dirty="0">
                <a:solidFill>
                  <a:srgbClr val="16323D"/>
                </a:solidFill>
              </a:rPr>
              <a:t>State the conclusion in the context of the motel’s claim.</a:t>
            </a:r>
            <a:endParaRPr lang="en-US" sz="1400" dirty="0"/>
          </a:p>
        </p:txBody>
      </p:sp>
      <p:sp>
        <p:nvSpPr>
          <p:cNvPr id="27" name="Text 25"/>
          <p:cNvSpPr/>
          <p:nvPr/>
        </p:nvSpPr>
        <p:spPr>
          <a:xfrm>
            <a:off x="6400800" y="5806440"/>
            <a:ext cx="4526280" cy="292608"/>
          </a:xfrm>
          <a:prstGeom prst="rect">
            <a:avLst/>
          </a:prstGeom>
          <a:noFill/>
          <a:ln/>
        </p:spPr>
        <p:txBody>
          <a:bodyPr wrap="square" lIns="0" tIns="0" rIns="0" bIns="0" rtlCol="0" anchor="ctr"/>
          <a:lstStyle/>
          <a:p>
            <a:pPr marL="0" indent="0" algn="ctr">
              <a:buNone/>
            </a:pPr>
            <a:r>
              <a:rPr lang="en-US" sz="1300" b="1" dirty="0">
                <a:solidFill>
                  <a:srgbClr val="00566B"/>
                </a:solidFill>
              </a:rPr>
              <a:t>Now the direction of H₁ points to the left.</a:t>
            </a:r>
            <a:endParaRPr lang="en-US" sz="1300" dirty="0"/>
          </a:p>
        </p:txBody>
      </p:sp>
      <p:sp>
        <p:nvSpPr>
          <p:cNvPr id="28" name="Slide Number Placeholder 0"/>
          <p:cNvSpPr>
            <a:spLocks noGrp="1"/>
          </p:cNvSpPr>
          <p:nvPr>
            <p:ph type="sldNum" sz="quarter" idx="4294967295"/>
          </p:nvPr>
        </p:nvSpPr>
        <p:spPr>
          <a:xfrm>
            <a:off x="11338560" y="6519672"/>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9AA3A8"/>
                </a:solidFill>
                <a:latin typeface="Aptos"/>
                <a:ea typeface="Aptos"/>
                <a:cs typeface="Aptos"/>
              </a:defRPr>
            </a:lvl1pPr>
          </a:lstStyle>
          <a:p>
            <a:pPr algn="l"/>
            <a:fld id="{F7021451-1387-4CA6-816F-3879F97B5CBC}" type="slidenum">
              <a:rPr lang="en-US" b="0"/>
              <a:t>40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625</TotalTime>
  <Words>5300</Words>
  <Application>Microsoft Office PowerPoint</Application>
  <PresentationFormat>Widescreen</PresentationFormat>
  <Paragraphs>554</Paragraphs>
  <Slides>40</Slides>
  <Notes>36</Notes>
  <HiddenSlides>0</HiddenSlides>
  <MMClips>0</MMClips>
  <ScaleCrop>false</ScaleCrop>
  <HeadingPairs>
    <vt:vector size="6" baseType="variant">
      <vt:variant>
        <vt:lpstr>Brukte skrifter</vt:lpstr>
      </vt:variant>
      <vt:variant>
        <vt:i4>5</vt:i4>
      </vt:variant>
      <vt:variant>
        <vt:lpstr>Tema</vt:lpstr>
      </vt:variant>
      <vt:variant>
        <vt:i4>1</vt:i4>
      </vt:variant>
      <vt:variant>
        <vt:lpstr>Lysbildetitler</vt:lpstr>
      </vt:variant>
      <vt:variant>
        <vt:i4>40</vt:i4>
      </vt:variant>
    </vt:vector>
  </HeadingPairs>
  <TitlesOfParts>
    <vt:vector size="46" baseType="lpstr">
      <vt:lpstr>Aptos</vt:lpstr>
      <vt:lpstr>Aptos Display</vt:lpstr>
      <vt:lpstr>Aptos Mono</vt:lpstr>
      <vt:lpstr>Arial</vt:lpstr>
      <vt:lpstr>Cambria Math</vt:lpstr>
      <vt:lpstr>Office Theme</vt:lpstr>
      <vt:lpstr> Chapter 3 Hypothesis testing</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vector>
  </TitlesOfParts>
  <Company>UiT The Arctic University of Norway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How certain are we?</dc:title>
  <dc:subject>SOK-3081 Chapter 3: Interval Estimation and Hypothesis Testing</dc:subject>
  <dc:creator>Eirik Eriksen Heen</dc:creator>
  <cp:lastModifiedBy>Eirik Eriksen Heen</cp:lastModifiedBy>
  <cp:revision>1</cp:revision>
  <dcterms:created xsi:type="dcterms:W3CDTF">2026-09-22T06:30:11Z</dcterms:created>
  <dcterms:modified xsi:type="dcterms:W3CDTF">2026-09-25T04:52:47Z</dcterms:modified>
</cp:coreProperties>
</file>