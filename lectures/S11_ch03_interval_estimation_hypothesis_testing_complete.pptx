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Lst>
  <p:notesMasterIdLst>
    <p:notesMasterId r:id="rId50"/>
  </p:notesMasterIdLst>
  <p:sldIdLst>
    <p:sldId id="256" r:id="rId3"/>
    <p:sldId id="4781" r:id="rId4"/>
    <p:sldId id="257" r:id="rId5"/>
    <p:sldId id="4782" r:id="rId6"/>
    <p:sldId id="259" r:id="rId7"/>
    <p:sldId id="260" r:id="rId8"/>
    <p:sldId id="261" r:id="rId9"/>
    <p:sldId id="262" r:id="rId10"/>
    <p:sldId id="264" r:id="rId11"/>
    <p:sldId id="265" r:id="rId12"/>
    <p:sldId id="266" r:id="rId13"/>
    <p:sldId id="267" r:id="rId14"/>
    <p:sldId id="268" r:id="rId15"/>
    <p:sldId id="269" r:id="rId16"/>
    <p:sldId id="270" r:id="rId17"/>
    <p:sldId id="295" r:id="rId18"/>
    <p:sldId id="271" r:id="rId19"/>
    <p:sldId id="272" r:id="rId20"/>
    <p:sldId id="273" r:id="rId21"/>
    <p:sldId id="274" r:id="rId22"/>
    <p:sldId id="275" r:id="rId23"/>
    <p:sldId id="276" r:id="rId24"/>
    <p:sldId id="4789"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4791" r:id="rId38"/>
    <p:sldId id="289" r:id="rId39"/>
    <p:sldId id="290" r:id="rId40"/>
    <p:sldId id="291" r:id="rId41"/>
    <p:sldId id="4790" r:id="rId42"/>
    <p:sldId id="292" r:id="rId43"/>
    <p:sldId id="293" r:id="rId44"/>
    <p:sldId id="294" r:id="rId45"/>
    <p:sldId id="4792" r:id="rId46"/>
    <p:sldId id="258" r:id="rId47"/>
    <p:sldId id="4793" r:id="rId48"/>
    <p:sldId id="4794"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7E6253-4100-4C2D-950D-78F01D9D9DDF}" v="403" dt="2026-09-22T09:34:50.8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1164" autoAdjust="0"/>
  </p:normalViewPr>
  <p:slideViewPr>
    <p:cSldViewPr snapToGrid="0" snapToObjects="1">
      <p:cViewPr varScale="1">
        <p:scale>
          <a:sx n="113" d="100"/>
          <a:sy n="113" d="100"/>
        </p:scale>
        <p:origin x="13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irik Eriksen Heen" userId="3e804305-1c07-417a-9ea8-d913585be88f" providerId="ADAL" clId="{86A7CD6A-BADF-46B5-A0EB-3EAA83991659}"/>
    <pc:docChg chg="undo redo custSel addSld delSld modSld sldOrd">
      <pc:chgData name="Eirik Eriksen Heen" userId="3e804305-1c07-417a-9ea8-d913585be88f" providerId="ADAL" clId="{86A7CD6A-BADF-46B5-A0EB-3EAA83991659}" dt="2026-09-22T09:34:50.863" v="692" actId="16959"/>
      <pc:docMkLst>
        <pc:docMk/>
      </pc:docMkLst>
      <pc:sldChg chg="add del">
        <pc:chgData name="Eirik Eriksen Heen" userId="3e804305-1c07-417a-9ea8-d913585be88f" providerId="ADAL" clId="{86A7CD6A-BADF-46B5-A0EB-3EAA83991659}" dt="2026-09-22T06:36:10.292" v="2" actId="47"/>
        <pc:sldMkLst>
          <pc:docMk/>
          <pc:sldMk cId="0" sldId="256"/>
        </pc:sldMkLst>
      </pc:sldChg>
      <pc:sldChg chg="add del">
        <pc:chgData name="Eirik Eriksen Heen" userId="3e804305-1c07-417a-9ea8-d913585be88f" providerId="ADAL" clId="{86A7CD6A-BADF-46B5-A0EB-3EAA83991659}" dt="2026-09-22T06:37:43.463" v="11" actId="2696"/>
        <pc:sldMkLst>
          <pc:docMk/>
          <pc:sldMk cId="0" sldId="257"/>
        </pc:sldMkLst>
      </pc:sldChg>
      <pc:sldChg chg="add">
        <pc:chgData name="Eirik Eriksen Heen" userId="3e804305-1c07-417a-9ea8-d913585be88f" providerId="ADAL" clId="{86A7CD6A-BADF-46B5-A0EB-3EAA83991659}" dt="2026-09-22T06:38:09.182" v="12"/>
        <pc:sldMkLst>
          <pc:docMk/>
          <pc:sldMk cId="135501247" sldId="257"/>
        </pc:sldMkLst>
      </pc:sldChg>
      <pc:sldChg chg="modSp add del mod">
        <pc:chgData name="Eirik Eriksen Heen" userId="3e804305-1c07-417a-9ea8-d913585be88f" providerId="ADAL" clId="{86A7CD6A-BADF-46B5-A0EB-3EAA83991659}" dt="2026-09-22T08:44:36.820" v="551" actId="27636"/>
        <pc:sldMkLst>
          <pc:docMk/>
          <pc:sldMk cId="0" sldId="258"/>
        </pc:sldMkLst>
        <pc:spChg chg="mod">
          <ac:chgData name="Eirik Eriksen Heen" userId="3e804305-1c07-417a-9ea8-d913585be88f" providerId="ADAL" clId="{86A7CD6A-BADF-46B5-A0EB-3EAA83991659}" dt="2026-09-22T08:44:36.820" v="551" actId="27636"/>
          <ac:spMkLst>
            <pc:docMk/>
            <pc:sldMk cId="0" sldId="258"/>
            <ac:spMk id="19" creationId="{00000000-0000-0000-0000-000000000000}"/>
          </ac:spMkLst>
        </pc:spChg>
      </pc:sldChg>
      <pc:sldChg chg="del">
        <pc:chgData name="Eirik Eriksen Heen" userId="3e804305-1c07-417a-9ea8-d913585be88f" providerId="ADAL" clId="{86A7CD6A-BADF-46B5-A0EB-3EAA83991659}" dt="2026-09-22T06:39:01.814" v="19" actId="2696"/>
        <pc:sldMkLst>
          <pc:docMk/>
          <pc:sldMk cId="0" sldId="259"/>
        </pc:sldMkLst>
      </pc:sldChg>
      <pc:sldChg chg="add">
        <pc:chgData name="Eirik Eriksen Heen" userId="3e804305-1c07-417a-9ea8-d913585be88f" providerId="ADAL" clId="{86A7CD6A-BADF-46B5-A0EB-3EAA83991659}" dt="2026-09-22T06:39:15.329" v="20"/>
        <pc:sldMkLst>
          <pc:docMk/>
          <pc:sldMk cId="2057578463" sldId="259"/>
        </pc:sldMkLst>
      </pc:sldChg>
      <pc:sldChg chg="del">
        <pc:chgData name="Eirik Eriksen Heen" userId="3e804305-1c07-417a-9ea8-d913585be88f" providerId="ADAL" clId="{86A7CD6A-BADF-46B5-A0EB-3EAA83991659}" dt="2026-09-22T06:39:22.911" v="21" actId="2696"/>
        <pc:sldMkLst>
          <pc:docMk/>
          <pc:sldMk cId="0" sldId="260"/>
        </pc:sldMkLst>
      </pc:sldChg>
      <pc:sldChg chg="add">
        <pc:chgData name="Eirik Eriksen Heen" userId="3e804305-1c07-417a-9ea8-d913585be88f" providerId="ADAL" clId="{86A7CD6A-BADF-46B5-A0EB-3EAA83991659}" dt="2026-09-22T06:39:39.191" v="22"/>
        <pc:sldMkLst>
          <pc:docMk/>
          <pc:sldMk cId="1025693282" sldId="260"/>
        </pc:sldMkLst>
      </pc:sldChg>
      <pc:sldChg chg="del">
        <pc:chgData name="Eirik Eriksen Heen" userId="3e804305-1c07-417a-9ea8-d913585be88f" providerId="ADAL" clId="{86A7CD6A-BADF-46B5-A0EB-3EAA83991659}" dt="2026-09-22T06:39:45.999" v="23" actId="2696"/>
        <pc:sldMkLst>
          <pc:docMk/>
          <pc:sldMk cId="0" sldId="261"/>
        </pc:sldMkLst>
      </pc:sldChg>
      <pc:sldChg chg="modSp add">
        <pc:chgData name="Eirik Eriksen Heen" userId="3e804305-1c07-417a-9ea8-d913585be88f" providerId="ADAL" clId="{86A7CD6A-BADF-46B5-A0EB-3EAA83991659}" dt="2026-09-22T07:04:42.654" v="72" actId="113"/>
        <pc:sldMkLst>
          <pc:docMk/>
          <pc:sldMk cId="2734606387" sldId="261"/>
        </pc:sldMkLst>
        <pc:spChg chg="mod">
          <ac:chgData name="Eirik Eriksen Heen" userId="3e804305-1c07-417a-9ea8-d913585be88f" providerId="ADAL" clId="{86A7CD6A-BADF-46B5-A0EB-3EAA83991659}" dt="2026-09-22T07:04:39.546" v="71" actId="113"/>
          <ac:spMkLst>
            <pc:docMk/>
            <pc:sldMk cId="2734606387" sldId="261"/>
            <ac:spMk id="5" creationId="{D7BF42EB-177F-D39B-44EC-A97A649A6C27}"/>
          </ac:spMkLst>
        </pc:spChg>
        <pc:spChg chg="mod">
          <ac:chgData name="Eirik Eriksen Heen" userId="3e804305-1c07-417a-9ea8-d913585be88f" providerId="ADAL" clId="{86A7CD6A-BADF-46B5-A0EB-3EAA83991659}" dt="2026-09-22T07:04:42.654" v="72" actId="113"/>
          <ac:spMkLst>
            <pc:docMk/>
            <pc:sldMk cId="2734606387" sldId="261"/>
            <ac:spMk id="11" creationId="{61F876D0-E35A-9BD5-FC67-1D92E4A6C155}"/>
          </ac:spMkLst>
        </pc:spChg>
      </pc:sldChg>
      <pc:sldChg chg="del">
        <pc:chgData name="Eirik Eriksen Heen" userId="3e804305-1c07-417a-9ea8-d913585be88f" providerId="ADAL" clId="{86A7CD6A-BADF-46B5-A0EB-3EAA83991659}" dt="2026-09-22T06:43:07.637" v="26" actId="47"/>
        <pc:sldMkLst>
          <pc:docMk/>
          <pc:sldMk cId="0" sldId="262"/>
        </pc:sldMkLst>
      </pc:sldChg>
      <pc:sldChg chg="add">
        <pc:chgData name="Eirik Eriksen Heen" userId="3e804305-1c07-417a-9ea8-d913585be88f" providerId="ADAL" clId="{86A7CD6A-BADF-46B5-A0EB-3EAA83991659}" dt="2026-09-22T06:44:31.009" v="27"/>
        <pc:sldMkLst>
          <pc:docMk/>
          <pc:sldMk cId="657794776" sldId="262"/>
        </pc:sldMkLst>
      </pc:sldChg>
      <pc:sldChg chg="del">
        <pc:chgData name="Eirik Eriksen Heen" userId="3e804305-1c07-417a-9ea8-d913585be88f" providerId="ADAL" clId="{86A7CD6A-BADF-46B5-A0EB-3EAA83991659}" dt="2026-09-22T06:44:40.462" v="28" actId="2696"/>
        <pc:sldMkLst>
          <pc:docMk/>
          <pc:sldMk cId="0" sldId="263"/>
        </pc:sldMkLst>
      </pc:sldChg>
      <pc:sldChg chg="addSp modSp mod">
        <pc:chgData name="Eirik Eriksen Heen" userId="3e804305-1c07-417a-9ea8-d913585be88f" providerId="ADAL" clId="{86A7CD6A-BADF-46B5-A0EB-3EAA83991659}" dt="2026-09-22T08:50:03.099" v="558" actId="14100"/>
        <pc:sldMkLst>
          <pc:docMk/>
          <pc:sldMk cId="0" sldId="265"/>
        </pc:sldMkLst>
        <pc:spChg chg="add mod">
          <ac:chgData name="Eirik Eriksen Heen" userId="3e804305-1c07-417a-9ea8-d913585be88f" providerId="ADAL" clId="{86A7CD6A-BADF-46B5-A0EB-3EAA83991659}" dt="2026-09-22T08:49:55.067" v="554" actId="2085"/>
          <ac:spMkLst>
            <pc:docMk/>
            <pc:sldMk cId="0" sldId="265"/>
            <ac:spMk id="3" creationId="{B490FC29-497E-88FD-AC4B-5BF7E0693B33}"/>
          </ac:spMkLst>
        </pc:spChg>
        <pc:spChg chg="add mod">
          <ac:chgData name="Eirik Eriksen Heen" userId="3e804305-1c07-417a-9ea8-d913585be88f" providerId="ADAL" clId="{86A7CD6A-BADF-46B5-A0EB-3EAA83991659}" dt="2026-09-22T08:50:03.099" v="558" actId="14100"/>
          <ac:spMkLst>
            <pc:docMk/>
            <pc:sldMk cId="0" sldId="265"/>
            <ac:spMk id="5" creationId="{44C79754-53C1-45C8-1B74-0B549F57D5C0}"/>
          </ac:spMkLst>
        </pc:spChg>
      </pc:sldChg>
      <pc:sldChg chg="modSp mod">
        <pc:chgData name="Eirik Eriksen Heen" userId="3e804305-1c07-417a-9ea8-d913585be88f" providerId="ADAL" clId="{86A7CD6A-BADF-46B5-A0EB-3EAA83991659}" dt="2026-09-22T08:55:22.982" v="561" actId="1076"/>
        <pc:sldMkLst>
          <pc:docMk/>
          <pc:sldMk cId="0" sldId="267"/>
        </pc:sldMkLst>
        <pc:picChg chg="mod">
          <ac:chgData name="Eirik Eriksen Heen" userId="3e804305-1c07-417a-9ea8-d913585be88f" providerId="ADAL" clId="{86A7CD6A-BADF-46B5-A0EB-3EAA83991659}" dt="2026-09-22T08:55:22.982" v="561" actId="1076"/>
          <ac:picMkLst>
            <pc:docMk/>
            <pc:sldMk cId="0" sldId="267"/>
            <ac:picMk id="2" creationId="{00000000-0000-0000-0000-000000000000}"/>
          </ac:picMkLst>
        </pc:picChg>
      </pc:sldChg>
      <pc:sldChg chg="addSp delSp modSp mod">
        <pc:chgData name="Eirik Eriksen Heen" userId="3e804305-1c07-417a-9ea8-d913585be88f" providerId="ADAL" clId="{86A7CD6A-BADF-46B5-A0EB-3EAA83991659}" dt="2026-09-22T07:05:14.261" v="76" actId="20577"/>
        <pc:sldMkLst>
          <pc:docMk/>
          <pc:sldMk cId="0" sldId="268"/>
        </pc:sldMkLst>
        <pc:spChg chg="del mod">
          <ac:chgData name="Eirik Eriksen Heen" userId="3e804305-1c07-417a-9ea8-d913585be88f" providerId="ADAL" clId="{86A7CD6A-BADF-46B5-A0EB-3EAA83991659}" dt="2026-09-22T07:02:25.694" v="35" actId="478"/>
          <ac:spMkLst>
            <pc:docMk/>
            <pc:sldMk cId="0" sldId="268"/>
            <ac:spMk id="5" creationId="{00000000-0000-0000-0000-000000000000}"/>
          </ac:spMkLst>
        </pc:spChg>
        <pc:spChg chg="del">
          <ac:chgData name="Eirik Eriksen Heen" userId="3e804305-1c07-417a-9ea8-d913585be88f" providerId="ADAL" clId="{86A7CD6A-BADF-46B5-A0EB-3EAA83991659}" dt="2026-09-22T07:02:09.928" v="34" actId="478"/>
          <ac:spMkLst>
            <pc:docMk/>
            <pc:sldMk cId="0" sldId="268"/>
            <ac:spMk id="6" creationId="{00000000-0000-0000-0000-000000000000}"/>
          </ac:spMkLst>
        </pc:spChg>
        <pc:spChg chg="mod">
          <ac:chgData name="Eirik Eriksen Heen" userId="3e804305-1c07-417a-9ea8-d913585be88f" providerId="ADAL" clId="{86A7CD6A-BADF-46B5-A0EB-3EAA83991659}" dt="2026-09-22T07:05:14.261" v="76" actId="20577"/>
          <ac:spMkLst>
            <pc:docMk/>
            <pc:sldMk cId="0" sldId="268"/>
            <ac:spMk id="7" creationId="{00000000-0000-0000-0000-000000000000}"/>
          </ac:spMkLst>
        </pc:spChg>
        <pc:spChg chg="del mod">
          <ac:chgData name="Eirik Eriksen Heen" userId="3e804305-1c07-417a-9ea8-d913585be88f" providerId="ADAL" clId="{86A7CD6A-BADF-46B5-A0EB-3EAA83991659}" dt="2026-09-22T07:04:28.787" v="69" actId="478"/>
          <ac:spMkLst>
            <pc:docMk/>
            <pc:sldMk cId="0" sldId="268"/>
            <ac:spMk id="8" creationId="{00000000-0000-0000-0000-000000000000}"/>
          </ac:spMkLst>
        </pc:spChg>
        <pc:spChg chg="add del mod">
          <ac:chgData name="Eirik Eriksen Heen" userId="3e804305-1c07-417a-9ea8-d913585be88f" providerId="ADAL" clId="{86A7CD6A-BADF-46B5-A0EB-3EAA83991659}" dt="2026-09-22T07:04:26.310" v="68" actId="478"/>
          <ac:spMkLst>
            <pc:docMk/>
            <pc:sldMk cId="0" sldId="268"/>
            <ac:spMk id="9" creationId="{00000000-0000-0000-0000-000000000000}"/>
          </ac:spMkLst>
        </pc:spChg>
        <pc:spChg chg="add mod">
          <ac:chgData name="Eirik Eriksen Heen" userId="3e804305-1c07-417a-9ea8-d913585be88f" providerId="ADAL" clId="{86A7CD6A-BADF-46B5-A0EB-3EAA83991659}" dt="2026-09-22T07:03:20.640" v="48" actId="113"/>
          <ac:spMkLst>
            <pc:docMk/>
            <pc:sldMk cId="0" sldId="268"/>
            <ac:spMk id="13" creationId="{09CF9C34-D5E3-608C-7124-BDBCAE4729BE}"/>
          </ac:spMkLst>
        </pc:spChg>
        <pc:spChg chg="add mod">
          <ac:chgData name="Eirik Eriksen Heen" userId="3e804305-1c07-417a-9ea8-d913585be88f" providerId="ADAL" clId="{86A7CD6A-BADF-46B5-A0EB-3EAA83991659}" dt="2026-09-22T07:04:32.563" v="70" actId="1076"/>
          <ac:spMkLst>
            <pc:docMk/>
            <pc:sldMk cId="0" sldId="268"/>
            <ac:spMk id="15" creationId="{BD623C91-6DEA-0DE4-1EDB-11521E6BEB79}"/>
          </ac:spMkLst>
        </pc:spChg>
      </pc:sldChg>
      <pc:sldChg chg="addSp delSp modSp mod">
        <pc:chgData name="Eirik Eriksen Heen" userId="3e804305-1c07-417a-9ea8-d913585be88f" providerId="ADAL" clId="{86A7CD6A-BADF-46B5-A0EB-3EAA83991659}" dt="2026-09-22T07:07:05.720" v="101" actId="1076"/>
        <pc:sldMkLst>
          <pc:docMk/>
          <pc:sldMk cId="0" sldId="269"/>
        </pc:sldMkLst>
        <pc:spChg chg="mod">
          <ac:chgData name="Eirik Eriksen Heen" userId="3e804305-1c07-417a-9ea8-d913585be88f" providerId="ADAL" clId="{86A7CD6A-BADF-46B5-A0EB-3EAA83991659}" dt="2026-09-22T07:06:19.694" v="78" actId="1076"/>
          <ac:spMkLst>
            <pc:docMk/>
            <pc:sldMk cId="0" sldId="269"/>
            <ac:spMk id="6" creationId="{00000000-0000-0000-0000-000000000000}"/>
          </ac:spMkLst>
        </pc:spChg>
        <pc:spChg chg="add del mod">
          <ac:chgData name="Eirik Eriksen Heen" userId="3e804305-1c07-417a-9ea8-d913585be88f" providerId="ADAL" clId="{86A7CD6A-BADF-46B5-A0EB-3EAA83991659}" dt="2026-09-22T07:07:05.720" v="101" actId="1076"/>
          <ac:spMkLst>
            <pc:docMk/>
            <pc:sldMk cId="0" sldId="269"/>
            <ac:spMk id="7" creationId="{00000000-0000-0000-0000-000000000000}"/>
          </ac:spMkLst>
        </pc:spChg>
        <pc:spChg chg="del">
          <ac:chgData name="Eirik Eriksen Heen" userId="3e804305-1c07-417a-9ea8-d913585be88f" providerId="ADAL" clId="{86A7CD6A-BADF-46B5-A0EB-3EAA83991659}" dt="2026-09-22T06:42:50.344" v="25" actId="478"/>
          <ac:spMkLst>
            <pc:docMk/>
            <pc:sldMk cId="0" sldId="269"/>
            <ac:spMk id="9" creationId="{00000000-0000-0000-0000-000000000000}"/>
          </ac:spMkLst>
        </pc:spChg>
      </pc:sldChg>
      <pc:sldChg chg="addSp delSp modSp mod">
        <pc:chgData name="Eirik Eriksen Heen" userId="3e804305-1c07-417a-9ea8-d913585be88f" providerId="ADAL" clId="{86A7CD6A-BADF-46B5-A0EB-3EAA83991659}" dt="2026-09-22T07:09:56.118" v="140" actId="207"/>
        <pc:sldMkLst>
          <pc:docMk/>
          <pc:sldMk cId="0" sldId="270"/>
        </pc:sldMkLst>
        <pc:spChg chg="add del">
          <ac:chgData name="Eirik Eriksen Heen" userId="3e804305-1c07-417a-9ea8-d913585be88f" providerId="ADAL" clId="{86A7CD6A-BADF-46B5-A0EB-3EAA83991659}" dt="2026-09-22T07:09:15.929" v="131" actId="478"/>
          <ac:spMkLst>
            <pc:docMk/>
            <pc:sldMk cId="0" sldId="270"/>
            <ac:spMk id="5" creationId="{00000000-0000-0000-0000-000000000000}"/>
          </ac:spMkLst>
        </pc:spChg>
        <pc:spChg chg="add del">
          <ac:chgData name="Eirik Eriksen Heen" userId="3e804305-1c07-417a-9ea8-d913585be88f" providerId="ADAL" clId="{86A7CD6A-BADF-46B5-A0EB-3EAA83991659}" dt="2026-09-22T07:09:17.359" v="132" actId="478"/>
          <ac:spMkLst>
            <pc:docMk/>
            <pc:sldMk cId="0" sldId="270"/>
            <ac:spMk id="6" creationId="{00000000-0000-0000-0000-000000000000}"/>
          </ac:spMkLst>
        </pc:spChg>
        <pc:spChg chg="mod">
          <ac:chgData name="Eirik Eriksen Heen" userId="3e804305-1c07-417a-9ea8-d913585be88f" providerId="ADAL" clId="{86A7CD6A-BADF-46B5-A0EB-3EAA83991659}" dt="2026-09-22T07:09:35.858" v="136" actId="207"/>
          <ac:spMkLst>
            <pc:docMk/>
            <pc:sldMk cId="0" sldId="270"/>
            <ac:spMk id="8" creationId="{00000000-0000-0000-0000-000000000000}"/>
          </ac:spMkLst>
        </pc:spChg>
        <pc:spChg chg="mod">
          <ac:chgData name="Eirik Eriksen Heen" userId="3e804305-1c07-417a-9ea8-d913585be88f" providerId="ADAL" clId="{86A7CD6A-BADF-46B5-A0EB-3EAA83991659}" dt="2026-09-22T07:09:46.211" v="138" actId="207"/>
          <ac:spMkLst>
            <pc:docMk/>
            <pc:sldMk cId="0" sldId="270"/>
            <ac:spMk id="11" creationId="{00000000-0000-0000-0000-000000000000}"/>
          </ac:spMkLst>
        </pc:spChg>
        <pc:spChg chg="mod">
          <ac:chgData name="Eirik Eriksen Heen" userId="3e804305-1c07-417a-9ea8-d913585be88f" providerId="ADAL" clId="{86A7CD6A-BADF-46B5-A0EB-3EAA83991659}" dt="2026-09-22T07:09:56.118" v="140" actId="207"/>
          <ac:spMkLst>
            <pc:docMk/>
            <pc:sldMk cId="0" sldId="270"/>
            <ac:spMk id="14" creationId="{00000000-0000-0000-0000-000000000000}"/>
          </ac:spMkLst>
        </pc:spChg>
        <pc:spChg chg="add del mod">
          <ac:chgData name="Eirik Eriksen Heen" userId="3e804305-1c07-417a-9ea8-d913585be88f" providerId="ADAL" clId="{86A7CD6A-BADF-46B5-A0EB-3EAA83991659}" dt="2026-09-22T07:08:24.412" v="113" actId="22"/>
          <ac:spMkLst>
            <pc:docMk/>
            <pc:sldMk cId="0" sldId="270"/>
            <ac:spMk id="18" creationId="{5B1DBC96-156C-23B8-AEEF-8EB489E936D7}"/>
          </ac:spMkLst>
        </pc:spChg>
        <pc:spChg chg="add del">
          <ac:chgData name="Eirik Eriksen Heen" userId="3e804305-1c07-417a-9ea8-d913585be88f" providerId="ADAL" clId="{86A7CD6A-BADF-46B5-A0EB-3EAA83991659}" dt="2026-09-22T07:08:29.161" v="117" actId="22"/>
          <ac:spMkLst>
            <pc:docMk/>
            <pc:sldMk cId="0" sldId="270"/>
            <ac:spMk id="20" creationId="{A1DF4ABB-E647-5EA3-3E6E-7FA0B3B9F882}"/>
          </ac:spMkLst>
        </pc:spChg>
        <pc:spChg chg="add mod">
          <ac:chgData name="Eirik Eriksen Heen" userId="3e804305-1c07-417a-9ea8-d913585be88f" providerId="ADAL" clId="{86A7CD6A-BADF-46B5-A0EB-3EAA83991659}" dt="2026-09-22T07:09:21.426" v="134" actId="14100"/>
          <ac:spMkLst>
            <pc:docMk/>
            <pc:sldMk cId="0" sldId="270"/>
            <ac:spMk id="22" creationId="{072EE9A1-C5E3-7925-EA63-D2D50DF42E04}"/>
          </ac:spMkLst>
        </pc:spChg>
      </pc:sldChg>
      <pc:sldChg chg="modSp mod">
        <pc:chgData name="Eirik Eriksen Heen" userId="3e804305-1c07-417a-9ea8-d913585be88f" providerId="ADAL" clId="{86A7CD6A-BADF-46B5-A0EB-3EAA83991659}" dt="2026-09-22T09:04:57.112" v="662" actId="6549"/>
        <pc:sldMkLst>
          <pc:docMk/>
          <pc:sldMk cId="0" sldId="271"/>
        </pc:sldMkLst>
        <pc:spChg chg="mod">
          <ac:chgData name="Eirik Eriksen Heen" userId="3e804305-1c07-417a-9ea8-d913585be88f" providerId="ADAL" clId="{86A7CD6A-BADF-46B5-A0EB-3EAA83991659}" dt="2026-09-22T09:02:24.575" v="578" actId="27636"/>
          <ac:spMkLst>
            <pc:docMk/>
            <pc:sldMk cId="0" sldId="271"/>
            <ac:spMk id="7" creationId="{00000000-0000-0000-0000-000000000000}"/>
          </ac:spMkLst>
        </pc:spChg>
        <pc:spChg chg="mod">
          <ac:chgData name="Eirik Eriksen Heen" userId="3e804305-1c07-417a-9ea8-d913585be88f" providerId="ADAL" clId="{86A7CD6A-BADF-46B5-A0EB-3EAA83991659}" dt="2026-09-22T09:02:57.478" v="617" actId="6549"/>
          <ac:spMkLst>
            <pc:docMk/>
            <pc:sldMk cId="0" sldId="271"/>
            <ac:spMk id="9" creationId="{00000000-0000-0000-0000-000000000000}"/>
          </ac:spMkLst>
        </pc:spChg>
        <pc:spChg chg="mod">
          <ac:chgData name="Eirik Eriksen Heen" userId="3e804305-1c07-417a-9ea8-d913585be88f" providerId="ADAL" clId="{86A7CD6A-BADF-46B5-A0EB-3EAA83991659}" dt="2026-09-22T09:03:08.357" v="620" actId="114"/>
          <ac:spMkLst>
            <pc:docMk/>
            <pc:sldMk cId="0" sldId="271"/>
            <ac:spMk id="11" creationId="{00000000-0000-0000-0000-000000000000}"/>
          </ac:spMkLst>
        </pc:spChg>
        <pc:spChg chg="mod">
          <ac:chgData name="Eirik Eriksen Heen" userId="3e804305-1c07-417a-9ea8-d913585be88f" providerId="ADAL" clId="{86A7CD6A-BADF-46B5-A0EB-3EAA83991659}" dt="2026-09-22T09:04:57.112" v="662" actId="6549"/>
          <ac:spMkLst>
            <pc:docMk/>
            <pc:sldMk cId="0" sldId="271"/>
            <ac:spMk id="13" creationId="{00000000-0000-0000-0000-000000000000}"/>
          </ac:spMkLst>
        </pc:spChg>
      </pc:sldChg>
      <pc:sldChg chg="addSp delSp modSp mod">
        <pc:chgData name="Eirik Eriksen Heen" userId="3e804305-1c07-417a-9ea8-d913585be88f" providerId="ADAL" clId="{86A7CD6A-BADF-46B5-A0EB-3EAA83991659}" dt="2026-09-22T07:42:57.566" v="270" actId="20577"/>
        <pc:sldMkLst>
          <pc:docMk/>
          <pc:sldMk cId="0" sldId="272"/>
        </pc:sldMkLst>
        <pc:spChg chg="mod">
          <ac:chgData name="Eirik Eriksen Heen" userId="3e804305-1c07-417a-9ea8-d913585be88f" providerId="ADAL" clId="{86A7CD6A-BADF-46B5-A0EB-3EAA83991659}" dt="2026-09-22T07:42:57.566" v="270" actId="20577"/>
          <ac:spMkLst>
            <pc:docMk/>
            <pc:sldMk cId="0" sldId="272"/>
            <ac:spMk id="5" creationId="{00000000-0000-0000-0000-000000000000}"/>
          </ac:spMkLst>
        </pc:spChg>
        <pc:spChg chg="del">
          <ac:chgData name="Eirik Eriksen Heen" userId="3e804305-1c07-417a-9ea8-d913585be88f" providerId="ADAL" clId="{86A7CD6A-BADF-46B5-A0EB-3EAA83991659}" dt="2026-09-22T07:14:16.119" v="141" actId="478"/>
          <ac:spMkLst>
            <pc:docMk/>
            <pc:sldMk cId="0" sldId="272"/>
            <ac:spMk id="8" creationId="{00000000-0000-0000-0000-000000000000}"/>
          </ac:spMkLst>
        </pc:spChg>
        <pc:picChg chg="add mod">
          <ac:chgData name="Eirik Eriksen Heen" userId="3e804305-1c07-417a-9ea8-d913585be88f" providerId="ADAL" clId="{86A7CD6A-BADF-46B5-A0EB-3EAA83991659}" dt="2026-09-22T07:40:37.302" v="204" actId="1076"/>
          <ac:picMkLst>
            <pc:docMk/>
            <pc:sldMk cId="0" sldId="272"/>
            <ac:picMk id="10" creationId="{8C138137-F02D-2FAA-8ADB-F1D16CF42E54}"/>
          </ac:picMkLst>
        </pc:picChg>
      </pc:sldChg>
      <pc:sldChg chg="modSp">
        <pc:chgData name="Eirik Eriksen Heen" userId="3e804305-1c07-417a-9ea8-d913585be88f" providerId="ADAL" clId="{86A7CD6A-BADF-46B5-A0EB-3EAA83991659}" dt="2026-09-22T07:20:23.714" v="156"/>
        <pc:sldMkLst>
          <pc:docMk/>
          <pc:sldMk cId="0" sldId="274"/>
        </pc:sldMkLst>
        <pc:spChg chg="mod">
          <ac:chgData name="Eirik Eriksen Heen" userId="3e804305-1c07-417a-9ea8-d913585be88f" providerId="ADAL" clId="{86A7CD6A-BADF-46B5-A0EB-3EAA83991659}" dt="2026-09-22T07:19:31.958" v="143" actId="207"/>
          <ac:spMkLst>
            <pc:docMk/>
            <pc:sldMk cId="0" sldId="274"/>
            <ac:spMk id="6" creationId="{00000000-0000-0000-0000-000000000000}"/>
          </ac:spMkLst>
        </pc:spChg>
        <pc:spChg chg="mod">
          <ac:chgData name="Eirik Eriksen Heen" userId="3e804305-1c07-417a-9ea8-d913585be88f" providerId="ADAL" clId="{86A7CD6A-BADF-46B5-A0EB-3EAA83991659}" dt="2026-09-22T07:19:56.965" v="154" actId="20577"/>
          <ac:spMkLst>
            <pc:docMk/>
            <pc:sldMk cId="0" sldId="274"/>
            <ac:spMk id="10" creationId="{00000000-0000-0000-0000-000000000000}"/>
          </ac:spMkLst>
        </pc:spChg>
        <pc:spChg chg="mod">
          <ac:chgData name="Eirik Eriksen Heen" userId="3e804305-1c07-417a-9ea8-d913585be88f" providerId="ADAL" clId="{86A7CD6A-BADF-46B5-A0EB-3EAA83991659}" dt="2026-09-22T07:20:23.714" v="156"/>
          <ac:spMkLst>
            <pc:docMk/>
            <pc:sldMk cId="0" sldId="274"/>
            <ac:spMk id="14" creationId="{00000000-0000-0000-0000-000000000000}"/>
          </ac:spMkLst>
        </pc:spChg>
      </pc:sldChg>
      <pc:sldChg chg="modSp">
        <pc:chgData name="Eirik Eriksen Heen" userId="3e804305-1c07-417a-9ea8-d913585be88f" providerId="ADAL" clId="{86A7CD6A-BADF-46B5-A0EB-3EAA83991659}" dt="2026-09-22T07:25:19.882" v="160"/>
        <pc:sldMkLst>
          <pc:docMk/>
          <pc:sldMk cId="0" sldId="275"/>
        </pc:sldMkLst>
        <pc:spChg chg="mod">
          <ac:chgData name="Eirik Eriksen Heen" userId="3e804305-1c07-417a-9ea8-d913585be88f" providerId="ADAL" clId="{86A7CD6A-BADF-46B5-A0EB-3EAA83991659}" dt="2026-09-22T07:21:28.002" v="157"/>
          <ac:spMkLst>
            <pc:docMk/>
            <pc:sldMk cId="0" sldId="275"/>
            <ac:spMk id="8" creationId="{00000000-0000-0000-0000-000000000000}"/>
          </ac:spMkLst>
        </pc:spChg>
        <pc:spChg chg="mod">
          <ac:chgData name="Eirik Eriksen Heen" userId="3e804305-1c07-417a-9ea8-d913585be88f" providerId="ADAL" clId="{86A7CD6A-BADF-46B5-A0EB-3EAA83991659}" dt="2026-09-22T07:21:33.203" v="158"/>
          <ac:spMkLst>
            <pc:docMk/>
            <pc:sldMk cId="0" sldId="275"/>
            <ac:spMk id="11" creationId="{00000000-0000-0000-0000-000000000000}"/>
          </ac:spMkLst>
        </pc:spChg>
        <pc:spChg chg="mod">
          <ac:chgData name="Eirik Eriksen Heen" userId="3e804305-1c07-417a-9ea8-d913585be88f" providerId="ADAL" clId="{86A7CD6A-BADF-46B5-A0EB-3EAA83991659}" dt="2026-09-22T07:25:19.882" v="160"/>
          <ac:spMkLst>
            <pc:docMk/>
            <pc:sldMk cId="0" sldId="275"/>
            <ac:spMk id="12" creationId="{00000000-0000-0000-0000-000000000000}"/>
          </ac:spMkLst>
        </pc:spChg>
      </pc:sldChg>
      <pc:sldChg chg="modSp mod">
        <pc:chgData name="Eirik Eriksen Heen" userId="3e804305-1c07-417a-9ea8-d913585be88f" providerId="ADAL" clId="{86A7CD6A-BADF-46B5-A0EB-3EAA83991659}" dt="2026-09-22T07:44:27.896" v="271" actId="114"/>
        <pc:sldMkLst>
          <pc:docMk/>
          <pc:sldMk cId="0" sldId="277"/>
        </pc:sldMkLst>
        <pc:spChg chg="mod">
          <ac:chgData name="Eirik Eriksen Heen" userId="3e804305-1c07-417a-9ea8-d913585be88f" providerId="ADAL" clId="{86A7CD6A-BADF-46B5-A0EB-3EAA83991659}" dt="2026-09-22T07:44:27.896" v="271" actId="114"/>
          <ac:spMkLst>
            <pc:docMk/>
            <pc:sldMk cId="0" sldId="277"/>
            <ac:spMk id="7" creationId="{00000000-0000-0000-0000-000000000000}"/>
          </ac:spMkLst>
        </pc:spChg>
      </pc:sldChg>
      <pc:sldChg chg="modSp mod">
        <pc:chgData name="Eirik Eriksen Heen" userId="3e804305-1c07-417a-9ea8-d913585be88f" providerId="ADAL" clId="{86A7CD6A-BADF-46B5-A0EB-3EAA83991659}" dt="2026-09-22T07:28:21.066" v="175" actId="20577"/>
        <pc:sldMkLst>
          <pc:docMk/>
          <pc:sldMk cId="0" sldId="278"/>
        </pc:sldMkLst>
        <pc:spChg chg="mod">
          <ac:chgData name="Eirik Eriksen Heen" userId="3e804305-1c07-417a-9ea8-d913585be88f" providerId="ADAL" clId="{86A7CD6A-BADF-46B5-A0EB-3EAA83991659}" dt="2026-09-22T07:28:04.675" v="168" actId="20577"/>
          <ac:spMkLst>
            <pc:docMk/>
            <pc:sldMk cId="0" sldId="278"/>
            <ac:spMk id="7" creationId="{00000000-0000-0000-0000-000000000000}"/>
          </ac:spMkLst>
        </pc:spChg>
        <pc:spChg chg="mod">
          <ac:chgData name="Eirik Eriksen Heen" userId="3e804305-1c07-417a-9ea8-d913585be88f" providerId="ADAL" clId="{86A7CD6A-BADF-46B5-A0EB-3EAA83991659}" dt="2026-09-22T07:28:21.066" v="175" actId="20577"/>
          <ac:spMkLst>
            <pc:docMk/>
            <pc:sldMk cId="0" sldId="278"/>
            <ac:spMk id="10" creationId="{00000000-0000-0000-0000-000000000000}"/>
          </ac:spMkLst>
        </pc:spChg>
      </pc:sldChg>
      <pc:sldChg chg="modSp mod">
        <pc:chgData name="Eirik Eriksen Heen" userId="3e804305-1c07-417a-9ea8-d913585be88f" providerId="ADAL" clId="{86A7CD6A-BADF-46B5-A0EB-3EAA83991659}" dt="2026-09-22T07:46:05.774" v="288" actId="20577"/>
        <pc:sldMkLst>
          <pc:docMk/>
          <pc:sldMk cId="0" sldId="280"/>
        </pc:sldMkLst>
        <pc:spChg chg="mod">
          <ac:chgData name="Eirik Eriksen Heen" userId="3e804305-1c07-417a-9ea8-d913585be88f" providerId="ADAL" clId="{86A7CD6A-BADF-46B5-A0EB-3EAA83991659}" dt="2026-09-22T07:45:27.512" v="274" actId="114"/>
          <ac:spMkLst>
            <pc:docMk/>
            <pc:sldMk cId="0" sldId="280"/>
            <ac:spMk id="6" creationId="{00000000-0000-0000-0000-000000000000}"/>
          </ac:spMkLst>
        </pc:spChg>
        <pc:spChg chg="mod">
          <ac:chgData name="Eirik Eriksen Heen" userId="3e804305-1c07-417a-9ea8-d913585be88f" providerId="ADAL" clId="{86A7CD6A-BADF-46B5-A0EB-3EAA83991659}" dt="2026-09-22T07:45:54.756" v="279" actId="20577"/>
          <ac:spMkLst>
            <pc:docMk/>
            <pc:sldMk cId="0" sldId="280"/>
            <ac:spMk id="9" creationId="{00000000-0000-0000-0000-000000000000}"/>
          </ac:spMkLst>
        </pc:spChg>
        <pc:spChg chg="mod">
          <ac:chgData name="Eirik Eriksen Heen" userId="3e804305-1c07-417a-9ea8-d913585be88f" providerId="ADAL" clId="{86A7CD6A-BADF-46B5-A0EB-3EAA83991659}" dt="2026-09-22T07:46:05.774" v="288" actId="20577"/>
          <ac:spMkLst>
            <pc:docMk/>
            <pc:sldMk cId="0" sldId="280"/>
            <ac:spMk id="12" creationId="{00000000-0000-0000-0000-000000000000}"/>
          </ac:spMkLst>
        </pc:spChg>
      </pc:sldChg>
      <pc:sldChg chg="modSp mod">
        <pc:chgData name="Eirik Eriksen Heen" userId="3e804305-1c07-417a-9ea8-d913585be88f" providerId="ADAL" clId="{86A7CD6A-BADF-46B5-A0EB-3EAA83991659}" dt="2026-09-22T07:46:21.258" v="290" actId="114"/>
        <pc:sldMkLst>
          <pc:docMk/>
          <pc:sldMk cId="0" sldId="281"/>
        </pc:sldMkLst>
        <pc:spChg chg="mod">
          <ac:chgData name="Eirik Eriksen Heen" userId="3e804305-1c07-417a-9ea8-d913585be88f" providerId="ADAL" clId="{86A7CD6A-BADF-46B5-A0EB-3EAA83991659}" dt="2026-09-22T07:46:17.398" v="289" actId="114"/>
          <ac:spMkLst>
            <pc:docMk/>
            <pc:sldMk cId="0" sldId="281"/>
            <ac:spMk id="6" creationId="{00000000-0000-0000-0000-000000000000}"/>
          </ac:spMkLst>
        </pc:spChg>
        <pc:spChg chg="mod">
          <ac:chgData name="Eirik Eriksen Heen" userId="3e804305-1c07-417a-9ea8-d913585be88f" providerId="ADAL" clId="{86A7CD6A-BADF-46B5-A0EB-3EAA83991659}" dt="2026-09-22T07:46:21.258" v="290" actId="114"/>
          <ac:spMkLst>
            <pc:docMk/>
            <pc:sldMk cId="0" sldId="281"/>
            <ac:spMk id="8" creationId="{00000000-0000-0000-0000-000000000000}"/>
          </ac:spMkLst>
        </pc:spChg>
      </pc:sldChg>
      <pc:sldChg chg="addSp delSp modSp mod">
        <pc:chgData name="Eirik Eriksen Heen" userId="3e804305-1c07-417a-9ea8-d913585be88f" providerId="ADAL" clId="{86A7CD6A-BADF-46B5-A0EB-3EAA83991659}" dt="2026-09-22T07:47:29.310" v="303" actId="20577"/>
        <pc:sldMkLst>
          <pc:docMk/>
          <pc:sldMk cId="0" sldId="282"/>
        </pc:sldMkLst>
        <pc:spChg chg="add del mod">
          <ac:chgData name="Eirik Eriksen Heen" userId="3e804305-1c07-417a-9ea8-d913585be88f" providerId="ADAL" clId="{86A7CD6A-BADF-46B5-A0EB-3EAA83991659}" dt="2026-09-22T07:47:25.269" v="301" actId="478"/>
          <ac:spMkLst>
            <pc:docMk/>
            <pc:sldMk cId="0" sldId="282"/>
            <ac:spMk id="5" creationId="{00000000-0000-0000-0000-000000000000}"/>
          </ac:spMkLst>
        </pc:spChg>
        <pc:spChg chg="add del">
          <ac:chgData name="Eirik Eriksen Heen" userId="3e804305-1c07-417a-9ea8-d913585be88f" providerId="ADAL" clId="{86A7CD6A-BADF-46B5-A0EB-3EAA83991659}" dt="2026-09-22T07:47:21.377" v="300" actId="478"/>
          <ac:spMkLst>
            <pc:docMk/>
            <pc:sldMk cId="0" sldId="282"/>
            <ac:spMk id="6" creationId="{00000000-0000-0000-0000-000000000000}"/>
          </ac:spMkLst>
        </pc:spChg>
        <pc:spChg chg="add del">
          <ac:chgData name="Eirik Eriksen Heen" userId="3e804305-1c07-417a-9ea8-d913585be88f" providerId="ADAL" clId="{86A7CD6A-BADF-46B5-A0EB-3EAA83991659}" dt="2026-09-22T07:47:13.839" v="297" actId="22"/>
          <ac:spMkLst>
            <pc:docMk/>
            <pc:sldMk cId="0" sldId="282"/>
            <ac:spMk id="15" creationId="{3FB9905D-7023-BAB4-D6EB-31168910FDD2}"/>
          </ac:spMkLst>
        </pc:spChg>
        <pc:spChg chg="add mod">
          <ac:chgData name="Eirik Eriksen Heen" userId="3e804305-1c07-417a-9ea8-d913585be88f" providerId="ADAL" clId="{86A7CD6A-BADF-46B5-A0EB-3EAA83991659}" dt="2026-09-22T07:47:29.310" v="303" actId="20577"/>
          <ac:spMkLst>
            <pc:docMk/>
            <pc:sldMk cId="0" sldId="282"/>
            <ac:spMk id="17" creationId="{BDC45C08-6A61-A10B-F2BD-56E776FD3B36}"/>
          </ac:spMkLst>
        </pc:spChg>
      </pc:sldChg>
      <pc:sldChg chg="delSp modSp mod">
        <pc:chgData name="Eirik Eriksen Heen" userId="3e804305-1c07-417a-9ea8-d913585be88f" providerId="ADAL" clId="{86A7CD6A-BADF-46B5-A0EB-3EAA83991659}" dt="2026-09-22T07:50:37.366" v="307" actId="207"/>
        <pc:sldMkLst>
          <pc:docMk/>
          <pc:sldMk cId="0" sldId="283"/>
        </pc:sldMkLst>
        <pc:spChg chg="mod">
          <ac:chgData name="Eirik Eriksen Heen" userId="3e804305-1c07-417a-9ea8-d913585be88f" providerId="ADAL" clId="{86A7CD6A-BADF-46B5-A0EB-3EAA83991659}" dt="2026-09-22T07:50:37.366" v="307" actId="207"/>
          <ac:spMkLst>
            <pc:docMk/>
            <pc:sldMk cId="0" sldId="283"/>
            <ac:spMk id="7" creationId="{00000000-0000-0000-0000-000000000000}"/>
          </ac:spMkLst>
        </pc:spChg>
        <pc:spChg chg="del">
          <ac:chgData name="Eirik Eriksen Heen" userId="3e804305-1c07-417a-9ea8-d913585be88f" providerId="ADAL" clId="{86A7CD6A-BADF-46B5-A0EB-3EAA83991659}" dt="2026-09-22T07:50:22.383" v="304" actId="478"/>
          <ac:spMkLst>
            <pc:docMk/>
            <pc:sldMk cId="0" sldId="283"/>
            <ac:spMk id="8" creationId="{00000000-0000-0000-0000-000000000000}"/>
          </ac:spMkLst>
        </pc:spChg>
      </pc:sldChg>
      <pc:sldChg chg="modSp mod">
        <pc:chgData name="Eirik Eriksen Heen" userId="3e804305-1c07-417a-9ea8-d913585be88f" providerId="ADAL" clId="{86A7CD6A-BADF-46B5-A0EB-3EAA83991659}" dt="2026-09-22T09:34:50.863" v="692" actId="16959"/>
        <pc:sldMkLst>
          <pc:docMk/>
          <pc:sldMk cId="0" sldId="285"/>
        </pc:sldMkLst>
        <pc:spChg chg="mod">
          <ac:chgData name="Eirik Eriksen Heen" userId="3e804305-1c07-417a-9ea8-d913585be88f" providerId="ADAL" clId="{86A7CD6A-BADF-46B5-A0EB-3EAA83991659}" dt="2026-09-22T09:33:05.404" v="673" actId="114"/>
          <ac:spMkLst>
            <pc:docMk/>
            <pc:sldMk cId="0" sldId="285"/>
            <ac:spMk id="7" creationId="{00000000-0000-0000-0000-000000000000}"/>
          </ac:spMkLst>
        </pc:spChg>
        <pc:spChg chg="mod">
          <ac:chgData name="Eirik Eriksen Heen" userId="3e804305-1c07-417a-9ea8-d913585be88f" providerId="ADAL" clId="{86A7CD6A-BADF-46B5-A0EB-3EAA83991659}" dt="2026-09-22T09:34:50.863" v="692" actId="16959"/>
          <ac:spMkLst>
            <pc:docMk/>
            <pc:sldMk cId="0" sldId="285"/>
            <ac:spMk id="13" creationId="{00000000-0000-0000-0000-000000000000}"/>
          </ac:spMkLst>
        </pc:spChg>
      </pc:sldChg>
      <pc:sldChg chg="addSp modSp mod">
        <pc:chgData name="Eirik Eriksen Heen" userId="3e804305-1c07-417a-9ea8-d913585be88f" providerId="ADAL" clId="{86A7CD6A-BADF-46B5-A0EB-3EAA83991659}" dt="2026-09-22T08:17:06.214" v="348" actId="1076"/>
        <pc:sldMkLst>
          <pc:docMk/>
          <pc:sldMk cId="0" sldId="287"/>
        </pc:sldMkLst>
        <pc:spChg chg="mod">
          <ac:chgData name="Eirik Eriksen Heen" userId="3e804305-1c07-417a-9ea8-d913585be88f" providerId="ADAL" clId="{86A7CD6A-BADF-46B5-A0EB-3EAA83991659}" dt="2026-09-22T08:15:08.473" v="341" actId="27636"/>
          <ac:spMkLst>
            <pc:docMk/>
            <pc:sldMk cId="0" sldId="287"/>
            <ac:spMk id="7" creationId="{00000000-0000-0000-0000-000000000000}"/>
          </ac:spMkLst>
        </pc:spChg>
        <pc:spChg chg="add mod">
          <ac:chgData name="Eirik Eriksen Heen" userId="3e804305-1c07-417a-9ea8-d913585be88f" providerId="ADAL" clId="{86A7CD6A-BADF-46B5-A0EB-3EAA83991659}" dt="2026-09-22T08:17:06.214" v="348" actId="1076"/>
          <ac:spMkLst>
            <pc:docMk/>
            <pc:sldMk cId="0" sldId="287"/>
            <ac:spMk id="11" creationId="{11A9DCC7-B948-0ABB-24F7-14077DCE1385}"/>
          </ac:spMkLst>
        </pc:spChg>
      </pc:sldChg>
      <pc:sldChg chg="modSp mod">
        <pc:chgData name="Eirik Eriksen Heen" userId="3e804305-1c07-417a-9ea8-d913585be88f" providerId="ADAL" clId="{86A7CD6A-BADF-46B5-A0EB-3EAA83991659}" dt="2026-09-22T09:34:23.611" v="689" actId="20577"/>
        <pc:sldMkLst>
          <pc:docMk/>
          <pc:sldMk cId="0" sldId="288"/>
        </pc:sldMkLst>
        <pc:spChg chg="mod">
          <ac:chgData name="Eirik Eriksen Heen" userId="3e804305-1c07-417a-9ea8-d913585be88f" providerId="ADAL" clId="{86A7CD6A-BADF-46B5-A0EB-3EAA83991659}" dt="2026-09-22T09:34:23.611" v="689" actId="20577"/>
          <ac:spMkLst>
            <pc:docMk/>
            <pc:sldMk cId="0" sldId="288"/>
            <ac:spMk id="9" creationId="{00000000-0000-0000-0000-000000000000}"/>
          </ac:spMkLst>
        </pc:spChg>
      </pc:sldChg>
      <pc:sldChg chg="ord">
        <pc:chgData name="Eirik Eriksen Heen" userId="3e804305-1c07-417a-9ea8-d913585be88f" providerId="ADAL" clId="{86A7CD6A-BADF-46B5-A0EB-3EAA83991659}" dt="2026-09-22T09:26:16.718" v="667" actId="20578"/>
        <pc:sldMkLst>
          <pc:docMk/>
          <pc:sldMk cId="0" sldId="290"/>
        </pc:sldMkLst>
      </pc:sldChg>
      <pc:sldChg chg="add">
        <pc:chgData name="Eirik Eriksen Heen" userId="3e804305-1c07-417a-9ea8-d913585be88f" providerId="ADAL" clId="{86A7CD6A-BADF-46B5-A0EB-3EAA83991659}" dt="2026-09-22T07:23:53.086" v="159"/>
        <pc:sldMkLst>
          <pc:docMk/>
          <pc:sldMk cId="0" sldId="295"/>
        </pc:sldMkLst>
      </pc:sldChg>
      <pc:sldChg chg="add del">
        <pc:chgData name="Eirik Eriksen Heen" userId="3e804305-1c07-417a-9ea8-d913585be88f" providerId="ADAL" clId="{86A7CD6A-BADF-46B5-A0EB-3EAA83991659}" dt="2026-09-22T06:36:12.096" v="3" actId="47"/>
        <pc:sldMkLst>
          <pc:docMk/>
          <pc:sldMk cId="1407515244" sldId="4723"/>
        </pc:sldMkLst>
      </pc:sldChg>
      <pc:sldChg chg="modSp add del mod">
        <pc:chgData name="Eirik Eriksen Heen" userId="3e804305-1c07-417a-9ea8-d913585be88f" providerId="ADAL" clId="{86A7CD6A-BADF-46B5-A0EB-3EAA83991659}" dt="2026-09-22T06:36:57.761" v="7" actId="47"/>
        <pc:sldMkLst>
          <pc:docMk/>
          <pc:sldMk cId="1019981368" sldId="4780"/>
        </pc:sldMkLst>
        <pc:spChg chg="mod">
          <ac:chgData name="Eirik Eriksen Heen" userId="3e804305-1c07-417a-9ea8-d913585be88f" providerId="ADAL" clId="{86A7CD6A-BADF-46B5-A0EB-3EAA83991659}" dt="2026-09-22T06:36:20.657" v="5" actId="27636"/>
          <ac:spMkLst>
            <pc:docMk/>
            <pc:sldMk cId="1019981368" sldId="4780"/>
            <ac:spMk id="11" creationId="{3AED3428-0E1E-5FF9-5F4B-F192490C418A}"/>
          </ac:spMkLst>
        </pc:spChg>
      </pc:sldChg>
      <pc:sldChg chg="modSp add mod">
        <pc:chgData name="Eirik Eriksen Heen" userId="3e804305-1c07-417a-9ea8-d913585be88f" providerId="ADAL" clId="{86A7CD6A-BADF-46B5-A0EB-3EAA83991659}" dt="2026-09-22T08:38:21.989" v="549" actId="20577"/>
        <pc:sldMkLst>
          <pc:docMk/>
          <pc:sldMk cId="2463853950" sldId="4781"/>
        </pc:sldMkLst>
        <pc:spChg chg="mod">
          <ac:chgData name="Eirik Eriksen Heen" userId="3e804305-1c07-417a-9ea8-d913585be88f" providerId="ADAL" clId="{86A7CD6A-BADF-46B5-A0EB-3EAA83991659}" dt="2026-09-22T08:38:21.989" v="549" actId="20577"/>
          <ac:spMkLst>
            <pc:docMk/>
            <pc:sldMk cId="2463853950" sldId="4781"/>
            <ac:spMk id="8" creationId="{A00048DF-CCB2-BC43-B6D7-546A6504332E}"/>
          </ac:spMkLst>
        </pc:spChg>
        <pc:spChg chg="mod">
          <ac:chgData name="Eirik Eriksen Heen" userId="3e804305-1c07-417a-9ea8-d913585be88f" providerId="ADAL" clId="{86A7CD6A-BADF-46B5-A0EB-3EAA83991659}" dt="2026-09-22T06:38:51.023" v="18" actId="20577"/>
          <ac:spMkLst>
            <pc:docMk/>
            <pc:sldMk cId="2463853950" sldId="4781"/>
            <ac:spMk id="11" creationId="{3AED3428-0E1E-5FF9-5F4B-F192490C418A}"/>
          </ac:spMkLst>
        </pc:spChg>
      </pc:sldChg>
      <pc:sldChg chg="add">
        <pc:chgData name="Eirik Eriksen Heen" userId="3e804305-1c07-417a-9ea8-d913585be88f" providerId="ADAL" clId="{86A7CD6A-BADF-46B5-A0EB-3EAA83991659}" dt="2026-09-22T06:38:24.766" v="14"/>
        <pc:sldMkLst>
          <pc:docMk/>
          <pc:sldMk cId="3665975221" sldId="4782"/>
        </pc:sldMkLst>
      </pc:sldChg>
      <pc:sldChg chg="add del">
        <pc:chgData name="Eirik Eriksen Heen" userId="3e804305-1c07-417a-9ea8-d913585be88f" providerId="ADAL" clId="{86A7CD6A-BADF-46B5-A0EB-3EAA83991659}" dt="2026-09-22T07:00:18.150" v="30"/>
        <pc:sldMkLst>
          <pc:docMk/>
          <pc:sldMk cId="2719453962" sldId="4783"/>
        </pc:sldMkLst>
      </pc:sldChg>
      <pc:sldChg chg="modSp add mod">
        <pc:chgData name="Eirik Eriksen Heen" userId="3e804305-1c07-417a-9ea8-d913585be88f" providerId="ADAL" clId="{86A7CD6A-BADF-46B5-A0EB-3EAA83991659}" dt="2026-09-22T07:31:08.511" v="197" actId="6549"/>
        <pc:sldMkLst>
          <pc:docMk/>
          <pc:sldMk cId="3511940166" sldId="4789"/>
        </pc:sldMkLst>
        <pc:spChg chg="mod">
          <ac:chgData name="Eirik Eriksen Heen" userId="3e804305-1c07-417a-9ea8-d913585be88f" providerId="ADAL" clId="{86A7CD6A-BADF-46B5-A0EB-3EAA83991659}" dt="2026-09-22T07:30:54.415" v="189" actId="6549"/>
          <ac:spMkLst>
            <pc:docMk/>
            <pc:sldMk cId="3511940166" sldId="4789"/>
            <ac:spMk id="9" creationId="{6226E5F9-571A-9CF8-F5D3-7663642C6A48}"/>
          </ac:spMkLst>
        </pc:spChg>
        <pc:spChg chg="mod">
          <ac:chgData name="Eirik Eriksen Heen" userId="3e804305-1c07-417a-9ea8-d913585be88f" providerId="ADAL" clId="{86A7CD6A-BADF-46B5-A0EB-3EAA83991659}" dt="2026-09-22T07:31:02.667" v="193" actId="6549"/>
          <ac:spMkLst>
            <pc:docMk/>
            <pc:sldMk cId="3511940166" sldId="4789"/>
            <ac:spMk id="10" creationId="{74E8D400-3D3F-11E8-D3B0-29C8A917BD7A}"/>
          </ac:spMkLst>
        </pc:spChg>
        <pc:spChg chg="mod">
          <ac:chgData name="Eirik Eriksen Heen" userId="3e804305-1c07-417a-9ea8-d913585be88f" providerId="ADAL" clId="{86A7CD6A-BADF-46B5-A0EB-3EAA83991659}" dt="2026-09-22T07:31:08.511" v="197" actId="6549"/>
          <ac:spMkLst>
            <pc:docMk/>
            <pc:sldMk cId="3511940166" sldId="4789"/>
            <ac:spMk id="11" creationId="{73918D36-4548-9773-40E4-26973D86BED3}"/>
          </ac:spMkLst>
        </pc:spChg>
        <pc:spChg chg="mod">
          <ac:chgData name="Eirik Eriksen Heen" userId="3e804305-1c07-417a-9ea8-d913585be88f" providerId="ADAL" clId="{86A7CD6A-BADF-46B5-A0EB-3EAA83991659}" dt="2026-09-22T07:30:47.067" v="184" actId="6549"/>
          <ac:spMkLst>
            <pc:docMk/>
            <pc:sldMk cId="3511940166" sldId="4789"/>
            <ac:spMk id="13" creationId="{3B023CB9-7450-51BA-30C8-AFB254878F7D}"/>
          </ac:spMkLst>
        </pc:spChg>
      </pc:sldChg>
      <pc:sldChg chg="addSp delSp modSp new mod">
        <pc:chgData name="Eirik Eriksen Heen" userId="3e804305-1c07-417a-9ea8-d913585be88f" providerId="ADAL" clId="{86A7CD6A-BADF-46B5-A0EB-3EAA83991659}" dt="2026-09-22T08:32:57.766" v="548" actId="1076"/>
        <pc:sldMkLst>
          <pc:docMk/>
          <pc:sldMk cId="2054480680" sldId="4790"/>
        </pc:sldMkLst>
        <pc:spChg chg="add mod">
          <ac:chgData name="Eirik Eriksen Heen" userId="3e804305-1c07-417a-9ea8-d913585be88f" providerId="ADAL" clId="{86A7CD6A-BADF-46B5-A0EB-3EAA83991659}" dt="2026-09-22T08:26:33.711" v="394" actId="20577"/>
          <ac:spMkLst>
            <pc:docMk/>
            <pc:sldMk cId="2054480680" sldId="4790"/>
            <ac:spMk id="5" creationId="{F988A268-A3BF-0D3B-FC1F-1A111DFD0ED7}"/>
          </ac:spMkLst>
        </pc:spChg>
        <pc:spChg chg="add mod">
          <ac:chgData name="Eirik Eriksen Heen" userId="3e804305-1c07-417a-9ea8-d913585be88f" providerId="ADAL" clId="{86A7CD6A-BADF-46B5-A0EB-3EAA83991659}" dt="2026-09-22T08:32:33.004" v="547" actId="1076"/>
          <ac:spMkLst>
            <pc:docMk/>
            <pc:sldMk cId="2054480680" sldId="4790"/>
            <ac:spMk id="7" creationId="{558B9A19-E2C3-0431-90E6-DB353620524E}"/>
          </ac:spMkLst>
        </pc:spChg>
        <pc:spChg chg="add del">
          <ac:chgData name="Eirik Eriksen Heen" userId="3e804305-1c07-417a-9ea8-d913585be88f" providerId="ADAL" clId="{86A7CD6A-BADF-46B5-A0EB-3EAA83991659}" dt="2026-09-22T08:28:11.825" v="396" actId="22"/>
          <ac:spMkLst>
            <pc:docMk/>
            <pc:sldMk cId="2054480680" sldId="4790"/>
            <ac:spMk id="9" creationId="{9A7E9DE4-4437-2FD6-298B-93959B4061F8}"/>
          </ac:spMkLst>
        </pc:spChg>
        <pc:spChg chg="add del">
          <ac:chgData name="Eirik Eriksen Heen" userId="3e804305-1c07-417a-9ea8-d913585be88f" providerId="ADAL" clId="{86A7CD6A-BADF-46B5-A0EB-3EAA83991659}" dt="2026-09-22T08:28:11.825" v="396" actId="22"/>
          <ac:spMkLst>
            <pc:docMk/>
            <pc:sldMk cId="2054480680" sldId="4790"/>
            <ac:spMk id="11" creationId="{B955B7C1-275A-D002-27E2-3880D2258893}"/>
          </ac:spMkLst>
        </pc:spChg>
        <pc:spChg chg="add mod">
          <ac:chgData name="Eirik Eriksen Heen" userId="3e804305-1c07-417a-9ea8-d913585be88f" providerId="ADAL" clId="{86A7CD6A-BADF-46B5-A0EB-3EAA83991659}" dt="2026-09-22T08:32:30.598" v="546" actId="1076"/>
          <ac:spMkLst>
            <pc:docMk/>
            <pc:sldMk cId="2054480680" sldId="4790"/>
            <ac:spMk id="19" creationId="{C6E78B09-E0F2-DC55-29E9-DBFBBDA5BDD3}"/>
          </ac:spMkLst>
        </pc:spChg>
        <pc:spChg chg="add mod">
          <ac:chgData name="Eirik Eriksen Heen" userId="3e804305-1c07-417a-9ea8-d913585be88f" providerId="ADAL" clId="{86A7CD6A-BADF-46B5-A0EB-3EAA83991659}" dt="2026-09-22T08:32:30.598" v="546" actId="1076"/>
          <ac:spMkLst>
            <pc:docMk/>
            <pc:sldMk cId="2054480680" sldId="4790"/>
            <ac:spMk id="21" creationId="{147CF1C5-92EE-B327-5559-9C8D0CCD452D}"/>
          </ac:spMkLst>
        </pc:spChg>
        <pc:spChg chg="add mod">
          <ac:chgData name="Eirik Eriksen Heen" userId="3e804305-1c07-417a-9ea8-d913585be88f" providerId="ADAL" clId="{86A7CD6A-BADF-46B5-A0EB-3EAA83991659}" dt="2026-09-22T08:32:30.598" v="546" actId="1076"/>
          <ac:spMkLst>
            <pc:docMk/>
            <pc:sldMk cId="2054480680" sldId="4790"/>
            <ac:spMk id="23" creationId="{25A623F5-E3DC-5F31-DD8B-C5D9D22BC8A9}"/>
          </ac:spMkLst>
        </pc:spChg>
        <pc:spChg chg="add mod">
          <ac:chgData name="Eirik Eriksen Heen" userId="3e804305-1c07-417a-9ea8-d913585be88f" providerId="ADAL" clId="{86A7CD6A-BADF-46B5-A0EB-3EAA83991659}" dt="2026-09-22T08:32:57.766" v="548" actId="1076"/>
          <ac:spMkLst>
            <pc:docMk/>
            <pc:sldMk cId="2054480680" sldId="4790"/>
            <ac:spMk id="25" creationId="{DA7C99A1-9F7E-C757-F9E0-059D039E3AD2}"/>
          </ac:spMkLst>
        </pc:spChg>
        <pc:spChg chg="add mod">
          <ac:chgData name="Eirik Eriksen Heen" userId="3e804305-1c07-417a-9ea8-d913585be88f" providerId="ADAL" clId="{86A7CD6A-BADF-46B5-A0EB-3EAA83991659}" dt="2026-09-22T08:32:22.490" v="544" actId="1076"/>
          <ac:spMkLst>
            <pc:docMk/>
            <pc:sldMk cId="2054480680" sldId="4790"/>
            <ac:spMk id="27" creationId="{34629342-EA0B-9CA6-1215-ED47328E0D93}"/>
          </ac:spMkLst>
        </pc:spChg>
        <pc:picChg chg="add del">
          <ac:chgData name="Eirik Eriksen Heen" userId="3e804305-1c07-417a-9ea8-d913585be88f" providerId="ADAL" clId="{86A7CD6A-BADF-46B5-A0EB-3EAA83991659}" dt="2026-09-22T08:24:36.440" v="352" actId="22"/>
          <ac:picMkLst>
            <pc:docMk/>
            <pc:sldMk cId="2054480680" sldId="4790"/>
            <ac:picMk id="2" creationId="{AFC850A4-6388-604C-F89D-8CCB703ED746}"/>
          </ac:picMkLst>
        </pc:picChg>
        <pc:picChg chg="add del">
          <ac:chgData name="Eirik Eriksen Heen" userId="3e804305-1c07-417a-9ea8-d913585be88f" providerId="ADAL" clId="{86A7CD6A-BADF-46B5-A0EB-3EAA83991659}" dt="2026-09-22T08:25:32.484" v="355" actId="478"/>
          <ac:picMkLst>
            <pc:docMk/>
            <pc:sldMk cId="2054480680" sldId="4790"/>
            <ac:picMk id="3" creationId="{8B2BFF48-ED71-2664-2616-519957E68E6C}"/>
          </ac:picMkLst>
        </pc:picChg>
        <pc:picChg chg="add mod modCrop">
          <ac:chgData name="Eirik Eriksen Heen" userId="3e804305-1c07-417a-9ea8-d913585be88f" providerId="ADAL" clId="{86A7CD6A-BADF-46B5-A0EB-3EAA83991659}" dt="2026-09-22T08:32:30.598" v="546" actId="1076"/>
          <ac:picMkLst>
            <pc:docMk/>
            <pc:sldMk cId="2054480680" sldId="4790"/>
            <ac:picMk id="12" creationId="{B1A84C91-987A-61E0-781D-C355C04C841D}"/>
          </ac:picMkLst>
        </pc:picChg>
        <pc:cxnChg chg="add mod">
          <ac:chgData name="Eirik Eriksen Heen" userId="3e804305-1c07-417a-9ea8-d913585be88f" providerId="ADAL" clId="{86A7CD6A-BADF-46B5-A0EB-3EAA83991659}" dt="2026-09-22T08:32:30.598" v="546" actId="1076"/>
          <ac:cxnSpMkLst>
            <pc:docMk/>
            <pc:sldMk cId="2054480680" sldId="4790"/>
            <ac:cxnSpMk id="14" creationId="{93F94010-F7DF-3676-5D96-EA8B6B69E62B}"/>
          </ac:cxnSpMkLst>
        </pc:cxnChg>
        <pc:cxnChg chg="add mod">
          <ac:chgData name="Eirik Eriksen Heen" userId="3e804305-1c07-417a-9ea8-d913585be88f" providerId="ADAL" clId="{86A7CD6A-BADF-46B5-A0EB-3EAA83991659}" dt="2026-09-22T08:32:30.598" v="546" actId="1076"/>
          <ac:cxnSpMkLst>
            <pc:docMk/>
            <pc:sldMk cId="2054480680" sldId="4790"/>
            <ac:cxnSpMk id="15" creationId="{C104FE64-61E3-BA8B-9F45-3B324AE85CF5}"/>
          </ac:cxnSpMkLst>
        </pc:cxnChg>
      </pc:sldChg>
      <pc:sldChg chg="add ord">
        <pc:chgData name="Eirik Eriksen Heen" userId="3e804305-1c07-417a-9ea8-d913585be88f" providerId="ADAL" clId="{86A7CD6A-BADF-46B5-A0EB-3EAA83991659}" dt="2026-09-22T09:27:18.057" v="671"/>
        <pc:sldMkLst>
          <pc:docMk/>
          <pc:sldMk cId="0" sldId="4791"/>
        </pc:sldMkLst>
      </pc:sldChg>
      <pc:sldChg chg="add">
        <pc:chgData name="Eirik Eriksen Heen" userId="3e804305-1c07-417a-9ea8-d913585be88f" providerId="ADAL" clId="{86A7CD6A-BADF-46B5-A0EB-3EAA83991659}" dt="2026-09-22T08:44:36.747" v="550"/>
        <pc:sldMkLst>
          <pc:docMk/>
          <pc:sldMk cId="0" sldId="4792"/>
        </pc:sldMkLst>
      </pc:sldChg>
      <pc:sldChg chg="add">
        <pc:chgData name="Eirik Eriksen Heen" userId="3e804305-1c07-417a-9ea8-d913585be88f" providerId="ADAL" clId="{86A7CD6A-BADF-46B5-A0EB-3EAA83991659}" dt="2026-09-22T08:44:36.747" v="550"/>
        <pc:sldMkLst>
          <pc:docMk/>
          <pc:sldMk cId="0" sldId="4793"/>
        </pc:sldMkLst>
      </pc:sldChg>
      <pc:sldChg chg="add">
        <pc:chgData name="Eirik Eriksen Heen" userId="3e804305-1c07-417a-9ea8-d913585be88f" providerId="ADAL" clId="{86A7CD6A-BADF-46B5-A0EB-3EAA83991659}" dt="2026-09-22T08:44:36.747" v="550"/>
        <pc:sldMkLst>
          <pc:docMk/>
          <pc:sldMk cId="0" sldId="4794"/>
        </pc:sldMkLst>
      </pc:sldChg>
      <pc:sldChg chg="new del">
        <pc:chgData name="Eirik Eriksen Heen" userId="3e804305-1c07-417a-9ea8-d913585be88f" providerId="ADAL" clId="{86A7CD6A-BADF-46B5-A0EB-3EAA83991659}" dt="2026-09-22T08:50:08.782" v="560" actId="680"/>
        <pc:sldMkLst>
          <pc:docMk/>
          <pc:sldMk cId="4012268506" sldId="4795"/>
        </pc:sldMkLst>
      </pc:sldChg>
      <pc:sldMasterChg chg="delSldLayout">
        <pc:chgData name="Eirik Eriksen Heen" userId="3e804305-1c07-417a-9ea8-d913585be88f" providerId="ADAL" clId="{86A7CD6A-BADF-46B5-A0EB-3EAA83991659}" dt="2026-09-22T06:36:57.761" v="7" actId="47"/>
        <pc:sldMasterMkLst>
          <pc:docMk/>
          <pc:sldMasterMk cId="0" sldId="2147483648"/>
        </pc:sldMasterMkLst>
        <pc:sldLayoutChg chg="del">
          <pc:chgData name="Eirik Eriksen Heen" userId="3e804305-1c07-417a-9ea8-d913585be88f" providerId="ADAL" clId="{86A7CD6A-BADF-46B5-A0EB-3EAA83991659}" dt="2026-09-22T06:36:12.096" v="3" actId="47"/>
          <pc:sldLayoutMkLst>
            <pc:docMk/>
            <pc:sldMasterMk cId="0" sldId="2147483648"/>
            <pc:sldLayoutMk cId="2457199218" sldId="2147483651"/>
          </pc:sldLayoutMkLst>
        </pc:sldLayoutChg>
        <pc:sldLayoutChg chg="del">
          <pc:chgData name="Eirik Eriksen Heen" userId="3e804305-1c07-417a-9ea8-d913585be88f" providerId="ADAL" clId="{86A7CD6A-BADF-46B5-A0EB-3EAA83991659}" dt="2026-09-22T06:36:57.761" v="7" actId="47"/>
          <pc:sldLayoutMkLst>
            <pc:docMk/>
            <pc:sldMasterMk cId="0" sldId="2147483648"/>
            <pc:sldLayoutMk cId="3985400545" sldId="214748365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312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chapter around one question: How certain are we about what we estimated?
The chapter has two main tools: interval estimates and hypothesis tests. Both start from the same object: an estimate and its sampling uncertainty.
Do not preview all technical details yet. The aim is to connect directly to Chapter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Plassholder for notat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 this as a quick reconnect to the food model. Do not re-derive all Chapter 2 formulas. Point to the slope estimate, the residual variance, and the standard error.
Key reminder: beta_2 is a population parameter. b_2 is what we obtained from one sample. se(b_2) tells us how much the estimator would vary across repeated samples.
Tell students that today we will add only one new ingredient at a time.</a:t>
            </a:r>
          </a:p>
          <a:p>
            <a:endParaRPr lang="en-GB" dirty="0"/>
          </a:p>
        </p:txBody>
      </p:sp>
    </p:spTree>
    <p:extLst>
      <p:ext uri="{BB962C8B-B14F-4D97-AF65-F5344CB8AC3E}">
        <p14:creationId xmlns:p14="http://schemas.microsoft.com/office/powerpoint/2010/main" val="1053856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Plassholder for notat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Return to the economic decision. The estimated increase is about USD 10.21 per USD 100 higher weekly income. The investment threshold is USD 5.50.
Ask: Is b_2 &gt; 0.055 enough to make the decision?
Expected answer: no. The estimate itself does not tell us how uncertain it is. This question motivates both interval estimation and hypothesis testing.</a:t>
            </a:r>
          </a:p>
          <a:p>
            <a:endParaRPr lang="en-GB" dirty="0"/>
          </a:p>
        </p:txBody>
      </p:sp>
    </p:spTree>
    <p:extLst>
      <p:ext uri="{BB962C8B-B14F-4D97-AF65-F5344CB8AC3E}">
        <p14:creationId xmlns:p14="http://schemas.microsoft.com/office/powerpoint/2010/main" val="3885225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Plassholder for notat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Stress the distinction. beta_2 is fixed but unknown. b_2 is random before we draw the sample because another random sample would produce another estimate.
The thin fitted lines are not different population relationships. They are estimates from different samples from the same population model.</a:t>
            </a:r>
          </a:p>
          <a:p>
            <a:endParaRPr lang="en-GB" dirty="0"/>
          </a:p>
        </p:txBody>
      </p:sp>
    </p:spTree>
    <p:extLst>
      <p:ext uri="{BB962C8B-B14F-4D97-AF65-F5344CB8AC3E}">
        <p14:creationId xmlns:p14="http://schemas.microsoft.com/office/powerpoint/2010/main" val="2067132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Plassholder for notat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Ask the prediction question before discussing the answer: what changes when N goes from 40 to 200?
Expected: the center should remain near beta_2, but the sampling distribution should become narrower. This is the idea of precision.</a:t>
            </a:r>
          </a:p>
          <a:p>
            <a:endParaRPr lang="en-GB" dirty="0"/>
          </a:p>
        </p:txBody>
      </p:sp>
    </p:spTree>
    <p:extLst>
      <p:ext uri="{BB962C8B-B14F-4D97-AF65-F5344CB8AC3E}">
        <p14:creationId xmlns:p14="http://schemas.microsoft.com/office/powerpoint/2010/main" val="2589218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Plassholder for notat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mathematical bridge from Chapter 2. Read the formula by components rather than deriving it.
Center: beta_2. Spread: sigma^2 divided by variation in x. Less noise and more variation in x both improve precision.
Mention SR6 / normal errors because this chapter uses the exact t distribution. With large samples, approximate inference can work without exact normality.</a:t>
            </a:r>
          </a:p>
          <a:p>
            <a:endParaRPr lang="en-GB" dirty="0"/>
          </a:p>
        </p:txBody>
      </p:sp>
    </p:spTree>
    <p:extLst>
      <p:ext uri="{BB962C8B-B14F-4D97-AF65-F5344CB8AC3E}">
        <p14:creationId xmlns:p14="http://schemas.microsoft.com/office/powerpoint/2010/main" val="1682869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Plassholder for notat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 this slowly. If sigma were known, standardizing gives a normal statistic. In practice sigma is unknown and is estimated from the residuals. That extra uncertainty changes the reference distribution from normal to t.
Important: we are not introducing a second regression model. We are changing the probability distribution used for inference.</a:t>
            </a:r>
          </a:p>
          <a:p>
            <a:endParaRPr lang="en-GB" dirty="0"/>
          </a:p>
        </p:txBody>
      </p:sp>
    </p:spTree>
    <p:extLst>
      <p:ext uri="{BB962C8B-B14F-4D97-AF65-F5344CB8AC3E}">
        <p14:creationId xmlns:p14="http://schemas.microsoft.com/office/powerpoint/2010/main" val="144129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Plassholder for notat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Compare normal, t(38), and a t distribution with few degrees of freedom. Focus on the thicker tails.
Simple regression estimates two parameters, so </a:t>
            </a:r>
            <a:r>
              <a:rPr lang="en-US" dirty="0" err="1"/>
              <a:t>df</a:t>
            </a:r>
            <a:r>
              <a:rPr lang="en-US" dirty="0"/>
              <a:t> = N - 2. For the food data N = 40, therefore </a:t>
            </a:r>
            <a:r>
              <a:rPr lang="en-US" dirty="0" err="1"/>
              <a:t>df</a:t>
            </a:r>
            <a:r>
              <a:rPr lang="en-US" dirty="0"/>
              <a:t> = 38.
Do not spend time on tables: qt() will give critical values in R.</a:t>
            </a:r>
          </a:p>
          <a:p>
            <a:endParaRPr lang="en-GB" dirty="0"/>
          </a:p>
        </p:txBody>
      </p:sp>
    </p:spTree>
    <p:extLst>
      <p:ext uri="{BB962C8B-B14F-4D97-AF65-F5344CB8AC3E}">
        <p14:creationId xmlns:p14="http://schemas.microsoft.com/office/powerpoint/2010/main" val="1867719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error is the estimated standard deviation of the sampling distribution of the estimator.
Ask which of the two studies is more precise even though both have b_2 = 0.10.
This prepares the students for why an estimate alone is not enough.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Let students predict before running code. The prediction is more important than the exact simulation numbers.
Run Parts A-C of the R script. Ask them to compare the mean estimate, SD across simulated estimates, and average reported SE.
Allow about 12 minutes.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the simulation. The mean estimate remains near the true beta_2. The larger sample has much smaller spread. The average standard error tracks the empirical spread of the estimates.
Do not say that a larger sample guarantees that every realized estimate is closer to beta_2; it improves the distribution of possible estimates.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transition to interval estimation. Everything on this slide should now be familiar.
The next question is: instead of reporting only b_2, which values of beta_2 are reasonably compatible with the sample?
Natural place for a brief pause before the interval section.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derivation I would do for interval estimation. Start from the t-statistic they already saw.
Explain that t is random because b_2 and se(b_2) depend on the sample. beta_2 is fixed.
For a 95% interval we choose t_c so that 95% of the t distribution is in the middle. Then substitute the expression for t and solve the inequality for beta_2.
Do not perform the algebra on this slide. Move to the blank derivation slide and write it by hand.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Handwrite the derivation. One possible sequence:
1. Multiply all three parts by se(b_2).
2. Rearrange so beta_2 is in the middle.
3. Arrive at b_2 - t_c se(b_2) &lt;= beta_2 &lt;= b_2 + t_c se(b_2).
Emphasize that the endpoints are random before the sample is drawn because they depend on b_2 and se(b_2).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make the formula intuitive rather than algebraic.
The interval is centered at the point estimate. Its width is determined by the standard error and the critical t-value.
Do not call the width the “margin of error”; that phrase is deliberately avoided in this course.
Ask: what makes the interval narrower? Smaller SE, and for a fixed SE a lower confidence level / larger degrees of freedom.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this as a short re-entry into the small example from Session 10 rather than simply saying 'remember last time'.</a:t>
            </a:r>
          </a:p>
          <a:p>
            <a:endParaRPr dirty="0"/>
          </a:p>
          <a:p>
            <a:r>
              <a:rPr dirty="0"/>
              <a:t>We had five observations: x = (-1, 0, 1, 2, 3) and y = (1, 0, 3, 2, 4). We calculated the OLS line by hand. The sample means were x-bar = 1 and y-bar = 2; </a:t>
            </a:r>
            <a:r>
              <a:rPr dirty="0" err="1"/>
              <a:t>Sxx</a:t>
            </a:r>
            <a:r>
              <a:rPr dirty="0"/>
              <a:t> = 10 and </a:t>
            </a:r>
            <a:r>
              <a:rPr dirty="0" err="1"/>
              <a:t>Sxy</a:t>
            </a:r>
            <a:r>
              <a:rPr dirty="0"/>
              <a:t> = 8; therefore b2 = 0.8 and b1 = 1.2. We then calculated residuals, SSE = 3.6, sigma-hat-squared = 1.2, Var-hat(b2) = 0.12, and se(b2) = 0.346.</a:t>
            </a:r>
          </a:p>
          <a:p>
            <a:endParaRPr dirty="0"/>
          </a:p>
          <a:p>
            <a:r>
              <a:rPr dirty="0"/>
              <a:t>Do not redo those calculations here. The point is that Chapter 3 begins with quantities they already understand: a point estimate and its estimated sampling uncertainty. Ask: Is b2 = 0.8 a precise estimate? Which values of the unknown beta2 are still compatible with such a small sample? That question leads directly to the interval-estimation slide. Spend about 2–3 minutes here.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is useful because every component except the critical t-value was already calculated by hand in Session 10.
Let them calculate the critical value with R: qt(0.975, df=3) = approximately 3.182.
Then the interval is 0.80 +/- 3.182*0.346, approximately [-0.30, 1.90].
The striking feature is the width. N=5 leaves only 3 residual degrees of freedom, so the t critical value is large and the estimate is imprecise.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about 2 minutes. Then solve on the slide or board.
Expected result: t_c ≈ 3.182 and the 95% interval is approximately [-0.30, 1.90].
Ask whether zero is inside. Do not introduce the formal hypothesis-test rule yet; simply note that zero is one value compatible with this imprecise sample.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code live. The teaching sequence is important: first calculate the interval from the formula, then use confint().
This prevents confint() from becoming a black box.
Point out that qt() is simply replacing the old statistical table.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This is the conceptual summary the user specifically wanted.
After the sample is observed, beta_2 is still fixed and the interval endpoints are fixed numbers. In the frequentist interpretation we do not assign a 95% probability to beta_2 being inside this particular interval.
The 95% refers to the long-run performance of the procedure across repeated samples.
A defensible classroom phrasing: “We used a procedure that captures the true parameter in 95% of repeated samples.”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simulation rather than more algebra. The vertical dashed line is the known beta_2 in the simulation. Each horizontal line is generated from a different random sample using the same 95% procedure.
Some intervals miss. That is not a failure of the method; a 95% method is expected to miss in about 5% of repeated samples.
Run the corresponding simulation from the R file if time permits.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 conceptual check. Keep the estimate and SE fixed and compare 90%, 95%, and 99%.
Higher confidence implies a larger critical t-value, so the interval is wider.
Ask what happens if the SE is cut in half: all intervals become narrower.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dirty="0"/>
          </a:p>
        </p:txBody>
      </p:sp>
      <p:sp>
        <p:nvSpPr>
          <p:cNvPr id="4" name="Plassholder for lysbildenummer 3"/>
          <p:cNvSpPr>
            <a:spLocks noGrp="1"/>
          </p:cNvSpPr>
          <p:nvPr>
            <p:ph type="sldNum" sz="quarter" idx="5"/>
          </p:nvPr>
        </p:nvSpPr>
        <p:spPr/>
        <p:txBody>
          <a:bodyPr/>
          <a:lstStyle/>
          <a:p>
            <a:fld id="{3FD4739E-9C57-4AE7-B15C-C6DCE23E91D8}" type="slidenum">
              <a:rPr lang="nb-NO" smtClean="0"/>
              <a:t>23</a:t>
            </a:fld>
            <a:endParaRPr lang="nb-NO"/>
          </a:p>
        </p:txBody>
      </p:sp>
    </p:spTree>
    <p:extLst>
      <p:ext uri="{BB962C8B-B14F-4D97-AF65-F5344CB8AC3E}">
        <p14:creationId xmlns:p14="http://schemas.microsoft.com/office/powerpoint/2010/main" val="31961083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time in the chapter that students move away from the food dataset. The model comes from textbook computer exercise 3.19.
The aim is not to plug supplied numbers into the interval formula. They must first estimate the model, identify the slope and its SE, then construct the interval.
Let them use R as the calculator for qt().
Do not move into the textbook hypothesis-testing parts of the motel exercise yet. Hypothesis testing will continue with the supermarket question because that economic threshold is especially clear.
NATURAL STOP FOR SESSION 1: stopping after this lab and the debrief on the next slide is ideal. If time is shorter, stop anywhere after slide 19 and resume here next session.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without turning the exercise into a list of R commands. Ask one group for the estimate, another for the interval, and a third for an interpretation.
Return explicitly to the method interpretation: the reported interval is one realization of a procedure with 95% repeated-sampling coverage.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start of Session 2 if you stopped after the motel lab.
The conceptual link: interval estimation asks which values are compatible with the sample. Hypothesis testing asks whether one specific claim about beta_2 is compatible with the sample.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 economic question from the beginning, but now phrase it as a claim about beta_2.
The estimate 0.1021 is above 0.055, but that alone is not enough. We need to compare the distance from the threshold with the sampling uncertainty.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economic statement, then write hypotheses. This makes the direction of the test natural.
The alternative contains the statement we want evidence for: beta_2 &gt; 0.055. Therefore evidence in favor of H1 corresponds to unusually large positive t-values.
Although H0 is written as &lt;= 0.055, the t calculation uses the boundary value c = 0.055.</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hypothesis testing. Avoid presenting it as a new formula to memorize: it is just distance divided by uncertainty.
If H0 is true and c is the correct population value, the statistic follows the t distribution under the assumptions. That gives us a reference for deciding whether the observed distance is unusual.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Calculate together: t = (0.1021 - 0.055) / 0.0209 ≈ 2.25.
Interpret 2.25 before discussing a rejection rule: the estimate is about 2.25 standard errors above the threshold under H0.
Then ask: is 2.25 unusually large for a t distribution with 38 df? That motivates the rejection region / p-value.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three alternatives together on one slide, as requested. Do not derive three separate rules.
H1: beta&lt;c -&gt; evidence is in the left tail.
H1: beta&gt;c -&gt; evidence is in the right tail.
H1: beta!=c -&gt; evidence can be in either tail.
The formula for t does not change. The alternative determines the relevant tail probability and critical value.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routine visible in later exercises. The most common student error is to stop after a mechanical reject/fail-to-reject decision.
The final sentence should translate back to the economic claim. Also reinforce “fail to reject” rather than “accept H0.”</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conceptual example. At 5% the test rejects; at 1% it does not.
Do not describe 1% as “better” or “more correct.” It is a stricter Type I error tolerance.
At 5%, the sample provides evidence that the slope exceeds the investment threshold. At 1%, the evidence is not strong enough to reach that stricter standard.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p-value using the observed t and the reference distribution under H0. For the right-tail supermarket test, it is the probability of a t-statistic at least as large as the one observed, assuming the boundary value in H0 is true.
Avoid the common misinterpretation that p is P(H0 is true). It is a probability about data/test statistics conditional on H0.</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calculations. The critical-value rule and p-value rule lead to the same decision for a given alpha.
Explain why software output is useful only after the student knows what null value and alternative the software is testing. summary(lm()) by default reports a two-sided test against zero; that is not the supermarket test.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immediately after introducing the p-value. Stress that the probability statement is conditional on the null value used to construct the test statistic. For this one-sided test the p-value is the area to the right of the observed t-statistic. The key comparison is p with alpha. At 5% we reject; at 1% we do not. Avoid saying that there is a 1.5% probability that H0 is true.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3–4 minutes. Expected calculations: t = (0.084-0.055)/0.016 = 1.8125. Critical t for right-tail 5% with 48 df is about 1.677. Therefore reject H0 at 5%. The p-value is about 0.038.
Ask for an economic sentence, not only “reject H0.”</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conceptual payoff: interval estimation and hypothesis testing are two views of the same sampling uncertainty.
Be precise about scope: the equivalence is between a 100(1-alpha)% interval and a two-sided test at alpha for the same point null. The one-sided supermarket test does not use the same 95% two-sided interval rule.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The goal is interpretation, not power calculations.
Connect alpha to Type I error. Explain that a stricter alpha makes rejection harder, reducing Type I error probability but generally increasing the risk of failing to detect real departures from H0.
Do not spend time calculating Type II probabilities in this chapter session.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supermarket threshold to make this concrete. A statistically nonzero slope is not automatically sufficient for investment. The relevant economic threshold is 0.055, not zero.
This is one reason testing meaningful values can be more informative than mechanically reporting the default test against zero.</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vote between A and B. B is the defensible statement from this simple observational regression.
Inference answers how uncertain the estimated association is under the model. It does not by itself establish that changing income would cause the estimated change in food expenditure.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chain rather than listing definitions.
Students should see that Chapter 3 is not a collection of unrelated procedures: estimate -&gt; standard error -&gt; t distribution -&gt; interval or test.
Final reminder: confidence refers to the repeated-sampling method; a p-value is conditional on H0; and statistical inference does not by itself establish causality.</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Reintroduce the variables briefly: motel_pct is the motel occupancy percentage and comp_pct is the competitors' occupancy percentage. The regression results are rounded to the values reported in the book answer key. Ask the class to identify the tail before doing any arithmetic. Then move to the next slide and work through the calculation.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slowly. First calculate the standardized distance from the null value. Then choose the critical value based on the alternative, not by habit. Finally calculate the right-tail p-value. The exact p-value from R may differ slightly in the last digits from a calculation based on the rounded textbook coefficient and standard error. The conclusion is unchanged.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for instructor: t ≈ -0.67. For a two-sided 1% test with df=23, the critical values are approximately ±2.807. The two-sided p-value is about 0.51. Fail to reject H0. beta2=1 means that a one percentage-point increase in competitor occupancy is associated with a one percentage-point increase in expected motel occupancy. The data are compatible with that one-for-one relationship.</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for instructor: the repair coefficient is approximately -13.24 with SE approximately 5.96. t ≈ -2.22. The left-tail 5% critical value with df=23 is approximately -1.714. The p-value is about 0.018. Reject H0 at 5%. The data support the claim that occupancy was lower during the repair period. This is an association in this simple regression; be careful about stronger causal language unless the research design supports it.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84864" y="0"/>
            <a:ext cx="704088" cy="6858000"/>
          </a:xfrm>
          <a:prstGeom prst="rect">
            <a:avLst/>
          </a:prstGeom>
          <a:solidFill>
            <a:srgbClr val="E9F8FB"/>
          </a:solidFill>
          <a:ln w="12700">
            <a:solidFill>
              <a:srgbClr val="E9F8FB">
                <a:alpha val="0"/>
              </a:srgbClr>
            </a:solidFill>
            <a:prstDash val="solid"/>
          </a:ln>
        </p:spPr>
      </p:sp>
      <p:sp>
        <p:nvSpPr>
          <p:cNvPr id="3" name="Shape 1"/>
          <p:cNvSpPr/>
          <p:nvPr/>
        </p:nvSpPr>
        <p:spPr>
          <a:xfrm>
            <a:off x="11722608" y="228600"/>
            <a:ext cx="146304" cy="6309360"/>
          </a:xfrm>
          <a:prstGeom prst="rect">
            <a:avLst/>
          </a:prstGeom>
          <a:solidFill>
            <a:srgbClr val="20B4D6">
              <a:alpha val="70000"/>
            </a:srgbClr>
          </a:solidFill>
          <a:ln w="12700">
            <a:solidFill>
              <a:srgbClr val="20B4D6">
                <a:alpha val="0"/>
              </a:srgbClr>
            </a:solidFill>
            <a:prstDash val="solid"/>
          </a:ln>
        </p:spPr>
      </p:sp>
      <p:sp>
        <p:nvSpPr>
          <p:cNvPr id="4" name="Text 2"/>
          <p:cNvSpPr/>
          <p:nvPr/>
        </p:nvSpPr>
        <p:spPr>
          <a:xfrm>
            <a:off x="502920" y="6556248"/>
            <a:ext cx="3657600" cy="164592"/>
          </a:xfrm>
          <a:prstGeom prst="rect">
            <a:avLst/>
          </a:prstGeom>
          <a:noFill/>
          <a:ln/>
        </p:spPr>
        <p:txBody>
          <a:bodyPr wrap="square" lIns="0" tIns="0" rIns="0" bIns="0" rtlCol="0" anchor="ctr"/>
          <a:lstStyle/>
          <a:p>
            <a:pPr marL="0" indent="0">
              <a:buNone/>
            </a:pPr>
            <a:r>
              <a:rPr lang="en-US" sz="800" dirty="0">
                <a:solidFill>
                  <a:srgbClr val="6E7C82"/>
                </a:solidFill>
                <a:latin typeface="Aptos" pitchFamily="34" charset="0"/>
                <a:ea typeface="Aptos" pitchFamily="34" charset="-122"/>
                <a:cs typeface="Aptos" pitchFamily="34" charset="-120"/>
              </a:rPr>
              <a:t>SOK-3081  •  Chapter 3</a:t>
            </a:r>
            <a:endParaRPr lang="en-US" sz="8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Tom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5524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960352" y="228600"/>
            <a:ext cx="73152" cy="6199632"/>
          </a:xfrm>
          <a:prstGeom prst="rect">
            <a:avLst/>
          </a:prstGeom>
          <a:solidFill>
            <a:srgbClr val="20B4D6"/>
          </a:solidFill>
          <a:ln w="12700">
            <a:solidFill>
              <a:srgbClr val="20B4D6"/>
            </a:solidFill>
            <a:prstDash val="solid"/>
          </a:ln>
        </p:spPr>
        <p:txBody>
          <a:bodyPr/>
          <a:lstStyle/>
          <a:p>
            <a:endParaRPr lang="en-GB"/>
          </a:p>
        </p:txBody>
      </p:sp>
      <p:sp>
        <p:nvSpPr>
          <p:cNvPr id="3" name="Text 1"/>
          <p:cNvSpPr/>
          <p:nvPr/>
        </p:nvSpPr>
        <p:spPr>
          <a:xfrm>
            <a:off x="411480" y="155448"/>
            <a:ext cx="3017520" cy="219456"/>
          </a:xfrm>
          <a:prstGeom prst="rect">
            <a:avLst/>
          </a:prstGeom>
          <a:noFill/>
          <a:ln/>
        </p:spPr>
        <p:txBody>
          <a:bodyPr wrap="square" lIns="0" tIns="0" rIns="0" bIns="0" rtlCol="0" anchor="ctr"/>
          <a:lstStyle/>
          <a:p>
            <a:pPr marL="0" indent="0">
              <a:buNone/>
            </a:pPr>
            <a:r>
              <a:rPr lang="en-US" sz="800" b="1" dirty="0">
                <a:solidFill>
                  <a:srgbClr val="20B4D6"/>
                </a:solidFill>
                <a:latin typeface="Aptos" pitchFamily="34" charset="0"/>
                <a:ea typeface="Aptos" pitchFamily="34" charset="-122"/>
                <a:cs typeface="Aptos" pitchFamily="34" charset="-120"/>
              </a:rPr>
              <a:t>SOK-3081  •  CHAPTER 3</a:t>
            </a:r>
            <a:endParaRPr lang="en-US" sz="800" dirty="0"/>
          </a:p>
        </p:txBody>
      </p:sp>
      <p:sp>
        <p:nvSpPr>
          <p:cNvPr id="4" name="Text 2"/>
          <p:cNvSpPr/>
          <p:nvPr/>
        </p:nvSpPr>
        <p:spPr>
          <a:xfrm>
            <a:off x="411480" y="6547104"/>
            <a:ext cx="2926080" cy="164592"/>
          </a:xfrm>
          <a:prstGeom prst="rect">
            <a:avLst/>
          </a:prstGeom>
          <a:noFill/>
          <a:ln/>
        </p:spPr>
        <p:txBody>
          <a:bodyPr wrap="square" lIns="0" tIns="0" rIns="0" bIns="0" rtlCol="0" anchor="ctr"/>
          <a:lstStyle/>
          <a:p>
            <a:pPr marL="0" indent="0">
              <a:buNone/>
            </a:pPr>
            <a:r>
              <a:rPr lang="en-US" sz="650" dirty="0">
                <a:solidFill>
                  <a:srgbClr val="9AA3A8"/>
                </a:solidFill>
                <a:latin typeface="Aptos" pitchFamily="34" charset="0"/>
                <a:ea typeface="Aptos" pitchFamily="34" charset="-122"/>
                <a:cs typeface="Aptos" pitchFamily="34" charset="-120"/>
              </a:rPr>
              <a:t>UiT  •  Eirik Eriksen Heen</a:t>
            </a:r>
            <a:endParaRPr lang="en-US" sz="650" dirty="0"/>
          </a:p>
        </p:txBody>
      </p:sp>
      <p:sp>
        <p:nvSpPr>
          <p:cNvPr id="25"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385928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tellysbil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p:cNvSpPr>
            <a:spLocks noGrp="1"/>
          </p:cNvSpPr>
          <p:nvPr>
            <p:ph type="title" hasCustomPrompt="1"/>
          </p:nvPr>
        </p:nvSpPr>
        <p:spPr>
          <a:xfrm>
            <a:off x="1054464" y="1118585"/>
            <a:ext cx="6012000" cy="1811813"/>
          </a:xfrm>
        </p:spPr>
        <p:txBody>
          <a:bodyPr lIns="0" anchor="b">
            <a:normAutofit/>
          </a:bodyPr>
          <a:lstStyle>
            <a:lvl1pPr>
              <a:defRPr sz="2400" baseline="0">
                <a:solidFill>
                  <a:schemeClr val="bg1"/>
                </a:solidFill>
              </a:defRPr>
            </a:lvl1pPr>
          </a:lstStyle>
          <a:p>
            <a:r>
              <a:rPr lang="nb-NO" noProof="0" dirty="0"/>
              <a:t>Tittel dokumentet settes her</a:t>
            </a:r>
          </a:p>
        </p:txBody>
      </p:sp>
      <p:sp>
        <p:nvSpPr>
          <p:cNvPr id="4" name="Text Placeholder 3"/>
          <p:cNvSpPr>
            <a:spLocks noGrp="1"/>
          </p:cNvSpPr>
          <p:nvPr>
            <p:ph type="body" sz="quarter" idx="12" hasCustomPrompt="1"/>
          </p:nvPr>
        </p:nvSpPr>
        <p:spPr>
          <a:xfrm>
            <a:off x="1054464" y="2942591"/>
            <a:ext cx="6012000" cy="1126695"/>
          </a:xfrm>
        </p:spPr>
        <p:txBody>
          <a:bodyPr lIns="0">
            <a:noAutofit/>
          </a:bodyPr>
          <a:lstStyle>
            <a:lvl1pPr marL="0" indent="0">
              <a:buNone/>
              <a:defRPr sz="1800" i="1" baseline="0">
                <a:solidFill>
                  <a:schemeClr val="bg1"/>
                </a:solidFill>
                <a:latin typeface="Arial" panose="020B0604020202020204" pitchFamily="34" charset="0"/>
                <a:cs typeface="Arial" panose="020B0604020202020204" pitchFamily="34" charset="0"/>
              </a:defRPr>
            </a:lvl1pPr>
            <a:lvl2pPr marL="457200" indent="0">
              <a:buNone/>
              <a:defRPr sz="1800" i="1">
                <a:solidFill>
                  <a:schemeClr val="bg1"/>
                </a:solidFill>
              </a:defRPr>
            </a:lvl2pPr>
            <a:lvl3pPr marL="914400" indent="0">
              <a:buNone/>
              <a:defRPr sz="1800" i="1">
                <a:solidFill>
                  <a:schemeClr val="bg1"/>
                </a:solidFill>
              </a:defRPr>
            </a:lvl3pPr>
            <a:lvl4pPr marL="1371600" indent="0">
              <a:buNone/>
              <a:defRPr sz="1800" i="1">
                <a:solidFill>
                  <a:schemeClr val="bg1"/>
                </a:solidFill>
              </a:defRPr>
            </a:lvl4pPr>
            <a:lvl5pPr marL="1828800" indent="0">
              <a:buNone/>
              <a:defRPr sz="1800" i="1">
                <a:solidFill>
                  <a:schemeClr val="bg1"/>
                </a:solidFill>
              </a:defRPr>
            </a:lvl5pPr>
          </a:lstStyle>
          <a:p>
            <a:pPr lvl="0"/>
            <a:r>
              <a:rPr lang="nb-NO" noProof="0" dirty="0"/>
              <a:t>Her kommer en utdypning eller undertittel</a:t>
            </a:r>
          </a:p>
        </p:txBody>
      </p:sp>
      <p:sp>
        <p:nvSpPr>
          <p:cNvPr id="3" name="Subtitle 2"/>
          <p:cNvSpPr>
            <a:spLocks noGrp="1"/>
          </p:cNvSpPr>
          <p:nvPr>
            <p:ph type="subTitle" idx="1" hasCustomPrompt="1"/>
          </p:nvPr>
        </p:nvSpPr>
        <p:spPr>
          <a:xfrm>
            <a:off x="1054464" y="4208016"/>
            <a:ext cx="6012000" cy="1454784"/>
          </a:xfrm>
        </p:spPr>
        <p:txBody>
          <a:bodyPr lIns="0" anchor="b">
            <a:normAutofit/>
          </a:bodyPr>
          <a:lstStyle>
            <a:lvl1pPr marL="0" indent="0" algn="l">
              <a:buNone/>
              <a:defRPr sz="14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noProof="0" dirty="0"/>
              <a:t>Forfatters Navn og Etternavn</a:t>
            </a:r>
          </a:p>
        </p:txBody>
      </p:sp>
      <p:sp>
        <p:nvSpPr>
          <p:cNvPr id="6" name="Text Placeholder 5"/>
          <p:cNvSpPr>
            <a:spLocks noGrp="1"/>
          </p:cNvSpPr>
          <p:nvPr>
            <p:ph type="body" sz="quarter" idx="13" hasCustomPrompt="1"/>
          </p:nvPr>
        </p:nvSpPr>
        <p:spPr>
          <a:xfrm>
            <a:off x="1054464" y="5674992"/>
            <a:ext cx="6012000" cy="746878"/>
          </a:xfrm>
        </p:spPr>
        <p:txBody>
          <a:bodyPr lIns="0" tIns="0">
            <a:noAutofit/>
          </a:bodyPr>
          <a:lstStyle>
            <a:lvl1pPr marL="0" indent="0">
              <a:buNone/>
              <a:defRPr sz="1200" i="1">
                <a:solidFill>
                  <a:schemeClr val="bg1"/>
                </a:solidFill>
                <a:latin typeface="Arial" panose="020B0604020202020204" pitchFamily="34" charset="0"/>
                <a:cs typeface="Arial" panose="020B0604020202020204" pitchFamily="34" charset="0"/>
              </a:defRPr>
            </a:lvl1pPr>
            <a:lvl2pPr marL="457200" indent="0">
              <a:buNone/>
              <a:defRPr sz="1700" i="1">
                <a:solidFill>
                  <a:schemeClr val="bg1"/>
                </a:solidFill>
                <a:latin typeface="Arial" panose="020B0604020202020204" pitchFamily="34" charset="0"/>
                <a:cs typeface="Arial" panose="020B0604020202020204" pitchFamily="34" charset="0"/>
              </a:defRPr>
            </a:lvl2pPr>
            <a:lvl3pPr marL="914400" indent="0">
              <a:buNone/>
              <a:defRPr sz="1700" i="1">
                <a:solidFill>
                  <a:schemeClr val="bg1"/>
                </a:solidFill>
                <a:latin typeface="Arial" panose="020B0604020202020204" pitchFamily="34" charset="0"/>
                <a:cs typeface="Arial" panose="020B0604020202020204" pitchFamily="34" charset="0"/>
              </a:defRPr>
            </a:lvl3pPr>
            <a:lvl4pPr marL="1371600" indent="0">
              <a:buNone/>
              <a:defRPr sz="1700" i="1">
                <a:solidFill>
                  <a:schemeClr val="bg1"/>
                </a:solidFill>
                <a:latin typeface="Arial" panose="020B0604020202020204" pitchFamily="34" charset="0"/>
                <a:cs typeface="Arial" panose="020B0604020202020204" pitchFamily="34" charset="0"/>
              </a:defRPr>
            </a:lvl4pPr>
            <a:lvl5pPr marL="1828800" indent="0">
              <a:buNone/>
              <a:defRPr sz="1700" i="1">
                <a:solidFill>
                  <a:schemeClr val="bg1"/>
                </a:solidFill>
                <a:latin typeface="Arial" panose="020B0604020202020204" pitchFamily="34" charset="0"/>
                <a:cs typeface="Arial" panose="020B0604020202020204" pitchFamily="34" charset="0"/>
              </a:defRPr>
            </a:lvl5pPr>
          </a:lstStyle>
          <a:p>
            <a:pPr lvl="0"/>
            <a:r>
              <a:rPr lang="nb-NO" noProof="0" dirty="0"/>
              <a:t>Eventuelle adresser</a:t>
            </a:r>
          </a:p>
        </p:txBody>
      </p:sp>
      <p:sp>
        <p:nvSpPr>
          <p:cNvPr id="9" name="Picture Placeholder 8"/>
          <p:cNvSpPr>
            <a:spLocks noGrp="1"/>
          </p:cNvSpPr>
          <p:nvPr>
            <p:ph type="pic" sz="quarter" idx="14" hasCustomPrompt="1"/>
          </p:nvPr>
        </p:nvSpPr>
        <p:spPr>
          <a:xfrm>
            <a:off x="7448550" y="0"/>
            <a:ext cx="4743450" cy="6858000"/>
          </a:xfrm>
          <a:custGeom>
            <a:avLst/>
            <a:gdLst>
              <a:gd name="connsiteX0" fmla="*/ 0 w 4743450"/>
              <a:gd name="connsiteY0" fmla="*/ 6858000 h 6858000"/>
              <a:gd name="connsiteX1" fmla="*/ 1185863 w 4743450"/>
              <a:gd name="connsiteY1" fmla="*/ 0 h 6858000"/>
              <a:gd name="connsiteX2" fmla="*/ 4743450 w 4743450"/>
              <a:gd name="connsiteY2" fmla="*/ 0 h 6858000"/>
              <a:gd name="connsiteX3" fmla="*/ 3557588 w 4743450"/>
              <a:gd name="connsiteY3" fmla="*/ 6858000 h 6858000"/>
              <a:gd name="connsiteX4" fmla="*/ 0 w 4743450"/>
              <a:gd name="connsiteY4" fmla="*/ 6858000 h 6858000"/>
              <a:gd name="connsiteX0" fmla="*/ 0 w 4743450"/>
              <a:gd name="connsiteY0" fmla="*/ 6858000 h 6858000"/>
              <a:gd name="connsiteX1" fmla="*/ 1185863 w 4743450"/>
              <a:gd name="connsiteY1" fmla="*/ 0 h 6858000"/>
              <a:gd name="connsiteX2" fmla="*/ 4743450 w 4743450"/>
              <a:gd name="connsiteY2" fmla="*/ 0 h 6858000"/>
              <a:gd name="connsiteX3" fmla="*/ 4740212 w 4743450"/>
              <a:gd name="connsiteY3" fmla="*/ 6851904 h 6858000"/>
              <a:gd name="connsiteX4" fmla="*/ 0 w 4743450"/>
              <a:gd name="connsiteY4" fmla="*/ 6858000 h 6858000"/>
              <a:gd name="connsiteX0" fmla="*/ 0 w 4743450"/>
              <a:gd name="connsiteY0" fmla="*/ 6858000 h 6858000"/>
              <a:gd name="connsiteX1" fmla="*/ 2825687 w 4743450"/>
              <a:gd name="connsiteY1" fmla="*/ 0 h 6858000"/>
              <a:gd name="connsiteX2" fmla="*/ 4743450 w 4743450"/>
              <a:gd name="connsiteY2" fmla="*/ 0 h 6858000"/>
              <a:gd name="connsiteX3" fmla="*/ 4740212 w 4743450"/>
              <a:gd name="connsiteY3" fmla="*/ 6851904 h 6858000"/>
              <a:gd name="connsiteX4" fmla="*/ 0 w 474345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50" h="6858000">
                <a:moveTo>
                  <a:pt x="0" y="6858000"/>
                </a:moveTo>
                <a:lnTo>
                  <a:pt x="2825687" y="0"/>
                </a:lnTo>
                <a:lnTo>
                  <a:pt x="4743450" y="0"/>
                </a:lnTo>
                <a:cubicBezTo>
                  <a:pt x="4742371" y="2283968"/>
                  <a:pt x="4741291" y="4567936"/>
                  <a:pt x="4740212" y="6851904"/>
                </a:cubicBezTo>
                <a:lnTo>
                  <a:pt x="0" y="6858000"/>
                </a:lnTo>
                <a:close/>
              </a:path>
            </a:pathLst>
          </a:custGeom>
        </p:spPr>
        <p:txBody>
          <a:bodyPr/>
          <a:lstStyle>
            <a:lvl1pPr marL="0" indent="0">
              <a:buNone/>
              <a:defRPr baseline="0">
                <a:solidFill>
                  <a:schemeClr val="bg1"/>
                </a:solidFill>
              </a:defRPr>
            </a:lvl1pPr>
          </a:lstStyle>
          <a:p>
            <a:r>
              <a:rPr lang="nb-NO" dirty="0"/>
              <a:t>Klikk på bildeikon hvis du vil legge til bilde</a:t>
            </a:r>
          </a:p>
        </p:txBody>
      </p:sp>
    </p:spTree>
    <p:extLst>
      <p:ext uri="{BB962C8B-B14F-4D97-AF65-F5344CB8AC3E}">
        <p14:creationId xmlns:p14="http://schemas.microsoft.com/office/powerpoint/2010/main" val="333508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nb-NO" dirty="0"/>
              <a:t>Klikk for å legge til en tittel</a:t>
            </a:r>
          </a:p>
        </p:txBody>
      </p:sp>
      <p:sp>
        <p:nvSpPr>
          <p:cNvPr id="3" name="Content Placeholder 2"/>
          <p:cNvSpPr>
            <a:spLocks noGrp="1"/>
          </p:cNvSpPr>
          <p:nvPr>
            <p:ph idx="1" hasCustomPrompt="1"/>
          </p:nvPr>
        </p:nvSpPr>
        <p:spPr/>
        <p:txBody>
          <a:bodyPr/>
          <a:lstStyle/>
          <a:p>
            <a:pPr lvl="0"/>
            <a:r>
              <a:rPr lang="nb-NO" noProof="0" dirty="0"/>
              <a:t>Klikk for å legge til tekst</a:t>
            </a:r>
          </a:p>
          <a:p>
            <a:pPr lvl="1"/>
            <a:r>
              <a:rPr lang="nb-NO" noProof="0" dirty="0"/>
              <a:t>Andre nivå</a:t>
            </a:r>
          </a:p>
          <a:p>
            <a:pPr lvl="2"/>
            <a:r>
              <a:rPr lang="nb-NO" noProof="0" dirty="0"/>
              <a:t>Tredje nivå</a:t>
            </a:r>
          </a:p>
          <a:p>
            <a:pPr lvl="3"/>
            <a:r>
              <a:rPr lang="nb-NO" noProof="0" dirty="0"/>
              <a:t>Fjerde nivå</a:t>
            </a:r>
          </a:p>
          <a:p>
            <a:pPr lvl="4"/>
            <a:r>
              <a:rPr lang="nb-NO" noProof="0" dirty="0"/>
              <a:t>Femte nivå</a:t>
            </a:r>
          </a:p>
        </p:txBody>
      </p:sp>
    </p:spTree>
    <p:extLst>
      <p:ext uri="{BB962C8B-B14F-4D97-AF65-F5344CB8AC3E}">
        <p14:creationId xmlns:p14="http://schemas.microsoft.com/office/powerpoint/2010/main" val="2959589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nb-NO" dirty="0"/>
              <a:t>Klikk for å legge til en tittel</a:t>
            </a:r>
          </a:p>
        </p:txBody>
      </p:sp>
      <p:sp>
        <p:nvSpPr>
          <p:cNvPr id="3" name="Content Placeholder 2"/>
          <p:cNvSpPr>
            <a:spLocks noGrp="1"/>
          </p:cNvSpPr>
          <p:nvPr>
            <p:ph sz="half" idx="1" hasCustomPrompt="1"/>
          </p:nvPr>
        </p:nvSpPr>
        <p:spPr>
          <a:xfrm>
            <a:off x="838200" y="1825625"/>
            <a:ext cx="5181600" cy="4351338"/>
          </a:xfrm>
        </p:spPr>
        <p:txBody>
          <a:bodyPr/>
          <a:lstStyle/>
          <a:p>
            <a:pPr lvl="0"/>
            <a:r>
              <a:rPr lang="nb-NO" noProof="0" dirty="0"/>
              <a:t>Klikk for å legge til tekst</a:t>
            </a:r>
          </a:p>
          <a:p>
            <a:pPr lvl="1"/>
            <a:r>
              <a:rPr lang="nb-NO" noProof="0" dirty="0"/>
              <a:t>Andre nivå</a:t>
            </a:r>
          </a:p>
          <a:p>
            <a:pPr lvl="2"/>
            <a:r>
              <a:rPr lang="nb-NO" noProof="0" dirty="0"/>
              <a:t>Tredje nivå</a:t>
            </a:r>
          </a:p>
          <a:p>
            <a:pPr lvl="3"/>
            <a:r>
              <a:rPr lang="nb-NO" noProof="0" dirty="0"/>
              <a:t>Fjerde nivå</a:t>
            </a:r>
          </a:p>
          <a:p>
            <a:pPr lvl="4"/>
            <a:r>
              <a:rPr lang="nb-NO" noProof="0" dirty="0"/>
              <a:t>Femte nivå</a:t>
            </a:r>
          </a:p>
        </p:txBody>
      </p:sp>
      <p:sp>
        <p:nvSpPr>
          <p:cNvPr id="4" name="Content Placeholder 3"/>
          <p:cNvSpPr>
            <a:spLocks noGrp="1"/>
          </p:cNvSpPr>
          <p:nvPr>
            <p:ph sz="half" idx="2" hasCustomPrompt="1"/>
          </p:nvPr>
        </p:nvSpPr>
        <p:spPr>
          <a:xfrm>
            <a:off x="6172200" y="1825625"/>
            <a:ext cx="5181600" cy="4351338"/>
          </a:xfrm>
        </p:spPr>
        <p:txBody>
          <a:bodyPr/>
          <a:lstStyle/>
          <a:p>
            <a:pPr lvl="0"/>
            <a:r>
              <a:rPr lang="nb-NO" noProof="0" dirty="0"/>
              <a:t>Klikk for å legge til tekst</a:t>
            </a:r>
          </a:p>
          <a:p>
            <a:pPr lvl="1"/>
            <a:r>
              <a:rPr lang="nb-NO" noProof="0" dirty="0"/>
              <a:t>Andre nivå</a:t>
            </a:r>
          </a:p>
          <a:p>
            <a:pPr lvl="2"/>
            <a:r>
              <a:rPr lang="nb-NO" noProof="0" dirty="0"/>
              <a:t>Tredje nivå</a:t>
            </a:r>
          </a:p>
          <a:p>
            <a:pPr lvl="3"/>
            <a:r>
              <a:rPr lang="nb-NO" noProof="0" dirty="0"/>
              <a:t>Fjerde nivå</a:t>
            </a:r>
          </a:p>
          <a:p>
            <a:pPr lvl="4"/>
            <a:r>
              <a:rPr lang="nb-NO" noProof="0" dirty="0"/>
              <a:t>Femte nivå</a:t>
            </a:r>
          </a:p>
        </p:txBody>
      </p:sp>
    </p:spTree>
    <p:extLst>
      <p:ext uri="{BB962C8B-B14F-4D97-AF65-F5344CB8AC3E}">
        <p14:creationId xmlns:p14="http://schemas.microsoft.com/office/powerpoint/2010/main" val="3501713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nb-NO" dirty="0"/>
              <a:t>Klikk for å legge til en tittel</a:t>
            </a:r>
          </a:p>
        </p:txBody>
      </p:sp>
    </p:spTree>
    <p:extLst>
      <p:ext uri="{BB962C8B-B14F-4D97-AF65-F5344CB8AC3E}">
        <p14:creationId xmlns:p14="http://schemas.microsoft.com/office/powerpoint/2010/main" val="3459028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15896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8" r:id="rId3"/>
    <p:sldLayoutId id="214748365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dirty="0"/>
              <a:t>Klikk for å legge til en tittel</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noProof="0" dirty="0"/>
              <a:t>Klikk for å legge til tekst</a:t>
            </a:r>
          </a:p>
          <a:p>
            <a:pPr lvl="1"/>
            <a:r>
              <a:rPr lang="nb-NO" noProof="0" dirty="0"/>
              <a:t>Andre nivå</a:t>
            </a:r>
          </a:p>
          <a:p>
            <a:pPr lvl="2"/>
            <a:r>
              <a:rPr lang="nb-NO" noProof="0" dirty="0"/>
              <a:t>Tredje nivå</a:t>
            </a:r>
          </a:p>
          <a:p>
            <a:pPr lvl="3"/>
            <a:r>
              <a:rPr lang="nb-NO" noProof="0" dirty="0"/>
              <a:t>Fjerde nivå</a:t>
            </a:r>
          </a:p>
          <a:p>
            <a:pPr lvl="4"/>
            <a:r>
              <a:rPr lang="nb-NO" noProof="0" dirty="0"/>
              <a:t>Femte nivå</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356DEE-ECD7-4857-92A6-90269DFA2DF5}" type="datetimeFigureOut">
              <a:rPr lang="nb-NO" smtClean="0"/>
              <a:t>22.09.2026</a:t>
            </a:fld>
            <a:endParaRPr lang="nb-N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b-N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502961-D91A-442E-803D-6BE684C4B445}" type="slidenum">
              <a:rPr lang="nb-NO" smtClean="0"/>
              <a:t>‹#›</a:t>
            </a:fld>
            <a:endParaRPr lang="nb-NO"/>
          </a:p>
        </p:txBody>
      </p:sp>
    </p:spTree>
    <p:extLst>
      <p:ext uri="{BB962C8B-B14F-4D97-AF65-F5344CB8AC3E}">
        <p14:creationId xmlns:p14="http://schemas.microsoft.com/office/powerpoint/2010/main" val="2542167179"/>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xm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jpe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render_current/slide-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981ECA6-C145-4823-426E-F1CBB50A107D}"/>
              </a:ext>
            </a:extLst>
          </p:cNvPr>
          <p:cNvSpPr>
            <a:spLocks noGrp="1"/>
          </p:cNvSpPr>
          <p:nvPr>
            <p:ph type="title"/>
          </p:nvPr>
        </p:nvSpPr>
        <p:spPr>
          <a:xfrm>
            <a:off x="838200" y="365125"/>
            <a:ext cx="10515600" cy="1325563"/>
          </a:xfrm>
        </p:spPr>
        <p:txBody>
          <a:bodyPr anchor="ctr">
            <a:normAutofit/>
          </a:bodyPr>
          <a:lstStyle/>
          <a:p>
            <a:r>
              <a:rPr lang="en-GB" dirty="0"/>
              <a:t>Results from </a:t>
            </a:r>
            <a:r>
              <a:rPr lang="en-GB" i="1" dirty="0"/>
              <a:t>food</a:t>
            </a:r>
            <a:r>
              <a:rPr lang="en-GB" dirty="0"/>
              <a:t> data</a:t>
            </a:r>
          </a:p>
        </p:txBody>
      </p:sp>
      <mc:AlternateContent xmlns:mc="http://schemas.openxmlformats.org/markup-compatibility/2006">
        <mc:Choice xmlns:a14="http://schemas.microsoft.com/office/drawing/2010/main" Requires="a14">
          <p:sp>
            <p:nvSpPr>
              <p:cNvPr id="11" name="Content Placeholder 2">
                <a:extLst>
                  <a:ext uri="{FF2B5EF4-FFF2-40B4-BE49-F238E27FC236}">
                    <a16:creationId xmlns:a16="http://schemas.microsoft.com/office/drawing/2014/main" id="{3AED3428-0E1E-5FF9-5F4B-F192490C418A}"/>
                  </a:ext>
                </a:extLst>
              </p:cNvPr>
              <p:cNvSpPr>
                <a:spLocks noGrp="1"/>
              </p:cNvSpPr>
              <p:nvPr>
                <p:ph sz="half" idx="1"/>
              </p:nvPr>
            </p:nvSpPr>
            <p:spPr>
              <a:xfrm>
                <a:off x="84364" y="1380473"/>
                <a:ext cx="5924006" cy="5032375"/>
              </a:xfrm>
            </p:spPr>
            <p:txBody>
              <a:bodyPr>
                <a:normAutofit fontScale="70000" lnSpcReduction="20000"/>
              </a:bodyPr>
              <a:lstStyle/>
              <a:p>
                <a:pPr marL="0" indent="0">
                  <a:buNone/>
                </a:pPr>
                <a14:m>
                  <m:oMathPara xmlns:m="http://schemas.openxmlformats.org/officeDocument/2006/math">
                    <m:oMath>
                      <m:sSub>
                        <m:sSubPr>
                          <m:ctrlPr>
                            <a:rPr lang="en-GB">
                              <a:latin typeface="Cambria Math" panose="02040503050406030204" pitchFamily="18" charset="0"/>
                            </a:rPr>
                          </m:ctrlPr>
                        </m:sSubPr>
                        <m:e>
                          <m:r>
                            <a:rPr lang="en-GB">
                              <a:latin typeface="Cambria Math" panose="02040503050406030204" pitchFamily="18" charset="0"/>
                            </a:rPr>
                            <m:t>𝑏</m:t>
                          </m:r>
                        </m:e>
                        <m:sub>
                          <m:r>
                            <a:rPr lang="en-GB">
                              <a:latin typeface="Cambria Math" panose="02040503050406030204" pitchFamily="18" charset="0"/>
                            </a:rPr>
                            <m:t>1</m:t>
                          </m:r>
                        </m:sub>
                      </m:sSub>
                      <m:r>
                        <a:rPr lang="nb-NO" b="0" i="1" smtClean="0">
                          <a:latin typeface="Cambria Math" panose="02040503050406030204" pitchFamily="18" charset="0"/>
                        </a:rPr>
                        <m:t>=</m:t>
                      </m:r>
                      <m:acc>
                        <m:accPr>
                          <m:chr m:val="̅"/>
                          <m:ctrlPr>
                            <a:rPr lang="nb-NO" i="1">
                              <a:latin typeface="Cambria Math" panose="02040503050406030204" pitchFamily="18" charset="0"/>
                            </a:rPr>
                          </m:ctrlPr>
                        </m:accPr>
                        <m:e>
                          <m:r>
                            <a:rPr lang="nb-NO" i="1">
                              <a:latin typeface="Cambria Math" panose="02040503050406030204" pitchFamily="18" charset="0"/>
                            </a:rPr>
                            <m:t>𝑦</m:t>
                          </m:r>
                        </m:e>
                      </m:acc>
                      <m:r>
                        <a:rPr lang="nb-NO" i="1">
                          <a:latin typeface="Cambria Math" panose="02040503050406030204" pitchFamily="18" charset="0"/>
                        </a:rPr>
                        <m:t>−</m:t>
                      </m:r>
                      <m:sSub>
                        <m:sSubPr>
                          <m:ctrlPr>
                            <a:rPr lang="nb-NO" i="1">
                              <a:latin typeface="Cambria Math" panose="02040503050406030204" pitchFamily="18" charset="0"/>
                            </a:rPr>
                          </m:ctrlPr>
                        </m:sSubPr>
                        <m:e>
                          <m:r>
                            <a:rPr lang="nb-NO" i="1">
                              <a:latin typeface="Cambria Math" panose="02040503050406030204" pitchFamily="18" charset="0"/>
                            </a:rPr>
                            <m:t>𝑏</m:t>
                          </m:r>
                        </m:e>
                        <m:sub>
                          <m:r>
                            <a:rPr lang="nb-NO" i="1">
                              <a:latin typeface="Cambria Math" panose="02040503050406030204" pitchFamily="18" charset="0"/>
                            </a:rPr>
                            <m:t>2</m:t>
                          </m:r>
                        </m:sub>
                      </m:sSub>
                      <m:r>
                        <a:rPr lang="nb-NO" i="1">
                          <a:latin typeface="Cambria Math" panose="02040503050406030204" pitchFamily="18" charset="0"/>
                          <a:ea typeface="Cambria Math" panose="02040503050406030204" pitchFamily="18" charset="0"/>
                        </a:rPr>
                        <m:t>∙</m:t>
                      </m:r>
                      <m:acc>
                        <m:accPr>
                          <m:chr m:val="̅"/>
                          <m:ctrlPr>
                            <a:rPr lang="nb-NO" i="1">
                              <a:latin typeface="Cambria Math" panose="02040503050406030204" pitchFamily="18" charset="0"/>
                            </a:rPr>
                          </m:ctrlPr>
                        </m:accPr>
                        <m:e>
                          <m:r>
                            <a:rPr lang="nb-NO" i="1">
                              <a:latin typeface="Cambria Math" panose="02040503050406030204" pitchFamily="18" charset="0"/>
                            </a:rPr>
                            <m:t>𝑥</m:t>
                          </m:r>
                        </m:e>
                      </m:acc>
                      <m:r>
                        <a:rPr lang="nb-NO" b="0" i="1" smtClean="0">
                          <a:latin typeface="Cambria Math" panose="02040503050406030204" pitchFamily="18" charset="0"/>
                        </a:rPr>
                        <m:t>=</m:t>
                      </m:r>
                      <m:r>
                        <a:rPr lang="nb-NO" b="0" i="1" smtClean="0">
                          <a:solidFill>
                            <a:srgbClr val="FF0000"/>
                          </a:solidFill>
                          <a:latin typeface="Cambria Math" panose="02040503050406030204" pitchFamily="18" charset="0"/>
                        </a:rPr>
                        <m:t>83.4</m:t>
                      </m:r>
                    </m:oMath>
                  </m:oMathPara>
                </a14:m>
                <a:endParaRPr lang="nb-NO" b="0" dirty="0"/>
              </a:p>
              <a:p>
                <a:pPr marL="0" indent="0">
                  <a:buNone/>
                </a:pPr>
                <a:endParaRPr lang="nb-NO" b="0" dirty="0"/>
              </a:p>
              <a:p>
                <a:pPr marL="0" indent="0">
                  <a:buNone/>
                </a:pPr>
                <a14:m>
                  <m:oMathPara xmlns:m="http://schemas.openxmlformats.org/officeDocument/2006/math">
                    <m:oMath>
                      <m:sSub>
                        <m:sSubPr>
                          <m:ctrlPr>
                            <a:rPr lang="en-GB">
                              <a:latin typeface="Cambria Math" panose="02040503050406030204" pitchFamily="18" charset="0"/>
                            </a:rPr>
                          </m:ctrlPr>
                        </m:sSubPr>
                        <m:e>
                          <m:r>
                            <a:rPr lang="en-GB">
                              <a:latin typeface="Cambria Math" panose="02040503050406030204" pitchFamily="18" charset="0"/>
                            </a:rPr>
                            <m:t>𝑏</m:t>
                          </m:r>
                        </m:e>
                        <m:sub>
                          <m:r>
                            <a:rPr lang="nb-NO" b="0" i="0" smtClean="0">
                              <a:latin typeface="Cambria Math" panose="02040503050406030204" pitchFamily="18" charset="0"/>
                            </a:rPr>
                            <m:t>2</m:t>
                          </m:r>
                        </m:sub>
                      </m:sSub>
                      <m:r>
                        <a:rPr lang="nb-NO" b="0" i="1" smtClean="0">
                          <a:latin typeface="Cambria Math" panose="02040503050406030204" pitchFamily="18" charset="0"/>
                        </a:rPr>
                        <m:t>=</m:t>
                      </m:r>
                      <m:f>
                        <m:fPr>
                          <m:ctrlPr>
                            <a:rPr lang="nb-NO" i="1">
                              <a:latin typeface="Cambria Math" panose="02040503050406030204" pitchFamily="18" charset="0"/>
                            </a:rPr>
                          </m:ctrlPr>
                        </m:fPr>
                        <m:num>
                          <m:nary>
                            <m:naryPr>
                              <m:chr m:val="∑"/>
                              <m:supHide m:val="on"/>
                              <m:ctrlPr>
                                <a:rPr lang="nb-NO" i="1">
                                  <a:latin typeface="Cambria Math" panose="02040503050406030204" pitchFamily="18" charset="0"/>
                                </a:rPr>
                              </m:ctrlPr>
                            </m:naryPr>
                            <m:sub>
                              <m:r>
                                <m:rPr>
                                  <m:brk m:alnAt="7"/>
                                </m:rPr>
                                <a:rPr lang="nb-NO" i="1">
                                  <a:latin typeface="Cambria Math" panose="02040503050406030204" pitchFamily="18" charset="0"/>
                                </a:rPr>
                                <m:t>𝑖</m:t>
                              </m:r>
                            </m:sub>
                            <m:sup/>
                            <m:e>
                              <m:r>
                                <a:rPr lang="nb-NO" i="1">
                                  <a:latin typeface="Cambria Math" panose="02040503050406030204" pitchFamily="18" charset="0"/>
                                </a:rPr>
                                <m:t>(</m:t>
                              </m:r>
                              <m:sSub>
                                <m:sSubPr>
                                  <m:ctrlPr>
                                    <a:rPr lang="nb-NO" i="1">
                                      <a:latin typeface="Cambria Math" panose="02040503050406030204" pitchFamily="18" charset="0"/>
                                    </a:rPr>
                                  </m:ctrlPr>
                                </m:sSubPr>
                                <m:e>
                                  <m:r>
                                    <a:rPr lang="nb-NO" i="1">
                                      <a:latin typeface="Cambria Math" panose="02040503050406030204" pitchFamily="18" charset="0"/>
                                    </a:rPr>
                                    <m:t>𝑥</m:t>
                                  </m:r>
                                </m:e>
                                <m:sub>
                                  <m:r>
                                    <a:rPr lang="nb-NO" i="1">
                                      <a:latin typeface="Cambria Math" panose="02040503050406030204" pitchFamily="18" charset="0"/>
                                    </a:rPr>
                                    <m:t>𝑖</m:t>
                                  </m:r>
                                </m:sub>
                              </m:sSub>
                              <m:r>
                                <a:rPr lang="nb-NO" i="1">
                                  <a:latin typeface="Cambria Math" panose="02040503050406030204" pitchFamily="18" charset="0"/>
                                </a:rPr>
                                <m:t>−</m:t>
                              </m:r>
                              <m:acc>
                                <m:accPr>
                                  <m:chr m:val="̅"/>
                                  <m:ctrlPr>
                                    <a:rPr lang="nb-NO" i="1">
                                      <a:latin typeface="Cambria Math" panose="02040503050406030204" pitchFamily="18" charset="0"/>
                                    </a:rPr>
                                  </m:ctrlPr>
                                </m:accPr>
                                <m:e>
                                  <m:r>
                                    <a:rPr lang="nb-NO" i="1">
                                      <a:latin typeface="Cambria Math" panose="02040503050406030204" pitchFamily="18" charset="0"/>
                                    </a:rPr>
                                    <m:t>𝑥</m:t>
                                  </m:r>
                                </m:e>
                              </m:acc>
                              <m:r>
                                <a:rPr lang="nb-NO" i="1">
                                  <a:latin typeface="Cambria Math" panose="02040503050406030204" pitchFamily="18" charset="0"/>
                                </a:rPr>
                                <m:t>)(</m:t>
                              </m:r>
                              <m:sSub>
                                <m:sSubPr>
                                  <m:ctrlPr>
                                    <a:rPr lang="nb-NO" i="1">
                                      <a:latin typeface="Cambria Math" panose="02040503050406030204" pitchFamily="18" charset="0"/>
                                    </a:rPr>
                                  </m:ctrlPr>
                                </m:sSubPr>
                                <m:e>
                                  <m:r>
                                    <a:rPr lang="nb-NO" i="1">
                                      <a:latin typeface="Cambria Math" panose="02040503050406030204" pitchFamily="18" charset="0"/>
                                    </a:rPr>
                                    <m:t>𝑦</m:t>
                                  </m:r>
                                </m:e>
                                <m:sub>
                                  <m:r>
                                    <a:rPr lang="nb-NO" i="1">
                                      <a:latin typeface="Cambria Math" panose="02040503050406030204" pitchFamily="18" charset="0"/>
                                    </a:rPr>
                                    <m:t>𝑖</m:t>
                                  </m:r>
                                </m:sub>
                              </m:sSub>
                              <m:r>
                                <a:rPr lang="nb-NO" i="1">
                                  <a:latin typeface="Cambria Math" panose="02040503050406030204" pitchFamily="18" charset="0"/>
                                </a:rPr>
                                <m:t>−</m:t>
                              </m:r>
                              <m:acc>
                                <m:accPr>
                                  <m:chr m:val="̅"/>
                                  <m:ctrlPr>
                                    <a:rPr lang="nb-NO" i="1">
                                      <a:latin typeface="Cambria Math" panose="02040503050406030204" pitchFamily="18" charset="0"/>
                                    </a:rPr>
                                  </m:ctrlPr>
                                </m:accPr>
                                <m:e>
                                  <m:r>
                                    <a:rPr lang="nb-NO" i="1">
                                      <a:latin typeface="Cambria Math" panose="02040503050406030204" pitchFamily="18" charset="0"/>
                                    </a:rPr>
                                    <m:t>𝑦</m:t>
                                  </m:r>
                                </m:e>
                              </m:acc>
                              <m:r>
                                <a:rPr lang="nb-NO" i="1">
                                  <a:latin typeface="Cambria Math" panose="02040503050406030204" pitchFamily="18" charset="0"/>
                                </a:rPr>
                                <m:t>)</m:t>
                              </m:r>
                            </m:e>
                          </m:nary>
                        </m:num>
                        <m:den>
                          <m:nary>
                            <m:naryPr>
                              <m:chr m:val="∑"/>
                              <m:supHide m:val="on"/>
                              <m:ctrlPr>
                                <a:rPr lang="nb-NO" i="1">
                                  <a:latin typeface="Cambria Math" panose="02040503050406030204" pitchFamily="18" charset="0"/>
                                </a:rPr>
                              </m:ctrlPr>
                            </m:naryPr>
                            <m:sub>
                              <m:r>
                                <m:rPr>
                                  <m:brk m:alnAt="7"/>
                                </m:rPr>
                                <a:rPr lang="nb-NO" i="1">
                                  <a:latin typeface="Cambria Math" panose="02040503050406030204" pitchFamily="18" charset="0"/>
                                </a:rPr>
                                <m:t>𝑖</m:t>
                              </m:r>
                            </m:sub>
                            <m:sup/>
                            <m:e>
                              <m:sSup>
                                <m:sSupPr>
                                  <m:ctrlPr>
                                    <a:rPr lang="nb-NO" i="1">
                                      <a:latin typeface="Cambria Math" panose="02040503050406030204" pitchFamily="18" charset="0"/>
                                    </a:rPr>
                                  </m:ctrlPr>
                                </m:sSupPr>
                                <m:e>
                                  <m:r>
                                    <a:rPr lang="nb-NO" i="1">
                                      <a:latin typeface="Cambria Math" panose="02040503050406030204" pitchFamily="18" charset="0"/>
                                    </a:rPr>
                                    <m:t>(</m:t>
                                  </m:r>
                                  <m:sSub>
                                    <m:sSubPr>
                                      <m:ctrlPr>
                                        <a:rPr lang="nb-NO" i="1">
                                          <a:latin typeface="Cambria Math" panose="02040503050406030204" pitchFamily="18" charset="0"/>
                                        </a:rPr>
                                      </m:ctrlPr>
                                    </m:sSubPr>
                                    <m:e>
                                      <m:r>
                                        <a:rPr lang="nb-NO" i="1">
                                          <a:latin typeface="Cambria Math" panose="02040503050406030204" pitchFamily="18" charset="0"/>
                                        </a:rPr>
                                        <m:t>𝑥</m:t>
                                      </m:r>
                                    </m:e>
                                    <m:sub>
                                      <m:r>
                                        <a:rPr lang="nb-NO" i="1">
                                          <a:latin typeface="Cambria Math" panose="02040503050406030204" pitchFamily="18" charset="0"/>
                                        </a:rPr>
                                        <m:t>𝑖</m:t>
                                      </m:r>
                                    </m:sub>
                                  </m:sSub>
                                  <m:r>
                                    <a:rPr lang="nb-NO" i="1">
                                      <a:latin typeface="Cambria Math" panose="02040503050406030204" pitchFamily="18" charset="0"/>
                                    </a:rPr>
                                    <m:t>−</m:t>
                                  </m:r>
                                  <m:acc>
                                    <m:accPr>
                                      <m:chr m:val="̅"/>
                                      <m:ctrlPr>
                                        <a:rPr lang="nb-NO" i="1">
                                          <a:latin typeface="Cambria Math" panose="02040503050406030204" pitchFamily="18" charset="0"/>
                                        </a:rPr>
                                      </m:ctrlPr>
                                    </m:accPr>
                                    <m:e>
                                      <m:r>
                                        <a:rPr lang="nb-NO" i="1">
                                          <a:latin typeface="Cambria Math" panose="02040503050406030204" pitchFamily="18" charset="0"/>
                                        </a:rPr>
                                        <m:t>𝑥</m:t>
                                      </m:r>
                                    </m:e>
                                  </m:acc>
                                  <m:r>
                                    <a:rPr lang="nb-NO" i="1">
                                      <a:latin typeface="Cambria Math" panose="02040503050406030204" pitchFamily="18" charset="0"/>
                                    </a:rPr>
                                    <m:t>)</m:t>
                                  </m:r>
                                </m:e>
                                <m:sup>
                                  <m:r>
                                    <a:rPr lang="nb-NO" i="1">
                                      <a:latin typeface="Cambria Math" panose="02040503050406030204" pitchFamily="18" charset="0"/>
                                    </a:rPr>
                                    <m:t>2</m:t>
                                  </m:r>
                                </m:sup>
                              </m:sSup>
                            </m:e>
                          </m:nary>
                        </m:den>
                      </m:f>
                      <m:r>
                        <a:rPr lang="nb-NO" b="0" i="1" smtClean="0">
                          <a:latin typeface="Cambria Math" panose="02040503050406030204" pitchFamily="18" charset="0"/>
                        </a:rPr>
                        <m:t>=</m:t>
                      </m:r>
                      <m:r>
                        <a:rPr lang="nb-NO" b="0" i="1" smtClean="0">
                          <a:solidFill>
                            <a:srgbClr val="FF0000"/>
                          </a:solidFill>
                          <a:latin typeface="Cambria Math" panose="02040503050406030204" pitchFamily="18" charset="0"/>
                        </a:rPr>
                        <m:t>0.102</m:t>
                      </m:r>
                    </m:oMath>
                  </m:oMathPara>
                </a14:m>
                <a:endParaRPr lang="en-US" dirty="0">
                  <a:solidFill>
                    <a:srgbClr val="FF0000"/>
                  </a:solidFill>
                </a:endParaRPr>
              </a:p>
              <a:p>
                <a:pPr marL="0" indent="0">
                  <a:buNone/>
                </a:pPr>
                <a:endParaRPr lang="en-US" dirty="0"/>
              </a:p>
              <a:p>
                <a:pPr marL="0" indent="0">
                  <a:buNone/>
                </a:pPr>
                <a14:m>
                  <m:oMathPara xmlns:m="http://schemas.openxmlformats.org/officeDocument/2006/math">
                    <m:oMath>
                      <m:r>
                        <a:rPr lang="nb-NO" b="0" i="1" smtClean="0">
                          <a:latin typeface="Cambria Math" panose="02040503050406030204" pitchFamily="18" charset="0"/>
                          <a:ea typeface="Cambria Math" panose="02040503050406030204" pitchFamily="18" charset="0"/>
                        </a:rPr>
                        <m:t>𝑆𝑆𝐸</m:t>
                      </m:r>
                      <m:r>
                        <a:rPr lang="nb-NO"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𝜎</m:t>
                              </m:r>
                            </m:e>
                          </m:acc>
                        </m:e>
                        <m:sup>
                          <m:r>
                            <a:rPr lang="nb-NO" i="1">
                              <a:latin typeface="Cambria Math" panose="02040503050406030204" pitchFamily="18" charset="0"/>
                            </a:rPr>
                            <m:t>2</m:t>
                          </m:r>
                        </m:sup>
                      </m:sSup>
                      <m:r>
                        <a:rPr lang="nb-NO" i="1">
                          <a:latin typeface="Cambria Math" panose="02040503050406030204" pitchFamily="18" charset="0"/>
                        </a:rPr>
                        <m:t>=</m:t>
                      </m:r>
                      <m:f>
                        <m:fPr>
                          <m:ctrlPr>
                            <a:rPr lang="nb-NO" i="1">
                              <a:latin typeface="Cambria Math" panose="02040503050406030204" pitchFamily="18" charset="0"/>
                            </a:rPr>
                          </m:ctrlPr>
                        </m:fPr>
                        <m:num>
                          <m:nary>
                            <m:naryPr>
                              <m:chr m:val="∑"/>
                              <m:limLoc m:val="subSup"/>
                              <m:supHide m:val="on"/>
                              <m:ctrlPr>
                                <a:rPr lang="nb-NO" i="1">
                                  <a:latin typeface="Cambria Math" panose="02040503050406030204" pitchFamily="18" charset="0"/>
                                </a:rPr>
                              </m:ctrlPr>
                            </m:naryPr>
                            <m:sub>
                              <m:r>
                                <m:rPr>
                                  <m:brk m:alnAt="9"/>
                                </m:rPr>
                                <a:rPr lang="nb-NO" i="1">
                                  <a:latin typeface="Cambria Math" panose="02040503050406030204" pitchFamily="18" charset="0"/>
                                </a:rPr>
                                <m:t>𝑖</m:t>
                              </m:r>
                            </m:sub>
                            <m:sup/>
                            <m:e>
                              <m:sSubSup>
                                <m:sSubSupPr>
                                  <m:ctrlPr>
                                    <a:rPr lang="nb-NO" i="1">
                                      <a:latin typeface="Cambria Math" panose="02040503050406030204" pitchFamily="18" charset="0"/>
                                      <a:ea typeface="Cambria Math" panose="02040503050406030204" pitchFamily="18" charset="0"/>
                                    </a:rPr>
                                  </m:ctrlPr>
                                </m:sSubSupPr>
                                <m:e>
                                  <m:acc>
                                    <m:accPr>
                                      <m:chr m:val="̂"/>
                                      <m:ctrlPr>
                                        <a:rPr lang="nb-NO" i="1">
                                          <a:latin typeface="Cambria Math" panose="02040503050406030204" pitchFamily="18" charset="0"/>
                                          <a:ea typeface="Cambria Math" panose="02040503050406030204" pitchFamily="18" charset="0"/>
                                        </a:rPr>
                                      </m:ctrlPr>
                                    </m:accPr>
                                    <m:e>
                                      <m:r>
                                        <a:rPr lang="nb-NO" i="1">
                                          <a:latin typeface="Cambria Math" panose="02040503050406030204" pitchFamily="18" charset="0"/>
                                          <a:ea typeface="Cambria Math" panose="02040503050406030204" pitchFamily="18" charset="0"/>
                                        </a:rPr>
                                        <m:t>𝑒</m:t>
                                      </m:r>
                                    </m:e>
                                  </m:acc>
                                </m:e>
                                <m:sub>
                                  <m:r>
                                    <a:rPr lang="nb-NO" i="1">
                                      <a:latin typeface="Cambria Math" panose="02040503050406030204" pitchFamily="18" charset="0"/>
                                    </a:rPr>
                                    <m:t>𝑖</m:t>
                                  </m:r>
                                </m:sub>
                                <m:sup>
                                  <m:r>
                                    <a:rPr lang="nb-NO" i="1">
                                      <a:latin typeface="Cambria Math" panose="02040503050406030204" pitchFamily="18" charset="0"/>
                                    </a:rPr>
                                    <m:t>2</m:t>
                                  </m:r>
                                </m:sup>
                              </m:sSubSup>
                            </m:e>
                          </m:nary>
                        </m:num>
                        <m:den>
                          <m:r>
                            <a:rPr lang="nb-NO" i="1">
                              <a:latin typeface="Cambria Math" panose="02040503050406030204" pitchFamily="18" charset="0"/>
                            </a:rPr>
                            <m:t>𝑛</m:t>
                          </m:r>
                          <m:r>
                            <a:rPr lang="nb-NO" i="1">
                              <a:latin typeface="Cambria Math" panose="02040503050406030204" pitchFamily="18" charset="0"/>
                            </a:rPr>
                            <m:t>−2</m:t>
                          </m:r>
                        </m:den>
                      </m:f>
                      <m:r>
                        <a:rPr lang="nb-NO" i="1">
                          <a:latin typeface="Cambria Math" panose="02040503050406030204" pitchFamily="18" charset="0"/>
                        </a:rPr>
                        <m:t>=</m:t>
                      </m:r>
                      <m:r>
                        <a:rPr lang="nb-NO" i="1">
                          <a:solidFill>
                            <a:srgbClr val="FF0000"/>
                          </a:solidFill>
                          <a:latin typeface="Cambria Math" panose="02040503050406030204" pitchFamily="18" charset="0"/>
                        </a:rPr>
                        <m:t>8013.2</m:t>
                      </m:r>
                    </m:oMath>
                  </m:oMathPara>
                </a14:m>
                <a:endParaRPr lang="en-US" dirty="0"/>
              </a:p>
              <a:p>
                <a:pPr marL="0" indent="0">
                  <a:buNone/>
                </a:pPr>
                <a:endParaRPr lang="en-US" dirty="0"/>
              </a:p>
              <a:p>
                <a:pPr marL="0" indent="0">
                  <a:buNone/>
                </a:pPr>
                <a14:m>
                  <m:oMathPara xmlns:m="http://schemas.openxmlformats.org/officeDocument/2006/math">
                    <m:oMath>
                      <m:acc>
                        <m:accPr>
                          <m:chr m:val="̂"/>
                          <m:ctrlPr>
                            <a:rPr lang="nb-NO" i="1">
                              <a:latin typeface="Cambria Math" panose="02040503050406030204" pitchFamily="18" charset="0"/>
                            </a:rPr>
                          </m:ctrlPr>
                        </m:accPr>
                        <m:e>
                          <m:r>
                            <a:rPr lang="nb-NO" i="1">
                              <a:latin typeface="Cambria Math" panose="02040503050406030204" pitchFamily="18" charset="0"/>
                            </a:rPr>
                            <m:t>𝑣𝑎𝑟</m:t>
                          </m:r>
                        </m:e>
                      </m:acc>
                      <m:d>
                        <m:dPr>
                          <m:ctrlPr>
                            <a:rPr lang="nb-NO" i="1">
                              <a:latin typeface="Cambria Math" panose="02040503050406030204" pitchFamily="18" charset="0"/>
                            </a:rPr>
                          </m:ctrlPr>
                        </m:dPr>
                        <m:e>
                          <m:sSub>
                            <m:sSubPr>
                              <m:ctrlPr>
                                <a:rPr lang="nb-NO" i="1">
                                  <a:latin typeface="Cambria Math" panose="02040503050406030204" pitchFamily="18" charset="0"/>
                                </a:rPr>
                              </m:ctrlPr>
                            </m:sSubPr>
                            <m:e>
                              <m:r>
                                <a:rPr lang="nb-NO" i="1">
                                  <a:latin typeface="Cambria Math" panose="02040503050406030204" pitchFamily="18" charset="0"/>
                                </a:rPr>
                                <m:t>𝑏</m:t>
                              </m:r>
                            </m:e>
                            <m:sub>
                              <m:r>
                                <a:rPr lang="nb-NO">
                                  <a:latin typeface="Cambria Math" panose="02040503050406030204" pitchFamily="18" charset="0"/>
                                </a:rPr>
                                <m:t>1</m:t>
                              </m:r>
                            </m:sub>
                          </m:sSub>
                          <m:r>
                            <a:rPr lang="nb-NO" i="1">
                              <a:latin typeface="Cambria Math" panose="02040503050406030204" pitchFamily="18" charset="0"/>
                            </a:rPr>
                            <m:t>|</m:t>
                          </m:r>
                          <m:r>
                            <a:rPr lang="nb-NO" i="1">
                              <a:latin typeface="Cambria Math" panose="02040503050406030204" pitchFamily="18" charset="0"/>
                            </a:rPr>
                            <m:t>𝑥</m:t>
                          </m:r>
                        </m:e>
                      </m:d>
                      <m:r>
                        <a:rPr lang="nb-NO"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𝜎</m:t>
                              </m:r>
                            </m:e>
                          </m:acc>
                        </m:e>
                        <m:sup>
                          <m:r>
                            <a:rPr lang="nb-NO" i="1">
                              <a:latin typeface="Cambria Math" panose="02040503050406030204" pitchFamily="18" charset="0"/>
                            </a:rPr>
                            <m:t>2</m:t>
                          </m:r>
                        </m:sup>
                      </m:sSup>
                      <m:r>
                        <a:rPr lang="nb-NO" i="1">
                          <a:latin typeface="Cambria Math" panose="02040503050406030204" pitchFamily="18" charset="0"/>
                          <a:ea typeface="Cambria Math" panose="02040503050406030204" pitchFamily="18" charset="0"/>
                        </a:rPr>
                        <m:t>∙</m:t>
                      </m:r>
                      <m:f>
                        <m:fPr>
                          <m:ctrlPr>
                            <a:rPr lang="nb-NO" i="1">
                              <a:latin typeface="Cambria Math" panose="02040503050406030204" pitchFamily="18" charset="0"/>
                            </a:rPr>
                          </m:ctrlPr>
                        </m:fPr>
                        <m:num>
                          <m:nary>
                            <m:naryPr>
                              <m:chr m:val="∑"/>
                              <m:supHide m:val="on"/>
                              <m:ctrlPr>
                                <a:rPr lang="nb-NO" i="1">
                                  <a:latin typeface="Cambria Math" panose="02040503050406030204" pitchFamily="18" charset="0"/>
                                </a:rPr>
                              </m:ctrlPr>
                            </m:naryPr>
                            <m:sub>
                              <m:r>
                                <m:rPr>
                                  <m:brk m:alnAt="7"/>
                                </m:rPr>
                                <a:rPr lang="nb-NO" i="1">
                                  <a:latin typeface="Cambria Math" panose="02040503050406030204" pitchFamily="18" charset="0"/>
                                </a:rPr>
                                <m:t>𝑖</m:t>
                              </m:r>
                            </m:sub>
                            <m:sup/>
                            <m:e>
                              <m:sSup>
                                <m:sSupPr>
                                  <m:ctrlPr>
                                    <a:rPr lang="nb-NO" i="1">
                                      <a:latin typeface="Cambria Math" panose="02040503050406030204" pitchFamily="18" charset="0"/>
                                    </a:rPr>
                                  </m:ctrlPr>
                                </m:sSupPr>
                                <m:e>
                                  <m:d>
                                    <m:dPr>
                                      <m:ctrlPr>
                                        <a:rPr lang="nb-NO" i="1">
                                          <a:latin typeface="Cambria Math" panose="02040503050406030204" pitchFamily="18" charset="0"/>
                                        </a:rPr>
                                      </m:ctrlPr>
                                    </m:dPr>
                                    <m:e>
                                      <m:sSub>
                                        <m:sSubPr>
                                          <m:ctrlPr>
                                            <a:rPr lang="nb-NO" i="1">
                                              <a:latin typeface="Cambria Math" panose="02040503050406030204" pitchFamily="18" charset="0"/>
                                            </a:rPr>
                                          </m:ctrlPr>
                                        </m:sSubPr>
                                        <m:e>
                                          <m:r>
                                            <a:rPr lang="nb-NO" i="1">
                                              <a:latin typeface="Cambria Math" panose="02040503050406030204" pitchFamily="18" charset="0"/>
                                            </a:rPr>
                                            <m:t>𝑥</m:t>
                                          </m:r>
                                        </m:e>
                                        <m:sub>
                                          <m:r>
                                            <a:rPr lang="nb-NO" i="1">
                                              <a:latin typeface="Cambria Math" panose="02040503050406030204" pitchFamily="18" charset="0"/>
                                            </a:rPr>
                                            <m:t>𝑖</m:t>
                                          </m:r>
                                        </m:sub>
                                      </m:sSub>
                                      <m:r>
                                        <a:rPr lang="nb-NO" i="1">
                                          <a:latin typeface="Cambria Math" panose="02040503050406030204" pitchFamily="18" charset="0"/>
                                        </a:rPr>
                                        <m:t> </m:t>
                                      </m:r>
                                    </m:e>
                                  </m:d>
                                </m:e>
                                <m:sup>
                                  <m:r>
                                    <a:rPr lang="nb-NO" i="1">
                                      <a:latin typeface="Cambria Math" panose="02040503050406030204" pitchFamily="18" charset="0"/>
                                    </a:rPr>
                                    <m:t>2</m:t>
                                  </m:r>
                                </m:sup>
                              </m:sSup>
                            </m:e>
                          </m:nary>
                        </m:num>
                        <m:den>
                          <m:r>
                            <a:rPr lang="nb-NO" i="1">
                              <a:latin typeface="Cambria Math" panose="02040503050406030204" pitchFamily="18" charset="0"/>
                            </a:rPr>
                            <m:t>𝑁</m:t>
                          </m:r>
                          <m:r>
                            <a:rPr lang="nb-NO" i="1">
                              <a:latin typeface="Cambria Math" panose="02040503050406030204" pitchFamily="18" charset="0"/>
                              <a:ea typeface="Cambria Math" panose="02040503050406030204" pitchFamily="18" charset="0"/>
                            </a:rPr>
                            <m:t>∙</m:t>
                          </m:r>
                          <m:nary>
                            <m:naryPr>
                              <m:chr m:val="∑"/>
                              <m:supHide m:val="on"/>
                              <m:ctrlPr>
                                <a:rPr lang="nb-NO" i="1">
                                  <a:latin typeface="Cambria Math" panose="02040503050406030204" pitchFamily="18" charset="0"/>
                                </a:rPr>
                              </m:ctrlPr>
                            </m:naryPr>
                            <m:sub>
                              <m:r>
                                <m:rPr>
                                  <m:brk m:alnAt="7"/>
                                </m:rPr>
                                <a:rPr lang="nb-NO" i="1">
                                  <a:latin typeface="Cambria Math" panose="02040503050406030204" pitchFamily="18" charset="0"/>
                                </a:rPr>
                                <m:t>𝑖</m:t>
                              </m:r>
                            </m:sub>
                            <m:sup/>
                            <m:e>
                              <m:sSup>
                                <m:sSupPr>
                                  <m:ctrlPr>
                                    <a:rPr lang="nb-NO" i="1">
                                      <a:latin typeface="Cambria Math" panose="02040503050406030204" pitchFamily="18" charset="0"/>
                                    </a:rPr>
                                  </m:ctrlPr>
                                </m:sSupPr>
                                <m:e>
                                  <m:d>
                                    <m:dPr>
                                      <m:ctrlPr>
                                        <a:rPr lang="nb-NO" i="1">
                                          <a:latin typeface="Cambria Math" panose="02040503050406030204" pitchFamily="18" charset="0"/>
                                        </a:rPr>
                                      </m:ctrlPr>
                                    </m:dPr>
                                    <m:e>
                                      <m:sSub>
                                        <m:sSubPr>
                                          <m:ctrlPr>
                                            <a:rPr lang="nb-NO" i="1">
                                              <a:latin typeface="Cambria Math" panose="02040503050406030204" pitchFamily="18" charset="0"/>
                                            </a:rPr>
                                          </m:ctrlPr>
                                        </m:sSubPr>
                                        <m:e>
                                          <m:r>
                                            <a:rPr lang="nb-NO" i="1">
                                              <a:latin typeface="Cambria Math" panose="02040503050406030204" pitchFamily="18" charset="0"/>
                                            </a:rPr>
                                            <m:t>𝑥</m:t>
                                          </m:r>
                                        </m:e>
                                        <m:sub>
                                          <m:r>
                                            <a:rPr lang="nb-NO" i="1">
                                              <a:latin typeface="Cambria Math" panose="02040503050406030204" pitchFamily="18" charset="0"/>
                                            </a:rPr>
                                            <m:t>𝑖</m:t>
                                          </m:r>
                                        </m:sub>
                                      </m:sSub>
                                      <m:r>
                                        <a:rPr lang="nb-NO" i="1">
                                          <a:latin typeface="Cambria Math" panose="02040503050406030204" pitchFamily="18" charset="0"/>
                                        </a:rPr>
                                        <m:t>−</m:t>
                                      </m:r>
                                      <m:acc>
                                        <m:accPr>
                                          <m:chr m:val="̅"/>
                                          <m:ctrlPr>
                                            <a:rPr lang="nb-NO" i="1">
                                              <a:latin typeface="Cambria Math" panose="02040503050406030204" pitchFamily="18" charset="0"/>
                                            </a:rPr>
                                          </m:ctrlPr>
                                        </m:accPr>
                                        <m:e>
                                          <m:r>
                                            <a:rPr lang="nb-NO" i="1">
                                              <a:latin typeface="Cambria Math" panose="02040503050406030204" pitchFamily="18" charset="0"/>
                                            </a:rPr>
                                            <m:t>𝑥</m:t>
                                          </m:r>
                                        </m:e>
                                      </m:acc>
                                      <m:r>
                                        <a:rPr lang="nb-NO" i="1">
                                          <a:latin typeface="Cambria Math" panose="02040503050406030204" pitchFamily="18" charset="0"/>
                                        </a:rPr>
                                        <m:t> </m:t>
                                      </m:r>
                                    </m:e>
                                  </m:d>
                                </m:e>
                                <m:sup>
                                  <m:r>
                                    <a:rPr lang="nb-NO" i="1">
                                      <a:latin typeface="Cambria Math" panose="02040503050406030204" pitchFamily="18" charset="0"/>
                                    </a:rPr>
                                    <m:t>2</m:t>
                                  </m:r>
                                </m:sup>
                              </m:sSup>
                            </m:e>
                          </m:nary>
                        </m:den>
                      </m:f>
                    </m:oMath>
                  </m:oMathPara>
                </a14:m>
                <a:endParaRPr lang="nb-NO" dirty="0"/>
              </a:p>
              <a:p>
                <a:pPr marL="0" indent="0">
                  <a:buNone/>
                </a:pPr>
                <a14:m>
                  <m:oMathPara xmlns:m="http://schemas.openxmlformats.org/officeDocument/2006/math">
                    <m:oMath>
                      <m:rad>
                        <m:radPr>
                          <m:degHide m:val="on"/>
                          <m:ctrlPr>
                            <a:rPr lang="nb-NO" b="0" i="1" smtClean="0">
                              <a:latin typeface="Cambria Math" panose="02040503050406030204" pitchFamily="18" charset="0"/>
                            </a:rPr>
                          </m:ctrlPr>
                        </m:radPr>
                        <m:deg/>
                        <m:e>
                          <m:acc>
                            <m:accPr>
                              <m:chr m:val="̂"/>
                              <m:ctrlPr>
                                <a:rPr lang="nb-NO" i="1">
                                  <a:latin typeface="Cambria Math" panose="02040503050406030204" pitchFamily="18" charset="0"/>
                                </a:rPr>
                              </m:ctrlPr>
                            </m:accPr>
                            <m:e>
                              <m:r>
                                <a:rPr lang="nb-NO" i="1">
                                  <a:latin typeface="Cambria Math" panose="02040503050406030204" pitchFamily="18" charset="0"/>
                                </a:rPr>
                                <m:t>𝑣𝑎𝑟</m:t>
                              </m:r>
                            </m:e>
                          </m:acc>
                          <m:d>
                            <m:dPr>
                              <m:ctrlPr>
                                <a:rPr lang="nb-NO" i="1">
                                  <a:latin typeface="Cambria Math" panose="02040503050406030204" pitchFamily="18" charset="0"/>
                                </a:rPr>
                              </m:ctrlPr>
                            </m:dPr>
                            <m:e>
                              <m:sSub>
                                <m:sSubPr>
                                  <m:ctrlPr>
                                    <a:rPr lang="nb-NO" i="1">
                                      <a:latin typeface="Cambria Math" panose="02040503050406030204" pitchFamily="18" charset="0"/>
                                    </a:rPr>
                                  </m:ctrlPr>
                                </m:sSubPr>
                                <m:e>
                                  <m:r>
                                    <a:rPr lang="nb-NO" i="1">
                                      <a:latin typeface="Cambria Math" panose="02040503050406030204" pitchFamily="18" charset="0"/>
                                    </a:rPr>
                                    <m:t>𝑏</m:t>
                                  </m:r>
                                </m:e>
                                <m:sub>
                                  <m:r>
                                    <a:rPr lang="nb-NO">
                                      <a:latin typeface="Cambria Math" panose="02040503050406030204" pitchFamily="18" charset="0"/>
                                    </a:rPr>
                                    <m:t>1</m:t>
                                  </m:r>
                                </m:sub>
                              </m:sSub>
                              <m:r>
                                <a:rPr lang="nb-NO" i="1">
                                  <a:latin typeface="Cambria Math" panose="02040503050406030204" pitchFamily="18" charset="0"/>
                                </a:rPr>
                                <m:t>|</m:t>
                              </m:r>
                              <m:r>
                                <a:rPr lang="nb-NO" i="1">
                                  <a:latin typeface="Cambria Math" panose="02040503050406030204" pitchFamily="18" charset="0"/>
                                </a:rPr>
                                <m:t>𝑥</m:t>
                              </m:r>
                            </m:e>
                          </m:d>
                        </m:e>
                      </m:rad>
                      <m:r>
                        <a:rPr lang="nb-NO" b="0" i="1" smtClean="0">
                          <a:latin typeface="Cambria Math" panose="02040503050406030204" pitchFamily="18" charset="0"/>
                        </a:rPr>
                        <m:t>=</m:t>
                      </m:r>
                      <m:r>
                        <a:rPr lang="nb-NO" i="1">
                          <a:latin typeface="Cambria Math" panose="02040503050406030204" pitchFamily="18" charset="0"/>
                        </a:rPr>
                        <m:t>𝑠𝑒</m:t>
                      </m:r>
                      <m:d>
                        <m:dPr>
                          <m:ctrlPr>
                            <a:rPr lang="en-GB" i="1">
                              <a:latin typeface="Cambria Math" panose="02040503050406030204" pitchFamily="18" charset="0"/>
                            </a:rPr>
                          </m:ctrlPr>
                        </m:dPr>
                        <m:e>
                          <m:sSub>
                            <m:sSubPr>
                              <m:ctrlPr>
                                <a:rPr lang="en-GB">
                                  <a:latin typeface="Cambria Math" panose="02040503050406030204" pitchFamily="18" charset="0"/>
                                </a:rPr>
                              </m:ctrlPr>
                            </m:sSubPr>
                            <m:e>
                              <m:r>
                                <a:rPr lang="en-GB">
                                  <a:latin typeface="Cambria Math" panose="02040503050406030204" pitchFamily="18" charset="0"/>
                                </a:rPr>
                                <m:t>𝑏</m:t>
                              </m:r>
                            </m:e>
                            <m:sub>
                              <m:r>
                                <a:rPr lang="nb-NO" i="1">
                                  <a:latin typeface="Cambria Math" panose="02040503050406030204" pitchFamily="18" charset="0"/>
                                </a:rPr>
                                <m:t>1</m:t>
                              </m:r>
                            </m:sub>
                          </m:sSub>
                        </m:e>
                      </m:d>
                      <m:r>
                        <a:rPr lang="nb-NO" i="1">
                          <a:latin typeface="Cambria Math" panose="02040503050406030204" pitchFamily="18" charset="0"/>
                        </a:rPr>
                        <m:t>=</m:t>
                      </m:r>
                      <m:r>
                        <a:rPr lang="nb-NO" i="1" smtClean="0">
                          <a:solidFill>
                            <a:srgbClr val="FF0000"/>
                          </a:solidFill>
                          <a:latin typeface="Cambria Math" panose="02040503050406030204" pitchFamily="18" charset="0"/>
                        </a:rPr>
                        <m:t>43.4</m:t>
                      </m:r>
                    </m:oMath>
                  </m:oMathPara>
                </a14:m>
                <a:endParaRPr lang="en-US" dirty="0"/>
              </a:p>
              <a:p>
                <a:pPr marL="0" indent="0">
                  <a:buNone/>
                </a:pPr>
                <a:endParaRPr lang="en-US" dirty="0"/>
              </a:p>
              <a:p>
                <a:pPr marL="0" indent="0">
                  <a:buNone/>
                </a:pPr>
                <a14:m>
                  <m:oMathPara xmlns:m="http://schemas.openxmlformats.org/officeDocument/2006/math">
                    <m:oMath>
                      <m:acc>
                        <m:accPr>
                          <m:chr m:val="̂"/>
                          <m:ctrlPr>
                            <a:rPr lang="nb-NO" i="1">
                              <a:latin typeface="Cambria Math" panose="02040503050406030204" pitchFamily="18" charset="0"/>
                            </a:rPr>
                          </m:ctrlPr>
                        </m:accPr>
                        <m:e>
                          <m:r>
                            <a:rPr lang="nb-NO" i="1">
                              <a:latin typeface="Cambria Math" panose="02040503050406030204" pitchFamily="18" charset="0"/>
                            </a:rPr>
                            <m:t>𝑣𝑎𝑟</m:t>
                          </m:r>
                        </m:e>
                      </m:acc>
                      <m:d>
                        <m:dPr>
                          <m:ctrlPr>
                            <a:rPr lang="nb-NO" i="1">
                              <a:latin typeface="Cambria Math" panose="02040503050406030204" pitchFamily="18" charset="0"/>
                            </a:rPr>
                          </m:ctrlPr>
                        </m:dPr>
                        <m:e>
                          <m:sSub>
                            <m:sSubPr>
                              <m:ctrlPr>
                                <a:rPr lang="nb-NO" i="1">
                                  <a:latin typeface="Cambria Math" panose="02040503050406030204" pitchFamily="18" charset="0"/>
                                </a:rPr>
                              </m:ctrlPr>
                            </m:sSubPr>
                            <m:e>
                              <m:r>
                                <a:rPr lang="nb-NO" i="1">
                                  <a:latin typeface="Cambria Math" panose="02040503050406030204" pitchFamily="18" charset="0"/>
                                </a:rPr>
                                <m:t>𝑏</m:t>
                              </m:r>
                            </m:e>
                            <m:sub>
                              <m:r>
                                <a:rPr lang="nb-NO">
                                  <a:latin typeface="Cambria Math" panose="02040503050406030204" pitchFamily="18" charset="0"/>
                                </a:rPr>
                                <m:t>2</m:t>
                              </m:r>
                            </m:sub>
                          </m:sSub>
                          <m:r>
                            <a:rPr lang="nb-NO" i="1">
                              <a:latin typeface="Cambria Math" panose="02040503050406030204" pitchFamily="18" charset="0"/>
                            </a:rPr>
                            <m:t>|</m:t>
                          </m:r>
                          <m:r>
                            <a:rPr lang="nb-NO" i="1">
                              <a:latin typeface="Cambria Math" panose="02040503050406030204" pitchFamily="18" charset="0"/>
                            </a:rPr>
                            <m:t>𝑥</m:t>
                          </m:r>
                        </m:e>
                      </m:d>
                      <m:r>
                        <a:rPr lang="nb-NO" i="1">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𝜎</m:t>
                                  </m:r>
                                </m:e>
                              </m:acc>
                            </m:e>
                            <m:sup>
                              <m:r>
                                <a:rPr lang="nb-NO" i="1">
                                  <a:latin typeface="Cambria Math" panose="02040503050406030204" pitchFamily="18" charset="0"/>
                                </a:rPr>
                                <m:t>2</m:t>
                              </m:r>
                            </m:sup>
                          </m:sSup>
                        </m:num>
                        <m:den>
                          <m:nary>
                            <m:naryPr>
                              <m:chr m:val="∑"/>
                              <m:supHide m:val="on"/>
                              <m:ctrlPr>
                                <a:rPr lang="nb-NO" i="1">
                                  <a:latin typeface="Cambria Math" panose="02040503050406030204" pitchFamily="18" charset="0"/>
                                </a:rPr>
                              </m:ctrlPr>
                            </m:naryPr>
                            <m:sub>
                              <m:r>
                                <m:rPr>
                                  <m:brk m:alnAt="7"/>
                                </m:rPr>
                                <a:rPr lang="nb-NO" i="1">
                                  <a:latin typeface="Cambria Math" panose="02040503050406030204" pitchFamily="18" charset="0"/>
                                </a:rPr>
                                <m:t>𝑖</m:t>
                              </m:r>
                            </m:sub>
                            <m:sup/>
                            <m:e>
                              <m:sSup>
                                <m:sSupPr>
                                  <m:ctrlPr>
                                    <a:rPr lang="nb-NO" i="1">
                                      <a:latin typeface="Cambria Math" panose="02040503050406030204" pitchFamily="18" charset="0"/>
                                    </a:rPr>
                                  </m:ctrlPr>
                                </m:sSupPr>
                                <m:e>
                                  <m:r>
                                    <a:rPr lang="nb-NO" i="1">
                                      <a:latin typeface="Cambria Math" panose="02040503050406030204" pitchFamily="18" charset="0"/>
                                    </a:rPr>
                                    <m:t>(</m:t>
                                  </m:r>
                                  <m:sSub>
                                    <m:sSubPr>
                                      <m:ctrlPr>
                                        <a:rPr lang="nb-NO" i="1">
                                          <a:latin typeface="Cambria Math" panose="02040503050406030204" pitchFamily="18" charset="0"/>
                                        </a:rPr>
                                      </m:ctrlPr>
                                    </m:sSubPr>
                                    <m:e>
                                      <m:r>
                                        <a:rPr lang="nb-NO" i="1">
                                          <a:latin typeface="Cambria Math" panose="02040503050406030204" pitchFamily="18" charset="0"/>
                                        </a:rPr>
                                        <m:t>𝑥</m:t>
                                      </m:r>
                                    </m:e>
                                    <m:sub>
                                      <m:r>
                                        <a:rPr lang="nb-NO" i="1">
                                          <a:latin typeface="Cambria Math" panose="02040503050406030204" pitchFamily="18" charset="0"/>
                                        </a:rPr>
                                        <m:t>𝑖</m:t>
                                      </m:r>
                                    </m:sub>
                                  </m:sSub>
                                  <m:r>
                                    <a:rPr lang="nb-NO" i="1">
                                      <a:latin typeface="Cambria Math" panose="02040503050406030204" pitchFamily="18" charset="0"/>
                                    </a:rPr>
                                    <m:t>−</m:t>
                                  </m:r>
                                  <m:acc>
                                    <m:accPr>
                                      <m:chr m:val="̅"/>
                                      <m:ctrlPr>
                                        <a:rPr lang="nb-NO" i="1">
                                          <a:latin typeface="Cambria Math" panose="02040503050406030204" pitchFamily="18" charset="0"/>
                                        </a:rPr>
                                      </m:ctrlPr>
                                    </m:accPr>
                                    <m:e>
                                      <m:r>
                                        <a:rPr lang="nb-NO" i="1">
                                          <a:latin typeface="Cambria Math" panose="02040503050406030204" pitchFamily="18" charset="0"/>
                                        </a:rPr>
                                        <m:t>𝑥</m:t>
                                      </m:r>
                                    </m:e>
                                  </m:acc>
                                  <m:r>
                                    <a:rPr lang="nb-NO" i="1">
                                      <a:latin typeface="Cambria Math" panose="02040503050406030204" pitchFamily="18" charset="0"/>
                                    </a:rPr>
                                    <m:t> )</m:t>
                                  </m:r>
                                </m:e>
                                <m:sup>
                                  <m:r>
                                    <a:rPr lang="nb-NO" i="1">
                                      <a:latin typeface="Cambria Math" panose="02040503050406030204" pitchFamily="18" charset="0"/>
                                    </a:rPr>
                                    <m:t>2</m:t>
                                  </m:r>
                                </m:sup>
                              </m:sSup>
                            </m:e>
                          </m:nary>
                        </m:den>
                      </m:f>
                    </m:oMath>
                  </m:oMathPara>
                </a14:m>
                <a:endParaRPr lang="en-US" dirty="0"/>
              </a:p>
              <a:p>
                <a:pPr marL="0" indent="0">
                  <a:buNone/>
                </a:pPr>
                <a14:m>
                  <m:oMathPara xmlns:m="http://schemas.openxmlformats.org/officeDocument/2006/math">
                    <m:oMath>
                      <m:rad>
                        <m:radPr>
                          <m:degHide m:val="on"/>
                          <m:ctrlPr>
                            <a:rPr lang="nb-NO" b="0" i="1" smtClean="0">
                              <a:latin typeface="Cambria Math" panose="02040503050406030204" pitchFamily="18" charset="0"/>
                            </a:rPr>
                          </m:ctrlPr>
                        </m:radPr>
                        <m:deg/>
                        <m:e>
                          <m:acc>
                            <m:accPr>
                              <m:chr m:val="̂"/>
                              <m:ctrlPr>
                                <a:rPr lang="nb-NO" i="1">
                                  <a:latin typeface="Cambria Math" panose="02040503050406030204" pitchFamily="18" charset="0"/>
                                </a:rPr>
                              </m:ctrlPr>
                            </m:accPr>
                            <m:e>
                              <m:r>
                                <a:rPr lang="nb-NO" i="1">
                                  <a:latin typeface="Cambria Math" panose="02040503050406030204" pitchFamily="18" charset="0"/>
                                </a:rPr>
                                <m:t>𝑣𝑎𝑟</m:t>
                              </m:r>
                            </m:e>
                          </m:acc>
                          <m:d>
                            <m:dPr>
                              <m:ctrlPr>
                                <a:rPr lang="nb-NO" i="1">
                                  <a:latin typeface="Cambria Math" panose="02040503050406030204" pitchFamily="18" charset="0"/>
                                </a:rPr>
                              </m:ctrlPr>
                            </m:dPr>
                            <m:e>
                              <m:sSub>
                                <m:sSubPr>
                                  <m:ctrlPr>
                                    <a:rPr lang="nb-NO" i="1">
                                      <a:latin typeface="Cambria Math" panose="02040503050406030204" pitchFamily="18" charset="0"/>
                                    </a:rPr>
                                  </m:ctrlPr>
                                </m:sSubPr>
                                <m:e>
                                  <m:r>
                                    <a:rPr lang="nb-NO" i="1">
                                      <a:latin typeface="Cambria Math" panose="02040503050406030204" pitchFamily="18" charset="0"/>
                                    </a:rPr>
                                    <m:t>𝑏</m:t>
                                  </m:r>
                                </m:e>
                                <m:sub>
                                  <m:r>
                                    <a:rPr lang="nb-NO">
                                      <a:latin typeface="Cambria Math" panose="02040503050406030204" pitchFamily="18" charset="0"/>
                                    </a:rPr>
                                    <m:t>2</m:t>
                                  </m:r>
                                </m:sub>
                              </m:sSub>
                              <m:r>
                                <a:rPr lang="nb-NO" i="1">
                                  <a:latin typeface="Cambria Math" panose="02040503050406030204" pitchFamily="18" charset="0"/>
                                </a:rPr>
                                <m:t>|</m:t>
                              </m:r>
                              <m:r>
                                <a:rPr lang="nb-NO" i="1">
                                  <a:latin typeface="Cambria Math" panose="02040503050406030204" pitchFamily="18" charset="0"/>
                                </a:rPr>
                                <m:t>𝑥</m:t>
                              </m:r>
                            </m:e>
                          </m:d>
                        </m:e>
                      </m:rad>
                      <m:r>
                        <a:rPr lang="nb-NO" b="0" i="1" smtClean="0">
                          <a:latin typeface="Cambria Math" panose="02040503050406030204" pitchFamily="18" charset="0"/>
                        </a:rPr>
                        <m:t>=</m:t>
                      </m:r>
                      <m:r>
                        <a:rPr lang="nb-NO" b="0" i="1" smtClean="0">
                          <a:latin typeface="Cambria Math" panose="02040503050406030204" pitchFamily="18" charset="0"/>
                        </a:rPr>
                        <m:t>𝑠𝑒</m:t>
                      </m:r>
                      <m:d>
                        <m:dPr>
                          <m:ctrlPr>
                            <a:rPr lang="en-GB" i="1">
                              <a:latin typeface="Cambria Math" panose="02040503050406030204" pitchFamily="18" charset="0"/>
                            </a:rPr>
                          </m:ctrlPr>
                        </m:dPr>
                        <m:e>
                          <m:sSub>
                            <m:sSubPr>
                              <m:ctrlPr>
                                <a:rPr lang="en-GB">
                                  <a:latin typeface="Cambria Math" panose="02040503050406030204" pitchFamily="18" charset="0"/>
                                </a:rPr>
                              </m:ctrlPr>
                            </m:sSubPr>
                            <m:e>
                              <m:r>
                                <a:rPr lang="en-GB">
                                  <a:latin typeface="Cambria Math" panose="02040503050406030204" pitchFamily="18" charset="0"/>
                                </a:rPr>
                                <m:t>𝑏</m:t>
                              </m:r>
                            </m:e>
                            <m:sub>
                              <m:r>
                                <a:rPr lang="nb-NO">
                                  <a:latin typeface="Cambria Math" panose="02040503050406030204" pitchFamily="18" charset="0"/>
                                </a:rPr>
                                <m:t>2</m:t>
                              </m:r>
                            </m:sub>
                          </m:sSub>
                        </m:e>
                      </m:d>
                      <m:r>
                        <a:rPr lang="nb-NO" b="0" i="1" smtClean="0">
                          <a:latin typeface="Cambria Math" panose="02040503050406030204" pitchFamily="18" charset="0"/>
                        </a:rPr>
                        <m:t>=</m:t>
                      </m:r>
                      <m:r>
                        <a:rPr lang="nb-NO" b="0" i="1" smtClean="0">
                          <a:solidFill>
                            <a:srgbClr val="FF0000"/>
                          </a:solidFill>
                          <a:latin typeface="Cambria Math" panose="02040503050406030204" pitchFamily="18" charset="0"/>
                        </a:rPr>
                        <m:t>0.0209</m:t>
                      </m:r>
                    </m:oMath>
                  </m:oMathPara>
                </a14:m>
                <a:endParaRPr lang="en-US" dirty="0"/>
              </a:p>
              <a:p>
                <a:pPr marL="0" indent="0">
                  <a:buNone/>
                </a:pPr>
                <a:endParaRPr lang="en-US" dirty="0"/>
              </a:p>
              <a:p>
                <a:pPr marL="0" indent="0">
                  <a:buNone/>
                </a:pPr>
                <a:endParaRPr lang="nb-NO" dirty="0"/>
              </a:p>
              <a:p>
                <a:pPr marL="0" indent="0">
                  <a:buNone/>
                </a:pPr>
                <a:endParaRPr lang="en-US" dirty="0"/>
              </a:p>
            </p:txBody>
          </p:sp>
        </mc:Choice>
        <mc:Fallback>
          <p:sp>
            <p:nvSpPr>
              <p:cNvPr id="11" name="Content Placeholder 2">
                <a:extLst>
                  <a:ext uri="{FF2B5EF4-FFF2-40B4-BE49-F238E27FC236}">
                    <a16:creationId xmlns:a16="http://schemas.microsoft.com/office/drawing/2014/main" id="{3AED3428-0E1E-5FF9-5F4B-F192490C418A}"/>
                  </a:ext>
                </a:extLst>
              </p:cNvPr>
              <p:cNvSpPr>
                <a:spLocks noGrp="1" noRot="1" noChangeAspect="1" noMove="1" noResize="1" noEditPoints="1" noAdjustHandles="1" noChangeArrowheads="1" noChangeShapeType="1" noTextEdit="1"/>
              </p:cNvSpPr>
              <p:nvPr>
                <p:ph sz="half" idx="1"/>
              </p:nvPr>
            </p:nvSpPr>
            <p:spPr>
              <a:xfrm>
                <a:off x="84364" y="1380473"/>
                <a:ext cx="5924006" cy="5032375"/>
              </a:xfrm>
              <a:blipFill>
                <a:blip r:embed="rId3"/>
                <a:stretch>
                  <a:fillRect/>
                </a:stretch>
              </a:blipFill>
            </p:spPr>
            <p:txBody>
              <a:bodyPr/>
              <a:lstStyle/>
              <a:p>
                <a:r>
                  <a:rPr lang="en-GB">
                    <a:noFill/>
                  </a:rPr>
                  <a:t> </a:t>
                </a:r>
              </a:p>
            </p:txBody>
          </p:sp>
        </mc:Fallback>
      </mc:AlternateContent>
      <p:pic>
        <p:nvPicPr>
          <p:cNvPr id="6" name="Plassholder for innhold 8">
            <a:extLst>
              <a:ext uri="{FF2B5EF4-FFF2-40B4-BE49-F238E27FC236}">
                <a16:creationId xmlns:a16="http://schemas.microsoft.com/office/drawing/2014/main" id="{ABFAEC7C-DB4E-FE27-9CC3-106068FF416D}"/>
              </a:ext>
            </a:extLst>
          </p:cNvPr>
          <p:cNvPicPr>
            <a:picLocks noGrp="1" noChangeAspect="1"/>
          </p:cNvPicPr>
          <p:nvPr>
            <p:ph sz="half" idx="2"/>
          </p:nvPr>
        </p:nvPicPr>
        <p:blipFill>
          <a:blip r:embed="rId4"/>
          <a:stretch>
            <a:fillRect/>
          </a:stretch>
        </p:blipFill>
        <p:spPr>
          <a:xfrm>
            <a:off x="6172200" y="1980470"/>
            <a:ext cx="5181600" cy="4041648"/>
          </a:xfrm>
          <a:prstGeom prst="rect">
            <a:avLst/>
          </a:prstGeom>
          <a:noFill/>
        </p:spPr>
      </p:pic>
      <mc:AlternateContent xmlns:mc="http://schemas.openxmlformats.org/markup-compatibility/2006">
        <mc:Choice xmlns:a14="http://schemas.microsoft.com/office/drawing/2010/main" Requires="a14">
          <p:sp>
            <p:nvSpPr>
              <p:cNvPr id="8" name="Rektangel: avrundede hjørner 7">
                <a:extLst>
                  <a:ext uri="{FF2B5EF4-FFF2-40B4-BE49-F238E27FC236}">
                    <a16:creationId xmlns:a16="http://schemas.microsoft.com/office/drawing/2014/main" id="{A00048DF-CCB2-BC43-B6D7-546A6504332E}"/>
                  </a:ext>
                </a:extLst>
              </p:cNvPr>
              <p:cNvSpPr/>
              <p:nvPr/>
            </p:nvSpPr>
            <p:spPr>
              <a:xfrm>
                <a:off x="7089866" y="663696"/>
                <a:ext cx="4885508" cy="72842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acc>
                        <m:accPr>
                          <m:chr m:val="̂"/>
                          <m:ctrlPr>
                            <a:rPr kumimoji="0" lang="nb-NO" sz="28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accPr>
                        <m:e>
                          <m:sSub>
                            <m:sSubPr>
                              <m:ctrlPr>
                                <a:rPr kumimoji="0" lang="nb-NO" sz="28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nb-NO" sz="28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𝑦</m:t>
                              </m:r>
                            </m:e>
                            <m:sub>
                              <m:r>
                                <a:rPr kumimoji="0" lang="nb-NO" sz="28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𝑖</m:t>
                              </m:r>
                            </m:sub>
                          </m:sSub>
                        </m:e>
                      </m:acc>
                      <m:r>
                        <a:rPr kumimoji="0" lang="nb-NO" sz="28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r>
                        <a:rPr kumimoji="0" lang="nb-NO" sz="2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83.4</m:t>
                      </m:r>
                      <m:r>
                        <a:rPr kumimoji="0" lang="nb-NO" sz="28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r>
                        <a:rPr kumimoji="0" lang="nb-NO" sz="2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0.102</m:t>
                      </m:r>
                      <m:r>
                        <a:rPr kumimoji="0" lang="nb-NO" sz="2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m:t>
                      </m:r>
                      <m:sSub>
                        <m:sSubPr>
                          <m:ctrlPr>
                            <a:rPr kumimoji="0" lang="nb-NO" sz="2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𝑥</m:t>
                          </m:r>
                        </m:e>
                        <m:sub>
                          <m:r>
                            <a:rPr kumimoji="0" lang="nb-NO" sz="28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𝑖</m:t>
                          </m:r>
                        </m:sub>
                      </m:sSub>
                    </m:oMath>
                  </m:oMathPara>
                </a14:m>
                <a:endParaRPr kumimoji="0" lang="en-GB" sz="2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mc:Choice>
        <mc:Fallback>
          <p:sp>
            <p:nvSpPr>
              <p:cNvPr id="8" name="Rektangel: avrundede hjørner 7">
                <a:extLst>
                  <a:ext uri="{FF2B5EF4-FFF2-40B4-BE49-F238E27FC236}">
                    <a16:creationId xmlns:a16="http://schemas.microsoft.com/office/drawing/2014/main" id="{A00048DF-CCB2-BC43-B6D7-546A6504332E}"/>
                  </a:ext>
                </a:extLst>
              </p:cNvPr>
              <p:cNvSpPr>
                <a:spLocks noRot="1" noChangeAspect="1" noMove="1" noResize="1" noEditPoints="1" noAdjustHandles="1" noChangeArrowheads="1" noChangeShapeType="1" noTextEdit="1"/>
              </p:cNvSpPr>
              <p:nvPr/>
            </p:nvSpPr>
            <p:spPr>
              <a:xfrm>
                <a:off x="7089866" y="663696"/>
                <a:ext cx="4885508" cy="728420"/>
              </a:xfrm>
              <a:prstGeom prst="round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463853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354374-CCE8-1F6F-5100-4989EDA7340F}"/>
              </a:ext>
            </a:extLst>
          </p:cNvPr>
          <p:cNvSpPr txBox="1"/>
          <p:nvPr/>
        </p:nvSpPr>
        <p:spPr>
          <a:xfrm>
            <a:off x="533400" y="355600"/>
            <a:ext cx="10160000" cy="5080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The food model and the decision</a:t>
            </a:r>
            <a:endParaRPr kumimoji="0" lang="en-GB" sz="2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endParaRPr>
          </a:p>
        </p:txBody>
      </p:sp>
      <p:sp>
        <p:nvSpPr>
          <p:cNvPr id="3" name="Rectangle: Rounded Corners 2">
            <a:extLst>
              <a:ext uri="{FF2B5EF4-FFF2-40B4-BE49-F238E27FC236}">
                <a16:creationId xmlns:a16="http://schemas.microsoft.com/office/drawing/2014/main" id="{2B5D0481-607A-24AE-10A1-8B1160366050}"/>
              </a:ext>
            </a:extLst>
          </p:cNvPr>
          <p:cNvSpPr/>
          <p:nvPr/>
        </p:nvSpPr>
        <p:spPr>
          <a:xfrm>
            <a:off x="1206500" y="1270000"/>
            <a:ext cx="9779000" cy="736600"/>
          </a:xfrm>
          <a:prstGeom prst="roundRect">
            <a:avLst/>
          </a:prstGeom>
          <a:solidFill>
            <a:srgbClr val="20BCE6"/>
          </a:solidFill>
          <a:ln w="9525">
            <a:solidFill>
              <a:srgbClr val="0056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ptos Display" panose="020B0004020202020204" pitchFamily="34" charset="0"/>
                <a:ea typeface="+mn-ea"/>
                <a:cs typeface="+mn-cs"/>
              </a:rPr>
              <a:t>food_exp = 83.42 + 0.1021 income</a:t>
            </a:r>
            <a:endParaRPr kumimoji="0" lang="en-GB" sz="2400" b="1" i="0" u="none" strike="noStrike" kern="1200" cap="none" spc="0" normalizeH="0" baseline="0" noProof="0">
              <a:ln>
                <a:noFill/>
              </a:ln>
              <a:solidFill>
                <a:srgbClr val="FFFFFF"/>
              </a:solidFill>
              <a:effectLst/>
              <a:uLnTx/>
              <a:uFillTx/>
              <a:latin typeface="Aptos Display" panose="020B0004020202020204" pitchFamily="34" charset="0"/>
              <a:ea typeface="+mn-ea"/>
              <a:cs typeface="+mn-cs"/>
            </a:endParaRPr>
          </a:p>
        </p:txBody>
      </p:sp>
      <p:sp>
        <p:nvSpPr>
          <p:cNvPr id="4" name="TextBox 3">
            <a:extLst>
              <a:ext uri="{FF2B5EF4-FFF2-40B4-BE49-F238E27FC236}">
                <a16:creationId xmlns:a16="http://schemas.microsoft.com/office/drawing/2014/main" id="{AC0CF936-E768-AC7E-04A8-77633A8796E4}"/>
              </a:ext>
            </a:extLst>
          </p:cNvPr>
          <p:cNvSpPr txBox="1"/>
          <p:nvPr/>
        </p:nvSpPr>
        <p:spPr>
          <a:xfrm>
            <a:off x="1270000" y="2565400"/>
            <a:ext cx="3302000" cy="551180"/>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800" b="1" i="0" u="none" strike="noStrike" kern="1200" cap="none" spc="0" normalizeH="0" baseline="0" noProof="0" dirty="0">
                <a:ln>
                  <a:noFill/>
                </a:ln>
                <a:solidFill>
                  <a:srgbClr val="00566B"/>
                </a:solidFill>
                <a:effectLst/>
                <a:uLnTx/>
                <a:uFillTx/>
                <a:latin typeface="Aptos" panose="020B0004020202020204" pitchFamily="34" charset="0"/>
                <a:ea typeface="+mn-ea"/>
                <a:cs typeface="+mn-cs"/>
              </a:rPr>
              <a:t>USD 0.1021</a:t>
            </a:r>
          </a:p>
        </p:txBody>
      </p:sp>
      <p:sp>
        <p:nvSpPr>
          <p:cNvPr id="5" name="TextBox 4">
            <a:extLst>
              <a:ext uri="{FF2B5EF4-FFF2-40B4-BE49-F238E27FC236}">
                <a16:creationId xmlns:a16="http://schemas.microsoft.com/office/drawing/2014/main" id="{62595105-F9CD-81C2-00FA-CB31AC213138}"/>
              </a:ext>
            </a:extLst>
          </p:cNvPr>
          <p:cNvSpPr txBox="1"/>
          <p:nvPr/>
        </p:nvSpPr>
        <p:spPr>
          <a:xfrm>
            <a:off x="1041400" y="3200400"/>
            <a:ext cx="3810000" cy="2769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Estimated increase in food expenditure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per USD higher weekly income</a:t>
            </a:r>
            <a:endParaRPr kumimoji="0" lang="en-GB"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endParaRPr>
          </a:p>
        </p:txBody>
      </p:sp>
      <p:sp>
        <p:nvSpPr>
          <p:cNvPr id="6" name="Rectangle 5">
            <a:extLst>
              <a:ext uri="{FF2B5EF4-FFF2-40B4-BE49-F238E27FC236}">
                <a16:creationId xmlns:a16="http://schemas.microsoft.com/office/drawing/2014/main" id="{556B994A-3E7C-9485-7215-0F4B9DFDA1F3}"/>
              </a:ext>
            </a:extLst>
          </p:cNvPr>
          <p:cNvSpPr/>
          <p:nvPr/>
        </p:nvSpPr>
        <p:spPr>
          <a:xfrm>
            <a:off x="6070600" y="2413000"/>
            <a:ext cx="25400" cy="1714500"/>
          </a:xfrm>
          <a:prstGeom prst="rect">
            <a:avLst/>
          </a:prstGeom>
          <a:solidFill>
            <a:srgbClr val="F0F4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2152045D-D29F-162C-F440-D98E5367D878}"/>
              </a:ext>
            </a:extLst>
          </p:cNvPr>
          <p:cNvSpPr txBox="1"/>
          <p:nvPr/>
        </p:nvSpPr>
        <p:spPr>
          <a:xfrm>
            <a:off x="7620000" y="2565400"/>
            <a:ext cx="3302000" cy="551180"/>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800" b="1" i="0" u="none" strike="noStrike" kern="1200" cap="none" spc="0" normalizeH="0" baseline="0" noProof="0" dirty="0">
                <a:ln>
                  <a:noFill/>
                </a:ln>
                <a:solidFill>
                  <a:srgbClr val="C81924"/>
                </a:solidFill>
                <a:effectLst/>
                <a:uLnTx/>
                <a:uFillTx/>
                <a:latin typeface="Aptos" panose="020B0004020202020204" pitchFamily="34" charset="0"/>
                <a:ea typeface="+mn-ea"/>
                <a:cs typeface="+mn-cs"/>
              </a:rPr>
              <a:t>USD 0.055</a:t>
            </a:r>
          </a:p>
        </p:txBody>
      </p:sp>
      <p:sp>
        <p:nvSpPr>
          <p:cNvPr id="8" name="TextBox 7">
            <a:extLst>
              <a:ext uri="{FF2B5EF4-FFF2-40B4-BE49-F238E27FC236}">
                <a16:creationId xmlns:a16="http://schemas.microsoft.com/office/drawing/2014/main" id="{BAACFB6F-CDF8-D2C7-9B62-6356F4E9C500}"/>
              </a:ext>
            </a:extLst>
          </p:cNvPr>
          <p:cNvSpPr txBox="1"/>
          <p:nvPr/>
        </p:nvSpPr>
        <p:spPr>
          <a:xfrm>
            <a:off x="7391400" y="3200400"/>
            <a:ext cx="3810000" cy="2769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Minimum increase required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for the investment to be profitable</a:t>
            </a:r>
            <a:endParaRPr kumimoji="0" lang="en-GB"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endParaRPr>
          </a:p>
        </p:txBody>
      </p:sp>
      <p:sp>
        <p:nvSpPr>
          <p:cNvPr id="9" name="Rectangle: Rounded Corners 8">
            <a:extLst>
              <a:ext uri="{FF2B5EF4-FFF2-40B4-BE49-F238E27FC236}">
                <a16:creationId xmlns:a16="http://schemas.microsoft.com/office/drawing/2014/main" id="{428AD6A1-B3F8-D669-21FB-97ED51016915}"/>
              </a:ext>
            </a:extLst>
          </p:cNvPr>
          <p:cNvSpPr/>
          <p:nvPr/>
        </p:nvSpPr>
        <p:spPr>
          <a:xfrm>
            <a:off x="3048000" y="4953000"/>
            <a:ext cx="6096000" cy="736600"/>
          </a:xfrm>
          <a:prstGeom prst="roundRect">
            <a:avLst/>
          </a:prstGeom>
          <a:solidFill>
            <a:srgbClr val="C819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rgbClr val="FFFFFF"/>
                </a:solidFill>
                <a:effectLst/>
                <a:uLnTx/>
                <a:uFillTx/>
                <a:latin typeface="Aptos" panose="020B0004020202020204" pitchFamily="34" charset="0"/>
                <a:ea typeface="+mn-ea"/>
                <a:cs typeface="+mn-cs"/>
              </a:rPr>
              <a:t>Should the supermarket invest?</a:t>
            </a:r>
          </a:p>
        </p:txBody>
      </p:sp>
    </p:spTree>
    <p:extLst>
      <p:ext uri="{BB962C8B-B14F-4D97-AF65-F5344CB8AC3E}">
        <p14:creationId xmlns:p14="http://schemas.microsoft.com/office/powerpoint/2010/main" val="135501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93263E-84B6-5F4C-7C5C-E23A3ADB85FE}"/>
              </a:ext>
            </a:extLst>
          </p:cNvPr>
          <p:cNvSpPr txBox="1"/>
          <p:nvPr/>
        </p:nvSpPr>
        <p:spPr>
          <a:xfrm>
            <a:off x="533400" y="355600"/>
            <a:ext cx="10160000" cy="276999"/>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111820"/>
                </a:solidFill>
                <a:effectLst/>
                <a:uLnTx/>
                <a:uFillTx/>
                <a:latin typeface="Aptos" panose="020B0004020202020204" pitchFamily="34" charset="0"/>
                <a:ea typeface="+mn-ea"/>
                <a:cs typeface="+mn-cs"/>
              </a:rPr>
              <a:t>Population parameter and sample estimate</a:t>
            </a:r>
            <a:endParaRPr kumimoji="0" lang="en-GB" sz="2800" b="0" i="0" u="none" strike="noStrike" kern="1200" cap="none" spc="0" normalizeH="0" baseline="0" noProof="0">
              <a:ln>
                <a:noFill/>
              </a:ln>
              <a:solidFill>
                <a:srgbClr val="111820"/>
              </a:solidFill>
              <a:effectLst/>
              <a:uLnTx/>
              <a:uFillTx/>
              <a:latin typeface="Aptos" panose="020B0004020202020204" pitchFamily="34" charset="0"/>
              <a:ea typeface="+mn-ea"/>
              <a:cs typeface="+mn-cs"/>
            </a:endParaRPr>
          </a:p>
        </p:txBody>
      </p:sp>
      <p:sp>
        <p:nvSpPr>
          <p:cNvPr id="3" name="Rectangle: Rounded Corners 2">
            <a:extLst>
              <a:ext uri="{FF2B5EF4-FFF2-40B4-BE49-F238E27FC236}">
                <a16:creationId xmlns:a16="http://schemas.microsoft.com/office/drawing/2014/main" id="{9C007E70-C8C4-A2A7-353D-186F43DDECEA}"/>
              </a:ext>
            </a:extLst>
          </p:cNvPr>
          <p:cNvSpPr/>
          <p:nvPr/>
        </p:nvSpPr>
        <p:spPr>
          <a:xfrm>
            <a:off x="635000" y="1587500"/>
            <a:ext cx="4191000" cy="3492500"/>
          </a:xfrm>
          <a:prstGeom prst="roundRect">
            <a:avLst/>
          </a:prstGeom>
          <a:solidFill>
            <a:srgbClr val="DDF5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6A0EA51-6928-C522-4458-7D3CEDC7B31C}"/>
                  </a:ext>
                </a:extLst>
              </p:cNvPr>
              <p:cNvSpPr txBox="1"/>
              <p:nvPr/>
            </p:nvSpPr>
            <p:spPr>
              <a:xfrm>
                <a:off x="1079500" y="2095500"/>
                <a:ext cx="3302000" cy="865414"/>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GB" sz="4800" b="1" i="1" u="none" strike="noStrike" kern="1200" cap="none" spc="0" normalizeH="0" baseline="0" noProof="0" smtClean="0">
                              <a:ln>
                                <a:noFill/>
                              </a:ln>
                              <a:solidFill>
                                <a:srgbClr val="00566B"/>
                              </a:solidFill>
                              <a:effectLst/>
                              <a:uLnTx/>
                              <a:uFillTx/>
                              <a:latin typeface="Cambria Math" panose="02040503050406030204" pitchFamily="18" charset="0"/>
                              <a:ea typeface="Cambria Math" panose="02040503050406030204" pitchFamily="18" charset="0"/>
                              <a:cs typeface="+mn-cs"/>
                            </a:rPr>
                          </m:ctrlPr>
                        </m:sSubPr>
                        <m:e>
                          <m:r>
                            <a:rPr kumimoji="0" lang="en-GB" sz="4800" b="1" i="1" u="none" strike="noStrike" kern="1200" cap="none" spc="0" normalizeH="0" baseline="0" noProof="0" smtClean="0">
                              <a:ln>
                                <a:noFill/>
                              </a:ln>
                              <a:solidFill>
                                <a:srgbClr val="00566B"/>
                              </a:solidFill>
                              <a:effectLst/>
                              <a:uLnTx/>
                              <a:uFillTx/>
                              <a:latin typeface="Cambria Math" panose="02040503050406030204" pitchFamily="18" charset="0"/>
                              <a:ea typeface="Cambria Math" panose="02040503050406030204" pitchFamily="18" charset="0"/>
                              <a:cs typeface="+mn-cs"/>
                            </a:rPr>
                            <m:t>𝜷</m:t>
                          </m:r>
                        </m:e>
                        <m:sub>
                          <m:r>
                            <a:rPr kumimoji="0" lang="nb-NO" sz="4800" b="1" i="1" u="none" strike="noStrike" kern="1200" cap="none" spc="0" normalizeH="0" baseline="0" noProof="0" smtClean="0">
                              <a:ln>
                                <a:noFill/>
                              </a:ln>
                              <a:solidFill>
                                <a:srgbClr val="00566B"/>
                              </a:solidFill>
                              <a:effectLst/>
                              <a:uLnTx/>
                              <a:uFillTx/>
                              <a:latin typeface="Cambria Math" panose="02040503050406030204" pitchFamily="18" charset="0"/>
                              <a:ea typeface="+mn-ea"/>
                              <a:cs typeface="+mn-cs"/>
                            </a:rPr>
                            <m:t>𝟐</m:t>
                          </m:r>
                        </m:sub>
                      </m:sSub>
                    </m:oMath>
                  </m:oMathPara>
                </a14:m>
                <a:endParaRPr kumimoji="0" lang="en-GB" sz="4800" b="1" i="0" u="none" strike="noStrike" kern="1200" cap="none" spc="0" normalizeH="0" baseline="0" noProof="0" dirty="0">
                  <a:ln>
                    <a:noFill/>
                  </a:ln>
                  <a:solidFill>
                    <a:srgbClr val="00566B"/>
                  </a:solidFill>
                  <a:effectLst/>
                  <a:uLnTx/>
                  <a:uFillTx/>
                  <a:latin typeface="Aptos" panose="020B0004020202020204" pitchFamily="34" charset="0"/>
                  <a:ea typeface="+mn-ea"/>
                  <a:cs typeface="+mn-cs"/>
                </a:endParaRPr>
              </a:p>
            </p:txBody>
          </p:sp>
        </mc:Choice>
        <mc:Fallback xmlns="">
          <p:sp>
            <p:nvSpPr>
              <p:cNvPr id="4" name="TextBox 3">
                <a:extLst>
                  <a:ext uri="{FF2B5EF4-FFF2-40B4-BE49-F238E27FC236}">
                    <a16:creationId xmlns:a16="http://schemas.microsoft.com/office/drawing/2014/main" id="{26A0EA51-6928-C522-4458-7D3CEDC7B31C}"/>
                  </a:ext>
                </a:extLst>
              </p:cNvPr>
              <p:cNvSpPr txBox="1">
                <a:spLocks noRot="1" noChangeAspect="1" noMove="1" noResize="1" noEditPoints="1" noAdjustHandles="1" noChangeArrowheads="1" noChangeShapeType="1" noTextEdit="1"/>
              </p:cNvSpPr>
              <p:nvPr/>
            </p:nvSpPr>
            <p:spPr>
              <a:xfrm>
                <a:off x="1079500" y="2095500"/>
                <a:ext cx="3302000" cy="865414"/>
              </a:xfrm>
              <a:prstGeom prst="rect">
                <a:avLst/>
              </a:prstGeom>
              <a:blipFill>
                <a:blip r:embed="rId3"/>
                <a:stretch>
                  <a:fillRect/>
                </a:stretch>
              </a:blipFill>
            </p:spPr>
            <p:txBody>
              <a:bodyPr/>
              <a:lstStyle/>
              <a:p>
                <a:r>
                  <a:rPr lang="nb-NO">
                    <a:noFill/>
                  </a:rPr>
                  <a:t> </a:t>
                </a:r>
              </a:p>
            </p:txBody>
          </p:sp>
        </mc:Fallback>
      </mc:AlternateContent>
      <p:sp>
        <p:nvSpPr>
          <p:cNvPr id="5" name="TextBox 4">
            <a:extLst>
              <a:ext uri="{FF2B5EF4-FFF2-40B4-BE49-F238E27FC236}">
                <a16:creationId xmlns:a16="http://schemas.microsoft.com/office/drawing/2014/main" id="{B970E062-B719-329F-D164-95F9F00D740D}"/>
              </a:ext>
            </a:extLst>
          </p:cNvPr>
          <p:cNvSpPr txBox="1"/>
          <p:nvPr/>
        </p:nvSpPr>
        <p:spPr>
          <a:xfrm>
            <a:off x="1041400" y="3111500"/>
            <a:ext cx="3429000" cy="7214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The fixed but unknown slope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in the population</a:t>
            </a:r>
            <a:endParaRPr kumimoji="0" lang="en-GB" sz="22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endParaRPr>
          </a:p>
        </p:txBody>
      </p:sp>
      <p:sp>
        <p:nvSpPr>
          <p:cNvPr id="6" name="TextBox 5">
            <a:extLst>
              <a:ext uri="{FF2B5EF4-FFF2-40B4-BE49-F238E27FC236}">
                <a16:creationId xmlns:a16="http://schemas.microsoft.com/office/drawing/2014/main" id="{F1A66A85-57E9-B65F-A785-4BB0C4D440E1}"/>
              </a:ext>
            </a:extLst>
          </p:cNvPr>
          <p:cNvSpPr txBox="1"/>
          <p:nvPr/>
        </p:nvSpPr>
        <p:spPr>
          <a:xfrm>
            <a:off x="1270000" y="4318000"/>
            <a:ext cx="2984500" cy="2769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5E6870"/>
                </a:solidFill>
                <a:effectLst/>
                <a:uLnTx/>
                <a:uFillTx/>
                <a:latin typeface="Aptos" panose="020B0004020202020204" pitchFamily="34" charset="0"/>
                <a:ea typeface="+mn-ea"/>
                <a:cs typeface="+mn-cs"/>
              </a:rPr>
              <a:t>One population value</a:t>
            </a:r>
          </a:p>
        </p:txBody>
      </p:sp>
      <p:pic>
        <p:nvPicPr>
          <p:cNvPr id="8" name="Picture 7">
            <a:extLst>
              <a:ext uri="{FF2B5EF4-FFF2-40B4-BE49-F238E27FC236}">
                <a16:creationId xmlns:a16="http://schemas.microsoft.com/office/drawing/2014/main" id="{955FB253-D8B8-DA66-C078-3DAF0227816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334000" y="1498600"/>
            <a:ext cx="6159500" cy="37465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D40D0F4-5297-3C88-2DC7-E012BF62EDEE}"/>
                  </a:ext>
                </a:extLst>
              </p:cNvPr>
              <p:cNvSpPr txBox="1"/>
              <p:nvPr/>
            </p:nvSpPr>
            <p:spPr>
              <a:xfrm>
                <a:off x="6223000" y="5397500"/>
                <a:ext cx="4445000" cy="713601"/>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Each random sample produces a different estimate </a:t>
                </a:r>
                <a14:m>
                  <m:oMath xmlns:m="http://schemas.openxmlformats.org/officeDocument/2006/math">
                    <m:sSub>
                      <m:sSubPr>
                        <m:ctrlPr>
                          <a:rPr kumimoji="0" lang="nb-NO" sz="1800" b="1" i="1" u="none" strike="noStrike" kern="1200" cap="none" spc="0" normalizeH="0" baseline="0" noProof="0" smtClean="0">
                            <a:ln>
                              <a:noFill/>
                            </a:ln>
                            <a:solidFill>
                              <a:srgbClr val="111820"/>
                            </a:solidFill>
                            <a:effectLst/>
                            <a:uLnTx/>
                            <a:uFillTx/>
                            <a:latin typeface="Cambria Math" panose="02040503050406030204" pitchFamily="18" charset="0"/>
                            <a:ea typeface="+mn-ea"/>
                            <a:cs typeface="+mn-cs"/>
                          </a:rPr>
                        </m:ctrlPr>
                      </m:sSubPr>
                      <m:e>
                        <m:r>
                          <a:rPr kumimoji="0" lang="nb-NO" sz="1800" b="1" i="1" u="none" strike="noStrike" kern="1200" cap="none" spc="0" normalizeH="0" baseline="0" noProof="0" smtClean="0">
                            <a:ln>
                              <a:noFill/>
                            </a:ln>
                            <a:solidFill>
                              <a:srgbClr val="111820"/>
                            </a:solidFill>
                            <a:effectLst/>
                            <a:uLnTx/>
                            <a:uFillTx/>
                            <a:latin typeface="Cambria Math" panose="02040503050406030204" pitchFamily="18" charset="0"/>
                            <a:ea typeface="+mn-ea"/>
                            <a:cs typeface="+mn-cs"/>
                          </a:rPr>
                          <m:t>𝒃</m:t>
                        </m:r>
                      </m:e>
                      <m:sub>
                        <m:r>
                          <a:rPr kumimoji="0" lang="nb-NO" sz="1800" b="1" i="1" u="none" strike="noStrike" kern="1200" cap="none" spc="0" normalizeH="0" baseline="0" noProof="0" smtClean="0">
                            <a:ln>
                              <a:noFill/>
                            </a:ln>
                            <a:solidFill>
                              <a:srgbClr val="111820"/>
                            </a:solidFill>
                            <a:effectLst/>
                            <a:uLnTx/>
                            <a:uFillTx/>
                            <a:latin typeface="Cambria Math" panose="02040503050406030204" pitchFamily="18" charset="0"/>
                            <a:ea typeface="+mn-ea"/>
                            <a:cs typeface="+mn-cs"/>
                          </a:rPr>
                          <m:t>𝟐</m:t>
                        </m:r>
                      </m:sub>
                    </m:sSub>
                  </m:oMath>
                </a14:m>
                <a:endParaRPr kumimoji="0" lang="en-GB" sz="1800" b="1" i="0" u="none" strike="noStrike" kern="1200" cap="none" spc="0" normalizeH="0" baseline="0" noProof="0" dirty="0">
                  <a:ln>
                    <a:noFill/>
                  </a:ln>
                  <a:solidFill>
                    <a:srgbClr val="111820"/>
                  </a:solidFill>
                  <a:effectLst/>
                  <a:uLnTx/>
                  <a:uFillTx/>
                  <a:latin typeface="Aptos" panose="020B0004020202020204" pitchFamily="34" charset="0"/>
                  <a:ea typeface="+mn-ea"/>
                  <a:cs typeface="+mn-cs"/>
                </a:endParaRPr>
              </a:p>
            </p:txBody>
          </p:sp>
        </mc:Choice>
        <mc:Fallback xmlns="">
          <p:sp>
            <p:nvSpPr>
              <p:cNvPr id="9" name="TextBox 8">
                <a:extLst>
                  <a:ext uri="{FF2B5EF4-FFF2-40B4-BE49-F238E27FC236}">
                    <a16:creationId xmlns:a16="http://schemas.microsoft.com/office/drawing/2014/main" id="{0D40D0F4-5297-3C88-2DC7-E012BF62EDEE}"/>
                  </a:ext>
                </a:extLst>
              </p:cNvPr>
              <p:cNvSpPr txBox="1">
                <a:spLocks noRot="1" noChangeAspect="1" noMove="1" noResize="1" noEditPoints="1" noAdjustHandles="1" noChangeArrowheads="1" noChangeShapeType="1" noTextEdit="1"/>
              </p:cNvSpPr>
              <p:nvPr/>
            </p:nvSpPr>
            <p:spPr>
              <a:xfrm>
                <a:off x="6223000" y="5397500"/>
                <a:ext cx="4445000" cy="713601"/>
              </a:xfrm>
              <a:prstGeom prst="rect">
                <a:avLst/>
              </a:prstGeom>
              <a:blipFill>
                <a:blip r:embed="rId5"/>
                <a:stretch>
                  <a:fillRect l="-2195" t="-10256" r="-2743"/>
                </a:stretch>
              </a:blipFill>
            </p:spPr>
            <p:txBody>
              <a:bodyPr/>
              <a:lstStyle/>
              <a:p>
                <a:r>
                  <a:rPr lang="nb-NO">
                    <a:noFill/>
                  </a:rPr>
                  <a:t> </a:t>
                </a:r>
              </a:p>
            </p:txBody>
          </p:sp>
        </mc:Fallback>
      </mc:AlternateContent>
    </p:spTree>
    <p:extLst>
      <p:ext uri="{BB962C8B-B14F-4D97-AF65-F5344CB8AC3E}">
        <p14:creationId xmlns:p14="http://schemas.microsoft.com/office/powerpoint/2010/main" val="3665975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7932BC7-C929-A648-E096-E17AB45699B4}"/>
                  </a:ext>
                </a:extLst>
              </p:cNvPr>
              <p:cNvSpPr txBox="1"/>
              <p:nvPr/>
            </p:nvSpPr>
            <p:spPr>
              <a:xfrm>
                <a:off x="533400" y="355600"/>
                <a:ext cx="10160000" cy="580571"/>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The sampling distribution of </a:t>
                </a:r>
                <a14:m>
                  <m:oMath xmlns:m="http://schemas.openxmlformats.org/officeDocument/2006/math">
                    <m:sSub>
                      <m:sSubPr>
                        <m:ctrlPr>
                          <a:rPr kumimoji="0" lang="nb-NO" sz="2800" b="0" i="1" u="none" strike="noStrike" kern="1200" cap="none" spc="0" normalizeH="0" baseline="0" noProof="0" smtClean="0">
                            <a:ln>
                              <a:noFill/>
                            </a:ln>
                            <a:solidFill>
                              <a:srgbClr val="111820"/>
                            </a:solidFill>
                            <a:effectLst/>
                            <a:uLnTx/>
                            <a:uFillTx/>
                            <a:latin typeface="Cambria Math" panose="02040503050406030204" pitchFamily="18" charset="0"/>
                            <a:ea typeface="+mn-ea"/>
                            <a:cs typeface="+mn-cs"/>
                          </a:rPr>
                        </m:ctrlPr>
                      </m:sSubPr>
                      <m:e>
                        <m:r>
                          <a:rPr kumimoji="0" lang="nb-NO" sz="2800" b="0" i="1" u="none" strike="noStrike" kern="1200" cap="none" spc="0" normalizeH="0" baseline="0" noProof="0" smtClean="0">
                            <a:ln>
                              <a:noFill/>
                            </a:ln>
                            <a:solidFill>
                              <a:srgbClr val="111820"/>
                            </a:solidFill>
                            <a:effectLst/>
                            <a:uLnTx/>
                            <a:uFillTx/>
                            <a:latin typeface="Cambria Math" panose="02040503050406030204" pitchFamily="18" charset="0"/>
                            <a:ea typeface="+mn-ea"/>
                            <a:cs typeface="+mn-cs"/>
                          </a:rPr>
                          <m:t>𝑏</m:t>
                        </m:r>
                      </m:e>
                      <m:sub>
                        <m:r>
                          <a:rPr kumimoji="0" lang="nb-NO" sz="2800" b="0" i="1" u="none" strike="noStrike" kern="1200" cap="none" spc="0" normalizeH="0" baseline="0" noProof="0" smtClean="0">
                            <a:ln>
                              <a:noFill/>
                            </a:ln>
                            <a:solidFill>
                              <a:srgbClr val="111820"/>
                            </a:solidFill>
                            <a:effectLst/>
                            <a:uLnTx/>
                            <a:uFillTx/>
                            <a:latin typeface="Cambria Math" panose="02040503050406030204" pitchFamily="18" charset="0"/>
                            <a:ea typeface="+mn-ea"/>
                            <a:cs typeface="+mn-cs"/>
                          </a:rPr>
                          <m:t>2</m:t>
                        </m:r>
                      </m:sub>
                    </m:sSub>
                  </m:oMath>
                </a14:m>
                <a:endParaRPr kumimoji="0" lang="en-US" sz="2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endParaRPr>
              </a:p>
            </p:txBody>
          </p:sp>
        </mc:Choice>
        <mc:Fallback xmlns="">
          <p:sp>
            <p:nvSpPr>
              <p:cNvPr id="2" name="TextBox 1">
                <a:extLst>
                  <a:ext uri="{FF2B5EF4-FFF2-40B4-BE49-F238E27FC236}">
                    <a16:creationId xmlns:a16="http://schemas.microsoft.com/office/drawing/2014/main" id="{27932BC7-C929-A648-E096-E17AB45699B4}"/>
                  </a:ext>
                </a:extLst>
              </p:cNvPr>
              <p:cNvSpPr txBox="1">
                <a:spLocks noRot="1" noChangeAspect="1" noMove="1" noResize="1" noEditPoints="1" noAdjustHandles="1" noChangeArrowheads="1" noChangeShapeType="1" noTextEdit="1"/>
              </p:cNvSpPr>
              <p:nvPr/>
            </p:nvSpPr>
            <p:spPr>
              <a:xfrm>
                <a:off x="533400" y="355600"/>
                <a:ext cx="10160000" cy="580571"/>
              </a:xfrm>
              <a:prstGeom prst="rect">
                <a:avLst/>
              </a:prstGeom>
              <a:blipFill>
                <a:blip r:embed="rId3"/>
                <a:stretch>
                  <a:fillRect l="-2161" t="-18750" b="-10417"/>
                </a:stretch>
              </a:blipFill>
            </p:spPr>
            <p:txBody>
              <a:bodyPr/>
              <a:lstStyle/>
              <a:p>
                <a:r>
                  <a:rPr lang="nb-NO">
                    <a:noFill/>
                  </a:rPr>
                  <a:t> </a:t>
                </a:r>
              </a:p>
            </p:txBody>
          </p:sp>
        </mc:Fallback>
      </mc:AlternateContent>
      <p:pic>
        <p:nvPicPr>
          <p:cNvPr id="4" name="Picture 3">
            <a:extLst>
              <a:ext uri="{FF2B5EF4-FFF2-40B4-BE49-F238E27FC236}">
                <a16:creationId xmlns:a16="http://schemas.microsoft.com/office/drawing/2014/main" id="{DE54CEAF-3FB6-9C58-DC6D-485434BB4AB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1422400"/>
            <a:ext cx="7302500" cy="4127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246EA4A-BA73-4001-7096-A9BE640656FB}"/>
                  </a:ext>
                </a:extLst>
              </p:cNvPr>
              <p:cNvSpPr txBox="1"/>
              <p:nvPr/>
            </p:nvSpPr>
            <p:spPr>
              <a:xfrm>
                <a:off x="8064500" y="1879600"/>
                <a:ext cx="3619500" cy="2202543"/>
              </a:xfrm>
              <a:prstGeom prst="rect">
                <a:avLst/>
              </a:prstGeom>
              <a:noFill/>
            </p:spPr>
            <p:txBody>
              <a:bodyPr vert="horz" wrap="square" lIns="0" tIns="0" rIns="0" bIns="0" rtlCol="0">
                <a:noAutofit/>
              </a:bodyPr>
              <a:lstStyle/>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Each random sample gives a new estimate </a:t>
                </a:r>
                <a14:m>
                  <m:oMath xmlns:m="http://schemas.openxmlformats.org/officeDocument/2006/math">
                    <m:sSub>
                      <m:sSubPr>
                        <m:ctrlPr>
                          <a:rPr kumimoji="0" lang="nb-NO" sz="1800" b="0" i="1" u="none" strike="noStrike" kern="1200" cap="none" spc="0" normalizeH="0" baseline="0" noProof="0">
                            <a:ln>
                              <a:noFill/>
                            </a:ln>
                            <a:solidFill>
                              <a:srgbClr val="111820"/>
                            </a:solidFill>
                            <a:effectLst/>
                            <a:uLnTx/>
                            <a:uFillTx/>
                            <a:latin typeface="Cambria Math" panose="02040503050406030204" pitchFamily="18" charset="0"/>
                            <a:ea typeface="+mn-ea"/>
                            <a:cs typeface="+mn-cs"/>
                          </a:rPr>
                        </m:ctrlPr>
                      </m:sSubPr>
                      <m:e>
                        <m:r>
                          <a:rPr kumimoji="0" lang="nb-NO" sz="1800" b="0" i="1" u="none" strike="noStrike" kern="1200" cap="none" spc="0" normalizeH="0" baseline="0" noProof="0">
                            <a:ln>
                              <a:noFill/>
                            </a:ln>
                            <a:solidFill>
                              <a:srgbClr val="111820"/>
                            </a:solidFill>
                            <a:effectLst/>
                            <a:uLnTx/>
                            <a:uFillTx/>
                            <a:latin typeface="Cambria Math" panose="02040503050406030204" pitchFamily="18" charset="0"/>
                            <a:ea typeface="+mn-ea"/>
                            <a:cs typeface="+mn-cs"/>
                          </a:rPr>
                          <m:t>𝑏</m:t>
                        </m:r>
                      </m:e>
                      <m:sub>
                        <m:r>
                          <a:rPr kumimoji="0" lang="nb-NO" sz="1800" b="0" i="1" u="none" strike="noStrike" kern="1200" cap="none" spc="0" normalizeH="0" baseline="0" noProof="0">
                            <a:ln>
                              <a:noFill/>
                            </a:ln>
                            <a:solidFill>
                              <a:srgbClr val="111820"/>
                            </a:solidFill>
                            <a:effectLst/>
                            <a:uLnTx/>
                            <a:uFillTx/>
                            <a:latin typeface="Cambria Math" panose="02040503050406030204" pitchFamily="18" charset="0"/>
                            <a:ea typeface="+mn-ea"/>
                            <a:cs typeface="+mn-cs"/>
                          </a:rPr>
                          <m:t>2</m:t>
                        </m:r>
                      </m:sub>
                    </m:sSub>
                  </m:oMath>
                </a14:m>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The estimates form a sampling distribution.</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The distribution is centered near the fixed parameter </a:t>
                </a:r>
                <a14:m>
                  <m:oMath xmlns:m="http://schemas.openxmlformats.org/officeDocument/2006/math">
                    <m:sSub>
                      <m:sSubPr>
                        <m:ctrlPr>
                          <a:rPr kumimoji="0" lang="nb-NO" sz="1800" b="0" i="1" u="none" strike="noStrike" kern="1200" cap="none" spc="0" normalizeH="0" baseline="0" noProof="0" smtClean="0">
                            <a:ln>
                              <a:noFill/>
                            </a:ln>
                            <a:solidFill>
                              <a:srgbClr val="111820"/>
                            </a:solidFill>
                            <a:effectLst/>
                            <a:uLnTx/>
                            <a:uFillTx/>
                            <a:latin typeface="Cambria Math" panose="02040503050406030204" pitchFamily="18" charset="0"/>
                            <a:ea typeface="Cambria Math" panose="02040503050406030204" pitchFamily="18" charset="0"/>
                            <a:cs typeface="+mn-cs"/>
                          </a:rPr>
                        </m:ctrlPr>
                      </m:sSubPr>
                      <m:e>
                        <m:r>
                          <a:rPr kumimoji="0" lang="nb-NO" sz="1800" b="0" i="1" u="none" strike="noStrike" kern="1200" cap="none" spc="0" normalizeH="0" baseline="0" noProof="0" smtClean="0">
                            <a:ln>
                              <a:noFill/>
                            </a:ln>
                            <a:solidFill>
                              <a:srgbClr val="111820"/>
                            </a:solidFill>
                            <a:effectLst/>
                            <a:uLnTx/>
                            <a:uFillTx/>
                            <a:latin typeface="Cambria Math" panose="02040503050406030204" pitchFamily="18" charset="0"/>
                            <a:ea typeface="Cambria Math" panose="02040503050406030204" pitchFamily="18" charset="0"/>
                            <a:cs typeface="+mn-cs"/>
                          </a:rPr>
                          <m:t>𝛽</m:t>
                        </m:r>
                      </m:e>
                      <m:sub>
                        <m:r>
                          <a:rPr kumimoji="0" lang="nb-NO" sz="1800" b="0" i="1" u="none" strike="noStrike" kern="1200" cap="none" spc="0" normalizeH="0" baseline="0" noProof="0">
                            <a:ln>
                              <a:noFill/>
                            </a:ln>
                            <a:solidFill>
                              <a:srgbClr val="111820"/>
                            </a:solidFill>
                            <a:effectLst/>
                            <a:uLnTx/>
                            <a:uFillTx/>
                            <a:latin typeface="Cambria Math" panose="02040503050406030204" pitchFamily="18" charset="0"/>
                            <a:ea typeface="+mn-ea"/>
                            <a:cs typeface="+mn-cs"/>
                          </a:rPr>
                          <m:t>2</m:t>
                        </m:r>
                      </m:sub>
                    </m:sSub>
                  </m:oMath>
                </a14:m>
                <a:r>
                  <a:rPr kumimoji="0" lang="en-GB"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a:t>
                </a:r>
              </a:p>
            </p:txBody>
          </p:sp>
        </mc:Choice>
        <mc:Fallback xmlns="">
          <p:sp>
            <p:nvSpPr>
              <p:cNvPr id="5" name="TextBox 4">
                <a:extLst>
                  <a:ext uri="{FF2B5EF4-FFF2-40B4-BE49-F238E27FC236}">
                    <a16:creationId xmlns:a16="http://schemas.microsoft.com/office/drawing/2014/main" id="{5246EA4A-BA73-4001-7096-A9BE640656FB}"/>
                  </a:ext>
                </a:extLst>
              </p:cNvPr>
              <p:cNvSpPr txBox="1">
                <a:spLocks noRot="1" noChangeAspect="1" noMove="1" noResize="1" noEditPoints="1" noAdjustHandles="1" noChangeArrowheads="1" noChangeShapeType="1" noTextEdit="1"/>
              </p:cNvSpPr>
              <p:nvPr/>
            </p:nvSpPr>
            <p:spPr>
              <a:xfrm>
                <a:off x="8064500" y="1879600"/>
                <a:ext cx="3619500" cy="2202543"/>
              </a:xfrm>
              <a:prstGeom prst="rect">
                <a:avLst/>
              </a:prstGeom>
              <a:blipFill>
                <a:blip r:embed="rId5"/>
                <a:stretch>
                  <a:fillRect l="-3704" t="-3315" r="-3030"/>
                </a:stretch>
              </a:blipFill>
            </p:spPr>
            <p:txBody>
              <a:bodyPr/>
              <a:lstStyle/>
              <a:p>
                <a:r>
                  <a:rPr lang="nb-NO">
                    <a:noFill/>
                  </a:rPr>
                  <a:t> </a:t>
                </a:r>
              </a:p>
            </p:txBody>
          </p:sp>
        </mc:Fallback>
      </mc:AlternateContent>
      <p:sp>
        <p:nvSpPr>
          <p:cNvPr id="6" name="Rectangle: Rounded Corners 5">
            <a:extLst>
              <a:ext uri="{FF2B5EF4-FFF2-40B4-BE49-F238E27FC236}">
                <a16:creationId xmlns:a16="http://schemas.microsoft.com/office/drawing/2014/main" id="{09E758B0-7607-38BF-8322-A3F401909351}"/>
              </a:ext>
            </a:extLst>
          </p:cNvPr>
          <p:cNvSpPr/>
          <p:nvPr/>
        </p:nvSpPr>
        <p:spPr>
          <a:xfrm>
            <a:off x="7937500" y="4762500"/>
            <a:ext cx="3810000" cy="787400"/>
          </a:xfrm>
          <a:prstGeom prst="roundRect">
            <a:avLst/>
          </a:prstGeom>
          <a:solidFill>
            <a:srgbClr val="C819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What changes if N increases from 40 to 200?</a:t>
            </a:r>
            <a:endParaRPr kumimoji="0" lang="en-GB" sz="17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2057578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349887-664B-00B9-5755-7FF0CF16CBF7}"/>
              </a:ext>
            </a:extLst>
          </p:cNvPr>
          <p:cNvSpPr txBox="1"/>
          <p:nvPr/>
        </p:nvSpPr>
        <p:spPr>
          <a:xfrm>
            <a:off x="533400" y="355600"/>
            <a:ext cx="10160000" cy="276999"/>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111820"/>
                </a:solidFill>
                <a:effectLst/>
                <a:uLnTx/>
                <a:uFillTx/>
                <a:latin typeface="Aptos" panose="020B0004020202020204" pitchFamily="34" charset="0"/>
                <a:ea typeface="+mn-ea"/>
                <a:cs typeface="+mn-cs"/>
              </a:rPr>
              <a:t>The distribution of the OLS slope estimator</a:t>
            </a:r>
            <a:endParaRPr kumimoji="0" lang="en-GB" sz="2800" b="0" i="0" u="none" strike="noStrike" kern="1200" cap="none" spc="0" normalizeH="0" baseline="0" noProof="0">
              <a:ln>
                <a:noFill/>
              </a:ln>
              <a:solidFill>
                <a:srgbClr val="111820"/>
              </a:solidFill>
              <a:effectLst/>
              <a:uLnTx/>
              <a:uFillTx/>
              <a:latin typeface="Aptos" panose="020B0004020202020204" pitchFamily="34" charset="0"/>
              <a:ea typeface="+mn-ea"/>
              <a:cs typeface="+mn-cs"/>
            </a:endParaRPr>
          </a:p>
        </p:txBody>
      </p:sp>
      <mc:AlternateContent xmlns:mc="http://schemas.openxmlformats.org/markup-compatibility/2006" xmlns:a14="http://schemas.microsoft.com/office/drawing/2010/main">
        <mc:Choice Requires="a14">
          <p:sp>
            <p:nvSpPr>
              <p:cNvPr id="3" name="Rectangle: Rounded Corners 2">
                <a:extLst>
                  <a:ext uri="{FF2B5EF4-FFF2-40B4-BE49-F238E27FC236}">
                    <a16:creationId xmlns:a16="http://schemas.microsoft.com/office/drawing/2014/main" id="{4E810BB1-21EF-8251-5FA5-BB29F19585F8}"/>
                  </a:ext>
                </a:extLst>
              </p:cNvPr>
              <p:cNvSpPr/>
              <p:nvPr/>
            </p:nvSpPr>
            <p:spPr>
              <a:xfrm>
                <a:off x="914400" y="1168400"/>
                <a:ext cx="10363200" cy="838200"/>
              </a:xfrm>
              <a:prstGeom prst="roundRect">
                <a:avLst/>
              </a:prstGeom>
              <a:solidFill>
                <a:srgbClr val="20BCE6"/>
              </a:solidFill>
              <a:ln w="9525">
                <a:solidFill>
                  <a:srgbClr val="0056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nb-NO"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m:t>
                      </m:r>
                      <m:r>
                        <a:rPr kumimoji="0" lang="nb-NO"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𝑥</m:t>
                      </m:r>
                      <m:r>
                        <a:rPr kumimoji="0" lang="nb-NO"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m:t>
                      </m:r>
                      <m:r>
                        <a:rPr kumimoji="0" lang="nb-NO"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𝑁</m:t>
                      </m:r>
                      <m:d>
                        <m:dPr>
                          <m:ctrlP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ctrlPr>
                        </m:dPr>
                        <m:e>
                          <m:sSub>
                            <m:sSubPr>
                              <m:ctrlP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𝛽</m:t>
                              </m:r>
                            </m:e>
                            <m:sub>
                              <m:r>
                                <a:rPr kumimoji="0" lang="nb-NO"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m:t>
                          </m:r>
                          <m:f>
                            <m:fPr>
                              <m:ctrlPr>
                                <a:rPr kumimoji="0" lang="en-US"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pPr>
                                <m:e>
                                  <m:r>
                                    <a:rPr kumimoji="0" lang="en-US"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𝜎</m:t>
                                  </m:r>
                                </m:e>
                                <m:sup>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2</m:t>
                                  </m:r>
                                </m:sup>
                              </m:sSup>
                            </m:num>
                            <m:den>
                              <m:nary>
                                <m:naryPr>
                                  <m:chr m:val="∑"/>
                                  <m:supHide m:val="on"/>
                                  <m:ctrlP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naryPr>
                                <m:sub>
                                  <m:r>
                                    <m:rPr>
                                      <m:brk m:alnAt="7"/>
                                    </m:rP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𝑖</m:t>
                                  </m:r>
                                </m:sub>
                                <m:sup/>
                                <m:e>
                                  <m:sSup>
                                    <m:sSupPr>
                                      <m:ctrlP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pPr>
                                    <m:e>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Sub>
                                        <m:sSubPr>
                                          <m:ctrlP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𝑥</m:t>
                                          </m:r>
                                        </m:e>
                                        <m:sub>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𝑖</m:t>
                                          </m:r>
                                        </m:sub>
                                      </m:sSub>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acc>
                                        <m:accPr>
                                          <m:chr m:val="̅"/>
                                          <m:ctrlP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accPr>
                                        <m:e>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𝑥</m:t>
                                          </m:r>
                                        </m:e>
                                      </m:acc>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 )</m:t>
                                      </m:r>
                                    </m:e>
                                    <m:sup>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2</m:t>
                                      </m:r>
                                    </m:sup>
                                  </m:sSup>
                                </m:e>
                              </m:nary>
                            </m:den>
                          </m:f>
                        </m:e>
                      </m:d>
                    </m:oMath>
                  </m:oMathPara>
                </a14:m>
                <a:endParaRPr kumimoji="0" lang="en-GB" sz="2200" b="1" i="0" u="none" strike="noStrike" kern="1200" cap="none" spc="0" normalizeH="0" baseline="0" noProof="0" dirty="0">
                  <a:ln>
                    <a:noFill/>
                  </a:ln>
                  <a:solidFill>
                    <a:srgbClr val="FFFFFF"/>
                  </a:solidFill>
                  <a:effectLst/>
                  <a:uLnTx/>
                  <a:uFillTx/>
                  <a:latin typeface="Aptos Display" panose="020B0004020202020204" pitchFamily="34" charset="0"/>
                  <a:ea typeface="+mn-ea"/>
                  <a:cs typeface="+mn-cs"/>
                </a:endParaRPr>
              </a:p>
            </p:txBody>
          </p:sp>
        </mc:Choice>
        <mc:Fallback xmlns="">
          <p:sp>
            <p:nvSpPr>
              <p:cNvPr id="3" name="Rectangle: Rounded Corners 2">
                <a:extLst>
                  <a:ext uri="{FF2B5EF4-FFF2-40B4-BE49-F238E27FC236}">
                    <a16:creationId xmlns:a16="http://schemas.microsoft.com/office/drawing/2014/main" id="{4E810BB1-21EF-8251-5FA5-BB29F19585F8}"/>
                  </a:ext>
                </a:extLst>
              </p:cNvPr>
              <p:cNvSpPr>
                <a:spLocks noRot="1" noChangeAspect="1" noMove="1" noResize="1" noEditPoints="1" noAdjustHandles="1" noChangeArrowheads="1" noChangeShapeType="1" noTextEdit="1"/>
              </p:cNvSpPr>
              <p:nvPr/>
            </p:nvSpPr>
            <p:spPr>
              <a:xfrm>
                <a:off x="914400" y="1168400"/>
                <a:ext cx="10363200" cy="838200"/>
              </a:xfrm>
              <a:prstGeom prst="roundRect">
                <a:avLst/>
              </a:prstGeom>
              <a:blipFill>
                <a:blip r:embed="rId3"/>
                <a:stretch>
                  <a:fillRect/>
                </a:stretch>
              </a:blipFill>
              <a:ln w="9525">
                <a:solidFill>
                  <a:srgbClr val="00566B"/>
                </a:solidFill>
              </a:ln>
            </p:spPr>
            <p:txBody>
              <a:bodyPr/>
              <a:lstStyle/>
              <a:p>
                <a:r>
                  <a:rPr lang="nb-NO">
                    <a:noFill/>
                  </a:rPr>
                  <a:t> </a:t>
                </a:r>
              </a:p>
            </p:txBody>
          </p:sp>
        </mc:Fallback>
      </mc:AlternateContent>
      <p:pic>
        <p:nvPicPr>
          <p:cNvPr id="5" name="Picture 4">
            <a:extLst>
              <a:ext uri="{FF2B5EF4-FFF2-40B4-BE49-F238E27FC236}">
                <a16:creationId xmlns:a16="http://schemas.microsoft.com/office/drawing/2014/main" id="{FED47EB7-E42F-8594-8E6B-9DC77DEA6D3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89000" y="2413000"/>
            <a:ext cx="6350000" cy="34290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1613F3E-776B-1A60-153B-36BB26378B58}"/>
                  </a:ext>
                </a:extLst>
              </p:cNvPr>
              <p:cNvSpPr txBox="1"/>
              <p:nvPr/>
            </p:nvSpPr>
            <p:spPr>
              <a:xfrm>
                <a:off x="7384869" y="2603500"/>
                <a:ext cx="4045131" cy="2186214"/>
              </a:xfrm>
              <a:prstGeom prst="rect">
                <a:avLst/>
              </a:prstGeom>
              <a:noFill/>
            </p:spPr>
            <p:txBody>
              <a:bodyPr vert="horz" wrap="square" lIns="0" tIns="0" rIns="0" bIns="0" rtlCol="0">
                <a:noAutofit/>
              </a:bodyPr>
              <a:lstStyle/>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Center: </a:t>
                </a:r>
                <a14:m>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nb-NO"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oMath>
                </a14:m>
                <a:endParaRPr kumimoji="0" lang="en-US" sz="17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Spread: smaller with less noise</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Spread: smaller with more variation in x</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Requires the simple regression assumptions, including normal errors</a:t>
                </a:r>
                <a:endParaRPr kumimoji="0" lang="en-GB" sz="17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endParaRPr>
              </a:p>
            </p:txBody>
          </p:sp>
        </mc:Choice>
        <mc:Fallback xmlns="">
          <p:sp>
            <p:nvSpPr>
              <p:cNvPr id="6" name="TextBox 5">
                <a:extLst>
                  <a:ext uri="{FF2B5EF4-FFF2-40B4-BE49-F238E27FC236}">
                    <a16:creationId xmlns:a16="http://schemas.microsoft.com/office/drawing/2014/main" id="{01613F3E-776B-1A60-153B-36BB26378B58}"/>
                  </a:ext>
                </a:extLst>
              </p:cNvPr>
              <p:cNvSpPr txBox="1">
                <a:spLocks noRot="1" noChangeAspect="1" noMove="1" noResize="1" noEditPoints="1" noAdjustHandles="1" noChangeArrowheads="1" noChangeShapeType="1" noTextEdit="1"/>
              </p:cNvSpPr>
              <p:nvPr/>
            </p:nvSpPr>
            <p:spPr>
              <a:xfrm>
                <a:off x="7384869" y="2603500"/>
                <a:ext cx="4045131" cy="2186214"/>
              </a:xfrm>
              <a:prstGeom prst="rect">
                <a:avLst/>
              </a:prstGeom>
              <a:blipFill>
                <a:blip r:embed="rId5"/>
                <a:stretch>
                  <a:fillRect l="-3012" t="-2228" r="-151"/>
                </a:stretch>
              </a:blipFill>
            </p:spPr>
            <p:txBody>
              <a:bodyPr/>
              <a:lstStyle/>
              <a:p>
                <a:r>
                  <a:rPr lang="nb-NO">
                    <a:noFill/>
                  </a:rPr>
                  <a:t> </a:t>
                </a:r>
              </a:p>
            </p:txBody>
          </p:sp>
        </mc:Fallback>
      </mc:AlternateContent>
    </p:spTree>
    <p:extLst>
      <p:ext uri="{BB962C8B-B14F-4D97-AF65-F5344CB8AC3E}">
        <p14:creationId xmlns:p14="http://schemas.microsoft.com/office/powerpoint/2010/main" val="1025693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BCEB15-9228-610D-8654-3F3340C7D6B2}"/>
              </a:ext>
            </a:extLst>
          </p:cNvPr>
          <p:cNvSpPr txBox="1"/>
          <p:nvPr/>
        </p:nvSpPr>
        <p:spPr>
          <a:xfrm>
            <a:off x="533400" y="355600"/>
            <a:ext cx="10160000" cy="276999"/>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111820"/>
                </a:solidFill>
                <a:effectLst/>
                <a:uLnTx/>
                <a:uFillTx/>
                <a:latin typeface="Aptos" panose="020B0004020202020204" pitchFamily="34" charset="0"/>
                <a:ea typeface="+mn-ea"/>
                <a:cs typeface="+mn-cs"/>
              </a:rPr>
              <a:t>From a normal statistic to a t-statistic</a:t>
            </a:r>
            <a:endParaRPr kumimoji="0" lang="en-GB" sz="2800" b="0" i="0" u="none" strike="noStrike" kern="1200" cap="none" spc="0" normalizeH="0" baseline="0" noProof="0">
              <a:ln>
                <a:noFill/>
              </a:ln>
              <a:solidFill>
                <a:srgbClr val="111820"/>
              </a:solidFill>
              <a:effectLst/>
              <a:uLnTx/>
              <a:uFillTx/>
              <a:latin typeface="Aptos" panose="020B0004020202020204" pitchFamily="34" charset="0"/>
              <a:ea typeface="+mn-ea"/>
              <a:cs typeface="+mn-cs"/>
            </a:endParaRPr>
          </a:p>
        </p:txBody>
      </p:sp>
      <p:sp>
        <p:nvSpPr>
          <p:cNvPr id="3" name="Rectangle: Rounded Corners 2">
            <a:extLst>
              <a:ext uri="{FF2B5EF4-FFF2-40B4-BE49-F238E27FC236}">
                <a16:creationId xmlns:a16="http://schemas.microsoft.com/office/drawing/2014/main" id="{D1CF4F10-9F62-50C1-208D-2DE27B853142}"/>
              </a:ext>
            </a:extLst>
          </p:cNvPr>
          <p:cNvSpPr/>
          <p:nvPr/>
        </p:nvSpPr>
        <p:spPr>
          <a:xfrm>
            <a:off x="889000" y="1460500"/>
            <a:ext cx="4635500" cy="2603500"/>
          </a:xfrm>
          <a:prstGeom prst="roundRect">
            <a:avLst/>
          </a:prstGeom>
          <a:solidFill>
            <a:srgbClr val="DDF5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CF339D50-AAC7-0110-A362-FCA4DE9C98EA}"/>
              </a:ext>
            </a:extLst>
          </p:cNvPr>
          <p:cNvSpPr txBox="1"/>
          <p:nvPr/>
        </p:nvSpPr>
        <p:spPr>
          <a:xfrm>
            <a:off x="1206500" y="1803400"/>
            <a:ext cx="4000500" cy="2769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100" b="1" i="0" u="none" strike="noStrike" kern="1200" cap="none" spc="0" normalizeH="0" baseline="0" noProof="0">
                <a:ln>
                  <a:noFill/>
                </a:ln>
                <a:solidFill>
                  <a:srgbClr val="111820"/>
                </a:solidFill>
                <a:effectLst/>
                <a:uLnTx/>
                <a:uFillTx/>
                <a:latin typeface="Aptos" panose="020B0004020202020204" pitchFamily="34" charset="0"/>
                <a:ea typeface="+mn-ea"/>
                <a:cs typeface="+mn-cs"/>
              </a:rPr>
              <a:t>If </a:t>
            </a:r>
            <a:r>
              <a:rPr kumimoji="0" lang="el-GR" sz="2100" b="1" i="0" u="none" strike="noStrike" kern="1200" cap="none" spc="0" normalizeH="0" baseline="0" noProof="0">
                <a:ln>
                  <a:noFill/>
                </a:ln>
                <a:solidFill>
                  <a:srgbClr val="111820"/>
                </a:solidFill>
                <a:effectLst/>
                <a:uLnTx/>
                <a:uFillTx/>
                <a:latin typeface="Aptos" panose="020B0004020202020204" pitchFamily="34" charset="0"/>
                <a:ea typeface="+mn-ea"/>
                <a:cs typeface="+mn-cs"/>
              </a:rPr>
              <a:t>σ² </a:t>
            </a:r>
            <a:r>
              <a:rPr kumimoji="0" lang="en-GB" sz="2100" b="1" i="0" u="none" strike="noStrike" kern="1200" cap="none" spc="0" normalizeH="0" baseline="0" noProof="0">
                <a:ln>
                  <a:noFill/>
                </a:ln>
                <a:solidFill>
                  <a:srgbClr val="111820"/>
                </a:solidFill>
                <a:effectLst/>
                <a:uLnTx/>
                <a:uFillTx/>
                <a:latin typeface="Aptos" panose="020B0004020202020204" pitchFamily="34" charset="0"/>
                <a:ea typeface="+mn-ea"/>
                <a:cs typeface="+mn-cs"/>
              </a:rPr>
              <a:t>were known</a:t>
            </a:r>
          </a:p>
        </p:txBody>
      </p:sp>
      <mc:AlternateContent xmlns:mc="http://schemas.openxmlformats.org/markup-compatibility/2006">
        <mc:Choice xmlns:a14="http://schemas.microsoft.com/office/drawing/2010/main" Requires="a14">
          <p:sp>
            <p:nvSpPr>
              <p:cNvPr id="5" name="Rectangle: Rounded Corners 4">
                <a:extLst>
                  <a:ext uri="{FF2B5EF4-FFF2-40B4-BE49-F238E27FC236}">
                    <a16:creationId xmlns:a16="http://schemas.microsoft.com/office/drawing/2014/main" id="{D7BF42EB-177F-D39B-44EC-A97A649A6C27}"/>
                  </a:ext>
                </a:extLst>
              </p:cNvPr>
              <p:cNvSpPr/>
              <p:nvPr/>
            </p:nvSpPr>
            <p:spPr>
              <a:xfrm>
                <a:off x="1308100" y="2540000"/>
                <a:ext cx="3810000" cy="736600"/>
              </a:xfrm>
              <a:prstGeom prst="roundRect">
                <a:avLst/>
              </a:prstGeom>
              <a:solidFill>
                <a:srgbClr val="20BCE6"/>
              </a:solidFill>
              <a:ln w="9525">
                <a:solidFill>
                  <a:srgbClr val="0056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nb-NO" sz="2000" b="0" i="1" u="none" strike="noStrike" kern="1200" cap="none" spc="0" normalizeH="0" baseline="0" noProof="0" smtClean="0">
                          <a:ln>
                            <a:noFill/>
                          </a:ln>
                          <a:solidFill>
                            <a:srgbClr val="FFFFFF"/>
                          </a:solidFill>
                          <a:effectLst/>
                          <a:uLnTx/>
                          <a:uFillTx/>
                          <a:latin typeface="Cambria Math" panose="02040503050406030204" pitchFamily="18" charset="0"/>
                          <a:cs typeface="+mn-cs"/>
                        </a:rPr>
                        <m:t>𝑍</m:t>
                      </m:r>
                      <m:r>
                        <a:rPr kumimoji="0" lang="nb-NO" sz="2000" b="0" i="1" u="none" strike="noStrike" kern="1200" cap="none" spc="0" normalizeH="0" baseline="0" noProof="0" smtClean="0">
                          <a:ln>
                            <a:noFill/>
                          </a:ln>
                          <a:solidFill>
                            <a:srgbClr val="FFFFFF"/>
                          </a:solidFill>
                          <a:effectLst/>
                          <a:uLnTx/>
                          <a:uFillTx/>
                          <a:latin typeface="Cambria Math" panose="02040503050406030204" pitchFamily="18" charset="0"/>
                          <a:cs typeface="+mn-cs"/>
                        </a:rPr>
                        <m:t>=</m:t>
                      </m:r>
                      <m:f>
                        <m:fPr>
                          <m:ctrlPr>
                            <a:rPr kumimoji="0" lang="nb-NO" sz="200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fPr>
                        <m:num>
                          <m:sSub>
                            <m:sSubPr>
                              <m:ctrlP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m:t>
                          </m:r>
                          <m:sSub>
                            <m:sSubPr>
                              <m:ctrlPr>
                                <a:rPr kumimoji="0" lang="en-US"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n-US"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𝛽</m:t>
                              </m:r>
                            </m:e>
                            <m:sub>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num>
                        <m:den>
                          <m:r>
                            <a:rPr kumimoji="0" lang="nb-NO" sz="2000" b="0" i="1" u="none" strike="noStrike" kern="1200" cap="none" spc="0" normalizeH="0" baseline="0" noProof="0" smtClean="0">
                              <a:ln>
                                <a:noFill/>
                              </a:ln>
                              <a:solidFill>
                                <a:srgbClr val="FFFFFF"/>
                              </a:solidFill>
                              <a:effectLst/>
                              <a:uLnTx/>
                              <a:uFillTx/>
                              <a:latin typeface="Cambria Math" panose="02040503050406030204" pitchFamily="18" charset="0"/>
                              <a:cs typeface="+mn-cs"/>
                            </a:rPr>
                            <m:t>𝑠𝑑</m:t>
                          </m:r>
                          <m:r>
                            <a:rPr kumimoji="0" lang="nb-NO" sz="2000" b="0" i="1" u="none" strike="noStrike" kern="1200" cap="none" spc="0" normalizeH="0" baseline="0" noProof="0" smtClean="0">
                              <a:ln>
                                <a:noFill/>
                              </a:ln>
                              <a:solidFill>
                                <a:srgbClr val="FFFFFF"/>
                              </a:solidFill>
                              <a:effectLst/>
                              <a:uLnTx/>
                              <a:uFillTx/>
                              <a:latin typeface="Cambria Math" panose="02040503050406030204" pitchFamily="18" charset="0"/>
                              <a:cs typeface="+mn-cs"/>
                            </a:rPr>
                            <m:t>(</m:t>
                          </m:r>
                          <m:sSub>
                            <m:sSubPr>
                              <m:ctrlP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000" b="0" i="1" u="none" strike="noStrike" kern="1200" cap="none" spc="0" normalizeH="0" baseline="0" noProof="0" smtClean="0">
                              <a:ln>
                                <a:noFill/>
                              </a:ln>
                              <a:solidFill>
                                <a:srgbClr val="FFFFFF"/>
                              </a:solidFill>
                              <a:effectLst/>
                              <a:uLnTx/>
                              <a:uFillTx/>
                              <a:latin typeface="Cambria Math" panose="02040503050406030204" pitchFamily="18" charset="0"/>
                              <a:cs typeface="+mn-cs"/>
                            </a:rPr>
                            <m:t>)</m:t>
                          </m:r>
                        </m:den>
                      </m:f>
                    </m:oMath>
                  </m:oMathPara>
                </a14:m>
                <a:endParaRPr kumimoji="0" lang="en-GB" sz="2000" i="0" u="none" strike="noStrike" kern="1200" cap="none" spc="0" normalizeH="0" baseline="0" noProof="0" dirty="0">
                  <a:ln>
                    <a:noFill/>
                  </a:ln>
                  <a:solidFill>
                    <a:srgbClr val="FFFFFF"/>
                  </a:solidFill>
                  <a:effectLst/>
                  <a:uLnTx/>
                  <a:uFillTx/>
                  <a:latin typeface="Aptos Display" panose="020B0004020202020204" pitchFamily="34" charset="0"/>
                  <a:cs typeface="+mn-cs"/>
                </a:endParaRPr>
              </a:p>
            </p:txBody>
          </p:sp>
        </mc:Choice>
        <mc:Fallback>
          <p:sp>
            <p:nvSpPr>
              <p:cNvPr id="5" name="Rectangle: Rounded Corners 4">
                <a:extLst>
                  <a:ext uri="{FF2B5EF4-FFF2-40B4-BE49-F238E27FC236}">
                    <a16:creationId xmlns:a16="http://schemas.microsoft.com/office/drawing/2014/main" id="{D7BF42EB-177F-D39B-44EC-A97A649A6C27}"/>
                  </a:ext>
                </a:extLst>
              </p:cNvPr>
              <p:cNvSpPr>
                <a:spLocks noRot="1" noChangeAspect="1" noMove="1" noResize="1" noEditPoints="1" noAdjustHandles="1" noChangeArrowheads="1" noChangeShapeType="1" noTextEdit="1"/>
              </p:cNvSpPr>
              <p:nvPr/>
            </p:nvSpPr>
            <p:spPr>
              <a:xfrm>
                <a:off x="1308100" y="2540000"/>
                <a:ext cx="3810000" cy="736600"/>
              </a:xfrm>
              <a:prstGeom prst="roundRect">
                <a:avLst/>
              </a:prstGeom>
              <a:blipFill>
                <a:blip r:embed="rId3"/>
                <a:stretch>
                  <a:fillRect/>
                </a:stretch>
              </a:blipFill>
              <a:ln w="9525">
                <a:solidFill>
                  <a:srgbClr val="00566B"/>
                </a:solidFill>
              </a:ln>
            </p:spPr>
            <p:txBody>
              <a:bodyPr/>
              <a:lstStyle/>
              <a:p>
                <a:r>
                  <a:rPr lang="en-GB">
                    <a:noFill/>
                  </a:rPr>
                  <a:t> </a:t>
                </a:r>
              </a:p>
            </p:txBody>
          </p:sp>
        </mc:Fallback>
      </mc:AlternateContent>
      <p:sp>
        <p:nvSpPr>
          <p:cNvPr id="6" name="TextBox 5">
            <a:extLst>
              <a:ext uri="{FF2B5EF4-FFF2-40B4-BE49-F238E27FC236}">
                <a16:creationId xmlns:a16="http://schemas.microsoft.com/office/drawing/2014/main" id="{CE1F767E-B4E5-5CC2-5603-53BAAD86C484}"/>
              </a:ext>
            </a:extLst>
          </p:cNvPr>
          <p:cNvSpPr txBox="1"/>
          <p:nvPr/>
        </p:nvSpPr>
        <p:spPr>
          <a:xfrm>
            <a:off x="1460500" y="3505200"/>
            <a:ext cx="3492500" cy="2769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566B"/>
                </a:solidFill>
                <a:effectLst/>
                <a:uLnTx/>
                <a:uFillTx/>
                <a:latin typeface="Aptos" panose="020B0004020202020204" pitchFamily="34" charset="0"/>
                <a:ea typeface="+mn-ea"/>
                <a:cs typeface="+mn-cs"/>
              </a:rPr>
              <a:t>Z follows N(0,1)</a:t>
            </a:r>
          </a:p>
        </p:txBody>
      </p:sp>
      <p:sp>
        <p:nvSpPr>
          <p:cNvPr id="7" name="Rectangle: Rounded Corners 6">
            <a:extLst>
              <a:ext uri="{FF2B5EF4-FFF2-40B4-BE49-F238E27FC236}">
                <a16:creationId xmlns:a16="http://schemas.microsoft.com/office/drawing/2014/main" id="{A7415924-BF96-C959-0D78-A551CB19F125}"/>
              </a:ext>
            </a:extLst>
          </p:cNvPr>
          <p:cNvSpPr/>
          <p:nvPr/>
        </p:nvSpPr>
        <p:spPr>
          <a:xfrm>
            <a:off x="6667500" y="1460500"/>
            <a:ext cx="4635500" cy="2603500"/>
          </a:xfrm>
          <a:prstGeom prst="roundRect">
            <a:avLst/>
          </a:prstGeom>
          <a:solidFill>
            <a:srgbClr val="F0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4E789945-A9CF-F11A-8302-F2FC218A75C0}"/>
              </a:ext>
            </a:extLst>
          </p:cNvPr>
          <p:cNvSpPr txBox="1"/>
          <p:nvPr/>
        </p:nvSpPr>
        <p:spPr>
          <a:xfrm>
            <a:off x="6959600" y="1803400"/>
            <a:ext cx="4064000" cy="2769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a:ln>
                  <a:noFill/>
                </a:ln>
                <a:solidFill>
                  <a:srgbClr val="111820"/>
                </a:solidFill>
                <a:effectLst/>
                <a:uLnTx/>
                <a:uFillTx/>
                <a:latin typeface="Aptos" panose="020B0004020202020204" pitchFamily="34" charset="0"/>
                <a:ea typeface="+mn-ea"/>
                <a:cs typeface="+mn-cs"/>
              </a:rPr>
              <a:t>In practice, σ² is unknown</a:t>
            </a:r>
            <a:endParaRPr kumimoji="0" lang="en-GB" sz="2100" b="1" i="0" u="none" strike="noStrike" kern="1200" cap="none" spc="0" normalizeH="0" baseline="0" noProof="0">
              <a:ln>
                <a:noFill/>
              </a:ln>
              <a:solidFill>
                <a:srgbClr val="111820"/>
              </a:solidFill>
              <a:effectLst/>
              <a:uLnTx/>
              <a:uFillTx/>
              <a:latin typeface="Aptos" panose="020B0004020202020204" pitchFamily="34" charset="0"/>
              <a:ea typeface="+mn-ea"/>
              <a:cs typeface="+mn-cs"/>
            </a:endParaRPr>
          </a:p>
        </p:txBody>
      </p:sp>
      <p:sp>
        <p:nvSpPr>
          <p:cNvPr id="9" name="TextBox 8">
            <a:extLst>
              <a:ext uri="{FF2B5EF4-FFF2-40B4-BE49-F238E27FC236}">
                <a16:creationId xmlns:a16="http://schemas.microsoft.com/office/drawing/2014/main" id="{0C1D6BBD-22DF-C450-BC5F-9E9A17CB2A55}"/>
              </a:ext>
            </a:extLst>
          </p:cNvPr>
          <p:cNvSpPr txBox="1"/>
          <p:nvPr/>
        </p:nvSpPr>
        <p:spPr>
          <a:xfrm>
            <a:off x="7112000" y="2667000"/>
            <a:ext cx="3746500" cy="2769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Estimate σ² from the residuals</a:t>
            </a:r>
            <a:endParaRPr kumimoji="0" lang="en-GB" sz="19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endParaRPr>
          </a:p>
        </p:txBody>
      </p:sp>
      <p:sp>
        <p:nvSpPr>
          <p:cNvPr id="10" name="TextBox 9">
            <a:extLst>
              <a:ext uri="{FF2B5EF4-FFF2-40B4-BE49-F238E27FC236}">
                <a16:creationId xmlns:a16="http://schemas.microsoft.com/office/drawing/2014/main" id="{0817190C-3B16-E2A3-8AD3-BB9D80810630}"/>
              </a:ext>
            </a:extLst>
          </p:cNvPr>
          <p:cNvSpPr txBox="1"/>
          <p:nvPr/>
        </p:nvSpPr>
        <p:spPr>
          <a:xfrm>
            <a:off x="7302500" y="3505200"/>
            <a:ext cx="3365500" cy="2769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C81924"/>
                </a:solidFill>
                <a:effectLst/>
                <a:uLnTx/>
                <a:uFillTx/>
                <a:latin typeface="Aptos" panose="020B0004020202020204" pitchFamily="34" charset="0"/>
                <a:ea typeface="+mn-ea"/>
                <a:cs typeface="+mn-cs"/>
              </a:rPr>
              <a:t>This adds uncertainty</a:t>
            </a:r>
          </a:p>
        </p:txBody>
      </p:sp>
      <mc:AlternateContent xmlns:mc="http://schemas.openxmlformats.org/markup-compatibility/2006">
        <mc:Choice xmlns:a14="http://schemas.microsoft.com/office/drawing/2010/main" Requires="a14">
          <p:sp>
            <p:nvSpPr>
              <p:cNvPr id="11" name="Rectangle: Rounded Corners 10">
                <a:extLst>
                  <a:ext uri="{FF2B5EF4-FFF2-40B4-BE49-F238E27FC236}">
                    <a16:creationId xmlns:a16="http://schemas.microsoft.com/office/drawing/2014/main" id="{61F876D0-E35A-9BD5-FC67-1D92E4A6C155}"/>
                  </a:ext>
                </a:extLst>
              </p:cNvPr>
              <p:cNvSpPr/>
              <p:nvPr/>
            </p:nvSpPr>
            <p:spPr>
              <a:xfrm>
                <a:off x="2667000" y="4673600"/>
                <a:ext cx="6858000" cy="838200"/>
              </a:xfrm>
              <a:prstGeom prst="roundRect">
                <a:avLst/>
              </a:prstGeom>
              <a:solidFill>
                <a:srgbClr val="20BCE6"/>
              </a:solidFill>
              <a:ln w="9525">
                <a:solidFill>
                  <a:srgbClr val="0056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𝑡</m:t>
                      </m:r>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f>
                        <m:fPr>
                          <m:ctrlPr>
                            <a:rPr kumimoji="0" lang="nb-NO" sz="240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fPr>
                        <m:num>
                          <m:sSub>
                            <m:sSub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m:t>
                          </m:r>
                          <m:sSub>
                            <m:sSubPr>
                              <m:ctrlPr>
                                <a:rPr kumimoji="0" lang="en-US"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𝛽</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num>
                        <m:den>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𝑠𝑒</m:t>
                          </m:r>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sSub>
                            <m:sSub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den>
                      </m:f>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m:t>
                      </m:r>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𝑡</m:t>
                      </m:r>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m:t>
                      </m:r>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𝑛</m:t>
                      </m:r>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−2)</m:t>
                      </m:r>
                    </m:oMath>
                  </m:oMathPara>
                </a14:m>
                <a:endParaRPr kumimoji="0" lang="en-GB" sz="2400" i="0" u="none" strike="noStrike" kern="1200" cap="none" spc="0" normalizeH="0" baseline="0" noProof="0" dirty="0">
                  <a:ln>
                    <a:noFill/>
                  </a:ln>
                  <a:solidFill>
                    <a:srgbClr val="FFFFFF"/>
                  </a:solidFill>
                  <a:effectLst/>
                  <a:uLnTx/>
                  <a:uFillTx/>
                  <a:latin typeface="Aptos Display" panose="020B0004020202020204" pitchFamily="34" charset="0"/>
                  <a:cs typeface="+mn-cs"/>
                </a:endParaRPr>
              </a:p>
            </p:txBody>
          </p:sp>
        </mc:Choice>
        <mc:Fallback>
          <p:sp>
            <p:nvSpPr>
              <p:cNvPr id="11" name="Rectangle: Rounded Corners 10">
                <a:extLst>
                  <a:ext uri="{FF2B5EF4-FFF2-40B4-BE49-F238E27FC236}">
                    <a16:creationId xmlns:a16="http://schemas.microsoft.com/office/drawing/2014/main" id="{61F876D0-E35A-9BD5-FC67-1D92E4A6C155}"/>
                  </a:ext>
                </a:extLst>
              </p:cNvPr>
              <p:cNvSpPr>
                <a:spLocks noRot="1" noChangeAspect="1" noMove="1" noResize="1" noEditPoints="1" noAdjustHandles="1" noChangeArrowheads="1" noChangeShapeType="1" noTextEdit="1"/>
              </p:cNvSpPr>
              <p:nvPr/>
            </p:nvSpPr>
            <p:spPr>
              <a:xfrm>
                <a:off x="2667000" y="4673600"/>
                <a:ext cx="6858000" cy="838200"/>
              </a:xfrm>
              <a:prstGeom prst="roundRect">
                <a:avLst/>
              </a:prstGeom>
              <a:blipFill>
                <a:blip r:embed="rId4"/>
                <a:stretch>
                  <a:fillRect/>
                </a:stretch>
              </a:blipFill>
              <a:ln w="9525">
                <a:solidFill>
                  <a:srgbClr val="00566B"/>
                </a:solidFill>
              </a:ln>
            </p:spPr>
            <p:txBody>
              <a:bodyPr/>
              <a:lstStyle/>
              <a:p>
                <a:r>
                  <a:rPr lang="en-GB">
                    <a:noFill/>
                  </a:rPr>
                  <a:t> </a:t>
                </a:r>
              </a:p>
            </p:txBody>
          </p:sp>
        </mc:Fallback>
      </mc:AlternateContent>
    </p:spTree>
    <p:extLst>
      <p:ext uri="{BB962C8B-B14F-4D97-AF65-F5344CB8AC3E}">
        <p14:creationId xmlns:p14="http://schemas.microsoft.com/office/powerpoint/2010/main" val="2734606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49C5DA-A187-18B5-A436-ABE4C1FF9056}"/>
              </a:ext>
            </a:extLst>
          </p:cNvPr>
          <p:cNvSpPr txBox="1"/>
          <p:nvPr/>
        </p:nvSpPr>
        <p:spPr>
          <a:xfrm>
            <a:off x="533400" y="355600"/>
            <a:ext cx="10160000" cy="276999"/>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111820"/>
                </a:solidFill>
                <a:effectLst/>
                <a:uLnTx/>
                <a:uFillTx/>
                <a:latin typeface="Aptos" panose="020B0004020202020204" pitchFamily="34" charset="0"/>
                <a:ea typeface="+mn-ea"/>
                <a:cs typeface="+mn-cs"/>
              </a:rPr>
              <a:t>The t-distribution and degrees of freedom</a:t>
            </a:r>
            <a:endParaRPr kumimoji="0" lang="en-GB" sz="2800" b="0" i="0" u="none" strike="noStrike" kern="1200" cap="none" spc="0" normalizeH="0" baseline="0" noProof="0">
              <a:ln>
                <a:noFill/>
              </a:ln>
              <a:solidFill>
                <a:srgbClr val="111820"/>
              </a:solidFill>
              <a:effectLst/>
              <a:uLnTx/>
              <a:uFillTx/>
              <a:latin typeface="Aptos" panose="020B0004020202020204" pitchFamily="34" charset="0"/>
              <a:ea typeface="+mn-ea"/>
              <a:cs typeface="+mn-cs"/>
            </a:endParaRPr>
          </a:p>
        </p:txBody>
      </p:sp>
      <p:sp>
        <p:nvSpPr>
          <p:cNvPr id="5" name="TextBox 4">
            <a:extLst>
              <a:ext uri="{FF2B5EF4-FFF2-40B4-BE49-F238E27FC236}">
                <a16:creationId xmlns:a16="http://schemas.microsoft.com/office/drawing/2014/main" id="{37ED82A5-996D-11B0-1A82-FEB12A0E68C7}"/>
              </a:ext>
            </a:extLst>
          </p:cNvPr>
          <p:cNvSpPr txBox="1"/>
          <p:nvPr/>
        </p:nvSpPr>
        <p:spPr>
          <a:xfrm>
            <a:off x="698500" y="1676400"/>
            <a:ext cx="4254500" cy="1752600"/>
          </a:xfrm>
          <a:prstGeom prst="rect">
            <a:avLst/>
          </a:prstGeom>
          <a:noFill/>
        </p:spPr>
        <p:txBody>
          <a:bodyPr vert="horz" wrap="square" lIns="0" tIns="0" rIns="0" bIns="0" rtlCol="0">
            <a:noAutofit/>
          </a:bodyPr>
          <a:lstStyle/>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The t-distribution is symmetric around zero.</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Estimated σ gives thicker tails.</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rPr>
              <a:t>The tails become thinner as the degrees of freedom increase.</a:t>
            </a:r>
            <a:endParaRPr kumimoji="0" lang="en-GB" sz="1800" b="0" i="0" u="none" strike="noStrike" kern="1200" cap="none" spc="0" normalizeH="0" baseline="0" noProof="0" dirty="0">
              <a:ln>
                <a:noFill/>
              </a:ln>
              <a:solidFill>
                <a:srgbClr val="111820"/>
              </a:solidFill>
              <a:effectLst/>
              <a:uLnTx/>
              <a:uFillTx/>
              <a:latin typeface="Aptos" panose="020B0004020202020204" pitchFamily="34" charset="0"/>
              <a:ea typeface="+mn-ea"/>
              <a:cs typeface="+mn-cs"/>
            </a:endParaRPr>
          </a:p>
        </p:txBody>
      </p:sp>
      <p:sp>
        <p:nvSpPr>
          <p:cNvPr id="6" name="Rectangle: Rounded Corners 5">
            <a:extLst>
              <a:ext uri="{FF2B5EF4-FFF2-40B4-BE49-F238E27FC236}">
                <a16:creationId xmlns:a16="http://schemas.microsoft.com/office/drawing/2014/main" id="{436CF939-40B2-3655-FDB5-AD261243368F}"/>
              </a:ext>
            </a:extLst>
          </p:cNvPr>
          <p:cNvSpPr/>
          <p:nvPr/>
        </p:nvSpPr>
        <p:spPr>
          <a:xfrm>
            <a:off x="952500" y="4254500"/>
            <a:ext cx="3619500" cy="1041400"/>
          </a:xfrm>
          <a:prstGeom prst="roundRect">
            <a:avLst/>
          </a:prstGeom>
          <a:solidFill>
            <a:srgbClr val="DDF5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47B88EE3-49B9-6F17-1135-459B8020AB8C}"/>
              </a:ext>
            </a:extLst>
          </p:cNvPr>
          <p:cNvSpPr txBox="1"/>
          <p:nvPr/>
        </p:nvSpPr>
        <p:spPr>
          <a:xfrm>
            <a:off x="1206500" y="4445000"/>
            <a:ext cx="3111500" cy="2769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11820"/>
                </a:solidFill>
                <a:effectLst/>
                <a:uLnTx/>
                <a:uFillTx/>
                <a:latin typeface="Aptos" panose="020B0004020202020204" pitchFamily="34" charset="0"/>
                <a:ea typeface="+mn-ea"/>
                <a:cs typeface="+mn-cs"/>
              </a:rPr>
              <a:t>Simple regression estimates two parameters</a:t>
            </a:r>
            <a:endParaRPr kumimoji="0" lang="en-GB" sz="1600" b="0" i="0" u="none" strike="noStrike" kern="1200" cap="none" spc="0" normalizeH="0" baseline="0" noProof="0">
              <a:ln>
                <a:noFill/>
              </a:ln>
              <a:solidFill>
                <a:srgbClr val="111820"/>
              </a:solidFill>
              <a:effectLst/>
              <a:uLnTx/>
              <a:uFillTx/>
              <a:latin typeface="Aptos" panose="020B0004020202020204" pitchFamily="34" charset="0"/>
              <a:ea typeface="+mn-ea"/>
              <a:cs typeface="+mn-cs"/>
            </a:endParaRPr>
          </a:p>
        </p:txBody>
      </p:sp>
      <p:sp>
        <p:nvSpPr>
          <p:cNvPr id="8" name="TextBox 7">
            <a:extLst>
              <a:ext uri="{FF2B5EF4-FFF2-40B4-BE49-F238E27FC236}">
                <a16:creationId xmlns:a16="http://schemas.microsoft.com/office/drawing/2014/main" id="{D94AD8A2-EDB7-EC46-51CB-561AD2E70A57}"/>
              </a:ext>
            </a:extLst>
          </p:cNvPr>
          <p:cNvSpPr txBox="1"/>
          <p:nvPr/>
        </p:nvSpPr>
        <p:spPr>
          <a:xfrm>
            <a:off x="1206500" y="4953000"/>
            <a:ext cx="3111500" cy="276999"/>
          </a:xfrm>
          <a:prstGeom prst="rect">
            <a:avLst/>
          </a:prstGeom>
          <a:no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dirty="0">
                <a:ln>
                  <a:noFill/>
                </a:ln>
                <a:solidFill>
                  <a:srgbClr val="00566B"/>
                </a:solidFill>
                <a:effectLst/>
                <a:uLnTx/>
                <a:uFillTx/>
                <a:latin typeface="Aptos" panose="020B0004020202020204" pitchFamily="34" charset="0"/>
                <a:ea typeface="+mn-ea"/>
                <a:cs typeface="+mn-cs"/>
              </a:rPr>
              <a:t>N = 40 gives df = N - 2 = 38</a:t>
            </a:r>
            <a:endParaRPr kumimoji="0" lang="en-GB" sz="1800" b="1" i="0" u="none" strike="noStrike" kern="1200" cap="none" spc="0" normalizeH="0" baseline="0" noProof="0" dirty="0">
              <a:ln>
                <a:noFill/>
              </a:ln>
              <a:solidFill>
                <a:srgbClr val="00566B"/>
              </a:solidFill>
              <a:effectLst/>
              <a:uLnTx/>
              <a:uFillTx/>
              <a:latin typeface="Aptos" panose="020B0004020202020204" pitchFamily="34" charset="0"/>
              <a:ea typeface="+mn-ea"/>
              <a:cs typeface="+mn-cs"/>
            </a:endParaRPr>
          </a:p>
        </p:txBody>
      </p:sp>
      <p:pic>
        <p:nvPicPr>
          <p:cNvPr id="9" name="Bilde 8">
            <a:extLst>
              <a:ext uri="{FF2B5EF4-FFF2-40B4-BE49-F238E27FC236}">
                <a16:creationId xmlns:a16="http://schemas.microsoft.com/office/drawing/2014/main" id="{D29CFD1F-7C00-8C3F-1B1E-1C3C61DD7677}"/>
              </a:ext>
            </a:extLst>
          </p:cNvPr>
          <p:cNvPicPr>
            <a:picLocks noChangeAspect="1"/>
          </p:cNvPicPr>
          <p:nvPr/>
        </p:nvPicPr>
        <p:blipFill>
          <a:blip r:embed="rId3"/>
          <a:stretch>
            <a:fillRect/>
          </a:stretch>
        </p:blipFill>
        <p:spPr>
          <a:xfrm>
            <a:off x="6096000" y="1411135"/>
            <a:ext cx="5780183" cy="4176219"/>
          </a:xfrm>
          <a:prstGeom prst="rect">
            <a:avLst/>
          </a:prstGeom>
        </p:spPr>
      </p:pic>
    </p:spTree>
    <p:extLst>
      <p:ext uri="{BB962C8B-B14F-4D97-AF65-F5344CB8AC3E}">
        <p14:creationId xmlns:p14="http://schemas.microsoft.com/office/powerpoint/2010/main" val="657794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render_current/slide-9.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render_current/slide-10.png"/>
          <p:cNvPicPr>
            <a:picLocks noChangeAspect="1"/>
          </p:cNvPicPr>
          <p:nvPr/>
        </p:nvPicPr>
        <p:blipFill>
          <a:blip r:embed="rId3"/>
          <a:stretch>
            <a:fillRect/>
          </a:stretch>
        </p:blipFill>
        <p:spPr>
          <a:xfrm>
            <a:off x="0" y="0"/>
            <a:ext cx="12191695" cy="6858000"/>
          </a:xfrm>
          <a:prstGeom prst="rect">
            <a:avLst/>
          </a:prstGeom>
        </p:spPr>
      </p:pic>
      <p:sp>
        <p:nvSpPr>
          <p:cNvPr id="3" name="Rektangel 2">
            <a:extLst>
              <a:ext uri="{FF2B5EF4-FFF2-40B4-BE49-F238E27FC236}">
                <a16:creationId xmlns:a16="http://schemas.microsoft.com/office/drawing/2014/main" id="{B490FC29-497E-88FD-AC4B-5BF7E0693B33}"/>
              </a:ext>
            </a:extLst>
          </p:cNvPr>
          <p:cNvSpPr/>
          <p:nvPr/>
        </p:nvSpPr>
        <p:spPr>
          <a:xfrm>
            <a:off x="10168467" y="143933"/>
            <a:ext cx="1828800" cy="5503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ktangel 4">
            <a:extLst>
              <a:ext uri="{FF2B5EF4-FFF2-40B4-BE49-F238E27FC236}">
                <a16:creationId xmlns:a16="http://schemas.microsoft.com/office/drawing/2014/main" id="{44C79754-53C1-45C8-1B74-0B549F57D5C0}"/>
              </a:ext>
            </a:extLst>
          </p:cNvPr>
          <p:cNvSpPr/>
          <p:nvPr/>
        </p:nvSpPr>
        <p:spPr>
          <a:xfrm>
            <a:off x="3547533" y="5367865"/>
            <a:ext cx="5300133" cy="10668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render_current/slide-1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nt/data/render_current/slide-12.png"/>
          <p:cNvPicPr>
            <a:picLocks noChangeAspect="1"/>
          </p:cNvPicPr>
          <p:nvPr/>
        </p:nvPicPr>
        <p:blipFill>
          <a:blip r:embed="rId3"/>
          <a:stretch>
            <a:fillRect/>
          </a:stretch>
        </p:blipFill>
        <p:spPr>
          <a:xfrm>
            <a:off x="305"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INTERVAL ESTIMATION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From a t-statistic to an interval</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mc:AlternateContent xmlns:mc="http://schemas.openxmlformats.org/markup-compatibility/2006">
        <mc:Choice xmlns:a14="http://schemas.microsoft.com/office/drawing/2010/main" Requires="a14">
          <p:sp>
            <p:nvSpPr>
              <p:cNvPr id="7" name="Text 5"/>
              <p:cNvSpPr/>
              <p:nvPr/>
            </p:nvSpPr>
            <p:spPr>
              <a:xfrm>
                <a:off x="822960" y="2514600"/>
                <a:ext cx="4754880" cy="1051560"/>
              </a:xfrm>
              <a:prstGeom prst="rect">
                <a:avLst/>
              </a:prstGeom>
              <a:noFill/>
              <a:ln/>
            </p:spPr>
            <p:txBody>
              <a:bodyPr wrap="square" lIns="254" tIns="254" rIns="254" bIns="254" rtlCol="0" anchor="ctr"/>
              <a:lstStyle/>
              <a:p>
                <a:r>
                  <a:rPr lang="en-US" sz="1800" dirty="0">
                    <a:solidFill>
                      <a:srgbClr val="1F2D33"/>
                    </a:solidFill>
                  </a:rPr>
                  <a:t>For a 95% interval, choose critical values so that the central 95% of the t-distribution lies between </a:t>
                </a:r>
                <a14:m>
                  <m:oMath xmlns:m="http://schemas.openxmlformats.org/officeDocument/2006/math">
                    <m:r>
                      <a:rPr lang="nb-NO" i="1">
                        <a:latin typeface="Cambria Math" panose="02040503050406030204" pitchFamily="18" charset="0"/>
                      </a:rPr>
                      <m:t>−</m:t>
                    </m:r>
                    <m:sSub>
                      <m:sSubPr>
                        <m:ctrlPr>
                          <a:rPr lang="nb-NO" i="1">
                            <a:latin typeface="Cambria Math" panose="02040503050406030204" pitchFamily="18" charset="0"/>
                          </a:rPr>
                        </m:ctrlPr>
                      </m:sSubPr>
                      <m:e>
                        <m:r>
                          <a:rPr lang="nb-NO" i="1">
                            <a:latin typeface="Cambria Math" panose="02040503050406030204" pitchFamily="18" charset="0"/>
                          </a:rPr>
                          <m:t>𝑡</m:t>
                        </m:r>
                      </m:e>
                      <m:sub>
                        <m:r>
                          <a:rPr lang="nb-NO" i="1">
                            <a:latin typeface="Cambria Math" panose="02040503050406030204" pitchFamily="18" charset="0"/>
                          </a:rPr>
                          <m:t>𝑐</m:t>
                        </m:r>
                      </m:sub>
                    </m:sSub>
                    <m:r>
                      <a:rPr lang="nb-NO" i="1">
                        <a:latin typeface="Cambria Math" panose="02040503050406030204" pitchFamily="18" charset="0"/>
                      </a:rPr>
                      <m:t> </m:t>
                    </m:r>
                  </m:oMath>
                </a14:m>
                <a:r>
                  <a:rPr lang="en-US" sz="1800" dirty="0">
                    <a:solidFill>
                      <a:srgbClr val="1F2D33"/>
                    </a:solidFill>
                  </a:rPr>
                  <a:t>and </a:t>
                </a:r>
                <a14:m>
                  <m:oMath xmlns:m="http://schemas.openxmlformats.org/officeDocument/2006/math">
                    <m:sSub>
                      <m:sSubPr>
                        <m:ctrlPr>
                          <a:rPr lang="nb-NO" i="1">
                            <a:latin typeface="Cambria Math" panose="02040503050406030204" pitchFamily="18" charset="0"/>
                          </a:rPr>
                        </m:ctrlPr>
                      </m:sSubPr>
                      <m:e>
                        <m:r>
                          <a:rPr lang="nb-NO" i="1">
                            <a:latin typeface="Cambria Math" panose="02040503050406030204" pitchFamily="18" charset="0"/>
                          </a:rPr>
                          <m:t>𝑡</m:t>
                        </m:r>
                      </m:e>
                      <m:sub>
                        <m:r>
                          <a:rPr lang="nb-NO" i="1">
                            <a:latin typeface="Cambria Math" panose="02040503050406030204" pitchFamily="18" charset="0"/>
                          </a:rPr>
                          <m:t>𝑐</m:t>
                        </m:r>
                      </m:sub>
                    </m:sSub>
                  </m:oMath>
                </a14:m>
                <a:endParaRPr lang="en-US" sz="1800" dirty="0"/>
              </a:p>
            </p:txBody>
          </p:sp>
        </mc:Choice>
        <mc:Fallback>
          <p:sp>
            <p:nvSpPr>
              <p:cNvPr id="7" name="Text 5"/>
              <p:cNvSpPr>
                <a:spLocks noRot="1" noChangeAspect="1" noMove="1" noResize="1" noEditPoints="1" noAdjustHandles="1" noChangeArrowheads="1" noChangeShapeType="1" noTextEdit="1"/>
              </p:cNvSpPr>
              <p:nvPr/>
            </p:nvSpPr>
            <p:spPr>
              <a:xfrm>
                <a:off x="822960" y="2514600"/>
                <a:ext cx="4754880" cy="1051560"/>
              </a:xfrm>
              <a:prstGeom prst="rect">
                <a:avLst/>
              </a:prstGeom>
              <a:blipFill>
                <a:blip r:embed="rId3"/>
                <a:stretch>
                  <a:fillRect l="-2949" r="-3462" b="-3488"/>
                </a:stretch>
              </a:blipFill>
              <a:ln/>
            </p:spPr>
            <p:txBody>
              <a:bodyPr/>
              <a:lstStyle/>
              <a:p>
                <a:r>
                  <a:rPr lang="en-GB">
                    <a:noFill/>
                  </a:rPr>
                  <a:t> </a:t>
                </a:r>
              </a:p>
            </p:txBody>
          </p:sp>
        </mc:Fallback>
      </mc:AlternateContent>
      <p:sp>
        <p:nvSpPr>
          <p:cNvPr id="10" name="Text 8"/>
          <p:cNvSpPr/>
          <p:nvPr/>
        </p:nvSpPr>
        <p:spPr>
          <a:xfrm>
            <a:off x="5486400" y="3063240"/>
            <a:ext cx="4937760" cy="411480"/>
          </a:xfrm>
          <a:prstGeom prst="rect">
            <a:avLst/>
          </a:prstGeom>
          <a:noFill/>
          <a:ln/>
        </p:spPr>
        <p:txBody>
          <a:bodyPr wrap="square" lIns="0" tIns="0" rIns="0" bIns="0" rtlCol="0" anchor="ctr"/>
          <a:lstStyle/>
          <a:p>
            <a:pPr marL="0" indent="0" algn="ctr">
              <a:buNone/>
            </a:pPr>
            <a:r>
              <a:rPr lang="en-US" sz="1800" b="1" dirty="0">
                <a:solidFill>
                  <a:srgbClr val="D71920"/>
                </a:solidFill>
              </a:rPr>
              <a:t>The next step is just algebra.</a:t>
            </a:r>
            <a:endParaRPr lang="en-US" sz="1800" dirty="0"/>
          </a:p>
        </p:txBody>
      </p:sp>
      <p:sp>
        <p:nvSpPr>
          <p:cNvPr id="11" name="Text 9"/>
          <p:cNvSpPr/>
          <p:nvPr/>
        </p:nvSpPr>
        <p:spPr>
          <a:xfrm>
            <a:off x="5486400" y="3657600"/>
            <a:ext cx="4937760" cy="411480"/>
          </a:xfrm>
          <a:prstGeom prst="rect">
            <a:avLst/>
          </a:prstGeom>
          <a:noFill/>
          <a:ln/>
        </p:spPr>
        <p:txBody>
          <a:bodyPr wrap="square" lIns="0" tIns="0" rIns="0" bIns="0" rtlCol="0" anchor="ctr"/>
          <a:lstStyle/>
          <a:p>
            <a:pPr marL="0" indent="0" algn="ctr">
              <a:buNone/>
            </a:pPr>
            <a:r>
              <a:rPr lang="en-US" sz="1800" dirty="0">
                <a:solidFill>
                  <a:srgbClr val="00566B"/>
                </a:solidFill>
              </a:rPr>
              <a:t>Goal: isolate the unknown parameter β₂.</a:t>
            </a:r>
            <a:endParaRPr lang="en-US" sz="18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13</a:t>
            </a:fld>
            <a:endParaRPr lang="en-US"/>
          </a:p>
        </p:txBody>
      </p:sp>
      <mc:AlternateContent xmlns:mc="http://schemas.openxmlformats.org/markup-compatibility/2006">
        <mc:Choice xmlns:a14="http://schemas.microsoft.com/office/drawing/2010/main" Requires="a14">
          <p:sp>
            <p:nvSpPr>
              <p:cNvPr id="13" name="Rectangle: Rounded Corners 10">
                <a:extLst>
                  <a:ext uri="{FF2B5EF4-FFF2-40B4-BE49-F238E27FC236}">
                    <a16:creationId xmlns:a16="http://schemas.microsoft.com/office/drawing/2014/main" id="{09CF9C34-D5E3-608C-7124-BDBCAE4729BE}"/>
                  </a:ext>
                </a:extLst>
              </p:cNvPr>
              <p:cNvSpPr/>
              <p:nvPr/>
            </p:nvSpPr>
            <p:spPr>
              <a:xfrm>
                <a:off x="822960" y="1350263"/>
                <a:ext cx="4461934" cy="838200"/>
              </a:xfrm>
              <a:prstGeom prst="roundRect">
                <a:avLst/>
              </a:prstGeom>
              <a:solidFill>
                <a:srgbClr val="20BCE6"/>
              </a:solidFill>
              <a:ln w="9525">
                <a:solidFill>
                  <a:srgbClr val="0056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𝑡</m:t>
                      </m:r>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f>
                        <m:fPr>
                          <m:ctrlPr>
                            <a:rPr kumimoji="0" lang="nb-NO" sz="240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fPr>
                        <m:num>
                          <m:sSub>
                            <m:sSub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m:t>
                          </m:r>
                          <m:sSub>
                            <m:sSubPr>
                              <m:ctrlPr>
                                <a:rPr kumimoji="0" lang="en-US"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𝛽</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num>
                        <m:den>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𝑠𝑒</m:t>
                          </m:r>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sSub>
                            <m:sSub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den>
                      </m:f>
                    </m:oMath>
                  </m:oMathPara>
                </a14:m>
                <a:endParaRPr kumimoji="0" lang="en-GB" sz="2400" i="0" u="none" strike="noStrike" kern="1200" cap="none" spc="0" normalizeH="0" baseline="0" noProof="0" dirty="0">
                  <a:ln>
                    <a:noFill/>
                  </a:ln>
                  <a:solidFill>
                    <a:srgbClr val="FFFFFF"/>
                  </a:solidFill>
                  <a:effectLst/>
                  <a:uLnTx/>
                  <a:uFillTx/>
                  <a:latin typeface="Aptos Display" panose="020B0004020202020204" pitchFamily="34" charset="0"/>
                  <a:cs typeface="+mn-cs"/>
                </a:endParaRPr>
              </a:p>
            </p:txBody>
          </p:sp>
        </mc:Choice>
        <mc:Fallback>
          <p:sp>
            <p:nvSpPr>
              <p:cNvPr id="13" name="Rectangle: Rounded Corners 10">
                <a:extLst>
                  <a:ext uri="{FF2B5EF4-FFF2-40B4-BE49-F238E27FC236}">
                    <a16:creationId xmlns:a16="http://schemas.microsoft.com/office/drawing/2014/main" id="{09CF9C34-D5E3-608C-7124-BDBCAE4729BE}"/>
                  </a:ext>
                </a:extLst>
              </p:cNvPr>
              <p:cNvSpPr>
                <a:spLocks noRot="1" noChangeAspect="1" noMove="1" noResize="1" noEditPoints="1" noAdjustHandles="1" noChangeArrowheads="1" noChangeShapeType="1" noTextEdit="1"/>
              </p:cNvSpPr>
              <p:nvPr/>
            </p:nvSpPr>
            <p:spPr>
              <a:xfrm>
                <a:off x="822960" y="1350263"/>
                <a:ext cx="4461934" cy="838200"/>
              </a:xfrm>
              <a:prstGeom prst="roundRect">
                <a:avLst/>
              </a:prstGeom>
              <a:blipFill>
                <a:blip r:embed="rId4"/>
                <a:stretch>
                  <a:fillRect/>
                </a:stretch>
              </a:blipFill>
              <a:ln w="9525">
                <a:solidFill>
                  <a:srgbClr val="00566B"/>
                </a:solid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5" name="Rectangle: Rounded Corners 10">
                <a:extLst>
                  <a:ext uri="{FF2B5EF4-FFF2-40B4-BE49-F238E27FC236}">
                    <a16:creationId xmlns:a16="http://schemas.microsoft.com/office/drawing/2014/main" id="{BD623C91-6DEA-0DE4-1EDB-11521E6BEB79}"/>
                  </a:ext>
                </a:extLst>
              </p:cNvPr>
              <p:cNvSpPr/>
              <p:nvPr/>
            </p:nvSpPr>
            <p:spPr>
              <a:xfrm>
                <a:off x="5962226" y="1340950"/>
                <a:ext cx="4461934" cy="838200"/>
              </a:xfrm>
              <a:prstGeom prst="roundRect">
                <a:avLst/>
              </a:prstGeom>
              <a:solidFill>
                <a:schemeClr val="bg2"/>
              </a:solidFill>
              <a:ln w="9525">
                <a:solidFill>
                  <a:srgbClr val="0056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14:m>
                  <m:oMathPara xmlns:m="http://schemas.openxmlformats.org/officeDocument/2006/math">
                    <m:oMath>
                      <m: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rPr>
                        <m:t>𝑃</m:t>
                      </m:r>
                      <m:d>
                        <m:dPr>
                          <m:ctrlP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rPr>
                          </m:ctrlPr>
                        </m:dPr>
                        <m:e>
                          <m: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rPr>
                            <m:t>−</m:t>
                          </m:r>
                          <m:sSub>
                            <m:sSubPr>
                              <m:ctrlP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rPr>
                              </m:ctrlPr>
                            </m:sSubPr>
                            <m:e>
                              <m: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rPr>
                                <m:t>𝑡</m:t>
                              </m:r>
                            </m:e>
                            <m:sub>
                              <m: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rPr>
                                <m:t>𝑐</m:t>
                              </m:r>
                            </m:sub>
                          </m:sSub>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𝑡</m:t>
                          </m:r>
                          <m: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sSub>
                            <m:sSubPr>
                              <m:ctrlPr>
                                <a:rPr lang="nb-NO" sz="2400" b="0" i="1">
                                  <a:solidFill>
                                    <a:schemeClr val="tx1"/>
                                  </a:solidFill>
                                  <a:latin typeface="Cambria Math" panose="02040503050406030204" pitchFamily="18" charset="0"/>
                                </a:rPr>
                              </m:ctrlPr>
                            </m:sSubPr>
                            <m:e>
                              <m:r>
                                <a:rPr lang="nb-NO" sz="2400" b="0" i="1">
                                  <a:solidFill>
                                    <a:schemeClr val="tx1"/>
                                  </a:solidFill>
                                  <a:latin typeface="Cambria Math" panose="02040503050406030204" pitchFamily="18" charset="0"/>
                                </a:rPr>
                                <m:t>𝑡</m:t>
                              </m:r>
                            </m:e>
                            <m:sub>
                              <m:r>
                                <a:rPr lang="nb-NO" sz="2400" b="0" i="1">
                                  <a:solidFill>
                                    <a:schemeClr val="tx1"/>
                                  </a:solidFill>
                                  <a:latin typeface="Cambria Math" panose="02040503050406030204" pitchFamily="18" charset="0"/>
                                </a:rPr>
                                <m:t>𝑐</m:t>
                              </m:r>
                            </m:sub>
                          </m:sSub>
                        </m:e>
                      </m:d>
                      <m:r>
                        <a:rPr lang="nb-NO" sz="2400" b="0" i="1" smtClean="0">
                          <a:solidFill>
                            <a:schemeClr val="tx1"/>
                          </a:solidFill>
                          <a:latin typeface="Cambria Math" panose="02040503050406030204" pitchFamily="18" charset="0"/>
                        </a:rPr>
                        <m:t>=0.95</m:t>
                      </m:r>
                    </m:oMath>
                  </m:oMathPara>
                </a14:m>
                <a:endParaRPr kumimoji="0" lang="en-GB" sz="2400" i="0" u="none" strike="noStrike" kern="1200" cap="none" spc="0" normalizeH="0" baseline="0" noProof="0" dirty="0">
                  <a:ln>
                    <a:noFill/>
                  </a:ln>
                  <a:solidFill>
                    <a:schemeClr val="tx1"/>
                  </a:solidFill>
                  <a:effectLst/>
                  <a:uLnTx/>
                  <a:uFillTx/>
                  <a:latin typeface="Aptos Display" panose="020B0004020202020204" pitchFamily="34" charset="0"/>
                </a:endParaRPr>
              </a:p>
            </p:txBody>
          </p:sp>
        </mc:Choice>
        <mc:Fallback>
          <p:sp>
            <p:nvSpPr>
              <p:cNvPr id="15" name="Rectangle: Rounded Corners 10">
                <a:extLst>
                  <a:ext uri="{FF2B5EF4-FFF2-40B4-BE49-F238E27FC236}">
                    <a16:creationId xmlns:a16="http://schemas.microsoft.com/office/drawing/2014/main" id="{BD623C91-6DEA-0DE4-1EDB-11521E6BEB79}"/>
                  </a:ext>
                </a:extLst>
              </p:cNvPr>
              <p:cNvSpPr>
                <a:spLocks noRot="1" noChangeAspect="1" noMove="1" noResize="1" noEditPoints="1" noAdjustHandles="1" noChangeArrowheads="1" noChangeShapeType="1" noTextEdit="1"/>
              </p:cNvSpPr>
              <p:nvPr/>
            </p:nvSpPr>
            <p:spPr>
              <a:xfrm>
                <a:off x="5962226" y="1340950"/>
                <a:ext cx="4461934" cy="838200"/>
              </a:xfrm>
              <a:prstGeom prst="roundRect">
                <a:avLst/>
              </a:prstGeom>
              <a:blipFill>
                <a:blip r:embed="rId5"/>
                <a:stretch>
                  <a:fillRect/>
                </a:stretch>
              </a:blipFill>
              <a:ln w="9525">
                <a:solidFill>
                  <a:srgbClr val="00566B"/>
                </a:solidFill>
              </a:ln>
            </p:spPr>
            <p:txBody>
              <a:bodyPr/>
              <a:lstStyle/>
              <a:p>
                <a:r>
                  <a:rPr lang="en-GB">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WORK IT OUT TOGETHER</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Derivation: construct the 95% interval</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Text 3"/>
          <p:cNvSpPr/>
          <p:nvPr/>
        </p:nvSpPr>
        <p:spPr>
          <a:xfrm>
            <a:off x="777240" y="1371600"/>
            <a:ext cx="1097280" cy="274320"/>
          </a:xfrm>
          <a:prstGeom prst="rect">
            <a:avLst/>
          </a:prstGeom>
          <a:noFill/>
          <a:ln/>
        </p:spPr>
        <p:txBody>
          <a:bodyPr wrap="square" lIns="0" tIns="0" rIns="0" bIns="0" rtlCol="0" anchor="ctr"/>
          <a:lstStyle/>
          <a:p>
            <a:pPr marL="0" indent="0">
              <a:buNone/>
            </a:pPr>
            <a:r>
              <a:rPr lang="en-US" sz="1500" b="1" dirty="0">
                <a:solidFill>
                  <a:srgbClr val="64737A"/>
                </a:solidFill>
              </a:rPr>
              <a:t>Start here:</a:t>
            </a:r>
            <a:endParaRPr lang="en-US" sz="1500" dirty="0"/>
          </a:p>
        </p:txBody>
      </p:sp>
      <p:sp>
        <p:nvSpPr>
          <p:cNvPr id="6" name="Shape 4"/>
          <p:cNvSpPr/>
          <p:nvPr/>
        </p:nvSpPr>
        <p:spPr>
          <a:xfrm>
            <a:off x="1783080" y="1225296"/>
            <a:ext cx="5486400" cy="594360"/>
          </a:xfrm>
          <a:prstGeom prst="roundRect">
            <a:avLst>
              <a:gd name="adj" fmla="val 9231"/>
            </a:avLst>
          </a:prstGeom>
          <a:solidFill>
            <a:srgbClr val="FFFFFF"/>
          </a:solidFill>
          <a:ln w="12700">
            <a:solidFill>
              <a:srgbClr val="FFFFFF"/>
            </a:solidFill>
            <a:prstDash val="solid"/>
          </a:ln>
        </p:spPr>
        <p:txBody>
          <a:bodyPr/>
          <a:lstStyle/>
          <a:p>
            <a:endParaRPr lang="en-GB"/>
          </a:p>
        </p:txBody>
      </p:sp>
      <mc:AlternateContent xmlns:mc="http://schemas.openxmlformats.org/markup-compatibility/2006">
        <mc:Choice xmlns:a14="http://schemas.microsoft.com/office/drawing/2010/main" Requires="a14">
          <p:sp>
            <p:nvSpPr>
              <p:cNvPr id="7" name="Text 5"/>
              <p:cNvSpPr/>
              <p:nvPr/>
            </p:nvSpPr>
            <p:spPr>
              <a:xfrm>
                <a:off x="1874520" y="1165862"/>
                <a:ext cx="5266944" cy="685795"/>
              </a:xfrm>
              <a:prstGeom prst="rect">
                <a:avLst/>
              </a:prstGeom>
              <a:noFill/>
              <a:ln/>
            </p:spPr>
            <p:txBody>
              <a:bodyPr wrap="square" lIns="254" tIns="254" rIns="254" bIns="254" rtlCol="0" anchor="ctr">
                <a:normAutofit/>
              </a:bodyPr>
              <a:lstStyle/>
              <a:p>
                <a:pPr algn="ctr"/>
                <a14:m>
                  <m:oMathPara xmlns:m="http://schemas.openxmlformats.org/officeDocument/2006/math">
                    <m:oMath>
                      <m:r>
                        <a:rPr lang="nb-NO" sz="2000" i="1" smtClean="0">
                          <a:solidFill>
                            <a:schemeClr val="tx1"/>
                          </a:solidFill>
                          <a:latin typeface="Cambria Math" panose="02040503050406030204" pitchFamily="18" charset="0"/>
                        </a:rPr>
                        <m:t>−</m:t>
                      </m:r>
                      <m:sSub>
                        <m:sSubPr>
                          <m:ctrlPr>
                            <a:rPr lang="nb-NO" sz="2000" i="1">
                              <a:solidFill>
                                <a:schemeClr val="tx1"/>
                              </a:solidFill>
                              <a:latin typeface="Cambria Math" panose="02040503050406030204" pitchFamily="18" charset="0"/>
                            </a:rPr>
                          </m:ctrlPr>
                        </m:sSubPr>
                        <m:e>
                          <m:r>
                            <a:rPr lang="nb-NO" sz="2000" i="1">
                              <a:solidFill>
                                <a:schemeClr val="tx1"/>
                              </a:solidFill>
                              <a:latin typeface="Cambria Math" panose="02040503050406030204" pitchFamily="18" charset="0"/>
                            </a:rPr>
                            <m:t>𝑡</m:t>
                          </m:r>
                        </m:e>
                        <m:sub>
                          <m:r>
                            <a:rPr lang="nb-NO" sz="2000" i="1">
                              <a:solidFill>
                                <a:schemeClr val="tx1"/>
                              </a:solidFill>
                              <a:latin typeface="Cambria Math" panose="02040503050406030204" pitchFamily="18" charset="0"/>
                            </a:rPr>
                            <m:t>𝑐</m:t>
                          </m:r>
                        </m:sub>
                      </m:sSub>
                      <m:r>
                        <a:rPr lang="en-GB" sz="2000" i="1">
                          <a:solidFill>
                            <a:schemeClr val="tx1"/>
                          </a:solidFill>
                          <a:latin typeface="Cambria Math" panose="02040503050406030204" pitchFamily="18" charset="0"/>
                          <a:ea typeface="Cambria Math" panose="02040503050406030204" pitchFamily="18" charset="0"/>
                        </a:rPr>
                        <m:t>≤</m:t>
                      </m:r>
                      <m:f>
                        <m:fPr>
                          <m:ctrlPr>
                            <a:rPr lang="nb-NO" sz="2000" i="1">
                              <a:solidFill>
                                <a:schemeClr val="tx1"/>
                              </a:solidFill>
                              <a:latin typeface="Cambria Math" panose="02040503050406030204" pitchFamily="18" charset="0"/>
                              <a:ea typeface="Cambria Math" panose="02040503050406030204" pitchFamily="18" charset="0"/>
                            </a:rPr>
                          </m:ctrlPr>
                        </m:fPr>
                        <m:num>
                          <m:sSub>
                            <m:sSubPr>
                              <m:ctrlPr>
                                <a:rPr lang="nb-NO" sz="2000" i="1">
                                  <a:solidFill>
                                    <a:schemeClr val="tx1"/>
                                  </a:solidFill>
                                  <a:latin typeface="Cambria Math" panose="02040503050406030204" pitchFamily="18" charset="0"/>
                                  <a:ea typeface="Cambria Math" panose="02040503050406030204" pitchFamily="18" charset="0"/>
                                </a:rPr>
                              </m:ctrlPr>
                            </m:sSubPr>
                            <m:e>
                              <m:r>
                                <a:rPr lang="nb-NO" sz="2000" i="1">
                                  <a:solidFill>
                                    <a:schemeClr val="tx1"/>
                                  </a:solidFill>
                                  <a:latin typeface="Cambria Math" panose="02040503050406030204" pitchFamily="18" charset="0"/>
                                  <a:ea typeface="Cambria Math" panose="02040503050406030204" pitchFamily="18" charset="0"/>
                                </a:rPr>
                                <m:t>𝑏</m:t>
                              </m:r>
                            </m:e>
                            <m:sub>
                              <m:r>
                                <a:rPr lang="nb-NO" sz="2000" i="1">
                                  <a:solidFill>
                                    <a:schemeClr val="tx1"/>
                                  </a:solidFill>
                                  <a:latin typeface="Cambria Math" panose="02040503050406030204" pitchFamily="18" charset="0"/>
                                  <a:ea typeface="Cambria Math" panose="02040503050406030204" pitchFamily="18" charset="0"/>
                                </a:rPr>
                                <m:t>2</m:t>
                              </m:r>
                            </m:sub>
                          </m:sSub>
                          <m:r>
                            <a:rPr lang="nb-NO" sz="2000" i="1">
                              <a:solidFill>
                                <a:schemeClr val="tx1"/>
                              </a:solidFill>
                              <a:latin typeface="Cambria Math" panose="02040503050406030204" pitchFamily="18" charset="0"/>
                              <a:ea typeface="Cambria Math" panose="02040503050406030204" pitchFamily="18" charset="0"/>
                            </a:rPr>
                            <m:t>−</m:t>
                          </m:r>
                          <m:sSub>
                            <m:sSubPr>
                              <m:ctrlPr>
                                <a:rPr lang="en-US" sz="2000" i="1">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𝛽</m:t>
                              </m:r>
                            </m:e>
                            <m:sub>
                              <m:r>
                                <a:rPr lang="nb-NO" sz="2000" i="1">
                                  <a:solidFill>
                                    <a:schemeClr val="tx1"/>
                                  </a:solidFill>
                                  <a:latin typeface="Cambria Math" panose="02040503050406030204" pitchFamily="18" charset="0"/>
                                  <a:ea typeface="Cambria Math" panose="02040503050406030204" pitchFamily="18" charset="0"/>
                                </a:rPr>
                                <m:t>2</m:t>
                              </m:r>
                            </m:sub>
                          </m:sSub>
                        </m:num>
                        <m:den>
                          <m:r>
                            <a:rPr lang="nb-NO" sz="2000" i="1">
                              <a:solidFill>
                                <a:schemeClr val="tx1"/>
                              </a:solidFill>
                              <a:latin typeface="Cambria Math" panose="02040503050406030204" pitchFamily="18" charset="0"/>
                            </a:rPr>
                            <m:t>𝑠𝑒</m:t>
                          </m:r>
                          <m:r>
                            <a:rPr lang="nb-NO" sz="2000" i="1">
                              <a:solidFill>
                                <a:schemeClr val="tx1"/>
                              </a:solidFill>
                              <a:latin typeface="Cambria Math" panose="02040503050406030204" pitchFamily="18" charset="0"/>
                            </a:rPr>
                            <m:t>(</m:t>
                          </m:r>
                          <m:sSub>
                            <m:sSubPr>
                              <m:ctrlPr>
                                <a:rPr lang="nb-NO" sz="2000" i="1">
                                  <a:solidFill>
                                    <a:schemeClr val="tx1"/>
                                  </a:solidFill>
                                  <a:latin typeface="Cambria Math" panose="02040503050406030204" pitchFamily="18" charset="0"/>
                                  <a:ea typeface="Cambria Math" panose="02040503050406030204" pitchFamily="18" charset="0"/>
                                </a:rPr>
                              </m:ctrlPr>
                            </m:sSubPr>
                            <m:e>
                              <m:r>
                                <a:rPr lang="nb-NO" sz="2000" i="1">
                                  <a:solidFill>
                                    <a:schemeClr val="tx1"/>
                                  </a:solidFill>
                                  <a:latin typeface="Cambria Math" panose="02040503050406030204" pitchFamily="18" charset="0"/>
                                  <a:ea typeface="Cambria Math" panose="02040503050406030204" pitchFamily="18" charset="0"/>
                                </a:rPr>
                                <m:t>𝑏</m:t>
                              </m:r>
                            </m:e>
                            <m:sub>
                              <m:r>
                                <a:rPr lang="nb-NO" sz="2000" i="1">
                                  <a:solidFill>
                                    <a:schemeClr val="tx1"/>
                                  </a:solidFill>
                                  <a:latin typeface="Cambria Math" panose="02040503050406030204" pitchFamily="18" charset="0"/>
                                  <a:ea typeface="Cambria Math" panose="02040503050406030204" pitchFamily="18" charset="0"/>
                                </a:rPr>
                                <m:t>2</m:t>
                              </m:r>
                            </m:sub>
                          </m:sSub>
                          <m:r>
                            <a:rPr lang="nb-NO" sz="2000" i="1">
                              <a:solidFill>
                                <a:schemeClr val="tx1"/>
                              </a:solidFill>
                              <a:latin typeface="Cambria Math" panose="02040503050406030204" pitchFamily="18" charset="0"/>
                            </a:rPr>
                            <m:t>)</m:t>
                          </m:r>
                        </m:den>
                      </m:f>
                      <m:r>
                        <a:rPr lang="nb-NO" sz="2000" i="1">
                          <a:solidFill>
                            <a:schemeClr val="tx1"/>
                          </a:solidFill>
                          <a:latin typeface="Cambria Math" panose="02040503050406030204" pitchFamily="18" charset="0"/>
                          <a:ea typeface="Cambria Math" panose="02040503050406030204" pitchFamily="18" charset="0"/>
                        </a:rPr>
                        <m:t>≤</m:t>
                      </m:r>
                      <m:sSub>
                        <m:sSubPr>
                          <m:ctrlPr>
                            <a:rPr lang="nb-NO" sz="2000" i="1">
                              <a:solidFill>
                                <a:schemeClr val="tx1"/>
                              </a:solidFill>
                              <a:latin typeface="Cambria Math" panose="02040503050406030204" pitchFamily="18" charset="0"/>
                            </a:rPr>
                          </m:ctrlPr>
                        </m:sSubPr>
                        <m:e>
                          <m:r>
                            <a:rPr lang="nb-NO" sz="2000" i="1">
                              <a:solidFill>
                                <a:schemeClr val="tx1"/>
                              </a:solidFill>
                              <a:latin typeface="Cambria Math" panose="02040503050406030204" pitchFamily="18" charset="0"/>
                            </a:rPr>
                            <m:t>𝑡</m:t>
                          </m:r>
                        </m:e>
                        <m:sub>
                          <m:r>
                            <a:rPr lang="nb-NO" sz="2000" i="1">
                              <a:solidFill>
                                <a:schemeClr val="tx1"/>
                              </a:solidFill>
                              <a:latin typeface="Cambria Math" panose="02040503050406030204" pitchFamily="18" charset="0"/>
                            </a:rPr>
                            <m:t>𝑐</m:t>
                          </m:r>
                        </m:sub>
                      </m:sSub>
                    </m:oMath>
                  </m:oMathPara>
                </a14:m>
                <a:endParaRPr lang="en-US" sz="2100" dirty="0">
                  <a:solidFill>
                    <a:schemeClr val="tx1"/>
                  </a:solidFill>
                </a:endParaRPr>
              </a:p>
            </p:txBody>
          </p:sp>
        </mc:Choice>
        <mc:Fallback>
          <p:sp>
            <p:nvSpPr>
              <p:cNvPr id="7" name="Text 5"/>
              <p:cNvSpPr>
                <a:spLocks noRot="1" noChangeAspect="1" noMove="1" noResize="1" noEditPoints="1" noAdjustHandles="1" noChangeArrowheads="1" noChangeShapeType="1" noTextEdit="1"/>
              </p:cNvSpPr>
              <p:nvPr/>
            </p:nvSpPr>
            <p:spPr>
              <a:xfrm>
                <a:off x="1874520" y="1165862"/>
                <a:ext cx="5266944" cy="685795"/>
              </a:xfrm>
              <a:prstGeom prst="rect">
                <a:avLst/>
              </a:prstGeom>
              <a:blipFill>
                <a:blip r:embed="rId3"/>
                <a:stretch>
                  <a:fillRect/>
                </a:stretch>
              </a:blipFill>
              <a:ln/>
            </p:spPr>
            <p:txBody>
              <a:bodyPr/>
              <a:lstStyle/>
              <a:p>
                <a:r>
                  <a:rPr lang="en-GB">
                    <a:noFill/>
                  </a:rPr>
                  <a:t> </a:t>
                </a:r>
              </a:p>
            </p:txBody>
          </p:sp>
        </mc:Fallback>
      </mc:AlternateContent>
      <p:sp>
        <p:nvSpPr>
          <p:cNvPr id="8" name="Shape 6"/>
          <p:cNvSpPr/>
          <p:nvPr/>
        </p:nvSpPr>
        <p:spPr>
          <a:xfrm>
            <a:off x="822960" y="2103120"/>
            <a:ext cx="9784080" cy="0"/>
          </a:xfrm>
          <a:prstGeom prst="line">
            <a:avLst/>
          </a:prstGeom>
          <a:noFill/>
          <a:ln w="12700">
            <a:solidFill>
              <a:srgbClr val="E4EAEC"/>
            </a:solidFill>
            <a:prstDash val="solid"/>
          </a:ln>
        </p:spPr>
        <p:txBody>
          <a:bodyPr/>
          <a:lstStyle/>
          <a:p>
            <a:endParaRPr lang="en-GB"/>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INTERVAL ESTIMATION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The interval estimator</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7" name="Shape 5"/>
          <p:cNvSpPr/>
          <p:nvPr/>
        </p:nvSpPr>
        <p:spPr>
          <a:xfrm>
            <a:off x="868680" y="2880360"/>
            <a:ext cx="3246120" cy="2011680"/>
          </a:xfrm>
          <a:prstGeom prst="roundRect">
            <a:avLst>
              <a:gd name="adj" fmla="val 3636"/>
            </a:avLst>
          </a:prstGeom>
          <a:solidFill>
            <a:srgbClr val="EFF9FB"/>
          </a:solidFill>
          <a:ln w="12700">
            <a:solidFill>
              <a:srgbClr val="EFF9FB"/>
            </a:solidFill>
            <a:prstDash val="solid"/>
          </a:ln>
        </p:spPr>
        <p:txBody>
          <a:bodyPr/>
          <a:lstStyle/>
          <a:p>
            <a:endParaRPr lang="en-GB"/>
          </a:p>
        </p:txBody>
      </p:sp>
      <mc:AlternateContent xmlns:mc="http://schemas.openxmlformats.org/markup-compatibility/2006">
        <mc:Choice xmlns:a14="http://schemas.microsoft.com/office/drawing/2010/main" Requires="a14">
          <p:sp>
            <p:nvSpPr>
              <p:cNvPr id="8" name="Text 6"/>
              <p:cNvSpPr/>
              <p:nvPr/>
            </p:nvSpPr>
            <p:spPr>
              <a:xfrm>
                <a:off x="1033272" y="3017520"/>
                <a:ext cx="2916936" cy="292608"/>
              </a:xfrm>
              <a:prstGeom prst="rect">
                <a:avLst/>
              </a:prstGeom>
              <a:noFill/>
              <a:ln/>
            </p:spPr>
            <p:txBody>
              <a:bodyPr wrap="square" lIns="0" tIns="0" rIns="0" bIns="0" rtlCol="0" anchor="ctr"/>
              <a:lstStyle/>
              <a:p>
                <a:pPr algn="ctr"/>
                <a14:m>
                  <m:oMathPara xmlns:m="http://schemas.openxmlformats.org/officeDocument/2006/math">
                    <m:oMath>
                      <m:sSub>
                        <m:sSubPr>
                          <m:ctrlPr>
                            <a:rPr lang="nb-NO" sz="1600" i="1">
                              <a:solidFill>
                                <a:schemeClr val="tx1"/>
                              </a:solidFill>
                              <a:latin typeface="Cambria Math" panose="02040503050406030204" pitchFamily="18" charset="0"/>
                              <a:ea typeface="Cambria Math" panose="02040503050406030204" pitchFamily="18" charset="0"/>
                            </a:rPr>
                          </m:ctrlPr>
                        </m:sSubPr>
                        <m:e>
                          <m:r>
                            <a:rPr lang="nb-NO" sz="1600" i="1">
                              <a:solidFill>
                                <a:schemeClr val="tx1"/>
                              </a:solidFill>
                              <a:latin typeface="Cambria Math" panose="02040503050406030204" pitchFamily="18" charset="0"/>
                              <a:ea typeface="Cambria Math" panose="02040503050406030204" pitchFamily="18" charset="0"/>
                            </a:rPr>
                            <m:t>𝑏</m:t>
                          </m:r>
                        </m:e>
                        <m:sub>
                          <m:r>
                            <a:rPr lang="nb-NO" sz="1600" i="1">
                              <a:solidFill>
                                <a:schemeClr val="tx1"/>
                              </a:solidFill>
                              <a:latin typeface="Cambria Math" panose="02040503050406030204" pitchFamily="18" charset="0"/>
                              <a:ea typeface="Cambria Math" panose="02040503050406030204" pitchFamily="18" charset="0"/>
                            </a:rPr>
                            <m:t>2</m:t>
                          </m:r>
                        </m:sub>
                      </m:sSub>
                    </m:oMath>
                  </m:oMathPara>
                </a14:m>
                <a:endParaRPr lang="en-US" sz="1600" dirty="0">
                  <a:solidFill>
                    <a:schemeClr val="tx1"/>
                  </a:solidFill>
                </a:endParaRPr>
              </a:p>
            </p:txBody>
          </p:sp>
        </mc:Choice>
        <mc:Fallback>
          <p:sp>
            <p:nvSpPr>
              <p:cNvPr id="8" name="Text 6"/>
              <p:cNvSpPr>
                <a:spLocks noRot="1" noChangeAspect="1" noMove="1" noResize="1" noEditPoints="1" noAdjustHandles="1" noChangeArrowheads="1" noChangeShapeType="1" noTextEdit="1"/>
              </p:cNvSpPr>
              <p:nvPr/>
            </p:nvSpPr>
            <p:spPr>
              <a:xfrm>
                <a:off x="1033272" y="3017520"/>
                <a:ext cx="2916936" cy="292608"/>
              </a:xfrm>
              <a:prstGeom prst="rect">
                <a:avLst/>
              </a:prstGeom>
              <a:blipFill>
                <a:blip r:embed="rId3"/>
                <a:stretch>
                  <a:fillRect b="-4167"/>
                </a:stretch>
              </a:blipFill>
              <a:ln/>
            </p:spPr>
            <p:txBody>
              <a:bodyPr/>
              <a:lstStyle/>
              <a:p>
                <a:r>
                  <a:rPr lang="en-GB">
                    <a:noFill/>
                  </a:rPr>
                  <a:t> </a:t>
                </a:r>
              </a:p>
            </p:txBody>
          </p:sp>
        </mc:Fallback>
      </mc:AlternateContent>
      <p:sp>
        <p:nvSpPr>
          <p:cNvPr id="9" name="Text 7"/>
          <p:cNvSpPr/>
          <p:nvPr/>
        </p:nvSpPr>
        <p:spPr>
          <a:xfrm>
            <a:off x="1033272" y="3410712"/>
            <a:ext cx="2916936" cy="1325880"/>
          </a:xfrm>
          <a:prstGeom prst="rect">
            <a:avLst/>
          </a:prstGeom>
          <a:noFill/>
          <a:ln/>
        </p:spPr>
        <p:txBody>
          <a:bodyPr wrap="square" lIns="254" tIns="254" rIns="254" bIns="254" rtlCol="0" anchor="ctr"/>
          <a:lstStyle/>
          <a:p>
            <a:pPr marL="0" indent="0" algn="ctr">
              <a:buNone/>
            </a:pPr>
            <a:r>
              <a:rPr lang="en-US" sz="1400" dirty="0">
                <a:solidFill>
                  <a:srgbClr val="1F2D33"/>
                </a:solidFill>
              </a:rPr>
              <a:t>Center of the interval</a:t>
            </a:r>
            <a:endParaRPr lang="en-US" sz="1400" dirty="0"/>
          </a:p>
          <a:p>
            <a:pPr marL="0" indent="0" algn="ctr">
              <a:buNone/>
            </a:pPr>
            <a:r>
              <a:rPr lang="en-US" sz="1400" dirty="0">
                <a:solidFill>
                  <a:srgbClr val="1F2D33"/>
                </a:solidFill>
              </a:rPr>
              <a:t>Our point estimate</a:t>
            </a:r>
            <a:endParaRPr lang="en-US" sz="1400" dirty="0"/>
          </a:p>
        </p:txBody>
      </p:sp>
      <p:sp>
        <p:nvSpPr>
          <p:cNvPr id="10" name="Shape 8"/>
          <p:cNvSpPr/>
          <p:nvPr/>
        </p:nvSpPr>
        <p:spPr>
          <a:xfrm>
            <a:off x="4462272" y="2880360"/>
            <a:ext cx="3246120" cy="2011680"/>
          </a:xfrm>
          <a:prstGeom prst="roundRect">
            <a:avLst>
              <a:gd name="adj" fmla="val 3636"/>
            </a:avLst>
          </a:prstGeom>
          <a:solidFill>
            <a:srgbClr val="F4F6F7"/>
          </a:solidFill>
          <a:ln w="12700">
            <a:solidFill>
              <a:srgbClr val="F4F6F7"/>
            </a:solidFill>
            <a:prstDash val="solid"/>
          </a:ln>
        </p:spPr>
        <p:txBody>
          <a:bodyPr/>
          <a:lstStyle/>
          <a:p>
            <a:endParaRPr lang="en-GB"/>
          </a:p>
        </p:txBody>
      </p:sp>
      <mc:AlternateContent xmlns:mc="http://schemas.openxmlformats.org/markup-compatibility/2006">
        <mc:Choice xmlns:a14="http://schemas.microsoft.com/office/drawing/2010/main" Requires="a14">
          <p:sp>
            <p:nvSpPr>
              <p:cNvPr id="11" name="Text 9"/>
              <p:cNvSpPr/>
              <p:nvPr/>
            </p:nvSpPr>
            <p:spPr>
              <a:xfrm>
                <a:off x="4626864" y="3017520"/>
                <a:ext cx="2916936" cy="292608"/>
              </a:xfrm>
              <a:prstGeom prst="rect">
                <a:avLst/>
              </a:prstGeom>
              <a:noFill/>
              <a:ln/>
            </p:spPr>
            <p:txBody>
              <a:bodyPr wrap="square" lIns="0" tIns="0" rIns="0" bIns="0" rtlCol="0" anchor="ctr"/>
              <a:lstStyle/>
              <a:p>
                <a:pPr algn="ctr"/>
                <a14:m>
                  <m:oMathPara xmlns:m="http://schemas.openxmlformats.org/officeDocument/2006/math">
                    <m:oMath>
                      <m:r>
                        <a:rPr lang="nb-NO" sz="1600" i="1" smtClean="0">
                          <a:solidFill>
                            <a:schemeClr val="tx1"/>
                          </a:solidFill>
                          <a:latin typeface="Cambria Math" panose="02040503050406030204" pitchFamily="18" charset="0"/>
                        </a:rPr>
                        <m:t>𝑠𝑒</m:t>
                      </m:r>
                      <m:r>
                        <a:rPr lang="nb-NO" sz="1600" i="1" smtClean="0">
                          <a:solidFill>
                            <a:schemeClr val="tx1"/>
                          </a:solidFill>
                          <a:latin typeface="Cambria Math" panose="02040503050406030204" pitchFamily="18" charset="0"/>
                        </a:rPr>
                        <m:t>(</m:t>
                      </m:r>
                      <m:sSub>
                        <m:sSubPr>
                          <m:ctrlPr>
                            <a:rPr lang="nb-NO" sz="1600" i="1">
                              <a:solidFill>
                                <a:schemeClr val="tx1"/>
                              </a:solidFill>
                              <a:latin typeface="Cambria Math" panose="02040503050406030204" pitchFamily="18" charset="0"/>
                              <a:ea typeface="Cambria Math" panose="02040503050406030204" pitchFamily="18" charset="0"/>
                            </a:rPr>
                          </m:ctrlPr>
                        </m:sSubPr>
                        <m:e>
                          <m:r>
                            <a:rPr lang="nb-NO" sz="1600" i="1">
                              <a:solidFill>
                                <a:schemeClr val="tx1"/>
                              </a:solidFill>
                              <a:latin typeface="Cambria Math" panose="02040503050406030204" pitchFamily="18" charset="0"/>
                              <a:ea typeface="Cambria Math" panose="02040503050406030204" pitchFamily="18" charset="0"/>
                            </a:rPr>
                            <m:t>𝑏</m:t>
                          </m:r>
                        </m:e>
                        <m:sub>
                          <m:r>
                            <a:rPr lang="nb-NO" sz="1600" i="1">
                              <a:solidFill>
                                <a:schemeClr val="tx1"/>
                              </a:solidFill>
                              <a:latin typeface="Cambria Math" panose="02040503050406030204" pitchFamily="18" charset="0"/>
                              <a:ea typeface="Cambria Math" panose="02040503050406030204" pitchFamily="18" charset="0"/>
                            </a:rPr>
                            <m:t>2</m:t>
                          </m:r>
                        </m:sub>
                      </m:sSub>
                      <m:r>
                        <a:rPr lang="nb-NO" sz="1600" i="1">
                          <a:solidFill>
                            <a:schemeClr val="tx1"/>
                          </a:solidFill>
                          <a:latin typeface="Cambria Math" panose="02040503050406030204" pitchFamily="18" charset="0"/>
                        </a:rPr>
                        <m:t>)</m:t>
                      </m:r>
                    </m:oMath>
                  </m:oMathPara>
                </a14:m>
                <a:endParaRPr lang="en-US" sz="1600" dirty="0">
                  <a:solidFill>
                    <a:schemeClr val="tx1"/>
                  </a:solidFill>
                </a:endParaRPr>
              </a:p>
            </p:txBody>
          </p:sp>
        </mc:Choice>
        <mc:Fallback>
          <p:sp>
            <p:nvSpPr>
              <p:cNvPr id="11" name="Text 9"/>
              <p:cNvSpPr>
                <a:spLocks noRot="1" noChangeAspect="1" noMove="1" noResize="1" noEditPoints="1" noAdjustHandles="1" noChangeArrowheads="1" noChangeShapeType="1" noTextEdit="1"/>
              </p:cNvSpPr>
              <p:nvPr/>
            </p:nvSpPr>
            <p:spPr>
              <a:xfrm>
                <a:off x="4626864" y="3017520"/>
                <a:ext cx="2916936" cy="292608"/>
              </a:xfrm>
              <a:prstGeom prst="rect">
                <a:avLst/>
              </a:prstGeom>
              <a:blipFill>
                <a:blip r:embed="rId4"/>
                <a:stretch>
                  <a:fillRect b="-18750"/>
                </a:stretch>
              </a:blipFill>
              <a:ln/>
            </p:spPr>
            <p:txBody>
              <a:bodyPr/>
              <a:lstStyle/>
              <a:p>
                <a:r>
                  <a:rPr lang="en-GB">
                    <a:noFill/>
                  </a:rPr>
                  <a:t> </a:t>
                </a:r>
              </a:p>
            </p:txBody>
          </p:sp>
        </mc:Fallback>
      </mc:AlternateContent>
      <p:sp>
        <p:nvSpPr>
          <p:cNvPr id="12" name="Text 10"/>
          <p:cNvSpPr/>
          <p:nvPr/>
        </p:nvSpPr>
        <p:spPr>
          <a:xfrm>
            <a:off x="4626864" y="3410712"/>
            <a:ext cx="2916936" cy="1325880"/>
          </a:xfrm>
          <a:prstGeom prst="rect">
            <a:avLst/>
          </a:prstGeom>
          <a:noFill/>
          <a:ln/>
        </p:spPr>
        <p:txBody>
          <a:bodyPr wrap="square" lIns="254" tIns="254" rIns="254" bIns="254" rtlCol="0" anchor="ctr"/>
          <a:lstStyle/>
          <a:p>
            <a:pPr marL="0" indent="0" algn="ctr">
              <a:buNone/>
            </a:pPr>
            <a:r>
              <a:rPr lang="en-US" sz="1400" dirty="0">
                <a:solidFill>
                  <a:srgbClr val="1F2D33"/>
                </a:solidFill>
              </a:rPr>
              <a:t>Sampling uncertainty</a:t>
            </a:r>
            <a:endParaRPr lang="en-US" sz="1400" dirty="0"/>
          </a:p>
          <a:p>
            <a:pPr marL="0" indent="0" algn="ctr">
              <a:buNone/>
            </a:pPr>
            <a:r>
              <a:rPr lang="en-US" sz="1400" dirty="0">
                <a:solidFill>
                  <a:srgbClr val="1F2D33"/>
                </a:solidFill>
              </a:rPr>
              <a:t>Larger SE → wider interval</a:t>
            </a:r>
            <a:endParaRPr lang="en-US" sz="1400" dirty="0"/>
          </a:p>
        </p:txBody>
      </p:sp>
      <p:sp>
        <p:nvSpPr>
          <p:cNvPr id="13" name="Shape 11"/>
          <p:cNvSpPr/>
          <p:nvPr/>
        </p:nvSpPr>
        <p:spPr>
          <a:xfrm>
            <a:off x="8065008" y="2880360"/>
            <a:ext cx="3246120" cy="2011680"/>
          </a:xfrm>
          <a:prstGeom prst="roundRect">
            <a:avLst>
              <a:gd name="adj" fmla="val 3636"/>
            </a:avLst>
          </a:prstGeom>
          <a:solidFill>
            <a:srgbClr val="FFF1F2"/>
          </a:solidFill>
          <a:ln w="12700">
            <a:solidFill>
              <a:srgbClr val="FFF1F2"/>
            </a:solidFill>
            <a:prstDash val="solid"/>
          </a:ln>
        </p:spPr>
        <p:txBody>
          <a:bodyPr/>
          <a:lstStyle/>
          <a:p>
            <a:endParaRPr lang="en-GB"/>
          </a:p>
        </p:txBody>
      </p:sp>
      <mc:AlternateContent xmlns:mc="http://schemas.openxmlformats.org/markup-compatibility/2006">
        <mc:Choice xmlns:a14="http://schemas.microsoft.com/office/drawing/2010/main" Requires="a14">
          <p:sp>
            <p:nvSpPr>
              <p:cNvPr id="14" name="Text 12"/>
              <p:cNvSpPr/>
              <p:nvPr/>
            </p:nvSpPr>
            <p:spPr>
              <a:xfrm>
                <a:off x="8229600" y="3017520"/>
                <a:ext cx="2916936" cy="292608"/>
              </a:xfrm>
              <a:prstGeom prst="rect">
                <a:avLst/>
              </a:prstGeom>
              <a:noFill/>
              <a:ln/>
            </p:spPr>
            <p:txBody>
              <a:bodyPr wrap="square" lIns="0" tIns="0" rIns="0" bIns="0" rtlCol="0" anchor="ctr"/>
              <a:lstStyle/>
              <a:p>
                <a:pPr algn="ctr"/>
                <a14:m>
                  <m:oMathPara xmlns:m="http://schemas.openxmlformats.org/officeDocument/2006/math">
                    <m:oMath>
                      <m:sSub>
                        <m:sSubPr>
                          <m:ctrlPr>
                            <a:rPr lang="nb-NO" sz="1600" i="1">
                              <a:solidFill>
                                <a:schemeClr val="tx1"/>
                              </a:solidFill>
                              <a:latin typeface="Cambria Math" panose="02040503050406030204" pitchFamily="18" charset="0"/>
                              <a:ea typeface="Cambria Math" panose="02040503050406030204" pitchFamily="18" charset="0"/>
                            </a:rPr>
                          </m:ctrlPr>
                        </m:sSubPr>
                        <m:e>
                          <m:r>
                            <a:rPr lang="nb-NO" sz="1600" i="1">
                              <a:solidFill>
                                <a:schemeClr val="tx1"/>
                              </a:solidFill>
                              <a:latin typeface="Cambria Math" panose="02040503050406030204" pitchFamily="18" charset="0"/>
                              <a:ea typeface="Cambria Math" panose="02040503050406030204" pitchFamily="18" charset="0"/>
                            </a:rPr>
                            <m:t>𝑡</m:t>
                          </m:r>
                        </m:e>
                        <m:sub>
                          <m:r>
                            <a:rPr lang="nb-NO" sz="1600" i="1">
                              <a:solidFill>
                                <a:schemeClr val="tx1"/>
                              </a:solidFill>
                              <a:latin typeface="Cambria Math" panose="02040503050406030204" pitchFamily="18" charset="0"/>
                              <a:ea typeface="Cambria Math" panose="02040503050406030204" pitchFamily="18" charset="0"/>
                            </a:rPr>
                            <m:t>𝑐</m:t>
                          </m:r>
                        </m:sub>
                      </m:sSub>
                    </m:oMath>
                  </m:oMathPara>
                </a14:m>
                <a:endParaRPr lang="en-US" sz="1600" dirty="0">
                  <a:solidFill>
                    <a:schemeClr val="tx1"/>
                  </a:solidFill>
                </a:endParaRPr>
              </a:p>
            </p:txBody>
          </p:sp>
        </mc:Choice>
        <mc:Fallback>
          <p:sp>
            <p:nvSpPr>
              <p:cNvPr id="14" name="Text 12"/>
              <p:cNvSpPr>
                <a:spLocks noRot="1" noChangeAspect="1" noMove="1" noResize="1" noEditPoints="1" noAdjustHandles="1" noChangeArrowheads="1" noChangeShapeType="1" noTextEdit="1"/>
              </p:cNvSpPr>
              <p:nvPr/>
            </p:nvSpPr>
            <p:spPr>
              <a:xfrm>
                <a:off x="8229600" y="3017520"/>
                <a:ext cx="2916936" cy="292608"/>
              </a:xfrm>
              <a:prstGeom prst="rect">
                <a:avLst/>
              </a:prstGeom>
              <a:blipFill>
                <a:blip r:embed="rId5"/>
                <a:stretch>
                  <a:fillRect/>
                </a:stretch>
              </a:blipFill>
              <a:ln/>
            </p:spPr>
            <p:txBody>
              <a:bodyPr/>
              <a:lstStyle/>
              <a:p>
                <a:r>
                  <a:rPr lang="en-GB">
                    <a:noFill/>
                  </a:rPr>
                  <a:t> </a:t>
                </a:r>
              </a:p>
            </p:txBody>
          </p:sp>
        </mc:Fallback>
      </mc:AlternateContent>
      <p:sp>
        <p:nvSpPr>
          <p:cNvPr id="15" name="Text 13"/>
          <p:cNvSpPr/>
          <p:nvPr/>
        </p:nvSpPr>
        <p:spPr>
          <a:xfrm>
            <a:off x="8229600" y="3410712"/>
            <a:ext cx="2916936" cy="1325880"/>
          </a:xfrm>
          <a:prstGeom prst="rect">
            <a:avLst/>
          </a:prstGeom>
          <a:noFill/>
          <a:ln/>
        </p:spPr>
        <p:txBody>
          <a:bodyPr wrap="square" lIns="254" tIns="254" rIns="254" bIns="254" rtlCol="0" anchor="ctr"/>
          <a:lstStyle/>
          <a:p>
            <a:pPr marL="0" indent="0" algn="ctr">
              <a:buNone/>
            </a:pPr>
            <a:r>
              <a:rPr lang="en-US" sz="1400" dirty="0">
                <a:solidFill>
                  <a:srgbClr val="1F2D33"/>
                </a:solidFill>
              </a:rPr>
              <a:t>How much probability we want in the procedure</a:t>
            </a:r>
            <a:endParaRPr lang="en-US" sz="1400" dirty="0"/>
          </a:p>
          <a:p>
            <a:pPr marL="0" indent="0" algn="ctr">
              <a:buNone/>
            </a:pPr>
            <a:r>
              <a:rPr lang="en-US" sz="1400" dirty="0">
                <a:solidFill>
                  <a:srgbClr val="1F2D33"/>
                </a:solidFill>
              </a:rPr>
              <a:t>Depends on confidence level and df</a:t>
            </a:r>
            <a:endParaRPr lang="en-US" sz="1400" dirty="0"/>
          </a:p>
        </p:txBody>
      </p:sp>
      <p:sp>
        <p:nvSpPr>
          <p:cNvPr id="16" name="Text 14"/>
          <p:cNvSpPr/>
          <p:nvPr/>
        </p:nvSpPr>
        <p:spPr>
          <a:xfrm>
            <a:off x="2286000" y="5349240"/>
            <a:ext cx="7772400" cy="411480"/>
          </a:xfrm>
          <a:prstGeom prst="rect">
            <a:avLst/>
          </a:prstGeom>
          <a:noFill/>
          <a:ln/>
        </p:spPr>
        <p:txBody>
          <a:bodyPr wrap="square" lIns="0" tIns="0" rIns="0" bIns="0" rtlCol="0" anchor="ctr"/>
          <a:lstStyle/>
          <a:p>
            <a:pPr marL="0" indent="0" algn="ctr">
              <a:buNone/>
            </a:pPr>
            <a:r>
              <a:rPr lang="en-US" sz="2000" b="1" dirty="0">
                <a:solidFill>
                  <a:srgbClr val="00566B"/>
                </a:solidFill>
              </a:rPr>
              <a:t>Estimate + uncertainty + chosen coverage procedure</a:t>
            </a:r>
            <a:endParaRPr lang="en-US" sz="20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15</a:t>
            </a:fld>
            <a:endParaRPr lang="en-US"/>
          </a:p>
        </p:txBody>
      </p:sp>
      <mc:AlternateContent xmlns:mc="http://schemas.openxmlformats.org/markup-compatibility/2006">
        <mc:Choice xmlns:a14="http://schemas.microsoft.com/office/drawing/2010/main" Requires="a14">
          <p:sp>
            <p:nvSpPr>
              <p:cNvPr id="22" name="Rectangle: Rounded Corners 10">
                <a:extLst>
                  <a:ext uri="{FF2B5EF4-FFF2-40B4-BE49-F238E27FC236}">
                    <a16:creationId xmlns:a16="http://schemas.microsoft.com/office/drawing/2014/main" id="{072EE9A1-C5E3-7925-EA63-D2D50DF42E04}"/>
                  </a:ext>
                </a:extLst>
              </p:cNvPr>
              <p:cNvSpPr/>
              <p:nvPr/>
            </p:nvSpPr>
            <p:spPr>
              <a:xfrm>
                <a:off x="1600200" y="1438655"/>
                <a:ext cx="8458200" cy="838200"/>
              </a:xfrm>
              <a:prstGeom prst="roundRect">
                <a:avLst/>
              </a:prstGeom>
              <a:solidFill>
                <a:srgbClr val="20BCE6"/>
              </a:solidFill>
              <a:ln w="9525">
                <a:solidFill>
                  <a:srgbClr val="0056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14:m>
                  <m:oMathPara xmlns:m="http://schemas.openxmlformats.org/officeDocument/2006/math">
                    <m:oMath>
                      <m:sSub>
                        <m:sSubPr>
                          <m:ctrlPr>
                            <a:rPr lang="nb-NO" sz="2400" i="1">
                              <a:solidFill>
                                <a:prstClr val="white"/>
                              </a:solidFill>
                              <a:latin typeface="Cambria Math" panose="02040503050406030204" pitchFamily="18" charset="0"/>
                              <a:ea typeface="Cambria Math" panose="02040503050406030204" pitchFamily="18" charset="0"/>
                            </a:rPr>
                          </m:ctrlPr>
                        </m:sSubPr>
                        <m:e>
                          <m:r>
                            <a:rPr lang="nb-NO" sz="2400" i="1">
                              <a:solidFill>
                                <a:prstClr val="white"/>
                              </a:solidFill>
                              <a:latin typeface="Cambria Math" panose="02040503050406030204" pitchFamily="18" charset="0"/>
                              <a:ea typeface="Cambria Math" panose="02040503050406030204" pitchFamily="18" charset="0"/>
                            </a:rPr>
                            <m:t>𝑏</m:t>
                          </m:r>
                        </m:e>
                        <m:sub>
                          <m:r>
                            <a:rPr lang="nb-NO" sz="2400" i="1">
                              <a:solidFill>
                                <a:prstClr val="white"/>
                              </a:solidFill>
                              <a:latin typeface="Cambria Math" panose="02040503050406030204" pitchFamily="18" charset="0"/>
                              <a:ea typeface="Cambria Math" panose="02040503050406030204" pitchFamily="18" charset="0"/>
                            </a:rPr>
                            <m:t>2</m:t>
                          </m:r>
                        </m:sub>
                      </m:sSub>
                      <m:r>
                        <a:rPr lang="nb-NO" sz="2400" i="1" smtClean="0">
                          <a:solidFill>
                            <a:prstClr val="white"/>
                          </a:solidFill>
                          <a:latin typeface="Cambria Math" panose="02040503050406030204" pitchFamily="18" charset="0"/>
                          <a:ea typeface="Cambria Math" panose="02040503050406030204" pitchFamily="18" charset="0"/>
                        </a:rPr>
                        <m:t>±</m:t>
                      </m:r>
                      <m:sSub>
                        <m:sSubPr>
                          <m:ctrlPr>
                            <a:rPr lang="nb-NO" sz="2400" b="0" i="1" smtClean="0">
                              <a:solidFill>
                                <a:prstClr val="white"/>
                              </a:solidFill>
                              <a:latin typeface="Cambria Math" panose="02040503050406030204" pitchFamily="18" charset="0"/>
                              <a:ea typeface="Cambria Math" panose="02040503050406030204" pitchFamily="18" charset="0"/>
                            </a:rPr>
                          </m:ctrlPr>
                        </m:sSubPr>
                        <m:e>
                          <m:r>
                            <a:rPr lang="nb-NO" sz="2400" b="0" i="1" smtClean="0">
                              <a:solidFill>
                                <a:prstClr val="white"/>
                              </a:solidFill>
                              <a:latin typeface="Cambria Math" panose="02040503050406030204" pitchFamily="18" charset="0"/>
                              <a:ea typeface="Cambria Math" panose="02040503050406030204" pitchFamily="18" charset="0"/>
                            </a:rPr>
                            <m:t>𝑡</m:t>
                          </m:r>
                        </m:e>
                        <m:sub>
                          <m:r>
                            <a:rPr lang="nb-NO" sz="2400" b="0" i="1" smtClean="0">
                              <a:solidFill>
                                <a:prstClr val="white"/>
                              </a:solidFill>
                              <a:latin typeface="Cambria Math" panose="02040503050406030204" pitchFamily="18" charset="0"/>
                              <a:ea typeface="Cambria Math" panose="02040503050406030204" pitchFamily="18" charset="0"/>
                            </a:rPr>
                            <m:t>𝑐</m:t>
                          </m:r>
                        </m:sub>
                      </m:sSub>
                      <m:r>
                        <a:rPr lang="nb-NO" sz="2400" i="1" smtClean="0">
                          <a:solidFill>
                            <a:prstClr val="white"/>
                          </a:solidFill>
                          <a:latin typeface="Cambria Math" panose="02040503050406030204" pitchFamily="18" charset="0"/>
                          <a:ea typeface="Cambria Math" panose="02040503050406030204" pitchFamily="18" charset="0"/>
                        </a:rPr>
                        <m:t>∙</m:t>
                      </m:r>
                      <m:r>
                        <a:rPr lang="nb-NO" sz="2400" i="1">
                          <a:solidFill>
                            <a:srgbClr val="FFFFFF"/>
                          </a:solidFill>
                          <a:latin typeface="Cambria Math" panose="02040503050406030204" pitchFamily="18" charset="0"/>
                        </a:rPr>
                        <m:t>𝑠𝑒</m:t>
                      </m:r>
                      <m:r>
                        <a:rPr lang="nb-NO" sz="2400" i="1">
                          <a:solidFill>
                            <a:srgbClr val="FFFFFF"/>
                          </a:solidFill>
                          <a:latin typeface="Cambria Math" panose="02040503050406030204" pitchFamily="18" charset="0"/>
                        </a:rPr>
                        <m:t>(</m:t>
                      </m:r>
                      <m:sSub>
                        <m:sSubPr>
                          <m:ctrlPr>
                            <a:rPr lang="nb-NO" sz="2400" i="1">
                              <a:solidFill>
                                <a:prstClr val="white"/>
                              </a:solidFill>
                              <a:latin typeface="Cambria Math" panose="02040503050406030204" pitchFamily="18" charset="0"/>
                              <a:ea typeface="Cambria Math" panose="02040503050406030204" pitchFamily="18" charset="0"/>
                            </a:rPr>
                          </m:ctrlPr>
                        </m:sSubPr>
                        <m:e>
                          <m:r>
                            <a:rPr lang="nb-NO" sz="2400" i="1">
                              <a:solidFill>
                                <a:prstClr val="white"/>
                              </a:solidFill>
                              <a:latin typeface="Cambria Math" panose="02040503050406030204" pitchFamily="18" charset="0"/>
                              <a:ea typeface="Cambria Math" panose="02040503050406030204" pitchFamily="18" charset="0"/>
                            </a:rPr>
                            <m:t>𝑏</m:t>
                          </m:r>
                        </m:e>
                        <m:sub>
                          <m:r>
                            <a:rPr lang="nb-NO" sz="2400" i="1">
                              <a:solidFill>
                                <a:prstClr val="white"/>
                              </a:solidFill>
                              <a:latin typeface="Cambria Math" panose="02040503050406030204" pitchFamily="18" charset="0"/>
                              <a:ea typeface="Cambria Math" panose="02040503050406030204" pitchFamily="18" charset="0"/>
                            </a:rPr>
                            <m:t>2</m:t>
                          </m:r>
                        </m:sub>
                      </m:sSub>
                      <m:r>
                        <a:rPr lang="nb-NO" sz="2400" i="1">
                          <a:solidFill>
                            <a:srgbClr val="FFFFFF"/>
                          </a:solidFill>
                          <a:latin typeface="Cambria Math" panose="02040503050406030204" pitchFamily="18" charset="0"/>
                        </a:rPr>
                        <m:t>)</m:t>
                      </m:r>
                    </m:oMath>
                  </m:oMathPara>
                </a14:m>
                <a:endParaRPr kumimoji="0" lang="en-GB" sz="2400" i="0" u="none" strike="noStrike" kern="1200" cap="none" spc="0" normalizeH="0" baseline="0" noProof="0" dirty="0">
                  <a:ln>
                    <a:noFill/>
                  </a:ln>
                  <a:solidFill>
                    <a:srgbClr val="FFFFFF"/>
                  </a:solidFill>
                  <a:effectLst/>
                  <a:uLnTx/>
                  <a:uFillTx/>
                  <a:latin typeface="Aptos Display" panose="020B0004020202020204" pitchFamily="34" charset="0"/>
                  <a:cs typeface="+mn-cs"/>
                </a:endParaRPr>
              </a:p>
            </p:txBody>
          </p:sp>
        </mc:Choice>
        <mc:Fallback>
          <p:sp>
            <p:nvSpPr>
              <p:cNvPr id="22" name="Rectangle: Rounded Corners 10">
                <a:extLst>
                  <a:ext uri="{FF2B5EF4-FFF2-40B4-BE49-F238E27FC236}">
                    <a16:creationId xmlns:a16="http://schemas.microsoft.com/office/drawing/2014/main" id="{072EE9A1-C5E3-7925-EA63-D2D50DF42E04}"/>
                  </a:ext>
                </a:extLst>
              </p:cNvPr>
              <p:cNvSpPr>
                <a:spLocks noRot="1" noChangeAspect="1" noMove="1" noResize="1" noEditPoints="1" noAdjustHandles="1" noChangeArrowheads="1" noChangeShapeType="1" noTextEdit="1"/>
              </p:cNvSpPr>
              <p:nvPr/>
            </p:nvSpPr>
            <p:spPr>
              <a:xfrm>
                <a:off x="1600200" y="1438655"/>
                <a:ext cx="8458200" cy="838200"/>
              </a:xfrm>
              <a:prstGeom prst="roundRect">
                <a:avLst/>
              </a:prstGeom>
              <a:blipFill>
                <a:blip r:embed="rId6"/>
                <a:stretch>
                  <a:fillRect/>
                </a:stretch>
              </a:blipFill>
              <a:ln w="9525">
                <a:solidFill>
                  <a:srgbClr val="00566B"/>
                </a:solidFill>
              </a:ln>
            </p:spPr>
            <p:txBody>
              <a:bodyPr/>
              <a:lstStyle/>
              <a:p>
                <a:r>
                  <a:rPr lang="en-GB">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114800" cy="201168"/>
          </a:xfrm>
          <a:prstGeom prst="rect">
            <a:avLst/>
          </a:prstGeom>
          <a:noFill/>
        </p:spPr>
        <p:txBody>
          <a:bodyPr wrap="square" anchor="ctr">
            <a:spAutoFit/>
          </a:bodyPr>
          <a:lstStyle/>
          <a:p>
            <a:pPr algn="l"/>
            <a:r>
              <a:rPr sz="900" b="1">
                <a:solidFill>
                  <a:srgbClr val="20B4D6"/>
                </a:solidFill>
                <a:latin typeface="Aptos"/>
              </a:rPr>
              <a:t>FROM SESSION 10</a:t>
            </a:r>
          </a:p>
        </p:txBody>
      </p:sp>
      <p:sp>
        <p:nvSpPr>
          <p:cNvPr id="3" name="TextBox 2"/>
          <p:cNvSpPr txBox="1"/>
          <p:nvPr/>
        </p:nvSpPr>
        <p:spPr>
          <a:xfrm>
            <a:off x="548640" y="512064"/>
            <a:ext cx="10607040" cy="457200"/>
          </a:xfrm>
          <a:prstGeom prst="rect">
            <a:avLst/>
          </a:prstGeom>
          <a:noFill/>
        </p:spPr>
        <p:txBody>
          <a:bodyPr wrap="square" anchor="ctr">
            <a:spAutoFit/>
          </a:bodyPr>
          <a:lstStyle/>
          <a:p>
            <a:pPr algn="l"/>
            <a:r>
              <a:rPr sz="2400" b="0">
                <a:solidFill>
                  <a:srgbClr val="1F2D33"/>
                </a:solidFill>
                <a:latin typeface="Aptos"/>
              </a:rPr>
              <a:t>We built OLS from these five observations</a:t>
            </a:r>
          </a:p>
        </p:txBody>
      </p:sp>
      <p:sp>
        <p:nvSpPr>
          <p:cNvPr id="4" name="TextBox 3"/>
          <p:cNvSpPr txBox="1"/>
          <p:nvPr/>
        </p:nvSpPr>
        <p:spPr>
          <a:xfrm>
            <a:off x="548640" y="969264"/>
            <a:ext cx="10058400" cy="274320"/>
          </a:xfrm>
          <a:prstGeom prst="rect">
            <a:avLst/>
          </a:prstGeom>
          <a:noFill/>
        </p:spPr>
        <p:txBody>
          <a:bodyPr wrap="square" anchor="ctr">
            <a:spAutoFit/>
          </a:bodyPr>
          <a:lstStyle/>
          <a:p>
            <a:pPr algn="l"/>
            <a:r>
              <a:rPr sz="1200" b="0">
                <a:solidFill>
                  <a:srgbClr val="69767C"/>
                </a:solidFill>
                <a:latin typeface="Aptos"/>
              </a:rPr>
              <a:t>Everything below was calculated by hand before using lm().</a:t>
            </a:r>
          </a:p>
        </p:txBody>
      </p:sp>
      <p:sp>
        <p:nvSpPr>
          <p:cNvPr id="5" name="Rectangle 4"/>
          <p:cNvSpPr/>
          <p:nvPr/>
        </p:nvSpPr>
        <p:spPr>
          <a:xfrm>
            <a:off x="11631168" y="566928"/>
            <a:ext cx="45720" cy="5650992"/>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417320"/>
            <a:ext cx="6263640" cy="4160520"/>
          </a:xfrm>
          <a:prstGeom prst="roundRect">
            <a:avLst/>
          </a:prstGeom>
          <a:solidFill>
            <a:srgbClr val="FFFFFF"/>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ession10_small_data.png"/>
          <p:cNvPicPr>
            <a:picLocks noChangeAspect="1"/>
          </p:cNvPicPr>
          <p:nvPr/>
        </p:nvPicPr>
        <p:blipFill>
          <a:blip r:embed="rId3"/>
          <a:stretch>
            <a:fillRect/>
          </a:stretch>
        </p:blipFill>
        <p:spPr>
          <a:xfrm>
            <a:off x="804672" y="1664208"/>
            <a:ext cx="5715000" cy="3593592"/>
          </a:xfrm>
          <a:prstGeom prst="rect">
            <a:avLst/>
          </a:prstGeom>
        </p:spPr>
      </p:pic>
      <p:sp>
        <p:nvSpPr>
          <p:cNvPr id="8" name="TextBox 7"/>
          <p:cNvSpPr txBox="1"/>
          <p:nvPr/>
        </p:nvSpPr>
        <p:spPr>
          <a:xfrm>
            <a:off x="1115568" y="5221224"/>
            <a:ext cx="5138928" cy="237744"/>
          </a:xfrm>
          <a:prstGeom prst="rect">
            <a:avLst/>
          </a:prstGeom>
          <a:noFill/>
        </p:spPr>
        <p:txBody>
          <a:bodyPr wrap="square" anchor="ctr">
            <a:spAutoFit/>
          </a:bodyPr>
          <a:lstStyle/>
          <a:p>
            <a:pPr algn="ctr"/>
            <a:r>
              <a:rPr sz="1100" b="0">
                <a:solidFill>
                  <a:srgbClr val="69767C"/>
                </a:solidFill>
                <a:latin typeface="Aptos"/>
              </a:rPr>
              <a:t>x = explanatory variable      y = outcome variable</a:t>
            </a:r>
          </a:p>
        </p:txBody>
      </p:sp>
      <p:sp>
        <p:nvSpPr>
          <p:cNvPr id="9" name="TextBox 8"/>
          <p:cNvSpPr txBox="1"/>
          <p:nvPr/>
        </p:nvSpPr>
        <p:spPr>
          <a:xfrm>
            <a:off x="7150608" y="1417320"/>
            <a:ext cx="1828800" cy="274320"/>
          </a:xfrm>
          <a:prstGeom prst="rect">
            <a:avLst/>
          </a:prstGeom>
          <a:noFill/>
        </p:spPr>
        <p:txBody>
          <a:bodyPr wrap="square" anchor="ctr">
            <a:spAutoFit/>
          </a:bodyPr>
          <a:lstStyle/>
          <a:p>
            <a:pPr algn="l"/>
            <a:r>
              <a:rPr sz="1500" b="1">
                <a:solidFill>
                  <a:srgbClr val="1F2D33"/>
                </a:solidFill>
                <a:latin typeface="Aptos"/>
              </a:rPr>
              <a:t>The data</a:t>
            </a:r>
          </a:p>
        </p:txBody>
      </p:sp>
      <p:sp>
        <p:nvSpPr>
          <p:cNvPr id="10" name="Rectangle 9"/>
          <p:cNvSpPr/>
          <p:nvPr/>
        </p:nvSpPr>
        <p:spPr>
          <a:xfrm>
            <a:off x="7150608" y="1783080"/>
            <a:ext cx="960120" cy="384048"/>
          </a:xfrm>
          <a:prstGeom prst="rect">
            <a:avLst/>
          </a:prstGeom>
          <a:solidFill>
            <a:srgbClr val="DD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50608" y="1783080"/>
            <a:ext cx="960120" cy="384048"/>
          </a:xfrm>
          <a:prstGeom prst="rect">
            <a:avLst/>
          </a:prstGeom>
          <a:noFill/>
        </p:spPr>
        <p:txBody>
          <a:bodyPr wrap="square" anchor="ctr">
            <a:spAutoFit/>
          </a:bodyPr>
          <a:lstStyle/>
          <a:p>
            <a:pPr algn="ctr"/>
            <a:r>
              <a:rPr sz="1200" b="1">
                <a:solidFill>
                  <a:srgbClr val="00566B"/>
                </a:solidFill>
                <a:latin typeface="Aptos"/>
              </a:rPr>
              <a:t>x</a:t>
            </a:r>
          </a:p>
        </p:txBody>
      </p:sp>
      <p:sp>
        <p:nvSpPr>
          <p:cNvPr id="12" name="Rectangle 11"/>
          <p:cNvSpPr/>
          <p:nvPr/>
        </p:nvSpPr>
        <p:spPr>
          <a:xfrm>
            <a:off x="8110728" y="1783080"/>
            <a:ext cx="960120" cy="384048"/>
          </a:xfrm>
          <a:prstGeom prst="rect">
            <a:avLst/>
          </a:prstGeom>
          <a:solidFill>
            <a:srgbClr val="DD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10728" y="1783080"/>
            <a:ext cx="960120" cy="384048"/>
          </a:xfrm>
          <a:prstGeom prst="rect">
            <a:avLst/>
          </a:prstGeom>
          <a:noFill/>
        </p:spPr>
        <p:txBody>
          <a:bodyPr wrap="square" anchor="ctr">
            <a:spAutoFit/>
          </a:bodyPr>
          <a:lstStyle/>
          <a:p>
            <a:pPr algn="ctr"/>
            <a:r>
              <a:rPr sz="1200" b="1">
                <a:solidFill>
                  <a:srgbClr val="00566B"/>
                </a:solidFill>
                <a:latin typeface="Aptos"/>
              </a:rPr>
              <a:t>y</a:t>
            </a:r>
          </a:p>
        </p:txBody>
      </p:sp>
      <p:sp>
        <p:nvSpPr>
          <p:cNvPr id="14" name="Rectangle 13"/>
          <p:cNvSpPr/>
          <p:nvPr/>
        </p:nvSpPr>
        <p:spPr>
          <a:xfrm>
            <a:off x="7150608" y="2167128"/>
            <a:ext cx="960120" cy="384048"/>
          </a:xfrm>
          <a:prstGeom prst="rect">
            <a:avLst/>
          </a:prstGeom>
          <a:solidFill>
            <a:srgbClr val="FFFFFF"/>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50608" y="2167128"/>
            <a:ext cx="960120" cy="384048"/>
          </a:xfrm>
          <a:prstGeom prst="rect">
            <a:avLst/>
          </a:prstGeom>
          <a:noFill/>
        </p:spPr>
        <p:txBody>
          <a:bodyPr wrap="square" anchor="ctr">
            <a:spAutoFit/>
          </a:bodyPr>
          <a:lstStyle/>
          <a:p>
            <a:pPr algn="ctr"/>
            <a:r>
              <a:rPr sz="1200" b="0">
                <a:solidFill>
                  <a:srgbClr val="1F2D33"/>
                </a:solidFill>
                <a:latin typeface="Aptos"/>
              </a:rPr>
              <a:t>-1</a:t>
            </a:r>
          </a:p>
        </p:txBody>
      </p:sp>
      <p:sp>
        <p:nvSpPr>
          <p:cNvPr id="16" name="Rectangle 15"/>
          <p:cNvSpPr/>
          <p:nvPr/>
        </p:nvSpPr>
        <p:spPr>
          <a:xfrm>
            <a:off x="8110728" y="2167128"/>
            <a:ext cx="960120" cy="384048"/>
          </a:xfrm>
          <a:prstGeom prst="rect">
            <a:avLst/>
          </a:prstGeom>
          <a:solidFill>
            <a:srgbClr val="FFFFFF"/>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10728" y="2167128"/>
            <a:ext cx="960120" cy="384048"/>
          </a:xfrm>
          <a:prstGeom prst="rect">
            <a:avLst/>
          </a:prstGeom>
          <a:noFill/>
        </p:spPr>
        <p:txBody>
          <a:bodyPr wrap="square" anchor="ctr">
            <a:spAutoFit/>
          </a:bodyPr>
          <a:lstStyle/>
          <a:p>
            <a:pPr algn="ctr"/>
            <a:r>
              <a:rPr sz="1200" b="0">
                <a:solidFill>
                  <a:srgbClr val="1F2D33"/>
                </a:solidFill>
                <a:latin typeface="Aptos"/>
              </a:rPr>
              <a:t>1</a:t>
            </a:r>
          </a:p>
        </p:txBody>
      </p:sp>
      <p:sp>
        <p:nvSpPr>
          <p:cNvPr id="18" name="Rectangle 17"/>
          <p:cNvSpPr/>
          <p:nvPr/>
        </p:nvSpPr>
        <p:spPr>
          <a:xfrm>
            <a:off x="7150608" y="2551176"/>
            <a:ext cx="960120" cy="384048"/>
          </a:xfrm>
          <a:prstGeom prst="rect">
            <a:avLst/>
          </a:prstGeom>
          <a:solidFill>
            <a:srgbClr val="F3F6F7"/>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50608" y="2551176"/>
            <a:ext cx="960120" cy="384048"/>
          </a:xfrm>
          <a:prstGeom prst="rect">
            <a:avLst/>
          </a:prstGeom>
          <a:noFill/>
        </p:spPr>
        <p:txBody>
          <a:bodyPr wrap="square" anchor="ctr">
            <a:spAutoFit/>
          </a:bodyPr>
          <a:lstStyle/>
          <a:p>
            <a:pPr algn="ctr"/>
            <a:r>
              <a:rPr sz="1200" b="0">
                <a:solidFill>
                  <a:srgbClr val="1F2D33"/>
                </a:solidFill>
                <a:latin typeface="Aptos"/>
              </a:rPr>
              <a:t>0</a:t>
            </a:r>
          </a:p>
        </p:txBody>
      </p:sp>
      <p:sp>
        <p:nvSpPr>
          <p:cNvPr id="20" name="Rectangle 19"/>
          <p:cNvSpPr/>
          <p:nvPr/>
        </p:nvSpPr>
        <p:spPr>
          <a:xfrm>
            <a:off x="8110728" y="2551176"/>
            <a:ext cx="960120" cy="384048"/>
          </a:xfrm>
          <a:prstGeom prst="rect">
            <a:avLst/>
          </a:prstGeom>
          <a:solidFill>
            <a:srgbClr val="F3F6F7"/>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10728" y="2551176"/>
            <a:ext cx="960120" cy="384048"/>
          </a:xfrm>
          <a:prstGeom prst="rect">
            <a:avLst/>
          </a:prstGeom>
          <a:noFill/>
        </p:spPr>
        <p:txBody>
          <a:bodyPr wrap="square" anchor="ctr">
            <a:spAutoFit/>
          </a:bodyPr>
          <a:lstStyle/>
          <a:p>
            <a:pPr algn="ctr"/>
            <a:r>
              <a:rPr sz="1200" b="0">
                <a:solidFill>
                  <a:srgbClr val="1F2D33"/>
                </a:solidFill>
                <a:latin typeface="Aptos"/>
              </a:rPr>
              <a:t>0</a:t>
            </a:r>
          </a:p>
        </p:txBody>
      </p:sp>
      <p:sp>
        <p:nvSpPr>
          <p:cNvPr id="22" name="Rectangle 21"/>
          <p:cNvSpPr/>
          <p:nvPr/>
        </p:nvSpPr>
        <p:spPr>
          <a:xfrm>
            <a:off x="7150608" y="2935224"/>
            <a:ext cx="960120" cy="384048"/>
          </a:xfrm>
          <a:prstGeom prst="rect">
            <a:avLst/>
          </a:prstGeom>
          <a:solidFill>
            <a:srgbClr val="FFFFFF"/>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50608" y="2935224"/>
            <a:ext cx="960120" cy="384048"/>
          </a:xfrm>
          <a:prstGeom prst="rect">
            <a:avLst/>
          </a:prstGeom>
          <a:noFill/>
        </p:spPr>
        <p:txBody>
          <a:bodyPr wrap="square" anchor="ctr">
            <a:spAutoFit/>
          </a:bodyPr>
          <a:lstStyle/>
          <a:p>
            <a:pPr algn="ctr"/>
            <a:r>
              <a:rPr sz="1200" b="0">
                <a:solidFill>
                  <a:srgbClr val="1F2D33"/>
                </a:solidFill>
                <a:latin typeface="Aptos"/>
              </a:rPr>
              <a:t>1</a:t>
            </a:r>
          </a:p>
        </p:txBody>
      </p:sp>
      <p:sp>
        <p:nvSpPr>
          <p:cNvPr id="24" name="Rectangle 23"/>
          <p:cNvSpPr/>
          <p:nvPr/>
        </p:nvSpPr>
        <p:spPr>
          <a:xfrm>
            <a:off x="8110728" y="2935224"/>
            <a:ext cx="960120" cy="384048"/>
          </a:xfrm>
          <a:prstGeom prst="rect">
            <a:avLst/>
          </a:prstGeom>
          <a:solidFill>
            <a:srgbClr val="FFFFFF"/>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10728" y="2935224"/>
            <a:ext cx="960120" cy="384048"/>
          </a:xfrm>
          <a:prstGeom prst="rect">
            <a:avLst/>
          </a:prstGeom>
          <a:noFill/>
        </p:spPr>
        <p:txBody>
          <a:bodyPr wrap="square" anchor="ctr">
            <a:spAutoFit/>
          </a:bodyPr>
          <a:lstStyle/>
          <a:p>
            <a:pPr algn="ctr"/>
            <a:r>
              <a:rPr sz="1200" b="0">
                <a:solidFill>
                  <a:srgbClr val="1F2D33"/>
                </a:solidFill>
                <a:latin typeface="Aptos"/>
              </a:rPr>
              <a:t>3</a:t>
            </a:r>
          </a:p>
        </p:txBody>
      </p:sp>
      <p:sp>
        <p:nvSpPr>
          <p:cNvPr id="26" name="Rectangle 25"/>
          <p:cNvSpPr/>
          <p:nvPr/>
        </p:nvSpPr>
        <p:spPr>
          <a:xfrm>
            <a:off x="7150608" y="3319272"/>
            <a:ext cx="960120" cy="384048"/>
          </a:xfrm>
          <a:prstGeom prst="rect">
            <a:avLst/>
          </a:prstGeom>
          <a:solidFill>
            <a:srgbClr val="F3F6F7"/>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50608" y="3319272"/>
            <a:ext cx="960120" cy="384048"/>
          </a:xfrm>
          <a:prstGeom prst="rect">
            <a:avLst/>
          </a:prstGeom>
          <a:noFill/>
        </p:spPr>
        <p:txBody>
          <a:bodyPr wrap="square" anchor="ctr">
            <a:spAutoFit/>
          </a:bodyPr>
          <a:lstStyle/>
          <a:p>
            <a:pPr algn="ctr"/>
            <a:r>
              <a:rPr sz="1200" b="0">
                <a:solidFill>
                  <a:srgbClr val="1F2D33"/>
                </a:solidFill>
                <a:latin typeface="Aptos"/>
              </a:rPr>
              <a:t>2</a:t>
            </a:r>
          </a:p>
        </p:txBody>
      </p:sp>
      <p:sp>
        <p:nvSpPr>
          <p:cNvPr id="28" name="Rectangle 27"/>
          <p:cNvSpPr/>
          <p:nvPr/>
        </p:nvSpPr>
        <p:spPr>
          <a:xfrm>
            <a:off x="8110728" y="3319272"/>
            <a:ext cx="960120" cy="384048"/>
          </a:xfrm>
          <a:prstGeom prst="rect">
            <a:avLst/>
          </a:prstGeom>
          <a:solidFill>
            <a:srgbClr val="F3F6F7"/>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10728" y="3319272"/>
            <a:ext cx="960120" cy="384048"/>
          </a:xfrm>
          <a:prstGeom prst="rect">
            <a:avLst/>
          </a:prstGeom>
          <a:noFill/>
        </p:spPr>
        <p:txBody>
          <a:bodyPr wrap="square" anchor="ctr">
            <a:spAutoFit/>
          </a:bodyPr>
          <a:lstStyle/>
          <a:p>
            <a:pPr algn="ctr"/>
            <a:r>
              <a:rPr sz="1200" b="0">
                <a:solidFill>
                  <a:srgbClr val="1F2D33"/>
                </a:solidFill>
                <a:latin typeface="Aptos"/>
              </a:rPr>
              <a:t>2</a:t>
            </a:r>
          </a:p>
        </p:txBody>
      </p:sp>
      <p:sp>
        <p:nvSpPr>
          <p:cNvPr id="30" name="Rectangle 29"/>
          <p:cNvSpPr/>
          <p:nvPr/>
        </p:nvSpPr>
        <p:spPr>
          <a:xfrm>
            <a:off x="7150608" y="3703320"/>
            <a:ext cx="960120" cy="384048"/>
          </a:xfrm>
          <a:prstGeom prst="rect">
            <a:avLst/>
          </a:prstGeom>
          <a:solidFill>
            <a:srgbClr val="FFFFFF"/>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50608" y="3703320"/>
            <a:ext cx="960120" cy="384048"/>
          </a:xfrm>
          <a:prstGeom prst="rect">
            <a:avLst/>
          </a:prstGeom>
          <a:noFill/>
        </p:spPr>
        <p:txBody>
          <a:bodyPr wrap="square" anchor="ctr">
            <a:spAutoFit/>
          </a:bodyPr>
          <a:lstStyle/>
          <a:p>
            <a:pPr algn="ctr"/>
            <a:r>
              <a:rPr sz="1200" b="0">
                <a:solidFill>
                  <a:srgbClr val="1F2D33"/>
                </a:solidFill>
                <a:latin typeface="Aptos"/>
              </a:rPr>
              <a:t>3</a:t>
            </a:r>
          </a:p>
        </p:txBody>
      </p:sp>
      <p:sp>
        <p:nvSpPr>
          <p:cNvPr id="32" name="Rectangle 31"/>
          <p:cNvSpPr/>
          <p:nvPr/>
        </p:nvSpPr>
        <p:spPr>
          <a:xfrm>
            <a:off x="8110728" y="3703320"/>
            <a:ext cx="960120" cy="384048"/>
          </a:xfrm>
          <a:prstGeom prst="rect">
            <a:avLst/>
          </a:prstGeom>
          <a:solidFill>
            <a:srgbClr val="FFFFFF"/>
          </a:solidFill>
          <a:ln w="12700">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10728" y="3703320"/>
            <a:ext cx="960120" cy="384048"/>
          </a:xfrm>
          <a:prstGeom prst="rect">
            <a:avLst/>
          </a:prstGeom>
          <a:noFill/>
        </p:spPr>
        <p:txBody>
          <a:bodyPr wrap="square" anchor="ctr">
            <a:spAutoFit/>
          </a:bodyPr>
          <a:lstStyle/>
          <a:p>
            <a:pPr algn="ctr"/>
            <a:r>
              <a:rPr sz="1200" b="0">
                <a:solidFill>
                  <a:srgbClr val="1F2D33"/>
                </a:solidFill>
                <a:latin typeface="Aptos"/>
              </a:rPr>
              <a:t>4</a:t>
            </a:r>
          </a:p>
        </p:txBody>
      </p:sp>
      <p:sp>
        <p:nvSpPr>
          <p:cNvPr id="34" name="TextBox 33"/>
          <p:cNvSpPr txBox="1"/>
          <p:nvPr/>
        </p:nvSpPr>
        <p:spPr>
          <a:xfrm>
            <a:off x="9464040" y="1417320"/>
            <a:ext cx="1874519" cy="274320"/>
          </a:xfrm>
          <a:prstGeom prst="rect">
            <a:avLst/>
          </a:prstGeom>
          <a:noFill/>
        </p:spPr>
        <p:txBody>
          <a:bodyPr wrap="square" anchor="ctr">
            <a:spAutoFit/>
          </a:bodyPr>
          <a:lstStyle/>
          <a:p>
            <a:pPr algn="l"/>
            <a:r>
              <a:rPr sz="1500" b="1">
                <a:solidFill>
                  <a:srgbClr val="1F2D33"/>
                </a:solidFill>
                <a:latin typeface="Aptos"/>
              </a:rPr>
              <a:t>What we carry forward</a:t>
            </a:r>
          </a:p>
        </p:txBody>
      </p:sp>
      <p:sp>
        <p:nvSpPr>
          <p:cNvPr id="35" name="Rounded Rectangle 34"/>
          <p:cNvSpPr/>
          <p:nvPr/>
        </p:nvSpPr>
        <p:spPr>
          <a:xfrm>
            <a:off x="9345168" y="1783080"/>
            <a:ext cx="1993392" cy="1005840"/>
          </a:xfrm>
          <a:prstGeom prst="roundRect">
            <a:avLst/>
          </a:prstGeom>
          <a:solidFill>
            <a:srgbClr val="DD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491472" y="1856231"/>
            <a:ext cx="1700784" cy="228600"/>
          </a:xfrm>
          <a:prstGeom prst="rect">
            <a:avLst/>
          </a:prstGeom>
          <a:noFill/>
        </p:spPr>
        <p:txBody>
          <a:bodyPr wrap="square" anchor="ctr">
            <a:spAutoFit/>
          </a:bodyPr>
          <a:lstStyle/>
          <a:p>
            <a:pPr algn="ctr"/>
            <a:r>
              <a:rPr sz="1000" b="0">
                <a:solidFill>
                  <a:srgbClr val="69767C"/>
                </a:solidFill>
                <a:latin typeface="Aptos"/>
              </a:rPr>
              <a:t>Point estimate</a:t>
            </a:r>
          </a:p>
        </p:txBody>
      </p:sp>
      <p:sp>
        <p:nvSpPr>
          <p:cNvPr id="37" name="TextBox 36"/>
          <p:cNvSpPr txBox="1"/>
          <p:nvPr/>
        </p:nvSpPr>
        <p:spPr>
          <a:xfrm>
            <a:off x="9491472" y="2093976"/>
            <a:ext cx="1700784" cy="420624"/>
          </a:xfrm>
          <a:prstGeom prst="rect">
            <a:avLst/>
          </a:prstGeom>
          <a:noFill/>
        </p:spPr>
        <p:txBody>
          <a:bodyPr wrap="square" anchor="ctr">
            <a:spAutoFit/>
          </a:bodyPr>
          <a:lstStyle/>
          <a:p>
            <a:pPr algn="ctr"/>
            <a:r>
              <a:rPr sz="2100" b="1">
                <a:solidFill>
                  <a:srgbClr val="00566B"/>
                </a:solidFill>
                <a:latin typeface="Cambria Math"/>
              </a:rPr>
              <a:t>b₂ = 0.80</a:t>
            </a:r>
          </a:p>
        </p:txBody>
      </p:sp>
      <p:sp>
        <p:nvSpPr>
          <p:cNvPr id="38" name="Rounded Rectangle 37"/>
          <p:cNvSpPr/>
          <p:nvPr/>
        </p:nvSpPr>
        <p:spPr>
          <a:xfrm>
            <a:off x="9345168" y="2962656"/>
            <a:ext cx="1993392" cy="1225296"/>
          </a:xfrm>
          <a:prstGeom prst="roundRect">
            <a:avLst/>
          </a:prstGeom>
          <a:solidFill>
            <a:srgbClr val="FF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473184" y="3026664"/>
            <a:ext cx="1737360" cy="329184"/>
          </a:xfrm>
          <a:prstGeom prst="rect">
            <a:avLst/>
          </a:prstGeom>
          <a:noFill/>
        </p:spPr>
        <p:txBody>
          <a:bodyPr wrap="square" anchor="ctr">
            <a:spAutoFit/>
          </a:bodyPr>
          <a:lstStyle/>
          <a:p>
            <a:pPr algn="ctr"/>
            <a:r>
              <a:rPr sz="900" b="0">
                <a:solidFill>
                  <a:srgbClr val="69767C"/>
                </a:solidFill>
                <a:latin typeface="Aptos"/>
              </a:rPr>
              <a:t>Estimated sampling uncertainty</a:t>
            </a:r>
          </a:p>
        </p:txBody>
      </p:sp>
      <p:sp>
        <p:nvSpPr>
          <p:cNvPr id="40" name="TextBox 39"/>
          <p:cNvSpPr txBox="1"/>
          <p:nvPr/>
        </p:nvSpPr>
        <p:spPr>
          <a:xfrm>
            <a:off x="9436608" y="3410712"/>
            <a:ext cx="1810512" cy="365760"/>
          </a:xfrm>
          <a:prstGeom prst="rect">
            <a:avLst/>
          </a:prstGeom>
          <a:noFill/>
        </p:spPr>
        <p:txBody>
          <a:bodyPr wrap="square" anchor="ctr">
            <a:spAutoFit/>
          </a:bodyPr>
          <a:lstStyle/>
          <a:p>
            <a:pPr algn="ctr"/>
            <a:r>
              <a:rPr sz="1800" b="1">
                <a:solidFill>
                  <a:srgbClr val="D71920"/>
                </a:solidFill>
                <a:latin typeface="Cambria Math"/>
              </a:rPr>
              <a:t>se(b₂) = 0.346</a:t>
            </a:r>
          </a:p>
        </p:txBody>
      </p:sp>
      <p:sp>
        <p:nvSpPr>
          <p:cNvPr id="41" name="TextBox 40"/>
          <p:cNvSpPr txBox="1"/>
          <p:nvPr/>
        </p:nvSpPr>
        <p:spPr>
          <a:xfrm>
            <a:off x="9528048" y="3803904"/>
            <a:ext cx="1627632" cy="210312"/>
          </a:xfrm>
          <a:prstGeom prst="rect">
            <a:avLst/>
          </a:prstGeom>
          <a:noFill/>
        </p:spPr>
        <p:txBody>
          <a:bodyPr wrap="square" anchor="ctr">
            <a:spAutoFit/>
          </a:bodyPr>
          <a:lstStyle/>
          <a:p>
            <a:pPr algn="ctr"/>
            <a:r>
              <a:rPr sz="1000" b="0">
                <a:solidFill>
                  <a:srgbClr val="69767C"/>
                </a:solidFill>
                <a:latin typeface="Aptos"/>
              </a:rPr>
              <a:t>N = 5  →  df = 3</a:t>
            </a:r>
          </a:p>
        </p:txBody>
      </p:sp>
      <p:sp>
        <p:nvSpPr>
          <p:cNvPr id="42" name="Rounded Rectangle 41"/>
          <p:cNvSpPr/>
          <p:nvPr/>
        </p:nvSpPr>
        <p:spPr>
          <a:xfrm>
            <a:off x="7150608" y="4407408"/>
            <a:ext cx="4187952" cy="1170432"/>
          </a:xfrm>
          <a:prstGeom prst="roundRect">
            <a:avLst/>
          </a:prstGeom>
          <a:solidFill>
            <a:srgbClr val="F3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333488" y="4498848"/>
            <a:ext cx="3822191" cy="228600"/>
          </a:xfrm>
          <a:prstGeom prst="rect">
            <a:avLst/>
          </a:prstGeom>
          <a:noFill/>
        </p:spPr>
        <p:txBody>
          <a:bodyPr wrap="square" anchor="ctr">
            <a:spAutoFit/>
          </a:bodyPr>
          <a:lstStyle/>
          <a:p>
            <a:pPr algn="ctr"/>
            <a:r>
              <a:rPr sz="1000" b="0">
                <a:solidFill>
                  <a:srgbClr val="69767C"/>
                </a:solidFill>
                <a:latin typeface="Aptos"/>
              </a:rPr>
              <a:t>Fitted regression line</a:t>
            </a:r>
          </a:p>
        </p:txBody>
      </p:sp>
      <p:sp>
        <p:nvSpPr>
          <p:cNvPr id="44" name="TextBox 43"/>
          <p:cNvSpPr txBox="1"/>
          <p:nvPr/>
        </p:nvSpPr>
        <p:spPr>
          <a:xfrm>
            <a:off x="7333488" y="4754880"/>
            <a:ext cx="3822191" cy="457200"/>
          </a:xfrm>
          <a:prstGeom prst="rect">
            <a:avLst/>
          </a:prstGeom>
          <a:noFill/>
        </p:spPr>
        <p:txBody>
          <a:bodyPr wrap="square" anchor="ctr">
            <a:spAutoFit/>
          </a:bodyPr>
          <a:lstStyle/>
          <a:p>
            <a:pPr algn="ctr"/>
            <a:r>
              <a:rPr sz="2200" b="1">
                <a:solidFill>
                  <a:srgbClr val="00566B"/>
                </a:solidFill>
                <a:latin typeface="Cambria Math"/>
              </a:rPr>
              <a:t>ŷ = 1.2 + 0.8x</a:t>
            </a:r>
          </a:p>
        </p:txBody>
      </p:sp>
      <p:sp>
        <p:nvSpPr>
          <p:cNvPr id="45" name="Rounded Rectangle 44"/>
          <p:cNvSpPr/>
          <p:nvPr/>
        </p:nvSpPr>
        <p:spPr>
          <a:xfrm>
            <a:off x="548640" y="5806440"/>
            <a:ext cx="10789920" cy="603504"/>
          </a:xfrm>
          <a:prstGeom prst="roundRect">
            <a:avLst/>
          </a:prstGeom>
          <a:solidFill>
            <a:srgbClr val="FFFFFF"/>
          </a:solidFill>
          <a:ln w="12700">
            <a:solidFill>
              <a:srgbClr val="20B4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04672" y="5879592"/>
            <a:ext cx="10241280" cy="438912"/>
          </a:xfrm>
          <a:prstGeom prst="rect">
            <a:avLst/>
          </a:prstGeom>
          <a:noFill/>
        </p:spPr>
        <p:txBody>
          <a:bodyPr wrap="square" anchor="ctr">
            <a:spAutoFit/>
          </a:bodyPr>
          <a:lstStyle/>
          <a:p>
            <a:pPr algn="ctr"/>
            <a:r>
              <a:rPr sz="1300" b="1">
                <a:solidFill>
                  <a:srgbClr val="00566B"/>
                </a:solidFill>
                <a:latin typeface="Aptos"/>
              </a:rPr>
              <a:t>Today: use b₂ and se(b₂) to ask which values of the unknown population slope β₂ are compatible with this sample.</a:t>
            </a:r>
          </a:p>
        </p:txBody>
      </p:sp>
      <p:sp>
        <p:nvSpPr>
          <p:cNvPr id="47" name="TextBox 46"/>
          <p:cNvSpPr txBox="1"/>
          <p:nvPr/>
        </p:nvSpPr>
        <p:spPr>
          <a:xfrm>
            <a:off x="10917936" y="6510528"/>
            <a:ext cx="274320" cy="164592"/>
          </a:xfrm>
          <a:prstGeom prst="rect">
            <a:avLst/>
          </a:prstGeom>
          <a:noFill/>
        </p:spPr>
        <p:txBody>
          <a:bodyPr wrap="square" anchor="ctr">
            <a:spAutoFit/>
          </a:bodyPr>
          <a:lstStyle/>
          <a:p>
            <a:pPr algn="ctr"/>
            <a:r>
              <a:rPr sz="800" b="0">
                <a:solidFill>
                  <a:srgbClr val="7A858A"/>
                </a:solidFill>
                <a:latin typeface="Aptos"/>
              </a:rPr>
              <a:t>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SMALL CALCULATION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Back to our five-observation example</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Text 3"/>
          <p:cNvSpPr/>
          <p:nvPr/>
        </p:nvSpPr>
        <p:spPr>
          <a:xfrm>
            <a:off x="822960" y="1234440"/>
            <a:ext cx="4389120" cy="320040"/>
          </a:xfrm>
          <a:prstGeom prst="rect">
            <a:avLst/>
          </a:prstGeom>
          <a:noFill/>
          <a:ln/>
        </p:spPr>
        <p:txBody>
          <a:bodyPr wrap="square" lIns="0" tIns="0" rIns="0" bIns="0" rtlCol="0" anchor="ctr"/>
          <a:lstStyle/>
          <a:p>
            <a:pPr marL="0" indent="0">
              <a:buNone/>
            </a:pPr>
            <a:r>
              <a:rPr lang="en-US" sz="1800" b="1" dirty="0">
                <a:solidFill>
                  <a:srgbClr val="1F2D33"/>
                </a:solidFill>
              </a:rPr>
              <a:t>From Session 10, we already found:</a:t>
            </a:r>
            <a:endParaRPr lang="en-US" sz="1800" dirty="0"/>
          </a:p>
        </p:txBody>
      </p:sp>
      <p:sp>
        <p:nvSpPr>
          <p:cNvPr id="6" name="Shape 4"/>
          <p:cNvSpPr/>
          <p:nvPr/>
        </p:nvSpPr>
        <p:spPr>
          <a:xfrm>
            <a:off x="914400" y="1783080"/>
            <a:ext cx="2331720" cy="640080"/>
          </a:xfrm>
          <a:prstGeom prst="roundRect">
            <a:avLst>
              <a:gd name="adj" fmla="val 8571"/>
            </a:avLst>
          </a:prstGeom>
          <a:solidFill>
            <a:srgbClr val="DDF4F9"/>
          </a:solidFill>
          <a:ln w="12700">
            <a:solidFill>
              <a:srgbClr val="DDF4F9"/>
            </a:solidFill>
            <a:prstDash val="solid"/>
          </a:ln>
        </p:spPr>
        <p:txBody>
          <a:bodyPr/>
          <a:lstStyle/>
          <a:p>
            <a:endParaRPr lang="en-GB"/>
          </a:p>
        </p:txBody>
      </p:sp>
      <mc:AlternateContent xmlns:mc="http://schemas.openxmlformats.org/markup-compatibility/2006">
        <mc:Choice xmlns:a14="http://schemas.microsoft.com/office/drawing/2010/main" Requires="a14">
          <p:sp>
            <p:nvSpPr>
              <p:cNvPr id="7" name="Text 5"/>
              <p:cNvSpPr/>
              <p:nvPr/>
            </p:nvSpPr>
            <p:spPr>
              <a:xfrm>
                <a:off x="1024128" y="1847088"/>
                <a:ext cx="2112264" cy="512064"/>
              </a:xfrm>
              <a:prstGeom prst="rect">
                <a:avLst/>
              </a:prstGeom>
              <a:noFill/>
              <a:ln/>
            </p:spPr>
            <p:txBody>
              <a:bodyPr wrap="square" lIns="254" tIns="254" rIns="254" bIns="254" rtlCol="0" anchor="ctr">
                <a:normAutofit/>
              </a:bodyPr>
              <a:lstStyle/>
              <a:p>
                <a:pPr marL="0" indent="0" algn="ctr">
                  <a:buNone/>
                </a:pPr>
                <a14:m>
                  <m:oMathPara xmlns:m="http://schemas.openxmlformats.org/officeDocument/2006/math">
                    <m:oMath>
                      <m:sSub>
                        <m:sSubPr>
                          <m:ctrlPr>
                            <a:rPr lang="nb-NO" sz="2400" b="1" i="1" smtClean="0">
                              <a:solidFill>
                                <a:srgbClr val="00566B"/>
                              </a:solidFill>
                              <a:latin typeface="Cambria Math" panose="02040503050406030204" pitchFamily="18" charset="0"/>
                              <a:ea typeface="Cambria Math" pitchFamily="34" charset="-122"/>
                            </a:rPr>
                          </m:ctrlPr>
                        </m:sSubPr>
                        <m:e>
                          <m:r>
                            <a:rPr lang="nb-NO" sz="2400" b="1" i="1" smtClean="0">
                              <a:solidFill>
                                <a:srgbClr val="00566B"/>
                              </a:solidFill>
                              <a:latin typeface="Cambria Math" panose="02040503050406030204" pitchFamily="18" charset="0"/>
                              <a:ea typeface="Cambria Math" pitchFamily="34" charset="-122"/>
                            </a:rPr>
                            <m:t>𝒃</m:t>
                          </m:r>
                        </m:e>
                        <m:sub>
                          <m:r>
                            <a:rPr lang="nb-NO" sz="2400" b="1" i="1" smtClean="0">
                              <a:solidFill>
                                <a:srgbClr val="00566B"/>
                              </a:solidFill>
                              <a:latin typeface="Cambria Math" panose="02040503050406030204" pitchFamily="18" charset="0"/>
                              <a:ea typeface="Cambria Math" pitchFamily="34" charset="-122"/>
                            </a:rPr>
                            <m:t>𝟐</m:t>
                          </m:r>
                        </m:sub>
                      </m:sSub>
                      <m:r>
                        <a:rPr lang="nb-NO" sz="2400" b="1" i="1" smtClean="0">
                          <a:solidFill>
                            <a:srgbClr val="00566B"/>
                          </a:solidFill>
                          <a:latin typeface="Cambria Math" panose="02040503050406030204" pitchFamily="18" charset="0"/>
                          <a:ea typeface="Cambria Math" pitchFamily="34" charset="-122"/>
                        </a:rPr>
                        <m:t>=</m:t>
                      </m:r>
                      <m:r>
                        <a:rPr lang="nb-NO" sz="2400" b="1" i="1" smtClean="0">
                          <a:solidFill>
                            <a:srgbClr val="00566B"/>
                          </a:solidFill>
                          <a:latin typeface="Cambria Math" panose="02040503050406030204" pitchFamily="18" charset="0"/>
                          <a:ea typeface="Cambria Math" pitchFamily="34" charset="-122"/>
                        </a:rPr>
                        <m:t>𝟎</m:t>
                      </m:r>
                      <m:r>
                        <a:rPr lang="nb-NO" sz="2400" b="1" i="1" smtClean="0">
                          <a:solidFill>
                            <a:srgbClr val="00566B"/>
                          </a:solidFill>
                          <a:latin typeface="Cambria Math" panose="02040503050406030204" pitchFamily="18" charset="0"/>
                          <a:ea typeface="Cambria Math" pitchFamily="34" charset="-122"/>
                        </a:rPr>
                        <m:t>.</m:t>
                      </m:r>
                      <m:r>
                        <a:rPr lang="nb-NO" sz="2400" b="1" i="1" smtClean="0">
                          <a:solidFill>
                            <a:srgbClr val="00566B"/>
                          </a:solidFill>
                          <a:latin typeface="Cambria Math" panose="02040503050406030204" pitchFamily="18" charset="0"/>
                          <a:ea typeface="Cambria Math" pitchFamily="34" charset="-122"/>
                        </a:rPr>
                        <m:t>𝟖𝟎</m:t>
                      </m:r>
                    </m:oMath>
                  </m:oMathPara>
                </a14:m>
                <a:endParaRPr lang="en-US" sz="2400" dirty="0"/>
              </a:p>
            </p:txBody>
          </p:sp>
        </mc:Choice>
        <mc:Fallback>
          <p:sp>
            <p:nvSpPr>
              <p:cNvPr id="7" name="Text 5"/>
              <p:cNvSpPr>
                <a:spLocks noRot="1" noChangeAspect="1" noMove="1" noResize="1" noEditPoints="1" noAdjustHandles="1" noChangeArrowheads="1" noChangeShapeType="1" noTextEdit="1"/>
              </p:cNvSpPr>
              <p:nvPr/>
            </p:nvSpPr>
            <p:spPr>
              <a:xfrm>
                <a:off x="1024128" y="1847088"/>
                <a:ext cx="2112264" cy="512064"/>
              </a:xfrm>
              <a:prstGeom prst="rect">
                <a:avLst/>
              </a:prstGeom>
              <a:blipFill>
                <a:blip r:embed="rId3"/>
                <a:stretch>
                  <a:fillRect/>
                </a:stretch>
              </a:blipFill>
              <a:ln/>
            </p:spPr>
            <p:txBody>
              <a:bodyPr/>
              <a:lstStyle/>
              <a:p>
                <a:r>
                  <a:rPr lang="en-GB">
                    <a:noFill/>
                  </a:rPr>
                  <a:t> </a:t>
                </a:r>
              </a:p>
            </p:txBody>
          </p:sp>
        </mc:Fallback>
      </mc:AlternateContent>
      <p:sp>
        <p:nvSpPr>
          <p:cNvPr id="8" name="Shape 6"/>
          <p:cNvSpPr/>
          <p:nvPr/>
        </p:nvSpPr>
        <p:spPr>
          <a:xfrm>
            <a:off x="3520440" y="1783080"/>
            <a:ext cx="2788920" cy="640080"/>
          </a:xfrm>
          <a:prstGeom prst="roundRect">
            <a:avLst>
              <a:gd name="adj" fmla="val 8571"/>
            </a:avLst>
          </a:prstGeom>
          <a:solidFill>
            <a:srgbClr val="F4F6F7"/>
          </a:solidFill>
          <a:ln w="12700">
            <a:solidFill>
              <a:srgbClr val="F4F6F7"/>
            </a:solidFill>
            <a:prstDash val="solid"/>
          </a:ln>
        </p:spPr>
        <p:txBody>
          <a:bodyPr/>
          <a:lstStyle/>
          <a:p>
            <a:endParaRPr lang="en-GB"/>
          </a:p>
        </p:txBody>
      </p:sp>
      <mc:AlternateContent xmlns:mc="http://schemas.openxmlformats.org/markup-compatibility/2006">
        <mc:Choice xmlns:a14="http://schemas.microsoft.com/office/drawing/2010/main" Requires="a14">
          <p:sp>
            <p:nvSpPr>
              <p:cNvPr id="9" name="Text 7"/>
              <p:cNvSpPr/>
              <p:nvPr/>
            </p:nvSpPr>
            <p:spPr>
              <a:xfrm>
                <a:off x="3630168" y="1847088"/>
                <a:ext cx="2569464" cy="512064"/>
              </a:xfrm>
              <a:prstGeom prst="rect">
                <a:avLst/>
              </a:prstGeom>
              <a:noFill/>
              <a:ln/>
            </p:spPr>
            <p:txBody>
              <a:bodyPr wrap="square" lIns="254" tIns="254" rIns="254" bIns="254" rtlCol="0" anchor="ctr">
                <a:normAutofit/>
              </a:bodyPr>
              <a:lstStyle/>
              <a:p>
                <a:pPr algn="ctr"/>
                <a14:m>
                  <m:oMathPara xmlns:m="http://schemas.openxmlformats.org/officeDocument/2006/math">
                    <m:oMath>
                      <m:r>
                        <a:rPr lang="nb-NO" sz="2300" b="1" i="1" smtClean="0">
                          <a:solidFill>
                            <a:srgbClr val="1F2D33"/>
                          </a:solidFill>
                          <a:latin typeface="Cambria Math" panose="02040503050406030204" pitchFamily="18" charset="0"/>
                          <a:ea typeface="Cambria Math" pitchFamily="34" charset="-122"/>
                          <a:cs typeface="Cambria Math" pitchFamily="34" charset="-120"/>
                        </a:rPr>
                        <m:t>𝒔𝒆</m:t>
                      </m:r>
                      <m:d>
                        <m:dPr>
                          <m:ctrlPr>
                            <a:rPr lang="nb-NO" sz="2000" b="1" i="1">
                              <a:solidFill>
                                <a:srgbClr val="00566B"/>
                              </a:solidFill>
                              <a:latin typeface="Cambria Math" panose="02040503050406030204" pitchFamily="18" charset="0"/>
                              <a:ea typeface="Cambria Math" pitchFamily="34" charset="-122"/>
                            </a:rPr>
                          </m:ctrlPr>
                        </m:dPr>
                        <m:e>
                          <m:sSub>
                            <m:sSubPr>
                              <m:ctrlPr>
                                <a:rPr lang="nb-NO" sz="2000" b="1" i="1">
                                  <a:solidFill>
                                    <a:srgbClr val="00566B"/>
                                  </a:solidFill>
                                  <a:latin typeface="Cambria Math" panose="02040503050406030204" pitchFamily="18" charset="0"/>
                                  <a:ea typeface="Cambria Math" pitchFamily="34" charset="-122"/>
                                </a:rPr>
                              </m:ctrlPr>
                            </m:sSubPr>
                            <m:e>
                              <m:r>
                                <a:rPr lang="nb-NO" sz="2000" b="1" i="1">
                                  <a:solidFill>
                                    <a:srgbClr val="00566B"/>
                                  </a:solidFill>
                                  <a:latin typeface="Cambria Math" panose="02040503050406030204" pitchFamily="18" charset="0"/>
                                  <a:ea typeface="Cambria Math" pitchFamily="34" charset="-122"/>
                                </a:rPr>
                                <m:t>𝒃</m:t>
                              </m:r>
                            </m:e>
                            <m:sub>
                              <m:r>
                                <a:rPr lang="nb-NO" sz="2000" b="1" i="1">
                                  <a:solidFill>
                                    <a:srgbClr val="00566B"/>
                                  </a:solidFill>
                                  <a:latin typeface="Cambria Math" panose="02040503050406030204" pitchFamily="18" charset="0"/>
                                  <a:ea typeface="Cambria Math" pitchFamily="34" charset="-122"/>
                                </a:rPr>
                                <m:t>𝟐</m:t>
                              </m:r>
                            </m:sub>
                          </m:sSub>
                        </m:e>
                      </m:d>
                      <m:r>
                        <a:rPr lang="nb-NO" sz="2300" b="1" i="1" smtClean="0">
                          <a:solidFill>
                            <a:srgbClr val="1F2D33"/>
                          </a:solidFill>
                          <a:latin typeface="Cambria Math" panose="02040503050406030204" pitchFamily="18" charset="0"/>
                          <a:ea typeface="Cambria Math" pitchFamily="34" charset="-122"/>
                        </a:rPr>
                        <m:t>=</m:t>
                      </m:r>
                      <m:r>
                        <a:rPr lang="nb-NO" sz="2300" b="1" i="1" smtClean="0">
                          <a:solidFill>
                            <a:srgbClr val="1F2D33"/>
                          </a:solidFill>
                          <a:latin typeface="Cambria Math" panose="02040503050406030204" pitchFamily="18" charset="0"/>
                          <a:ea typeface="Cambria Math" pitchFamily="34" charset="-122"/>
                        </a:rPr>
                        <m:t>𝟎</m:t>
                      </m:r>
                      <m:r>
                        <a:rPr lang="nb-NO" sz="2300" b="1" i="1" smtClean="0">
                          <a:solidFill>
                            <a:srgbClr val="1F2D33"/>
                          </a:solidFill>
                          <a:latin typeface="Cambria Math" panose="02040503050406030204" pitchFamily="18" charset="0"/>
                          <a:ea typeface="Cambria Math" pitchFamily="34" charset="-122"/>
                        </a:rPr>
                        <m:t>.</m:t>
                      </m:r>
                      <m:r>
                        <a:rPr lang="nb-NO" sz="2300" b="1" i="1" smtClean="0">
                          <a:solidFill>
                            <a:srgbClr val="1F2D33"/>
                          </a:solidFill>
                          <a:latin typeface="Cambria Math" panose="02040503050406030204" pitchFamily="18" charset="0"/>
                          <a:ea typeface="Cambria Math" pitchFamily="34" charset="-122"/>
                        </a:rPr>
                        <m:t>𝟑𝟒𝟔</m:t>
                      </m:r>
                    </m:oMath>
                  </m:oMathPara>
                </a14:m>
                <a:endParaRPr lang="en-US" sz="2300" dirty="0"/>
              </a:p>
            </p:txBody>
          </p:sp>
        </mc:Choice>
        <mc:Fallback>
          <p:sp>
            <p:nvSpPr>
              <p:cNvPr id="9" name="Text 7"/>
              <p:cNvSpPr>
                <a:spLocks noRot="1" noChangeAspect="1" noMove="1" noResize="1" noEditPoints="1" noAdjustHandles="1" noChangeArrowheads="1" noChangeShapeType="1" noTextEdit="1"/>
              </p:cNvSpPr>
              <p:nvPr/>
            </p:nvSpPr>
            <p:spPr>
              <a:xfrm>
                <a:off x="3630168" y="1847088"/>
                <a:ext cx="2569464" cy="512064"/>
              </a:xfrm>
              <a:prstGeom prst="rect">
                <a:avLst/>
              </a:prstGeom>
              <a:blipFill>
                <a:blip r:embed="rId4"/>
                <a:stretch>
                  <a:fillRect/>
                </a:stretch>
              </a:blipFill>
              <a:ln/>
            </p:spPr>
            <p:txBody>
              <a:bodyPr/>
              <a:lstStyle/>
              <a:p>
                <a:r>
                  <a:rPr lang="en-GB">
                    <a:noFill/>
                  </a:rPr>
                  <a:t> </a:t>
                </a:r>
              </a:p>
            </p:txBody>
          </p:sp>
        </mc:Fallback>
      </mc:AlternateContent>
      <p:sp>
        <p:nvSpPr>
          <p:cNvPr id="10" name="Shape 8"/>
          <p:cNvSpPr/>
          <p:nvPr/>
        </p:nvSpPr>
        <p:spPr>
          <a:xfrm>
            <a:off x="6583680" y="1783080"/>
            <a:ext cx="2971800" cy="640080"/>
          </a:xfrm>
          <a:prstGeom prst="roundRect">
            <a:avLst>
              <a:gd name="adj" fmla="val 8571"/>
            </a:avLst>
          </a:prstGeom>
          <a:solidFill>
            <a:srgbClr val="FFF1F2"/>
          </a:solidFill>
          <a:ln w="12700">
            <a:solidFill>
              <a:srgbClr val="FFF1F2"/>
            </a:solidFill>
            <a:prstDash val="solid"/>
          </a:ln>
        </p:spPr>
        <p:txBody>
          <a:bodyPr/>
          <a:lstStyle/>
          <a:p>
            <a:endParaRPr lang="en-GB"/>
          </a:p>
        </p:txBody>
      </p:sp>
      <p:sp>
        <p:nvSpPr>
          <p:cNvPr id="11" name="Text 9"/>
          <p:cNvSpPr/>
          <p:nvPr/>
        </p:nvSpPr>
        <p:spPr>
          <a:xfrm>
            <a:off x="6693408" y="1847088"/>
            <a:ext cx="2752344" cy="512064"/>
          </a:xfrm>
          <a:prstGeom prst="rect">
            <a:avLst/>
          </a:prstGeom>
          <a:noFill/>
          <a:ln/>
        </p:spPr>
        <p:txBody>
          <a:bodyPr wrap="square" lIns="254" tIns="254" rIns="254" bIns="254" rtlCol="0" anchor="ctr">
            <a:normAutofit/>
          </a:bodyPr>
          <a:lstStyle/>
          <a:p>
            <a:pPr marL="0" indent="0" algn="ctr">
              <a:buNone/>
            </a:pPr>
            <a:r>
              <a:rPr lang="en-US" sz="2200" b="1" i="1" dirty="0">
                <a:solidFill>
                  <a:srgbClr val="D71920"/>
                </a:solidFill>
                <a:latin typeface="Cambria Math" pitchFamily="34" charset="0"/>
                <a:ea typeface="Cambria Math" pitchFamily="34" charset="-122"/>
                <a:cs typeface="Cambria Math" pitchFamily="34" charset="-120"/>
              </a:rPr>
              <a:t>N = 5  →  df = 3</a:t>
            </a:r>
            <a:endParaRPr lang="en-US" sz="2200" b="1" i="1" dirty="0"/>
          </a:p>
        </p:txBody>
      </p:sp>
      <p:sp>
        <p:nvSpPr>
          <p:cNvPr id="12" name="Text 10"/>
          <p:cNvSpPr/>
          <p:nvPr/>
        </p:nvSpPr>
        <p:spPr>
          <a:xfrm>
            <a:off x="914400" y="2788920"/>
            <a:ext cx="4572000" cy="411480"/>
          </a:xfrm>
          <a:prstGeom prst="rect">
            <a:avLst/>
          </a:prstGeom>
          <a:noFill/>
          <a:ln/>
        </p:spPr>
        <p:txBody>
          <a:bodyPr wrap="square" lIns="0" tIns="0" rIns="0" bIns="0" rtlCol="0" anchor="ctr"/>
          <a:lstStyle/>
          <a:p>
            <a:pPr marL="0" indent="0">
              <a:buNone/>
            </a:pPr>
            <a:r>
              <a:rPr lang="en-US" sz="2300" b="1" dirty="0">
                <a:solidFill>
                  <a:srgbClr val="00566B"/>
                </a:solidFill>
              </a:rPr>
              <a:t>Construct a 95% interval for β₂.</a:t>
            </a:r>
            <a:endParaRPr lang="en-US" sz="2300" dirty="0"/>
          </a:p>
        </p:txBody>
      </p:sp>
      <mc:AlternateContent xmlns:mc="http://schemas.openxmlformats.org/markup-compatibility/2006">
        <mc:Choice xmlns:a14="http://schemas.microsoft.com/office/drawing/2010/main" Requires="a14">
          <p:sp>
            <p:nvSpPr>
              <p:cNvPr id="13" name="Text 11"/>
              <p:cNvSpPr/>
              <p:nvPr/>
            </p:nvSpPr>
            <p:spPr>
              <a:xfrm>
                <a:off x="914400" y="3429000"/>
                <a:ext cx="4846320" cy="1508760"/>
              </a:xfrm>
              <a:prstGeom prst="rect">
                <a:avLst/>
              </a:prstGeom>
              <a:noFill/>
              <a:ln/>
            </p:spPr>
            <p:txBody>
              <a:bodyPr wrap="square" lIns="635" tIns="635" rIns="635" bIns="635" rtlCol="0" anchor="t"/>
              <a:lstStyle/>
              <a:p>
                <a:pPr marL="203200" indent="-203200">
                  <a:buSzPct val="100000"/>
                  <a:buChar char="•"/>
                </a:pPr>
                <a:r>
                  <a:rPr lang="en-US" sz="1800" dirty="0">
                    <a:solidFill>
                      <a:srgbClr val="1F2D33"/>
                    </a:solidFill>
                  </a:rPr>
                  <a:t>Find </a:t>
                </a:r>
                <a14:m>
                  <m:oMath xmlns:m="http://schemas.openxmlformats.org/officeDocument/2006/math">
                    <m:sSub>
                      <m:sSubPr>
                        <m:ctrlPr>
                          <a:rPr lang="nb-NO" sz="1800" b="0" i="1" smtClean="0">
                            <a:solidFill>
                              <a:srgbClr val="1F2D33"/>
                            </a:solidFill>
                            <a:latin typeface="Cambria Math" panose="02040503050406030204" pitchFamily="18" charset="0"/>
                          </a:rPr>
                        </m:ctrlPr>
                      </m:sSubPr>
                      <m:e>
                        <m:r>
                          <a:rPr lang="nb-NO" sz="1800" b="0" i="1" smtClean="0">
                            <a:solidFill>
                              <a:srgbClr val="1F2D33"/>
                            </a:solidFill>
                            <a:latin typeface="Cambria Math" panose="02040503050406030204" pitchFamily="18" charset="0"/>
                          </a:rPr>
                          <m:t>𝑡</m:t>
                        </m:r>
                      </m:e>
                      <m:sub>
                        <m:r>
                          <a:rPr lang="nb-NO" sz="1800" b="0" i="1" smtClean="0">
                            <a:solidFill>
                              <a:srgbClr val="1F2D33"/>
                            </a:solidFill>
                            <a:latin typeface="Cambria Math" panose="02040503050406030204" pitchFamily="18" charset="0"/>
                          </a:rPr>
                          <m:t>0.975,3</m:t>
                        </m:r>
                      </m:sub>
                    </m:sSub>
                  </m:oMath>
                </a14:m>
                <a:r>
                  <a:rPr lang="en-US" sz="1800" dirty="0">
                    <a:solidFill>
                      <a:srgbClr val="1F2D33"/>
                    </a:solidFill>
                  </a:rPr>
                  <a:t>.</a:t>
                </a:r>
                <a:endParaRPr lang="en-US" sz="1800" dirty="0"/>
              </a:p>
              <a:p>
                <a:pPr marL="203200" indent="-203200">
                  <a:buSzPct val="100000"/>
                  <a:buChar char="•"/>
                </a:pPr>
                <a:r>
                  <a:rPr lang="en-US" sz="1800" dirty="0">
                    <a:solidFill>
                      <a:srgbClr val="1F2D33"/>
                    </a:solidFill>
                  </a:rPr>
                  <a:t>Insert it in </a:t>
                </a:r>
                <a14:m>
                  <m:oMath xmlns:m="http://schemas.openxmlformats.org/officeDocument/2006/math">
                    <m:sSub>
                      <m:sSubPr>
                        <m:ctrlPr>
                          <a:rPr lang="nb-NO" sz="1800" b="0" i="1" smtClean="0">
                            <a:solidFill>
                              <a:srgbClr val="1F2D33"/>
                            </a:solidFill>
                            <a:latin typeface="Cambria Math" panose="02040503050406030204" pitchFamily="18" charset="0"/>
                          </a:rPr>
                        </m:ctrlPr>
                      </m:sSubPr>
                      <m:e>
                        <m:r>
                          <a:rPr lang="nb-NO" sz="1800" b="0" i="1" smtClean="0">
                            <a:solidFill>
                              <a:srgbClr val="1F2D33"/>
                            </a:solidFill>
                            <a:latin typeface="Cambria Math" panose="02040503050406030204" pitchFamily="18" charset="0"/>
                          </a:rPr>
                          <m:t>𝑏</m:t>
                        </m:r>
                      </m:e>
                      <m:sub>
                        <m:r>
                          <a:rPr lang="nb-NO" sz="1800" b="0" i="1" smtClean="0">
                            <a:solidFill>
                              <a:srgbClr val="1F2D33"/>
                            </a:solidFill>
                            <a:latin typeface="Cambria Math" panose="02040503050406030204" pitchFamily="18" charset="0"/>
                          </a:rPr>
                          <m:t>2</m:t>
                        </m:r>
                      </m:sub>
                    </m:sSub>
                    <m:r>
                      <a:rPr lang="en-US" sz="1800" i="1" smtClean="0">
                        <a:solidFill>
                          <a:srgbClr val="1F2D33"/>
                        </a:solidFill>
                        <a:latin typeface="Cambria Math" panose="02040503050406030204" pitchFamily="18" charset="0"/>
                        <a:ea typeface="Cambria Math" panose="02040503050406030204" pitchFamily="18" charset="0"/>
                      </a:rPr>
                      <m:t>±</m:t>
                    </m:r>
                    <m:sSub>
                      <m:sSubPr>
                        <m:ctrlPr>
                          <a:rPr lang="nb-NO" sz="1800" b="0" i="1" smtClean="0">
                            <a:solidFill>
                              <a:srgbClr val="1F2D33"/>
                            </a:solidFill>
                            <a:latin typeface="Cambria Math" panose="02040503050406030204" pitchFamily="18" charset="0"/>
                            <a:ea typeface="Cambria Math" panose="02040503050406030204" pitchFamily="18" charset="0"/>
                          </a:rPr>
                        </m:ctrlPr>
                      </m:sSubPr>
                      <m:e>
                        <m:r>
                          <a:rPr lang="nb-NO" sz="1800" b="0" i="1" smtClean="0">
                            <a:solidFill>
                              <a:srgbClr val="1F2D33"/>
                            </a:solidFill>
                            <a:latin typeface="Cambria Math" panose="02040503050406030204" pitchFamily="18" charset="0"/>
                            <a:ea typeface="Cambria Math" panose="02040503050406030204" pitchFamily="18" charset="0"/>
                          </a:rPr>
                          <m:t>𝑡</m:t>
                        </m:r>
                      </m:e>
                      <m:sub>
                        <m:r>
                          <a:rPr lang="nb-NO" sz="1800" b="0" i="1" smtClean="0">
                            <a:solidFill>
                              <a:srgbClr val="1F2D33"/>
                            </a:solidFill>
                            <a:latin typeface="Cambria Math" panose="02040503050406030204" pitchFamily="18" charset="0"/>
                            <a:ea typeface="Cambria Math" panose="02040503050406030204" pitchFamily="18" charset="0"/>
                          </a:rPr>
                          <m:t>𝑐</m:t>
                        </m:r>
                      </m:sub>
                    </m:sSub>
                    <m:r>
                      <a:rPr lang="en-US" sz="1800" i="1" smtClean="0">
                        <a:solidFill>
                          <a:srgbClr val="1F2D33"/>
                        </a:solidFill>
                        <a:latin typeface="Cambria Math" panose="02040503050406030204" pitchFamily="18" charset="0"/>
                        <a:ea typeface="Cambria Math" panose="02040503050406030204" pitchFamily="18" charset="0"/>
                      </a:rPr>
                      <m:t>∙</m:t>
                    </m:r>
                    <m:r>
                      <a:rPr lang="nb-NO" sz="1800" b="0" i="1" smtClean="0">
                        <a:solidFill>
                          <a:srgbClr val="1F2D33"/>
                        </a:solidFill>
                        <a:latin typeface="Cambria Math" panose="02040503050406030204" pitchFamily="18" charset="0"/>
                        <a:ea typeface="Cambria Math" panose="02040503050406030204" pitchFamily="18" charset="0"/>
                      </a:rPr>
                      <m:t>𝑠𝑒</m:t>
                    </m:r>
                    <m:r>
                      <a:rPr lang="nb-NO" sz="1800" b="0" i="1" smtClean="0">
                        <a:solidFill>
                          <a:srgbClr val="1F2D33"/>
                        </a:solidFill>
                        <a:latin typeface="Cambria Math" panose="02040503050406030204" pitchFamily="18" charset="0"/>
                        <a:ea typeface="Cambria Math" panose="02040503050406030204" pitchFamily="18" charset="0"/>
                      </a:rPr>
                      <m:t>(</m:t>
                    </m:r>
                    <m:sSub>
                      <m:sSubPr>
                        <m:ctrlPr>
                          <a:rPr lang="nb-NO" sz="1800" b="0" i="1" smtClean="0">
                            <a:solidFill>
                              <a:srgbClr val="1F2D33"/>
                            </a:solidFill>
                            <a:latin typeface="Cambria Math" panose="02040503050406030204" pitchFamily="18" charset="0"/>
                            <a:ea typeface="Cambria Math" panose="02040503050406030204" pitchFamily="18" charset="0"/>
                          </a:rPr>
                        </m:ctrlPr>
                      </m:sSubPr>
                      <m:e>
                        <m:r>
                          <a:rPr lang="nb-NO" sz="1800" b="0" i="1" smtClean="0">
                            <a:solidFill>
                              <a:srgbClr val="1F2D33"/>
                            </a:solidFill>
                            <a:latin typeface="Cambria Math" panose="02040503050406030204" pitchFamily="18" charset="0"/>
                            <a:ea typeface="Cambria Math" panose="02040503050406030204" pitchFamily="18" charset="0"/>
                          </a:rPr>
                          <m:t>𝑏</m:t>
                        </m:r>
                      </m:e>
                      <m:sub>
                        <m:r>
                          <a:rPr lang="nb-NO" sz="1800" b="0" i="1" smtClean="0">
                            <a:solidFill>
                              <a:srgbClr val="1F2D33"/>
                            </a:solidFill>
                            <a:latin typeface="Cambria Math" panose="02040503050406030204" pitchFamily="18" charset="0"/>
                            <a:ea typeface="Cambria Math" panose="02040503050406030204" pitchFamily="18" charset="0"/>
                          </a:rPr>
                          <m:t>2</m:t>
                        </m:r>
                      </m:sub>
                    </m:sSub>
                    <m:r>
                      <a:rPr lang="nb-NO" sz="1800" b="0" i="1" smtClean="0">
                        <a:solidFill>
                          <a:srgbClr val="1F2D33"/>
                        </a:solidFill>
                        <a:latin typeface="Cambria Math" panose="02040503050406030204" pitchFamily="18" charset="0"/>
                        <a:ea typeface="Cambria Math" panose="02040503050406030204" pitchFamily="18" charset="0"/>
                      </a:rPr>
                      <m:t>)</m:t>
                    </m:r>
                  </m:oMath>
                </a14:m>
                <a:r>
                  <a:rPr lang="en-US" sz="1800" dirty="0">
                    <a:solidFill>
                      <a:srgbClr val="1F2D33"/>
                    </a:solidFill>
                  </a:rPr>
                  <a:t>.</a:t>
                </a:r>
                <a:endParaRPr lang="en-US" sz="1800" dirty="0"/>
              </a:p>
              <a:p>
                <a:pPr marL="203200" indent="-203200">
                  <a:buSzPct val="100000"/>
                  <a:buChar char="•"/>
                </a:pPr>
                <a:r>
                  <a:rPr lang="en-US" sz="1800" dirty="0">
                    <a:solidFill>
                      <a:srgbClr val="1F2D33"/>
                    </a:solidFill>
                  </a:rPr>
                  <a:t>Interpret the width of the interval.</a:t>
                </a:r>
                <a:endParaRPr lang="en-US" sz="1800" dirty="0"/>
              </a:p>
            </p:txBody>
          </p:sp>
        </mc:Choice>
        <mc:Fallback>
          <p:sp>
            <p:nvSpPr>
              <p:cNvPr id="13" name="Text 11"/>
              <p:cNvSpPr>
                <a:spLocks noRot="1" noChangeAspect="1" noMove="1" noResize="1" noEditPoints="1" noAdjustHandles="1" noChangeArrowheads="1" noChangeShapeType="1" noTextEdit="1"/>
              </p:cNvSpPr>
              <p:nvPr/>
            </p:nvSpPr>
            <p:spPr>
              <a:xfrm>
                <a:off x="914400" y="3429000"/>
                <a:ext cx="4846320" cy="1508760"/>
              </a:xfrm>
              <a:prstGeom prst="rect">
                <a:avLst/>
              </a:prstGeom>
              <a:blipFill>
                <a:blip r:embed="rId5"/>
                <a:stretch>
                  <a:fillRect l="-3019" t="-5263"/>
                </a:stretch>
              </a:blipFill>
              <a:ln/>
            </p:spPr>
            <p:txBody>
              <a:bodyPr/>
              <a:lstStyle/>
              <a:p>
                <a:r>
                  <a:rPr lang="en-GB">
                    <a:noFill/>
                  </a:rPr>
                  <a:t> </a:t>
                </a:r>
              </a:p>
            </p:txBody>
          </p:sp>
        </mc:Fallback>
      </mc:AlternateContent>
      <p:sp>
        <p:nvSpPr>
          <p:cNvPr id="14" name="Text 12"/>
          <p:cNvSpPr/>
          <p:nvPr/>
        </p:nvSpPr>
        <p:spPr>
          <a:xfrm>
            <a:off x="6583680" y="2999232"/>
            <a:ext cx="3931920" cy="320040"/>
          </a:xfrm>
          <a:prstGeom prst="rect">
            <a:avLst/>
          </a:prstGeom>
          <a:noFill/>
          <a:ln/>
        </p:spPr>
        <p:txBody>
          <a:bodyPr wrap="square" lIns="0" tIns="0" rIns="0" bIns="0" rtlCol="0" anchor="ctr"/>
          <a:lstStyle/>
          <a:p>
            <a:pPr marL="0" indent="0">
              <a:buNone/>
            </a:pPr>
            <a:r>
              <a:rPr lang="en-US" sz="1500" b="1" dirty="0">
                <a:solidFill>
                  <a:srgbClr val="64737A"/>
                </a:solidFill>
              </a:rPr>
              <a:t>Use R as a calculator if you do not have a t-table:</a:t>
            </a:r>
            <a:endParaRPr lang="en-US" sz="1500" dirty="0"/>
          </a:p>
        </p:txBody>
      </p:sp>
      <p:sp>
        <p:nvSpPr>
          <p:cNvPr id="15" name="Shape 13"/>
          <p:cNvSpPr/>
          <p:nvPr/>
        </p:nvSpPr>
        <p:spPr>
          <a:xfrm>
            <a:off x="6583680" y="3474720"/>
            <a:ext cx="3566160" cy="731520"/>
          </a:xfrm>
          <a:prstGeom prst="roundRect">
            <a:avLst/>
          </a:prstGeom>
          <a:solidFill>
            <a:srgbClr val="F4F6F7"/>
          </a:solidFill>
          <a:ln w="12700">
            <a:solidFill>
              <a:srgbClr val="D7DEE1"/>
            </a:solidFill>
            <a:prstDash val="solid"/>
          </a:ln>
        </p:spPr>
        <p:txBody>
          <a:bodyPr/>
          <a:lstStyle/>
          <a:p>
            <a:endParaRPr lang="en-GB"/>
          </a:p>
        </p:txBody>
      </p:sp>
      <p:sp>
        <p:nvSpPr>
          <p:cNvPr id="16" name="Text 14"/>
          <p:cNvSpPr/>
          <p:nvPr/>
        </p:nvSpPr>
        <p:spPr>
          <a:xfrm>
            <a:off x="6748272" y="3602736"/>
            <a:ext cx="3236976" cy="475488"/>
          </a:xfrm>
          <a:prstGeom prst="rect">
            <a:avLst/>
          </a:prstGeom>
          <a:noFill/>
          <a:ln/>
        </p:spPr>
        <p:txBody>
          <a:bodyPr wrap="square" lIns="254" tIns="254" rIns="254" bIns="254" rtlCol="0" anchor="t">
            <a:normAutofit/>
          </a:bodyPr>
          <a:lstStyle/>
          <a:p>
            <a:pPr marL="0" indent="0">
              <a:buNone/>
            </a:pPr>
            <a:r>
              <a:rPr lang="en-US" sz="1600" dirty="0">
                <a:solidFill>
                  <a:srgbClr val="24333A"/>
                </a:solidFill>
                <a:latin typeface="Aptos Mono" pitchFamily="34" charset="0"/>
                <a:ea typeface="Aptos Mono" pitchFamily="34" charset="-122"/>
                <a:cs typeface="Aptos Mono" pitchFamily="34" charset="-120"/>
              </a:rPr>
              <a:t>qt(0.975, df = 3)</a:t>
            </a:r>
            <a:endParaRPr lang="en-US" sz="16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TWO MINUTES</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Your calculation</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mc:AlternateContent xmlns:mc="http://schemas.openxmlformats.org/markup-compatibility/2006">
        <mc:Choice xmlns:a14="http://schemas.microsoft.com/office/drawing/2010/main" Requires="a14">
          <p:sp>
            <p:nvSpPr>
              <p:cNvPr id="5" name="Text 3"/>
              <p:cNvSpPr/>
              <p:nvPr/>
            </p:nvSpPr>
            <p:spPr>
              <a:xfrm>
                <a:off x="914399" y="1325880"/>
                <a:ext cx="8720667" cy="457200"/>
              </a:xfrm>
              <a:prstGeom prst="rect">
                <a:avLst/>
              </a:prstGeom>
              <a:noFill/>
              <a:ln/>
            </p:spPr>
            <p:txBody>
              <a:bodyPr wrap="square" lIns="0" tIns="0" rIns="0" bIns="0" rtlCol="0" anchor="ctr"/>
              <a:lstStyle/>
              <a:p>
                <a14:m>
                  <m:oMath xmlns:m="http://schemas.openxmlformats.org/officeDocument/2006/math">
                    <m:sSub>
                      <m:sSubPr>
                        <m:ctrlPr>
                          <a:rPr lang="nb-NO" sz="2300" b="1" i="1">
                            <a:solidFill>
                              <a:srgbClr val="00566B"/>
                            </a:solidFill>
                            <a:latin typeface="Cambria Math" panose="02040503050406030204" pitchFamily="18" charset="0"/>
                            <a:ea typeface="Cambria Math" pitchFamily="34" charset="-122"/>
                          </a:rPr>
                        </m:ctrlPr>
                      </m:sSubPr>
                      <m:e>
                        <m:r>
                          <a:rPr lang="nb-NO" sz="2300" b="1" i="1">
                            <a:solidFill>
                              <a:srgbClr val="00566B"/>
                            </a:solidFill>
                            <a:latin typeface="Cambria Math" panose="02040503050406030204" pitchFamily="18" charset="0"/>
                            <a:ea typeface="Cambria Math" pitchFamily="34" charset="-122"/>
                          </a:rPr>
                          <m:t>𝒃</m:t>
                        </m:r>
                      </m:e>
                      <m:sub>
                        <m:r>
                          <a:rPr lang="nb-NO" sz="2300" b="1" i="1">
                            <a:solidFill>
                              <a:srgbClr val="00566B"/>
                            </a:solidFill>
                            <a:latin typeface="Cambria Math" panose="02040503050406030204" pitchFamily="18" charset="0"/>
                            <a:ea typeface="Cambria Math" pitchFamily="34" charset="-122"/>
                          </a:rPr>
                          <m:t>𝟐</m:t>
                        </m:r>
                      </m:sub>
                    </m:sSub>
                    <m:r>
                      <a:rPr lang="nb-NO" sz="2300" b="1" i="1" smtClean="0">
                        <a:solidFill>
                          <a:srgbClr val="00566B"/>
                        </a:solidFill>
                        <a:latin typeface="Cambria Math" panose="02040503050406030204" pitchFamily="18" charset="0"/>
                        <a:ea typeface="Cambria Math" pitchFamily="34" charset="-122"/>
                      </a:rPr>
                      <m:t>=</m:t>
                    </m:r>
                    <m:r>
                      <a:rPr lang="nb-NO" sz="2300" b="1" i="1" smtClean="0">
                        <a:solidFill>
                          <a:srgbClr val="00566B"/>
                        </a:solidFill>
                        <a:latin typeface="Cambria Math" panose="02040503050406030204" pitchFamily="18" charset="0"/>
                        <a:ea typeface="Cambria Math" pitchFamily="34" charset="-122"/>
                      </a:rPr>
                      <m:t>𝟎</m:t>
                    </m:r>
                    <m:r>
                      <a:rPr lang="nb-NO" sz="2300" b="1" i="1" smtClean="0">
                        <a:solidFill>
                          <a:srgbClr val="00566B"/>
                        </a:solidFill>
                        <a:latin typeface="Cambria Math" panose="02040503050406030204" pitchFamily="18" charset="0"/>
                        <a:ea typeface="Cambria Math" pitchFamily="34" charset="-122"/>
                      </a:rPr>
                      <m:t>.</m:t>
                    </m:r>
                    <m:r>
                      <a:rPr lang="nb-NO" sz="2300" b="1" i="1" smtClean="0">
                        <a:solidFill>
                          <a:srgbClr val="00566B"/>
                        </a:solidFill>
                        <a:latin typeface="Cambria Math" panose="02040503050406030204" pitchFamily="18" charset="0"/>
                        <a:ea typeface="Cambria Math" pitchFamily="34" charset="-122"/>
                      </a:rPr>
                      <m:t>𝟖</m:t>
                    </m:r>
                  </m:oMath>
                </a14:m>
                <a:r>
                  <a:rPr lang="en-US" sz="2300" b="1" dirty="0">
                    <a:solidFill>
                      <a:srgbClr val="00566B"/>
                    </a:solidFill>
                    <a:latin typeface="Cambria Math" pitchFamily="34" charset="0"/>
                    <a:ea typeface="Cambria Math" pitchFamily="34" charset="-122"/>
                    <a:cs typeface="Cambria Math" pitchFamily="34" charset="-120"/>
                  </a:rPr>
                  <a:t>      </a:t>
                </a:r>
                <a14:m>
                  <m:oMath xmlns:m="http://schemas.openxmlformats.org/officeDocument/2006/math">
                    <m:r>
                      <a:rPr lang="nb-NO" sz="2300" b="1" i="1" smtClean="0">
                        <a:solidFill>
                          <a:srgbClr val="00566B"/>
                        </a:solidFill>
                        <a:latin typeface="Cambria Math" panose="02040503050406030204" pitchFamily="18" charset="0"/>
                        <a:ea typeface="Cambria Math" pitchFamily="34" charset="-122"/>
                        <a:cs typeface="Cambria Math" pitchFamily="34" charset="-120"/>
                      </a:rPr>
                      <m:t>𝒔𝒆</m:t>
                    </m:r>
                    <m:d>
                      <m:dPr>
                        <m:ctrlPr>
                          <a:rPr lang="nb-NO" sz="2300" b="1" i="1" smtClean="0">
                            <a:solidFill>
                              <a:srgbClr val="00566B"/>
                            </a:solidFill>
                            <a:latin typeface="Cambria Math" panose="02040503050406030204" pitchFamily="18" charset="0"/>
                            <a:ea typeface="Cambria Math" pitchFamily="34" charset="-122"/>
                          </a:rPr>
                        </m:ctrlPr>
                      </m:dPr>
                      <m:e>
                        <m:sSub>
                          <m:sSubPr>
                            <m:ctrlPr>
                              <a:rPr lang="nb-NO" sz="2300" b="1" i="1" smtClean="0">
                                <a:solidFill>
                                  <a:srgbClr val="00566B"/>
                                </a:solidFill>
                                <a:latin typeface="Cambria Math" panose="02040503050406030204" pitchFamily="18" charset="0"/>
                                <a:ea typeface="Cambria Math" pitchFamily="34" charset="-122"/>
                              </a:rPr>
                            </m:ctrlPr>
                          </m:sSubPr>
                          <m:e>
                            <m:r>
                              <a:rPr lang="nb-NO" sz="2300" b="1" i="1" smtClean="0">
                                <a:solidFill>
                                  <a:srgbClr val="00566B"/>
                                </a:solidFill>
                                <a:latin typeface="Cambria Math" panose="02040503050406030204" pitchFamily="18" charset="0"/>
                                <a:ea typeface="Cambria Math" pitchFamily="34" charset="-122"/>
                              </a:rPr>
                              <m:t>𝒃</m:t>
                            </m:r>
                          </m:e>
                          <m:sub>
                            <m:r>
                              <a:rPr lang="nb-NO" sz="2300" b="1" i="1" smtClean="0">
                                <a:solidFill>
                                  <a:srgbClr val="00566B"/>
                                </a:solidFill>
                                <a:latin typeface="Cambria Math" panose="02040503050406030204" pitchFamily="18" charset="0"/>
                                <a:ea typeface="Cambria Math" pitchFamily="34" charset="-122"/>
                              </a:rPr>
                              <m:t>𝟐</m:t>
                            </m:r>
                          </m:sub>
                        </m:sSub>
                      </m:e>
                    </m:d>
                    <m:r>
                      <a:rPr lang="nb-NO" sz="2300" b="1" i="1" smtClean="0">
                        <a:solidFill>
                          <a:srgbClr val="00566B"/>
                        </a:solidFill>
                        <a:latin typeface="Cambria Math" panose="02040503050406030204" pitchFamily="18" charset="0"/>
                        <a:ea typeface="Cambria Math" pitchFamily="34" charset="-122"/>
                        <a:cs typeface="Cambria Math" pitchFamily="34" charset="-120"/>
                      </a:rPr>
                      <m:t>=</m:t>
                    </m:r>
                    <m:r>
                      <a:rPr lang="nb-NO" sz="2300" b="1" i="1" smtClean="0">
                        <a:solidFill>
                          <a:srgbClr val="00566B"/>
                        </a:solidFill>
                        <a:latin typeface="Cambria Math" panose="02040503050406030204" pitchFamily="18" charset="0"/>
                        <a:ea typeface="Cambria Math" pitchFamily="34" charset="-122"/>
                        <a:cs typeface="Cambria Math" pitchFamily="34" charset="-120"/>
                      </a:rPr>
                      <m:t>𝟎</m:t>
                    </m:r>
                    <m:r>
                      <a:rPr lang="nb-NO" sz="2300" b="1" i="1" smtClean="0">
                        <a:solidFill>
                          <a:srgbClr val="00566B"/>
                        </a:solidFill>
                        <a:latin typeface="Cambria Math" panose="02040503050406030204" pitchFamily="18" charset="0"/>
                        <a:ea typeface="Cambria Math" pitchFamily="34" charset="-122"/>
                        <a:cs typeface="Cambria Math" pitchFamily="34" charset="-120"/>
                      </a:rPr>
                      <m:t>.</m:t>
                    </m:r>
                    <m:r>
                      <a:rPr lang="nb-NO" sz="2300" b="1" i="1" smtClean="0">
                        <a:solidFill>
                          <a:srgbClr val="00566B"/>
                        </a:solidFill>
                        <a:latin typeface="Cambria Math" panose="02040503050406030204" pitchFamily="18" charset="0"/>
                        <a:ea typeface="Cambria Math" pitchFamily="34" charset="-122"/>
                        <a:cs typeface="Cambria Math" pitchFamily="34" charset="-120"/>
                      </a:rPr>
                      <m:t>𝟑𝟒𝟔</m:t>
                    </m:r>
                  </m:oMath>
                </a14:m>
                <a:r>
                  <a:rPr lang="en-US" sz="2300" b="1" dirty="0">
                    <a:solidFill>
                      <a:srgbClr val="00566B"/>
                    </a:solidFill>
                    <a:latin typeface="Cambria Math" pitchFamily="34" charset="0"/>
                    <a:ea typeface="Cambria Math" pitchFamily="34" charset="-122"/>
                    <a:cs typeface="Cambria Math" pitchFamily="34" charset="-120"/>
                  </a:rPr>
                  <a:t>     </a:t>
                </a:r>
                <a14:m>
                  <m:oMath xmlns:m="http://schemas.openxmlformats.org/officeDocument/2006/math">
                    <m:r>
                      <a:rPr lang="nb-NO" sz="2300" b="1" i="1" smtClean="0">
                        <a:solidFill>
                          <a:srgbClr val="00566B"/>
                        </a:solidFill>
                        <a:latin typeface="Cambria Math" panose="02040503050406030204" pitchFamily="18" charset="0"/>
                        <a:ea typeface="Cambria Math" pitchFamily="34" charset="-122"/>
                        <a:cs typeface="Cambria Math" pitchFamily="34" charset="-120"/>
                      </a:rPr>
                      <m:t>𝒅𝒇</m:t>
                    </m:r>
                    <m:r>
                      <a:rPr lang="nb-NO" sz="2300" b="1" i="1" smtClean="0">
                        <a:solidFill>
                          <a:srgbClr val="00566B"/>
                        </a:solidFill>
                        <a:latin typeface="Cambria Math" panose="02040503050406030204" pitchFamily="18" charset="0"/>
                        <a:ea typeface="Cambria Math" pitchFamily="34" charset="-122"/>
                        <a:cs typeface="Cambria Math" pitchFamily="34" charset="-120"/>
                      </a:rPr>
                      <m:t>=</m:t>
                    </m:r>
                    <m:r>
                      <a:rPr lang="nb-NO" sz="2300" b="1" i="1" smtClean="0">
                        <a:solidFill>
                          <a:srgbClr val="00566B"/>
                        </a:solidFill>
                        <a:latin typeface="Cambria Math" panose="02040503050406030204" pitchFamily="18" charset="0"/>
                        <a:ea typeface="Cambria Math" pitchFamily="34" charset="-122"/>
                        <a:cs typeface="Cambria Math" pitchFamily="34" charset="-120"/>
                      </a:rPr>
                      <m:t>𝟑</m:t>
                    </m:r>
                  </m:oMath>
                </a14:m>
                <a:r>
                  <a:rPr lang="en-US" sz="2300" b="1" dirty="0">
                    <a:solidFill>
                      <a:srgbClr val="00566B"/>
                    </a:solidFill>
                    <a:latin typeface="Cambria Math" pitchFamily="34" charset="0"/>
                    <a:ea typeface="Cambria Math" pitchFamily="34" charset="-122"/>
                    <a:cs typeface="Cambria Math" pitchFamily="34" charset="-120"/>
                  </a:rPr>
                  <a:t>    </a:t>
                </a:r>
                <a14:m>
                  <m:oMath xmlns:m="http://schemas.openxmlformats.org/officeDocument/2006/math">
                    <m:sSub>
                      <m:sSubPr>
                        <m:ctrlPr>
                          <a:rPr lang="nb-NO" sz="2300" b="1" i="1" smtClean="0">
                            <a:solidFill>
                              <a:srgbClr val="00566B"/>
                            </a:solidFill>
                            <a:latin typeface="Cambria Math" panose="02040503050406030204" pitchFamily="18" charset="0"/>
                            <a:ea typeface="Cambria Math" pitchFamily="34" charset="-122"/>
                          </a:rPr>
                        </m:ctrlPr>
                      </m:sSubPr>
                      <m:e>
                        <m:r>
                          <a:rPr lang="nb-NO" sz="2300" b="1" i="1" smtClean="0">
                            <a:solidFill>
                              <a:srgbClr val="00566B"/>
                            </a:solidFill>
                            <a:latin typeface="Cambria Math" panose="02040503050406030204" pitchFamily="18" charset="0"/>
                            <a:ea typeface="Cambria Math" pitchFamily="34" charset="-122"/>
                          </a:rPr>
                          <m:t>𝒕</m:t>
                        </m:r>
                      </m:e>
                      <m:sub>
                        <m:r>
                          <a:rPr lang="nb-NO" sz="2300" b="1" i="1" smtClean="0">
                            <a:solidFill>
                              <a:srgbClr val="00566B"/>
                            </a:solidFill>
                            <a:latin typeface="Cambria Math" panose="02040503050406030204" pitchFamily="18" charset="0"/>
                            <a:ea typeface="Cambria Math" pitchFamily="34" charset="-122"/>
                          </a:rPr>
                          <m:t>𝟎</m:t>
                        </m:r>
                        <m:r>
                          <a:rPr lang="nb-NO" sz="2300" b="1" i="1" smtClean="0">
                            <a:solidFill>
                              <a:srgbClr val="00566B"/>
                            </a:solidFill>
                            <a:latin typeface="Cambria Math" panose="02040503050406030204" pitchFamily="18" charset="0"/>
                            <a:ea typeface="Cambria Math" pitchFamily="34" charset="-122"/>
                          </a:rPr>
                          <m:t>.</m:t>
                        </m:r>
                        <m:r>
                          <a:rPr lang="nb-NO" sz="2300" b="1" i="1" smtClean="0">
                            <a:solidFill>
                              <a:srgbClr val="00566B"/>
                            </a:solidFill>
                            <a:latin typeface="Cambria Math" panose="02040503050406030204" pitchFamily="18" charset="0"/>
                            <a:ea typeface="Cambria Math" pitchFamily="34" charset="-122"/>
                          </a:rPr>
                          <m:t>𝟗𝟕𝟓</m:t>
                        </m:r>
                        <m:r>
                          <a:rPr lang="nb-NO" sz="2300" b="1" i="1" smtClean="0">
                            <a:solidFill>
                              <a:srgbClr val="00566B"/>
                            </a:solidFill>
                            <a:latin typeface="Cambria Math" panose="02040503050406030204" pitchFamily="18" charset="0"/>
                            <a:ea typeface="Cambria Math" pitchFamily="34" charset="-122"/>
                          </a:rPr>
                          <m:t>,</m:t>
                        </m:r>
                        <m:r>
                          <a:rPr lang="nb-NO" sz="2300" b="1" i="1" smtClean="0">
                            <a:solidFill>
                              <a:srgbClr val="00566B"/>
                            </a:solidFill>
                            <a:latin typeface="Cambria Math" panose="02040503050406030204" pitchFamily="18" charset="0"/>
                            <a:ea typeface="Cambria Math" pitchFamily="34" charset="-122"/>
                          </a:rPr>
                          <m:t>𝟑</m:t>
                        </m:r>
                      </m:sub>
                    </m:sSub>
                    <m:r>
                      <a:rPr lang="nb-NO" sz="2300" b="1" i="1" smtClean="0">
                        <a:solidFill>
                          <a:srgbClr val="00566B"/>
                        </a:solidFill>
                        <a:latin typeface="Cambria Math" panose="02040503050406030204" pitchFamily="18" charset="0"/>
                        <a:ea typeface="Cambria Math" pitchFamily="34" charset="-122"/>
                      </a:rPr>
                      <m:t>=</m:t>
                    </m:r>
                    <m:r>
                      <a:rPr lang="nb-NO" sz="2300" b="1" i="1" smtClean="0">
                        <a:solidFill>
                          <a:srgbClr val="00566B"/>
                        </a:solidFill>
                        <a:latin typeface="Cambria Math" panose="02040503050406030204" pitchFamily="18" charset="0"/>
                        <a:ea typeface="Cambria Math" pitchFamily="34" charset="-122"/>
                      </a:rPr>
                      <m:t>𝟑</m:t>
                    </m:r>
                    <m:r>
                      <a:rPr lang="nb-NO" sz="2300" b="1" i="1" smtClean="0">
                        <a:solidFill>
                          <a:srgbClr val="00566B"/>
                        </a:solidFill>
                        <a:latin typeface="Cambria Math" panose="02040503050406030204" pitchFamily="18" charset="0"/>
                        <a:ea typeface="Cambria Math" pitchFamily="34" charset="-122"/>
                      </a:rPr>
                      <m:t>.</m:t>
                    </m:r>
                    <m:r>
                      <a:rPr lang="nb-NO" sz="2300" b="1" i="1" smtClean="0">
                        <a:solidFill>
                          <a:srgbClr val="00566B"/>
                        </a:solidFill>
                        <a:latin typeface="Cambria Math" panose="02040503050406030204" pitchFamily="18" charset="0"/>
                        <a:ea typeface="Cambria Math" pitchFamily="34" charset="-122"/>
                      </a:rPr>
                      <m:t>𝟏𝟖𝟐𝟒</m:t>
                    </m:r>
                  </m:oMath>
                </a14:m>
                <a:endParaRPr lang="en-US" sz="2300" dirty="0"/>
              </a:p>
            </p:txBody>
          </p:sp>
        </mc:Choice>
        <mc:Fallback>
          <p:sp>
            <p:nvSpPr>
              <p:cNvPr id="5" name="Text 3"/>
              <p:cNvSpPr>
                <a:spLocks noRot="1" noChangeAspect="1" noMove="1" noResize="1" noEditPoints="1" noAdjustHandles="1" noChangeArrowheads="1" noChangeShapeType="1" noTextEdit="1"/>
              </p:cNvSpPr>
              <p:nvPr/>
            </p:nvSpPr>
            <p:spPr>
              <a:xfrm>
                <a:off x="914399" y="1325880"/>
                <a:ext cx="8720667" cy="457200"/>
              </a:xfrm>
              <a:prstGeom prst="rect">
                <a:avLst/>
              </a:prstGeom>
              <a:blipFill>
                <a:blip r:embed="rId3"/>
                <a:stretch>
                  <a:fillRect l="-1258" b="-14667"/>
                </a:stretch>
              </a:blipFill>
              <a:ln/>
            </p:spPr>
            <p:txBody>
              <a:bodyPr/>
              <a:lstStyle/>
              <a:p>
                <a:r>
                  <a:rPr lang="en-GB">
                    <a:noFill/>
                  </a:rPr>
                  <a:t> </a:t>
                </a:r>
              </a:p>
            </p:txBody>
          </p:sp>
        </mc:Fallback>
      </mc:AlternateContent>
      <p:sp>
        <p:nvSpPr>
          <p:cNvPr id="6" name="Text 4"/>
          <p:cNvSpPr/>
          <p:nvPr/>
        </p:nvSpPr>
        <p:spPr>
          <a:xfrm>
            <a:off x="914400" y="2057400"/>
            <a:ext cx="7955280" cy="457200"/>
          </a:xfrm>
          <a:prstGeom prst="rect">
            <a:avLst/>
          </a:prstGeom>
          <a:noFill/>
          <a:ln/>
        </p:spPr>
        <p:txBody>
          <a:bodyPr wrap="square" lIns="0" tIns="0" rIns="0" bIns="0" rtlCol="0" anchor="ctr"/>
          <a:lstStyle/>
          <a:p>
            <a:pPr marL="0" indent="0">
              <a:buNone/>
            </a:pPr>
            <a:r>
              <a:rPr lang="en-US" sz="2000" dirty="0">
                <a:solidFill>
                  <a:srgbClr val="1F2D33"/>
                </a:solidFill>
              </a:rPr>
              <a:t>95% interval:  ____________________________________________</a:t>
            </a:r>
            <a:endParaRPr lang="en-US" sz="2000" dirty="0"/>
          </a:p>
        </p:txBody>
      </p:sp>
      <p:sp>
        <p:nvSpPr>
          <p:cNvPr id="7" name="Text 5"/>
          <p:cNvSpPr/>
          <p:nvPr/>
        </p:nvSpPr>
        <p:spPr>
          <a:xfrm>
            <a:off x="914400" y="2788920"/>
            <a:ext cx="4023360" cy="411480"/>
          </a:xfrm>
          <a:prstGeom prst="rect">
            <a:avLst/>
          </a:prstGeom>
          <a:noFill/>
          <a:ln/>
        </p:spPr>
        <p:txBody>
          <a:bodyPr wrap="square" lIns="0" tIns="0" rIns="0" bIns="0" rtlCol="0" anchor="ctr"/>
          <a:lstStyle/>
          <a:p>
            <a:pPr marL="0" indent="0">
              <a:buNone/>
            </a:pPr>
            <a:r>
              <a:rPr lang="en-US" sz="1900" b="1" dirty="0">
                <a:solidFill>
                  <a:srgbClr val="1F2D33"/>
                </a:solidFill>
              </a:rPr>
              <a:t>What does the width tell us?</a:t>
            </a:r>
            <a:endParaRPr lang="en-US" sz="19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18</a:t>
            </a:fld>
            <a:endParaRPr lang="en-US"/>
          </a:p>
        </p:txBody>
      </p:sp>
      <p:pic>
        <p:nvPicPr>
          <p:cNvPr id="10" name="Bilde 9">
            <a:extLst>
              <a:ext uri="{FF2B5EF4-FFF2-40B4-BE49-F238E27FC236}">
                <a16:creationId xmlns:a16="http://schemas.microsoft.com/office/drawing/2014/main" id="{8C138137-F02D-2FAA-8ADB-F1D16CF42E54}"/>
              </a:ext>
            </a:extLst>
          </p:cNvPr>
          <p:cNvPicPr>
            <a:picLocks noChangeAspect="1"/>
          </p:cNvPicPr>
          <p:nvPr/>
        </p:nvPicPr>
        <p:blipFill>
          <a:blip r:embed="rId4"/>
          <a:stretch>
            <a:fillRect/>
          </a:stretch>
        </p:blipFill>
        <p:spPr>
          <a:xfrm>
            <a:off x="7035799" y="2994660"/>
            <a:ext cx="4619684" cy="317296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R AS A CALCULATOR</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Manual first — then let R check it</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777240" y="1325880"/>
            <a:ext cx="4937760" cy="3337560"/>
          </a:xfrm>
          <a:prstGeom prst="roundRect">
            <a:avLst/>
          </a:prstGeom>
          <a:solidFill>
            <a:srgbClr val="F4F6F7"/>
          </a:solidFill>
          <a:ln w="12700">
            <a:solidFill>
              <a:srgbClr val="D7DEE1"/>
            </a:solidFill>
            <a:prstDash val="solid"/>
          </a:ln>
        </p:spPr>
        <p:txBody>
          <a:bodyPr/>
          <a:lstStyle/>
          <a:p>
            <a:endParaRPr lang="en-GB"/>
          </a:p>
        </p:txBody>
      </p:sp>
      <p:sp>
        <p:nvSpPr>
          <p:cNvPr id="6" name="Text 4"/>
          <p:cNvSpPr/>
          <p:nvPr/>
        </p:nvSpPr>
        <p:spPr>
          <a:xfrm>
            <a:off x="941832" y="1453896"/>
            <a:ext cx="4608576" cy="3081528"/>
          </a:xfrm>
          <a:prstGeom prst="rect">
            <a:avLst/>
          </a:prstGeom>
          <a:noFill/>
          <a:ln/>
        </p:spPr>
        <p:txBody>
          <a:bodyPr wrap="square" lIns="254" tIns="254" rIns="254" bIns="254" rtlCol="0" anchor="t">
            <a:normAutofit/>
          </a:bodyPr>
          <a:lstStyle/>
          <a:p>
            <a:pPr marL="0" indent="0">
              <a:buNone/>
            </a:pPr>
            <a:r>
              <a:rPr lang="en-US" sz="1400" dirty="0">
                <a:solidFill>
                  <a:srgbClr val="24333A"/>
                </a:solidFill>
                <a:latin typeface="Aptos Mono" pitchFamily="34" charset="0"/>
                <a:ea typeface="Aptos Mono" pitchFamily="34" charset="-122"/>
                <a:cs typeface="Aptos Mono" pitchFamily="34" charset="-120"/>
              </a:rPr>
              <a:t># Critical value</a:t>
            </a:r>
            <a:endParaRPr lang="en-US" sz="1400" dirty="0"/>
          </a:p>
          <a:p>
            <a:pPr marL="0" indent="0">
              <a:buNone/>
            </a:pPr>
            <a:r>
              <a:rPr lang="en-US" sz="1400" dirty="0">
                <a:solidFill>
                  <a:srgbClr val="24333A"/>
                </a:solidFill>
                <a:latin typeface="Aptos Mono" pitchFamily="34" charset="0"/>
                <a:ea typeface="Aptos Mono" pitchFamily="34" charset="-122"/>
                <a:cs typeface="Aptos Mono" pitchFamily="34" charset="-120"/>
              </a:rPr>
              <a:t>t_c &lt;- qt(0.975, df = 3)</a:t>
            </a:r>
            <a:endParaRPr lang="en-US" sz="1400" dirty="0"/>
          </a:p>
          <a:p>
            <a:pPr marL="0" indent="0">
              <a:buNone/>
            </a:pPr>
            <a:endParaRPr lang="en-US" sz="1400" dirty="0"/>
          </a:p>
          <a:p>
            <a:pPr marL="0" indent="0">
              <a:buNone/>
            </a:pPr>
            <a:r>
              <a:rPr lang="en-US" sz="1400" dirty="0">
                <a:solidFill>
                  <a:srgbClr val="24333A"/>
                </a:solidFill>
                <a:latin typeface="Aptos Mono" pitchFamily="34" charset="0"/>
                <a:ea typeface="Aptos Mono" pitchFamily="34" charset="-122"/>
                <a:cs typeface="Aptos Mono" pitchFamily="34" charset="-120"/>
              </a:rPr>
              <a:t># Manual interval</a:t>
            </a:r>
            <a:endParaRPr lang="en-US" sz="1400" dirty="0"/>
          </a:p>
          <a:p>
            <a:pPr marL="0" indent="0">
              <a:buNone/>
            </a:pPr>
            <a:r>
              <a:rPr lang="en-US" sz="1400" dirty="0">
                <a:solidFill>
                  <a:srgbClr val="24333A"/>
                </a:solidFill>
                <a:latin typeface="Aptos Mono" pitchFamily="34" charset="0"/>
                <a:ea typeface="Aptos Mono" pitchFamily="34" charset="-122"/>
                <a:cs typeface="Aptos Mono" pitchFamily="34" charset="-120"/>
              </a:rPr>
              <a:t>lower &lt;- 0.80 - t_c * 0.346</a:t>
            </a:r>
            <a:endParaRPr lang="en-US" sz="1400" dirty="0"/>
          </a:p>
          <a:p>
            <a:pPr marL="0" indent="0">
              <a:buNone/>
            </a:pPr>
            <a:r>
              <a:rPr lang="en-US" sz="1400" dirty="0">
                <a:solidFill>
                  <a:srgbClr val="24333A"/>
                </a:solidFill>
                <a:latin typeface="Aptos Mono" pitchFamily="34" charset="0"/>
                <a:ea typeface="Aptos Mono" pitchFamily="34" charset="-122"/>
                <a:cs typeface="Aptos Mono" pitchFamily="34" charset="-120"/>
              </a:rPr>
              <a:t>upper &lt;- 0.80 + t_c * 0.346</a:t>
            </a:r>
            <a:endParaRPr lang="en-US" sz="1400" dirty="0"/>
          </a:p>
          <a:p>
            <a:pPr marL="0" indent="0">
              <a:buNone/>
            </a:pPr>
            <a:r>
              <a:rPr lang="en-US" sz="1400" dirty="0">
                <a:solidFill>
                  <a:srgbClr val="24333A"/>
                </a:solidFill>
                <a:latin typeface="Aptos Mono" pitchFamily="34" charset="0"/>
                <a:ea typeface="Aptos Mono" pitchFamily="34" charset="-122"/>
                <a:cs typeface="Aptos Mono" pitchFamily="34" charset="-120"/>
              </a:rPr>
              <a:t>c(lower, upper)</a:t>
            </a:r>
            <a:endParaRPr lang="en-US" sz="1400" dirty="0"/>
          </a:p>
        </p:txBody>
      </p:sp>
      <p:sp>
        <p:nvSpPr>
          <p:cNvPr id="7" name="Shape 5"/>
          <p:cNvSpPr/>
          <p:nvPr/>
        </p:nvSpPr>
        <p:spPr>
          <a:xfrm>
            <a:off x="6080760" y="1325880"/>
            <a:ext cx="4663440" cy="2011680"/>
          </a:xfrm>
          <a:prstGeom prst="roundRect">
            <a:avLst/>
          </a:prstGeom>
          <a:solidFill>
            <a:srgbClr val="F4F6F7"/>
          </a:solidFill>
          <a:ln w="12700">
            <a:solidFill>
              <a:srgbClr val="D7DEE1"/>
            </a:solidFill>
            <a:prstDash val="solid"/>
          </a:ln>
        </p:spPr>
        <p:txBody>
          <a:bodyPr/>
          <a:lstStyle/>
          <a:p>
            <a:endParaRPr lang="en-GB"/>
          </a:p>
        </p:txBody>
      </p:sp>
      <p:sp>
        <p:nvSpPr>
          <p:cNvPr id="8" name="Text 6"/>
          <p:cNvSpPr/>
          <p:nvPr/>
        </p:nvSpPr>
        <p:spPr>
          <a:xfrm>
            <a:off x="6245352" y="1453896"/>
            <a:ext cx="4334256" cy="1755648"/>
          </a:xfrm>
          <a:prstGeom prst="rect">
            <a:avLst/>
          </a:prstGeom>
          <a:noFill/>
          <a:ln/>
        </p:spPr>
        <p:txBody>
          <a:bodyPr wrap="square" lIns="254" tIns="254" rIns="254" bIns="254" rtlCol="0" anchor="t">
            <a:normAutofit/>
          </a:bodyPr>
          <a:lstStyle/>
          <a:p>
            <a:pPr marL="0" indent="0">
              <a:buNone/>
            </a:pPr>
            <a:r>
              <a:rPr lang="en-US" sz="1400" dirty="0">
                <a:solidFill>
                  <a:srgbClr val="24333A"/>
                </a:solidFill>
                <a:latin typeface="Aptos Mono" pitchFamily="34" charset="0"/>
                <a:ea typeface="Aptos Mono" pitchFamily="34" charset="-122"/>
                <a:cs typeface="Aptos Mono" pitchFamily="34" charset="-120"/>
              </a:rPr>
              <a:t># Same idea after estimating a model</a:t>
            </a:r>
            <a:endParaRPr lang="en-US" sz="1400" dirty="0"/>
          </a:p>
          <a:p>
            <a:pPr marL="0" indent="0">
              <a:buNone/>
            </a:pPr>
            <a:r>
              <a:rPr lang="en-US" sz="1400" dirty="0">
                <a:solidFill>
                  <a:srgbClr val="24333A"/>
                </a:solidFill>
                <a:latin typeface="Aptos Mono" pitchFamily="34" charset="0"/>
                <a:ea typeface="Aptos Mono" pitchFamily="34" charset="-122"/>
                <a:cs typeface="Aptos Mono" pitchFamily="34" charset="-120"/>
              </a:rPr>
              <a:t>model &lt;- lm(y ~ x, data = small_data)</a:t>
            </a:r>
            <a:endParaRPr lang="en-US" sz="1400" dirty="0"/>
          </a:p>
          <a:p>
            <a:pPr marL="0" indent="0">
              <a:buNone/>
            </a:pPr>
            <a:r>
              <a:rPr lang="en-US" sz="1400" dirty="0">
                <a:solidFill>
                  <a:srgbClr val="24333A"/>
                </a:solidFill>
                <a:latin typeface="Aptos Mono" pitchFamily="34" charset="0"/>
                <a:ea typeface="Aptos Mono" pitchFamily="34" charset="-122"/>
                <a:cs typeface="Aptos Mono" pitchFamily="34" charset="-120"/>
              </a:rPr>
              <a:t>confint(model, "x", level = 0.95)</a:t>
            </a:r>
            <a:endParaRPr lang="en-US" sz="1400" dirty="0"/>
          </a:p>
        </p:txBody>
      </p:sp>
      <p:sp>
        <p:nvSpPr>
          <p:cNvPr id="9" name="Text 7"/>
          <p:cNvSpPr/>
          <p:nvPr/>
        </p:nvSpPr>
        <p:spPr>
          <a:xfrm>
            <a:off x="6080760" y="3749040"/>
            <a:ext cx="4663440" cy="914400"/>
          </a:xfrm>
          <a:prstGeom prst="rect">
            <a:avLst/>
          </a:prstGeom>
          <a:noFill/>
          <a:ln/>
        </p:spPr>
        <p:txBody>
          <a:bodyPr wrap="square" lIns="381" tIns="381" rIns="381" bIns="381" rtlCol="0" anchor="ctr"/>
          <a:lstStyle/>
          <a:p>
            <a:pPr marL="0" indent="0" algn="ctr">
              <a:buNone/>
            </a:pPr>
            <a:r>
              <a:rPr lang="en-US" sz="2000" b="1" dirty="0">
                <a:solidFill>
                  <a:srgbClr val="00566B"/>
                </a:solidFill>
              </a:rPr>
              <a:t>The function is convenient because we already understand the calculation behind it.</a:t>
            </a:r>
            <a:endParaRPr lang="en-US" sz="20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THE IMPORTANT INTERPRETATION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95% confidence is a property of the procedure</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731520" y="1417320"/>
            <a:ext cx="3017520" cy="1965960"/>
          </a:xfrm>
          <a:prstGeom prst="roundRect">
            <a:avLst>
              <a:gd name="adj" fmla="val 3721"/>
            </a:avLst>
          </a:prstGeom>
          <a:solidFill>
            <a:srgbClr val="DDF4F9"/>
          </a:solidFill>
          <a:ln w="12700">
            <a:solidFill>
              <a:srgbClr val="DDF4F9"/>
            </a:solidFill>
            <a:prstDash val="solid"/>
          </a:ln>
        </p:spPr>
        <p:txBody>
          <a:bodyPr/>
          <a:lstStyle/>
          <a:p>
            <a:endParaRPr lang="en-GB"/>
          </a:p>
        </p:txBody>
      </p:sp>
      <mc:AlternateContent xmlns:mc="http://schemas.openxmlformats.org/markup-compatibility/2006">
        <mc:Choice xmlns:a14="http://schemas.microsoft.com/office/drawing/2010/main" Requires="a14">
          <p:sp>
            <p:nvSpPr>
              <p:cNvPr id="6" name="Text 4"/>
              <p:cNvSpPr/>
              <p:nvPr/>
            </p:nvSpPr>
            <p:spPr>
              <a:xfrm>
                <a:off x="896112" y="1554480"/>
                <a:ext cx="2688336" cy="292608"/>
              </a:xfrm>
              <a:prstGeom prst="rect">
                <a:avLst/>
              </a:prstGeom>
              <a:noFill/>
              <a:ln/>
            </p:spPr>
            <p:txBody>
              <a:bodyPr wrap="square" lIns="0" tIns="0" rIns="0" bIns="0" rtlCol="0" anchor="ctr"/>
              <a:lstStyle/>
              <a:p>
                <a:pPr algn="ctr"/>
                <a14:m>
                  <m:oMathPara xmlns:m="http://schemas.openxmlformats.org/officeDocument/2006/math">
                    <m:oMath>
                      <m:sSub>
                        <m:sSubPr>
                          <m:ctrlPr>
                            <a:rPr lang="en-US" sz="1600" i="1">
                              <a:solidFill>
                                <a:schemeClr val="tx1"/>
                              </a:solidFill>
                              <a:latin typeface="Cambria Math" panose="02040503050406030204" pitchFamily="18" charset="0"/>
                              <a:ea typeface="Cambria Math" panose="02040503050406030204" pitchFamily="18" charset="0"/>
                            </a:rPr>
                          </m:ctrlPr>
                        </m:sSubPr>
                        <m:e>
                          <m:r>
                            <a:rPr lang="en-US" sz="1600" i="1">
                              <a:solidFill>
                                <a:schemeClr val="tx1"/>
                              </a:solidFill>
                              <a:latin typeface="Cambria Math" panose="02040503050406030204" pitchFamily="18" charset="0"/>
                              <a:ea typeface="Cambria Math" panose="02040503050406030204" pitchFamily="18" charset="0"/>
                            </a:rPr>
                            <m:t>𝛽</m:t>
                          </m:r>
                        </m:e>
                        <m:sub>
                          <m:r>
                            <a:rPr lang="nb-NO" sz="1600" i="1">
                              <a:solidFill>
                                <a:schemeClr val="tx1"/>
                              </a:solidFill>
                              <a:latin typeface="Cambria Math" panose="02040503050406030204" pitchFamily="18" charset="0"/>
                              <a:ea typeface="Cambria Math" panose="02040503050406030204" pitchFamily="18" charset="0"/>
                            </a:rPr>
                            <m:t>2</m:t>
                          </m:r>
                        </m:sub>
                      </m:sSub>
                    </m:oMath>
                  </m:oMathPara>
                </a14:m>
                <a:endParaRPr lang="en-US" sz="1600" dirty="0">
                  <a:solidFill>
                    <a:schemeClr val="tx1"/>
                  </a:solidFill>
                </a:endParaRPr>
              </a:p>
            </p:txBody>
          </p:sp>
        </mc:Choice>
        <mc:Fallback>
          <p:sp>
            <p:nvSpPr>
              <p:cNvPr id="6" name="Text 4"/>
              <p:cNvSpPr>
                <a:spLocks noRot="1" noChangeAspect="1" noMove="1" noResize="1" noEditPoints="1" noAdjustHandles="1" noChangeArrowheads="1" noChangeShapeType="1" noTextEdit="1"/>
              </p:cNvSpPr>
              <p:nvPr/>
            </p:nvSpPr>
            <p:spPr>
              <a:xfrm>
                <a:off x="896112" y="1554480"/>
                <a:ext cx="2688336" cy="292608"/>
              </a:xfrm>
              <a:prstGeom prst="rect">
                <a:avLst/>
              </a:prstGeom>
              <a:blipFill>
                <a:blip r:embed="rId3"/>
                <a:stretch>
                  <a:fillRect b="-18750"/>
                </a:stretch>
              </a:blipFill>
              <a:ln/>
            </p:spPr>
            <p:txBody>
              <a:bodyPr/>
              <a:lstStyle/>
              <a:p>
                <a:r>
                  <a:rPr lang="en-GB">
                    <a:noFill/>
                  </a:rPr>
                  <a:t> </a:t>
                </a:r>
              </a:p>
            </p:txBody>
          </p:sp>
        </mc:Fallback>
      </mc:AlternateContent>
      <p:sp>
        <p:nvSpPr>
          <p:cNvPr id="7" name="Text 5"/>
          <p:cNvSpPr/>
          <p:nvPr/>
        </p:nvSpPr>
        <p:spPr>
          <a:xfrm>
            <a:off x="896112" y="1947672"/>
            <a:ext cx="2688336" cy="1280160"/>
          </a:xfrm>
          <a:prstGeom prst="rect">
            <a:avLst/>
          </a:prstGeom>
          <a:noFill/>
          <a:ln/>
        </p:spPr>
        <p:txBody>
          <a:bodyPr wrap="square" lIns="254" tIns="254" rIns="254" bIns="254" rtlCol="0" anchor="ctr"/>
          <a:lstStyle/>
          <a:p>
            <a:pPr marL="0" indent="0" algn="ctr">
              <a:buNone/>
            </a:pPr>
            <a:r>
              <a:rPr lang="en-US" sz="1400" dirty="0">
                <a:solidFill>
                  <a:srgbClr val="1F2D33"/>
                </a:solidFill>
              </a:rPr>
              <a:t>Fixed and unknown</a:t>
            </a:r>
            <a:endParaRPr lang="en-US" sz="1400" dirty="0"/>
          </a:p>
          <a:p>
            <a:pPr marL="0" indent="0" algn="ctr">
              <a:buNone/>
            </a:pPr>
            <a:r>
              <a:rPr lang="en-US" sz="1400" dirty="0">
                <a:solidFill>
                  <a:srgbClr val="1F2D33"/>
                </a:solidFill>
              </a:rPr>
              <a:t>There is one population value</a:t>
            </a:r>
            <a:endParaRPr lang="en-US" sz="1400" dirty="0"/>
          </a:p>
        </p:txBody>
      </p:sp>
      <p:sp>
        <p:nvSpPr>
          <p:cNvPr id="8" name="Shape 6"/>
          <p:cNvSpPr/>
          <p:nvPr/>
        </p:nvSpPr>
        <p:spPr>
          <a:xfrm>
            <a:off x="4160520" y="1417320"/>
            <a:ext cx="3017520" cy="1965960"/>
          </a:xfrm>
          <a:prstGeom prst="roundRect">
            <a:avLst>
              <a:gd name="adj" fmla="val 3721"/>
            </a:avLst>
          </a:prstGeom>
          <a:solidFill>
            <a:srgbClr val="F4F6F7"/>
          </a:solidFill>
          <a:ln w="12700">
            <a:solidFill>
              <a:srgbClr val="F4F6F7"/>
            </a:solidFill>
            <a:prstDash val="solid"/>
          </a:ln>
        </p:spPr>
        <p:txBody>
          <a:bodyPr/>
          <a:lstStyle/>
          <a:p>
            <a:endParaRPr lang="en-GB"/>
          </a:p>
        </p:txBody>
      </p:sp>
      <p:sp>
        <p:nvSpPr>
          <p:cNvPr id="9" name="Text 7"/>
          <p:cNvSpPr/>
          <p:nvPr/>
        </p:nvSpPr>
        <p:spPr>
          <a:xfrm>
            <a:off x="4325112" y="1554480"/>
            <a:ext cx="2688336" cy="292608"/>
          </a:xfrm>
          <a:prstGeom prst="rect">
            <a:avLst/>
          </a:prstGeom>
          <a:noFill/>
          <a:ln/>
        </p:spPr>
        <p:txBody>
          <a:bodyPr wrap="square" lIns="0" tIns="0" rIns="0" bIns="0" rtlCol="0" anchor="ctr"/>
          <a:lstStyle/>
          <a:p>
            <a:pPr marL="0" indent="0" algn="ctr">
              <a:buNone/>
            </a:pPr>
            <a:r>
              <a:rPr lang="en-US" sz="1600" b="1" dirty="0">
                <a:solidFill>
                  <a:srgbClr val="1F2D33"/>
                </a:solidFill>
              </a:rPr>
              <a:t>Random sample</a:t>
            </a:r>
            <a:endParaRPr lang="en-US" sz="1600" dirty="0"/>
          </a:p>
        </p:txBody>
      </p:sp>
      <mc:AlternateContent xmlns:mc="http://schemas.openxmlformats.org/markup-compatibility/2006">
        <mc:Choice xmlns:a14="http://schemas.microsoft.com/office/drawing/2010/main" Requires="a14">
          <p:sp>
            <p:nvSpPr>
              <p:cNvPr id="10" name="Text 8"/>
              <p:cNvSpPr/>
              <p:nvPr/>
            </p:nvSpPr>
            <p:spPr>
              <a:xfrm>
                <a:off x="4325112" y="1947672"/>
                <a:ext cx="2688336" cy="1280160"/>
              </a:xfrm>
              <a:prstGeom prst="rect">
                <a:avLst/>
              </a:prstGeom>
              <a:noFill/>
              <a:ln/>
            </p:spPr>
            <p:txBody>
              <a:bodyPr wrap="square" lIns="254" tIns="254" rIns="254" bIns="254" rtlCol="0" anchor="ctr"/>
              <a:lstStyle/>
              <a:p>
                <a:pPr algn="ctr"/>
                <a:r>
                  <a:rPr lang="en-US" sz="1400" dirty="0">
                    <a:solidFill>
                      <a:srgbClr val="1F2D33"/>
                    </a:solidFill>
                  </a:rPr>
                  <a:t>A new sample gives new </a:t>
                </a:r>
                <a14:m>
                  <m:oMath xmlns:m="http://schemas.openxmlformats.org/officeDocument/2006/math">
                    <m:sSub>
                      <m:sSubPr>
                        <m:ctrlPr>
                          <a:rPr lang="nb-NO" sz="1400" b="0" i="1" smtClean="0">
                            <a:latin typeface="Cambria Math" panose="02040503050406030204" pitchFamily="18" charset="0"/>
                            <a:ea typeface="Cambria Math" panose="02040503050406030204" pitchFamily="18" charset="0"/>
                          </a:rPr>
                        </m:ctrlPr>
                      </m:sSubPr>
                      <m:e>
                        <m:r>
                          <a:rPr lang="nb-NO" sz="1400" b="0" i="1" smtClean="0">
                            <a:latin typeface="Cambria Math" panose="02040503050406030204" pitchFamily="18" charset="0"/>
                            <a:ea typeface="Cambria Math" panose="02040503050406030204" pitchFamily="18" charset="0"/>
                          </a:rPr>
                          <m:t>𝑏</m:t>
                        </m:r>
                      </m:e>
                      <m:sub>
                        <m:r>
                          <a:rPr lang="nb-NO" sz="1400" i="1">
                            <a:latin typeface="Cambria Math" panose="02040503050406030204" pitchFamily="18" charset="0"/>
                            <a:ea typeface="Cambria Math" panose="02040503050406030204" pitchFamily="18" charset="0"/>
                          </a:rPr>
                          <m:t>2</m:t>
                        </m:r>
                      </m:sub>
                    </m:sSub>
                  </m:oMath>
                </a14:m>
                <a:endParaRPr lang="en-US" sz="1400" dirty="0"/>
              </a:p>
              <a:p>
                <a:pPr algn="ctr"/>
                <a:r>
                  <a:rPr lang="en-US" sz="1400" dirty="0">
                    <a:solidFill>
                      <a:srgbClr val="1F2D33"/>
                    </a:solidFill>
                  </a:rPr>
                  <a:t>and </a:t>
                </a:r>
                <a14:m>
                  <m:oMath xmlns:m="http://schemas.openxmlformats.org/officeDocument/2006/math">
                    <m:r>
                      <m:rPr>
                        <m:sty m:val="p"/>
                      </m:rPr>
                      <a:rPr lang="nb-NO" sz="1400" b="0" i="0" smtClean="0">
                        <a:latin typeface="Cambria Math" panose="02040503050406030204" pitchFamily="18" charset="0"/>
                        <a:ea typeface="Cambria Math" panose="02040503050406030204" pitchFamily="18" charset="0"/>
                      </a:rPr>
                      <m:t>se</m:t>
                    </m:r>
                    <m:d>
                      <m:dPr>
                        <m:ctrlPr>
                          <a:rPr lang="en-US" sz="1400" i="1">
                            <a:latin typeface="Cambria Math" panose="02040503050406030204" pitchFamily="18" charset="0"/>
                            <a:ea typeface="Cambria Math" panose="02040503050406030204" pitchFamily="18" charset="0"/>
                          </a:rPr>
                        </m:ctrlPr>
                      </m:dPr>
                      <m:e>
                        <m:sSub>
                          <m:sSubPr>
                            <m:ctrlPr>
                              <a:rPr lang="nb-NO" sz="1400" b="0" i="1" smtClean="0">
                                <a:latin typeface="Cambria Math" panose="02040503050406030204" pitchFamily="18" charset="0"/>
                                <a:ea typeface="Cambria Math" panose="02040503050406030204" pitchFamily="18" charset="0"/>
                              </a:rPr>
                            </m:ctrlPr>
                          </m:sSubPr>
                          <m:e>
                            <m:r>
                              <a:rPr lang="nb-NO" sz="1400" b="0" i="1" smtClean="0">
                                <a:latin typeface="Cambria Math" panose="02040503050406030204" pitchFamily="18" charset="0"/>
                                <a:ea typeface="Cambria Math" panose="02040503050406030204" pitchFamily="18" charset="0"/>
                              </a:rPr>
                              <m:t>𝑏</m:t>
                            </m:r>
                          </m:e>
                          <m:sub>
                            <m:r>
                              <a:rPr lang="nb-NO" sz="1400" i="1">
                                <a:latin typeface="Cambria Math" panose="02040503050406030204" pitchFamily="18" charset="0"/>
                                <a:ea typeface="Cambria Math" panose="02040503050406030204" pitchFamily="18" charset="0"/>
                              </a:rPr>
                              <m:t>2</m:t>
                            </m:r>
                          </m:sub>
                        </m:sSub>
                      </m:e>
                    </m:d>
                  </m:oMath>
                </a14:m>
                <a:endParaRPr lang="en-US" sz="1400" dirty="0"/>
              </a:p>
              <a:p>
                <a:pPr marL="0" indent="0" algn="ctr">
                  <a:buNone/>
                </a:pPr>
                <a:endParaRPr lang="en-US" sz="1400" dirty="0"/>
              </a:p>
            </p:txBody>
          </p:sp>
        </mc:Choice>
        <mc:Fallback>
          <p:sp>
            <p:nvSpPr>
              <p:cNvPr id="10" name="Text 8"/>
              <p:cNvSpPr>
                <a:spLocks noRot="1" noChangeAspect="1" noMove="1" noResize="1" noEditPoints="1" noAdjustHandles="1" noChangeArrowheads="1" noChangeShapeType="1" noTextEdit="1"/>
              </p:cNvSpPr>
              <p:nvPr/>
            </p:nvSpPr>
            <p:spPr>
              <a:xfrm>
                <a:off x="4325112" y="1947672"/>
                <a:ext cx="2688336" cy="1280160"/>
              </a:xfrm>
              <a:prstGeom prst="rect">
                <a:avLst/>
              </a:prstGeom>
              <a:blipFill>
                <a:blip r:embed="rId4"/>
                <a:stretch>
                  <a:fillRect/>
                </a:stretch>
              </a:blipFill>
              <a:ln/>
            </p:spPr>
            <p:txBody>
              <a:bodyPr/>
              <a:lstStyle/>
              <a:p>
                <a:r>
                  <a:rPr lang="en-GB">
                    <a:noFill/>
                  </a:rPr>
                  <a:t> </a:t>
                </a:r>
              </a:p>
            </p:txBody>
          </p:sp>
        </mc:Fallback>
      </mc:AlternateContent>
      <p:sp>
        <p:nvSpPr>
          <p:cNvPr id="11" name="Shape 9"/>
          <p:cNvSpPr/>
          <p:nvPr/>
        </p:nvSpPr>
        <p:spPr>
          <a:xfrm>
            <a:off x="7589520" y="1417320"/>
            <a:ext cx="3017520" cy="1965960"/>
          </a:xfrm>
          <a:prstGeom prst="roundRect">
            <a:avLst>
              <a:gd name="adj" fmla="val 3721"/>
            </a:avLst>
          </a:prstGeom>
          <a:solidFill>
            <a:srgbClr val="FFF1F2"/>
          </a:solidFill>
          <a:ln w="12700">
            <a:solidFill>
              <a:srgbClr val="FFF1F2"/>
            </a:solidFill>
            <a:prstDash val="solid"/>
          </a:ln>
        </p:spPr>
        <p:txBody>
          <a:bodyPr/>
          <a:lstStyle/>
          <a:p>
            <a:endParaRPr lang="en-GB"/>
          </a:p>
        </p:txBody>
      </p:sp>
      <p:sp>
        <p:nvSpPr>
          <p:cNvPr id="12" name="Text 10"/>
          <p:cNvSpPr/>
          <p:nvPr/>
        </p:nvSpPr>
        <p:spPr>
          <a:xfrm>
            <a:off x="7754112" y="1554480"/>
            <a:ext cx="2688336" cy="292608"/>
          </a:xfrm>
          <a:prstGeom prst="rect">
            <a:avLst/>
          </a:prstGeom>
          <a:noFill/>
          <a:ln/>
        </p:spPr>
        <p:txBody>
          <a:bodyPr wrap="square" lIns="0" tIns="0" rIns="0" bIns="0" rtlCol="0" anchor="ctr"/>
          <a:lstStyle/>
          <a:p>
            <a:pPr marL="0" indent="0" algn="ctr">
              <a:buNone/>
            </a:pPr>
            <a:r>
              <a:rPr lang="en-US" sz="1600" b="1" dirty="0">
                <a:solidFill>
                  <a:srgbClr val="D71920"/>
                </a:solidFill>
              </a:rPr>
              <a:t>Interval</a:t>
            </a:r>
            <a:endParaRPr lang="en-US" sz="1600" dirty="0"/>
          </a:p>
        </p:txBody>
      </p:sp>
      <p:sp>
        <p:nvSpPr>
          <p:cNvPr id="13" name="Text 11"/>
          <p:cNvSpPr/>
          <p:nvPr/>
        </p:nvSpPr>
        <p:spPr>
          <a:xfrm>
            <a:off x="7754112" y="1947672"/>
            <a:ext cx="2688336" cy="1280160"/>
          </a:xfrm>
          <a:prstGeom prst="rect">
            <a:avLst/>
          </a:prstGeom>
          <a:noFill/>
          <a:ln/>
        </p:spPr>
        <p:txBody>
          <a:bodyPr wrap="square" lIns="254" tIns="254" rIns="254" bIns="254" rtlCol="0" anchor="ctr"/>
          <a:lstStyle/>
          <a:p>
            <a:pPr marL="0" indent="0" algn="ctr">
              <a:buNone/>
            </a:pPr>
            <a:r>
              <a:rPr lang="en-US" sz="1400" dirty="0">
                <a:solidFill>
                  <a:srgbClr val="1F2D33"/>
                </a:solidFill>
              </a:rPr>
              <a:t>The endpoints change from sample to sample</a:t>
            </a:r>
            <a:endParaRPr lang="en-US" sz="1400" dirty="0"/>
          </a:p>
        </p:txBody>
      </p:sp>
      <mc:AlternateContent xmlns:mc="http://schemas.openxmlformats.org/markup-compatibility/2006">
        <mc:Choice xmlns:a14="http://schemas.microsoft.com/office/drawing/2010/main" Requires="a14">
          <p:sp>
            <p:nvSpPr>
              <p:cNvPr id="14" name="Text 12"/>
              <p:cNvSpPr/>
              <p:nvPr/>
            </p:nvSpPr>
            <p:spPr>
              <a:xfrm>
                <a:off x="914400" y="3977640"/>
                <a:ext cx="9601200" cy="822960"/>
              </a:xfrm>
              <a:prstGeom prst="rect">
                <a:avLst/>
              </a:prstGeom>
              <a:noFill/>
              <a:ln/>
            </p:spPr>
            <p:txBody>
              <a:bodyPr wrap="square" lIns="381" tIns="381" rIns="381" bIns="381" rtlCol="0" anchor="ctr"/>
              <a:lstStyle/>
              <a:p>
                <a:pPr algn="ctr"/>
                <a:r>
                  <a:rPr lang="en-US" sz="2300" b="1" dirty="0">
                    <a:solidFill>
                      <a:srgbClr val="00566B"/>
                    </a:solidFill>
                  </a:rPr>
                  <a:t>If we repeatedly sample and construct intervals in the same way, about 95% of the intervals contain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nb-NO" sz="2400" i="1">
                            <a:latin typeface="Cambria Math" panose="02040503050406030204" pitchFamily="18" charset="0"/>
                            <a:ea typeface="Cambria Math" panose="02040503050406030204" pitchFamily="18" charset="0"/>
                          </a:rPr>
                          <m:t>2</m:t>
                        </m:r>
                      </m:sub>
                    </m:sSub>
                  </m:oMath>
                </a14:m>
                <a:r>
                  <a:rPr lang="en-US" sz="2300" b="1" dirty="0">
                    <a:solidFill>
                      <a:srgbClr val="00566B"/>
                    </a:solidFill>
                  </a:rPr>
                  <a:t>.</a:t>
                </a:r>
                <a:endParaRPr lang="en-US" sz="2300" dirty="0"/>
              </a:p>
            </p:txBody>
          </p:sp>
        </mc:Choice>
        <mc:Fallback>
          <p:sp>
            <p:nvSpPr>
              <p:cNvPr id="14" name="Text 12"/>
              <p:cNvSpPr>
                <a:spLocks noRot="1" noChangeAspect="1" noMove="1" noResize="1" noEditPoints="1" noAdjustHandles="1" noChangeArrowheads="1" noChangeShapeType="1" noTextEdit="1"/>
              </p:cNvSpPr>
              <p:nvPr/>
            </p:nvSpPr>
            <p:spPr>
              <a:xfrm>
                <a:off x="914400" y="3977640"/>
                <a:ext cx="9601200" cy="822960"/>
              </a:xfrm>
              <a:prstGeom prst="rect">
                <a:avLst/>
              </a:prstGeom>
              <a:blipFill>
                <a:blip r:embed="rId5"/>
                <a:stretch>
                  <a:fillRect l="-635" t="-4444" r="-1270" b="-14815"/>
                </a:stretch>
              </a:blipFill>
              <a:ln/>
            </p:spPr>
            <p:txBody>
              <a:bodyPr/>
              <a:lstStyle/>
              <a:p>
                <a:r>
                  <a:rPr lang="en-GB">
                    <a:noFill/>
                  </a:rPr>
                  <a:t> </a:t>
                </a:r>
              </a:p>
            </p:txBody>
          </p:sp>
        </mc:Fallback>
      </mc:AlternateContent>
      <p:sp>
        <p:nvSpPr>
          <p:cNvPr id="15" name="Text 13"/>
          <p:cNvSpPr/>
          <p:nvPr/>
        </p:nvSpPr>
        <p:spPr>
          <a:xfrm>
            <a:off x="1234440" y="5166360"/>
            <a:ext cx="8961120" cy="594360"/>
          </a:xfrm>
          <a:prstGeom prst="rect">
            <a:avLst/>
          </a:prstGeom>
          <a:noFill/>
          <a:ln/>
        </p:spPr>
        <p:txBody>
          <a:bodyPr wrap="square" lIns="254" tIns="254" rIns="254" bIns="254" rtlCol="0" anchor="ctr"/>
          <a:lstStyle/>
          <a:p>
            <a:pPr marL="0" indent="0" algn="ctr">
              <a:buNone/>
            </a:pPr>
            <a:r>
              <a:rPr lang="en-US" sz="2000" b="1" dirty="0">
                <a:solidFill>
                  <a:srgbClr val="D71920"/>
                </a:solidFill>
              </a:rPr>
              <a:t>The confidence is in the method — not in the particular interval after it has been calculated.</a:t>
            </a:r>
            <a:endParaRPr lang="en-US" sz="20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SIMULATION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Repeated sampling makes the meaning visible</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pic>
        <p:nvPicPr>
          <p:cNvPr id="5" name="Image 0" descr="/mnt/data/ch3_figs/ci_repeated.png"/>
          <p:cNvPicPr>
            <a:picLocks noChangeAspect="1"/>
          </p:cNvPicPr>
          <p:nvPr/>
        </p:nvPicPr>
        <p:blipFill>
          <a:blip r:embed="rId3"/>
          <a:stretch>
            <a:fillRect/>
          </a:stretch>
        </p:blipFill>
        <p:spPr>
          <a:xfrm>
            <a:off x="822960" y="1234440"/>
            <a:ext cx="6766560" cy="4480560"/>
          </a:xfrm>
          <a:prstGeom prst="rect">
            <a:avLst/>
          </a:prstGeom>
        </p:spPr>
      </p:pic>
      <p:sp>
        <p:nvSpPr>
          <p:cNvPr id="6" name="Shape 3"/>
          <p:cNvSpPr/>
          <p:nvPr/>
        </p:nvSpPr>
        <p:spPr>
          <a:xfrm>
            <a:off x="7909560" y="1600200"/>
            <a:ext cx="2880360" cy="1417320"/>
          </a:xfrm>
          <a:prstGeom prst="roundRect">
            <a:avLst>
              <a:gd name="adj" fmla="val 5161"/>
            </a:avLst>
          </a:prstGeom>
          <a:solidFill>
            <a:srgbClr val="DDF4F9"/>
          </a:solidFill>
          <a:ln w="12700">
            <a:solidFill>
              <a:srgbClr val="DDF4F9"/>
            </a:solidFill>
            <a:prstDash val="solid"/>
          </a:ln>
        </p:spPr>
        <p:txBody>
          <a:bodyPr/>
          <a:lstStyle/>
          <a:p>
            <a:endParaRPr lang="en-GB"/>
          </a:p>
        </p:txBody>
      </p:sp>
      <p:sp>
        <p:nvSpPr>
          <p:cNvPr id="7" name="Text 4"/>
          <p:cNvSpPr/>
          <p:nvPr/>
        </p:nvSpPr>
        <p:spPr>
          <a:xfrm>
            <a:off x="8074152" y="1737360"/>
            <a:ext cx="2551176" cy="292608"/>
          </a:xfrm>
          <a:prstGeom prst="rect">
            <a:avLst/>
          </a:prstGeom>
          <a:noFill/>
          <a:ln/>
        </p:spPr>
        <p:txBody>
          <a:bodyPr wrap="square" lIns="0" tIns="0" rIns="0" bIns="0" rtlCol="0" anchor="ctr"/>
          <a:lstStyle/>
          <a:p>
            <a:pPr marL="0" indent="0" algn="ctr">
              <a:buNone/>
            </a:pPr>
            <a:r>
              <a:rPr lang="en-US" sz="1600" b="1" dirty="0">
                <a:solidFill>
                  <a:srgbClr val="00566B"/>
                </a:solidFill>
              </a:rPr>
              <a:t>Dashed line</a:t>
            </a:r>
            <a:endParaRPr lang="en-US" sz="1600" dirty="0"/>
          </a:p>
        </p:txBody>
      </p:sp>
      <mc:AlternateContent xmlns:mc="http://schemas.openxmlformats.org/markup-compatibility/2006">
        <mc:Choice xmlns:a14="http://schemas.microsoft.com/office/drawing/2010/main" Requires="a14">
          <p:sp>
            <p:nvSpPr>
              <p:cNvPr id="8" name="Text 5"/>
              <p:cNvSpPr/>
              <p:nvPr/>
            </p:nvSpPr>
            <p:spPr>
              <a:xfrm>
                <a:off x="8074152" y="2130552"/>
                <a:ext cx="2551176" cy="731520"/>
              </a:xfrm>
              <a:prstGeom prst="rect">
                <a:avLst/>
              </a:prstGeom>
              <a:noFill/>
              <a:ln/>
            </p:spPr>
            <p:txBody>
              <a:bodyPr wrap="square" lIns="254" tIns="254" rIns="254" bIns="254" rtlCol="0" anchor="ctr"/>
              <a:lstStyle/>
              <a:p>
                <a:pPr algn="ctr"/>
                <a:r>
                  <a:rPr lang="en-US" sz="1400" dirty="0">
                    <a:solidFill>
                      <a:srgbClr val="1F2D33"/>
                    </a:solidFill>
                  </a:rPr>
                  <a:t>The fixed true </a:t>
                </a:r>
                <a14:m>
                  <m:oMath xmlns:m="http://schemas.openxmlformats.org/officeDocument/2006/math">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𝛽</m:t>
                        </m:r>
                      </m:e>
                      <m:sub>
                        <m:r>
                          <a:rPr lang="nb-NO" sz="1400" i="1">
                            <a:latin typeface="Cambria Math" panose="02040503050406030204" pitchFamily="18" charset="0"/>
                            <a:ea typeface="Cambria Math" panose="02040503050406030204" pitchFamily="18" charset="0"/>
                          </a:rPr>
                          <m:t>2</m:t>
                        </m:r>
                      </m:sub>
                    </m:sSub>
                  </m:oMath>
                </a14:m>
                <a:endParaRPr lang="en-US" sz="1400" dirty="0"/>
              </a:p>
            </p:txBody>
          </p:sp>
        </mc:Choice>
        <mc:Fallback>
          <p:sp>
            <p:nvSpPr>
              <p:cNvPr id="8" name="Text 5"/>
              <p:cNvSpPr>
                <a:spLocks noRot="1" noChangeAspect="1" noMove="1" noResize="1" noEditPoints="1" noAdjustHandles="1" noChangeArrowheads="1" noChangeShapeType="1" noTextEdit="1"/>
              </p:cNvSpPr>
              <p:nvPr/>
            </p:nvSpPr>
            <p:spPr>
              <a:xfrm>
                <a:off x="8074152" y="2130552"/>
                <a:ext cx="2551176" cy="731520"/>
              </a:xfrm>
              <a:prstGeom prst="rect">
                <a:avLst/>
              </a:prstGeom>
              <a:blipFill>
                <a:blip r:embed="rId4"/>
                <a:stretch>
                  <a:fillRect/>
                </a:stretch>
              </a:blipFill>
              <a:ln/>
            </p:spPr>
            <p:txBody>
              <a:bodyPr/>
              <a:lstStyle/>
              <a:p>
                <a:r>
                  <a:rPr lang="en-GB">
                    <a:noFill/>
                  </a:rPr>
                  <a:t> </a:t>
                </a:r>
              </a:p>
            </p:txBody>
          </p:sp>
        </mc:Fallback>
      </mc:AlternateContent>
      <p:sp>
        <p:nvSpPr>
          <p:cNvPr id="9" name="Shape 6"/>
          <p:cNvSpPr/>
          <p:nvPr/>
        </p:nvSpPr>
        <p:spPr>
          <a:xfrm>
            <a:off x="7909560" y="3246120"/>
            <a:ext cx="2880360" cy="1417320"/>
          </a:xfrm>
          <a:prstGeom prst="roundRect">
            <a:avLst>
              <a:gd name="adj" fmla="val 5161"/>
            </a:avLst>
          </a:prstGeom>
          <a:solidFill>
            <a:srgbClr val="FFF1F2"/>
          </a:solidFill>
          <a:ln w="12700">
            <a:solidFill>
              <a:srgbClr val="FFF1F2"/>
            </a:solidFill>
            <a:prstDash val="solid"/>
          </a:ln>
        </p:spPr>
        <p:txBody>
          <a:bodyPr/>
          <a:lstStyle/>
          <a:p>
            <a:endParaRPr lang="en-GB"/>
          </a:p>
        </p:txBody>
      </p:sp>
      <p:sp>
        <p:nvSpPr>
          <p:cNvPr id="10" name="Text 7"/>
          <p:cNvSpPr/>
          <p:nvPr/>
        </p:nvSpPr>
        <p:spPr>
          <a:xfrm>
            <a:off x="8074152" y="3383280"/>
            <a:ext cx="2551176" cy="292608"/>
          </a:xfrm>
          <a:prstGeom prst="rect">
            <a:avLst/>
          </a:prstGeom>
          <a:noFill/>
          <a:ln/>
        </p:spPr>
        <p:txBody>
          <a:bodyPr wrap="square" lIns="0" tIns="0" rIns="0" bIns="0" rtlCol="0" anchor="ctr"/>
          <a:lstStyle/>
          <a:p>
            <a:pPr marL="0" indent="0" algn="ctr">
              <a:buNone/>
            </a:pPr>
            <a:r>
              <a:rPr lang="en-US" sz="1600" b="1" dirty="0">
                <a:solidFill>
                  <a:srgbClr val="D71920"/>
                </a:solidFill>
              </a:rPr>
              <a:t>Red intervals</a:t>
            </a:r>
            <a:endParaRPr lang="en-US" sz="1600" dirty="0"/>
          </a:p>
        </p:txBody>
      </p:sp>
      <mc:AlternateContent xmlns:mc="http://schemas.openxmlformats.org/markup-compatibility/2006">
        <mc:Choice xmlns:a14="http://schemas.microsoft.com/office/drawing/2010/main" Requires="a14">
          <p:sp>
            <p:nvSpPr>
              <p:cNvPr id="11" name="Text 8"/>
              <p:cNvSpPr/>
              <p:nvPr/>
            </p:nvSpPr>
            <p:spPr>
              <a:xfrm>
                <a:off x="8074152" y="3776472"/>
                <a:ext cx="2551176" cy="731520"/>
              </a:xfrm>
              <a:prstGeom prst="rect">
                <a:avLst/>
              </a:prstGeom>
              <a:noFill/>
              <a:ln/>
            </p:spPr>
            <p:txBody>
              <a:bodyPr wrap="square" lIns="254" tIns="254" rIns="254" bIns="254" rtlCol="0" anchor="ctr"/>
              <a:lstStyle/>
              <a:p>
                <a:pPr algn="ctr"/>
                <a:r>
                  <a:rPr lang="en-US" sz="1400" dirty="0">
                    <a:solidFill>
                      <a:srgbClr val="1F2D33"/>
                    </a:solidFill>
                  </a:rPr>
                  <a:t>Intervals that miss </a:t>
                </a:r>
                <a14:m>
                  <m:oMath xmlns:m="http://schemas.openxmlformats.org/officeDocument/2006/math">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𝛽</m:t>
                        </m:r>
                      </m:e>
                      <m:sub>
                        <m:r>
                          <a:rPr lang="nb-NO" sz="1400" i="1">
                            <a:latin typeface="Cambria Math" panose="02040503050406030204" pitchFamily="18" charset="0"/>
                            <a:ea typeface="Cambria Math" panose="02040503050406030204" pitchFamily="18" charset="0"/>
                          </a:rPr>
                          <m:t>2</m:t>
                        </m:r>
                      </m:sub>
                    </m:sSub>
                  </m:oMath>
                </a14:m>
                <a:endParaRPr lang="en-US" sz="1400" dirty="0"/>
              </a:p>
            </p:txBody>
          </p:sp>
        </mc:Choice>
        <mc:Fallback>
          <p:sp>
            <p:nvSpPr>
              <p:cNvPr id="11" name="Text 8"/>
              <p:cNvSpPr>
                <a:spLocks noRot="1" noChangeAspect="1" noMove="1" noResize="1" noEditPoints="1" noAdjustHandles="1" noChangeArrowheads="1" noChangeShapeType="1" noTextEdit="1"/>
              </p:cNvSpPr>
              <p:nvPr/>
            </p:nvSpPr>
            <p:spPr>
              <a:xfrm>
                <a:off x="8074152" y="3776472"/>
                <a:ext cx="2551176" cy="731520"/>
              </a:xfrm>
              <a:prstGeom prst="rect">
                <a:avLst/>
              </a:prstGeom>
              <a:blipFill>
                <a:blip r:embed="rId5"/>
                <a:stretch>
                  <a:fillRect/>
                </a:stretch>
              </a:blip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2" name="Text 9"/>
              <p:cNvSpPr/>
              <p:nvPr/>
            </p:nvSpPr>
            <p:spPr>
              <a:xfrm>
                <a:off x="7726680" y="4983480"/>
                <a:ext cx="3246120" cy="868680"/>
              </a:xfrm>
              <a:prstGeom prst="rect">
                <a:avLst/>
              </a:prstGeom>
              <a:noFill/>
              <a:ln/>
            </p:spPr>
            <p:txBody>
              <a:bodyPr wrap="square" lIns="381" tIns="381" rIns="381" bIns="381" rtlCol="0" anchor="ctr"/>
              <a:lstStyle/>
              <a:p>
                <a:pPr algn="ctr"/>
                <a:r>
                  <a:rPr lang="en-US" sz="1500" b="1" dirty="0">
                    <a:solidFill>
                      <a:srgbClr val="1F2D33"/>
                    </a:solidFill>
                  </a:rPr>
                  <a:t>A particular interval either contains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𝛽</m:t>
                        </m:r>
                      </m:e>
                      <m:sub>
                        <m:r>
                          <a:rPr lang="nb-NO" sz="1600" i="1">
                            <a:latin typeface="Cambria Math" panose="02040503050406030204" pitchFamily="18" charset="0"/>
                            <a:ea typeface="Cambria Math" panose="02040503050406030204" pitchFamily="18" charset="0"/>
                          </a:rPr>
                          <m:t>2</m:t>
                        </m:r>
                      </m:sub>
                    </m:sSub>
                    <m:r>
                      <a:rPr lang="nb-NO" sz="1600" i="1">
                        <a:latin typeface="Cambria Math" panose="02040503050406030204" pitchFamily="18" charset="0"/>
                        <a:ea typeface="Cambria Math" panose="02040503050406030204" pitchFamily="18" charset="0"/>
                      </a:rPr>
                      <m:t> </m:t>
                    </m:r>
                  </m:oMath>
                </a14:m>
                <a:r>
                  <a:rPr lang="en-US" sz="1500" b="1" dirty="0">
                    <a:solidFill>
                      <a:srgbClr val="1F2D33"/>
                    </a:solidFill>
                  </a:rPr>
                  <a:t>or it does not. The 95% statement describes the repeated procedure.</a:t>
                </a:r>
                <a:endParaRPr lang="en-US" sz="1500" dirty="0"/>
              </a:p>
            </p:txBody>
          </p:sp>
        </mc:Choice>
        <mc:Fallback>
          <p:sp>
            <p:nvSpPr>
              <p:cNvPr id="12" name="Text 9"/>
              <p:cNvSpPr>
                <a:spLocks noRot="1" noChangeAspect="1" noMove="1" noResize="1" noEditPoints="1" noAdjustHandles="1" noChangeArrowheads="1" noChangeShapeType="1" noTextEdit="1"/>
              </p:cNvSpPr>
              <p:nvPr/>
            </p:nvSpPr>
            <p:spPr>
              <a:xfrm>
                <a:off x="7726680" y="4983480"/>
                <a:ext cx="3246120" cy="868680"/>
              </a:xfrm>
              <a:prstGeom prst="rect">
                <a:avLst/>
              </a:prstGeom>
              <a:blipFill>
                <a:blip r:embed="rId6"/>
                <a:stretch>
                  <a:fillRect l="-1128" r="-2820" b="-3521"/>
                </a:stretch>
              </a:blipFill>
              <a:ln/>
            </p:spPr>
            <p:txBody>
              <a:bodyPr/>
              <a:lstStyle/>
              <a:p>
                <a:r>
                  <a:rPr lang="en-GB">
                    <a:noFill/>
                  </a:rPr>
                  <a:t> </a:t>
                </a:r>
              </a:p>
            </p:txBody>
          </p:sp>
        </mc:Fallback>
      </mc:AlternateContent>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PRECISION VERSUS COVERAGE</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Higher confidence requires a wider interval</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pic>
        <p:nvPicPr>
          <p:cNvPr id="5" name="Image 0" descr="/mnt/data/ch3_figs/ci_width.png"/>
          <p:cNvPicPr>
            <a:picLocks noChangeAspect="1"/>
          </p:cNvPicPr>
          <p:nvPr/>
        </p:nvPicPr>
        <p:blipFill>
          <a:blip r:embed="rId3"/>
          <a:stretch>
            <a:fillRect/>
          </a:stretch>
        </p:blipFill>
        <p:spPr>
          <a:xfrm>
            <a:off x="914400" y="1325880"/>
            <a:ext cx="6858000" cy="3977640"/>
          </a:xfrm>
          <a:prstGeom prst="rect">
            <a:avLst/>
          </a:prstGeom>
        </p:spPr>
      </p:pic>
      <p:sp>
        <p:nvSpPr>
          <p:cNvPr id="6" name="Text 3"/>
          <p:cNvSpPr/>
          <p:nvPr/>
        </p:nvSpPr>
        <p:spPr>
          <a:xfrm>
            <a:off x="8046720" y="1554480"/>
            <a:ext cx="2926080" cy="1554480"/>
          </a:xfrm>
          <a:prstGeom prst="rect">
            <a:avLst/>
          </a:prstGeom>
          <a:noFill/>
          <a:ln/>
        </p:spPr>
        <p:txBody>
          <a:bodyPr wrap="square" lIns="635" tIns="635" rIns="635" bIns="635" rtlCol="0" anchor="t"/>
          <a:lstStyle/>
          <a:p>
            <a:pPr marL="203200" indent="-203200">
              <a:buSzPct val="100000"/>
              <a:buChar char="•"/>
            </a:pPr>
            <a:r>
              <a:rPr lang="en-US" sz="1700" dirty="0">
                <a:solidFill>
                  <a:srgbClr val="1F2D33"/>
                </a:solidFill>
              </a:rPr>
              <a:t>Same estimate.</a:t>
            </a:r>
            <a:endParaRPr lang="en-US" sz="1700" dirty="0"/>
          </a:p>
          <a:p>
            <a:pPr marL="203200" indent="-203200">
              <a:buSzPct val="100000"/>
              <a:buChar char="•"/>
            </a:pPr>
            <a:r>
              <a:rPr lang="en-US" sz="1700" dirty="0">
                <a:solidFill>
                  <a:srgbClr val="1F2D33"/>
                </a:solidFill>
              </a:rPr>
              <a:t>Same standard error.</a:t>
            </a:r>
            <a:endParaRPr lang="en-US" sz="1700" dirty="0"/>
          </a:p>
          <a:p>
            <a:pPr marL="203200" indent="-203200">
              <a:buSzPct val="100000"/>
              <a:buChar char="•"/>
            </a:pPr>
            <a:r>
              <a:rPr lang="en-US" sz="1700" dirty="0">
                <a:solidFill>
                  <a:srgbClr val="1F2D33"/>
                </a:solidFill>
              </a:rPr>
              <a:t>Only the confidence level changes.</a:t>
            </a:r>
            <a:endParaRPr lang="en-US" sz="1700" dirty="0"/>
          </a:p>
        </p:txBody>
      </p:sp>
      <p:sp>
        <p:nvSpPr>
          <p:cNvPr id="7" name="Text 4"/>
          <p:cNvSpPr/>
          <p:nvPr/>
        </p:nvSpPr>
        <p:spPr>
          <a:xfrm>
            <a:off x="8046720" y="3429000"/>
            <a:ext cx="2926080" cy="1051560"/>
          </a:xfrm>
          <a:prstGeom prst="rect">
            <a:avLst/>
          </a:prstGeom>
          <a:noFill/>
          <a:ln/>
        </p:spPr>
        <p:txBody>
          <a:bodyPr wrap="square" lIns="381" tIns="381" rIns="381" bIns="381" rtlCol="0" anchor="ctr"/>
          <a:lstStyle/>
          <a:p>
            <a:pPr marL="0" indent="0" algn="ctr">
              <a:buNone/>
            </a:pPr>
            <a:r>
              <a:rPr lang="en-US" sz="1900" b="1" dirty="0">
                <a:solidFill>
                  <a:srgbClr val="00566B"/>
                </a:solidFill>
              </a:rPr>
              <a:t>To capture the parameter more often, the procedure must allow a wider range of values.</a:t>
            </a:r>
            <a:endParaRPr lang="en-US" sz="1900" dirty="0"/>
          </a:p>
        </p:txBody>
      </p:sp>
      <p:sp>
        <p:nvSpPr>
          <p:cNvPr id="8" name="Text 5"/>
          <p:cNvSpPr/>
          <p:nvPr/>
        </p:nvSpPr>
        <p:spPr>
          <a:xfrm>
            <a:off x="8046720" y="4800600"/>
            <a:ext cx="2926080" cy="502920"/>
          </a:xfrm>
          <a:prstGeom prst="rect">
            <a:avLst/>
          </a:prstGeom>
          <a:noFill/>
          <a:ln/>
        </p:spPr>
        <p:txBody>
          <a:bodyPr wrap="square" lIns="0" tIns="0" rIns="0" bIns="0" rtlCol="0" anchor="ctr"/>
          <a:lstStyle/>
          <a:p>
            <a:pPr marL="0" indent="0" algn="ctr">
              <a:buNone/>
            </a:pPr>
            <a:r>
              <a:rPr lang="en-US" sz="1500" b="1" dirty="0">
                <a:solidFill>
                  <a:srgbClr val="D71920"/>
                </a:solidFill>
              </a:rPr>
              <a:t>Predict before running R: which interval is widest?</a:t>
            </a:r>
            <a:endParaRPr lang="en-US" sz="15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10F413-B6C0-C034-47C8-D2BF38E82B4C}"/>
              </a:ext>
            </a:extLst>
          </p:cNvPr>
          <p:cNvSpPr txBox="1"/>
          <p:nvPr/>
        </p:nvSpPr>
        <p:spPr>
          <a:xfrm>
            <a:off x="533400" y="355600"/>
            <a:ext cx="10668000" cy="276999"/>
          </a:xfrm>
          <a:prstGeom prst="rect">
            <a:avLst/>
          </a:prstGeom>
          <a:noFill/>
        </p:spPr>
        <p:txBody>
          <a:bodyPr vert="horz" wrap="square" lIns="0" tIns="0" rIns="0" bIns="0" rtlCol="0">
            <a:noAutofit/>
          </a:bodyPr>
          <a:lstStyle/>
          <a:p>
            <a:r>
              <a:rPr lang="en-US" sz="2800">
                <a:solidFill>
                  <a:srgbClr val="111820"/>
                </a:solidFill>
                <a:latin typeface="Aptos" panose="020B0004020202020204" pitchFamily="34" charset="0"/>
              </a:rPr>
              <a:t>The investment threshold and the interval</a:t>
            </a:r>
            <a:endParaRPr lang="en-GB" sz="2800">
              <a:solidFill>
                <a:srgbClr val="111820"/>
              </a:solidFill>
              <a:latin typeface="Aptos" panose="020B0004020202020204" pitchFamily="34" charset="0"/>
            </a:endParaRPr>
          </a:p>
        </p:txBody>
      </p:sp>
      <p:sp>
        <p:nvSpPr>
          <p:cNvPr id="3" name="TextBox 2">
            <a:extLst>
              <a:ext uri="{FF2B5EF4-FFF2-40B4-BE49-F238E27FC236}">
                <a16:creationId xmlns:a16="http://schemas.microsoft.com/office/drawing/2014/main" id="{A9A04F39-15E5-38FB-8388-06D1BE2C6D1B}"/>
              </a:ext>
            </a:extLst>
          </p:cNvPr>
          <p:cNvSpPr txBox="1"/>
          <p:nvPr/>
        </p:nvSpPr>
        <p:spPr>
          <a:xfrm>
            <a:off x="2413000" y="1270000"/>
            <a:ext cx="7366000" cy="276999"/>
          </a:xfrm>
          <a:prstGeom prst="rect">
            <a:avLst/>
          </a:prstGeom>
          <a:noFill/>
        </p:spPr>
        <p:txBody>
          <a:bodyPr vert="horz" wrap="square" lIns="0" tIns="0" rIns="0" bIns="0" rtlCol="0">
            <a:noAutofit/>
          </a:bodyPr>
          <a:lstStyle/>
          <a:p>
            <a:pPr algn="ctr"/>
            <a:r>
              <a:rPr lang="en-US">
                <a:solidFill>
                  <a:srgbClr val="5E6870"/>
                </a:solidFill>
                <a:latin typeface="Aptos" panose="020B0004020202020204" pitchFamily="34" charset="0"/>
              </a:rPr>
              <a:t>Additional food expenditure per USD 100 higher income</a:t>
            </a:r>
            <a:endParaRPr lang="en-GB">
              <a:solidFill>
                <a:srgbClr val="5E6870"/>
              </a:solidFill>
              <a:latin typeface="Aptos" panose="020B0004020202020204" pitchFamily="34" charset="0"/>
            </a:endParaRPr>
          </a:p>
        </p:txBody>
      </p:sp>
      <p:cxnSp>
        <p:nvCxnSpPr>
          <p:cNvPr id="4" name="Straight Connector 3">
            <a:extLst>
              <a:ext uri="{FF2B5EF4-FFF2-40B4-BE49-F238E27FC236}">
                <a16:creationId xmlns:a16="http://schemas.microsoft.com/office/drawing/2014/main" id="{0AC1F529-87D2-3A97-85C2-E14226C5E465}"/>
              </a:ext>
            </a:extLst>
          </p:cNvPr>
          <p:cNvCxnSpPr/>
          <p:nvPr/>
        </p:nvCxnSpPr>
        <p:spPr>
          <a:xfrm>
            <a:off x="1270000" y="3492500"/>
            <a:ext cx="9652000" cy="0"/>
          </a:xfrm>
          <a:prstGeom prst="line">
            <a:avLst/>
          </a:prstGeom>
          <a:ln w="19050">
            <a:solidFill>
              <a:srgbClr val="5E687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54D2D77-455D-2E79-8BA2-9B28C4D8E5D1}"/>
              </a:ext>
            </a:extLst>
          </p:cNvPr>
          <p:cNvCxnSpPr/>
          <p:nvPr/>
        </p:nvCxnSpPr>
        <p:spPr>
          <a:xfrm>
            <a:off x="3365500" y="3492500"/>
            <a:ext cx="5588000" cy="0"/>
          </a:xfrm>
          <a:prstGeom prst="line">
            <a:avLst/>
          </a:prstGeom>
          <a:ln w="101600">
            <a:solidFill>
              <a:srgbClr val="00566B"/>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5B4AAC5-943D-972A-BAC2-E9E32A034588}"/>
              </a:ext>
            </a:extLst>
          </p:cNvPr>
          <p:cNvCxnSpPr/>
          <p:nvPr/>
        </p:nvCxnSpPr>
        <p:spPr>
          <a:xfrm>
            <a:off x="3365500" y="3263900"/>
            <a:ext cx="0" cy="457200"/>
          </a:xfrm>
          <a:prstGeom prst="line">
            <a:avLst/>
          </a:prstGeom>
          <a:ln w="38100">
            <a:solidFill>
              <a:srgbClr val="00566B"/>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B7B344E-177F-3C99-1BC3-C7122BEF8255}"/>
              </a:ext>
            </a:extLst>
          </p:cNvPr>
          <p:cNvCxnSpPr/>
          <p:nvPr/>
        </p:nvCxnSpPr>
        <p:spPr>
          <a:xfrm>
            <a:off x="8953500" y="3263900"/>
            <a:ext cx="0" cy="457200"/>
          </a:xfrm>
          <a:prstGeom prst="line">
            <a:avLst/>
          </a:prstGeom>
          <a:ln w="38100">
            <a:solidFill>
              <a:srgbClr val="00566B"/>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DDA4B43A-78E9-E5CC-B020-F7AE800A627A}"/>
              </a:ext>
            </a:extLst>
          </p:cNvPr>
          <p:cNvSpPr/>
          <p:nvPr/>
        </p:nvSpPr>
        <p:spPr>
          <a:xfrm>
            <a:off x="6057900" y="3390900"/>
            <a:ext cx="203200" cy="203200"/>
          </a:xfrm>
          <a:prstGeom prst="ellipse">
            <a:avLst/>
          </a:prstGeom>
          <a:solidFill>
            <a:srgbClr val="C819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6226E5F9-571A-9CF8-F5D3-7663642C6A48}"/>
              </a:ext>
            </a:extLst>
          </p:cNvPr>
          <p:cNvSpPr txBox="1"/>
          <p:nvPr/>
        </p:nvSpPr>
        <p:spPr>
          <a:xfrm>
            <a:off x="2540000" y="3810000"/>
            <a:ext cx="1651000" cy="276999"/>
          </a:xfrm>
          <a:prstGeom prst="rect">
            <a:avLst/>
          </a:prstGeom>
          <a:noFill/>
        </p:spPr>
        <p:txBody>
          <a:bodyPr vert="horz" wrap="square" lIns="0" tIns="0" rIns="0" bIns="0" rtlCol="0">
            <a:noAutofit/>
          </a:bodyPr>
          <a:lstStyle/>
          <a:p>
            <a:pPr algn="ctr"/>
            <a:r>
              <a:rPr lang="en-GB" b="1" dirty="0">
                <a:solidFill>
                  <a:srgbClr val="00566B"/>
                </a:solidFill>
                <a:latin typeface="Aptos" panose="020B0004020202020204" pitchFamily="34" charset="0"/>
              </a:rPr>
              <a:t>USD 0.059</a:t>
            </a:r>
          </a:p>
        </p:txBody>
      </p:sp>
      <p:sp>
        <p:nvSpPr>
          <p:cNvPr id="10" name="TextBox 9">
            <a:extLst>
              <a:ext uri="{FF2B5EF4-FFF2-40B4-BE49-F238E27FC236}">
                <a16:creationId xmlns:a16="http://schemas.microsoft.com/office/drawing/2014/main" id="{74E8D400-3D3F-11E8-D3B0-29C8A917BD7A}"/>
              </a:ext>
            </a:extLst>
          </p:cNvPr>
          <p:cNvSpPr txBox="1"/>
          <p:nvPr/>
        </p:nvSpPr>
        <p:spPr>
          <a:xfrm>
            <a:off x="5207000" y="2628900"/>
            <a:ext cx="1905000" cy="276999"/>
          </a:xfrm>
          <a:prstGeom prst="rect">
            <a:avLst/>
          </a:prstGeom>
          <a:noFill/>
        </p:spPr>
        <p:txBody>
          <a:bodyPr vert="horz" wrap="square" lIns="0" tIns="0" rIns="0" bIns="0" rtlCol="0">
            <a:noAutofit/>
          </a:bodyPr>
          <a:lstStyle/>
          <a:p>
            <a:pPr algn="ctr"/>
            <a:r>
              <a:rPr lang="en-GB" sz="1900" b="1" dirty="0">
                <a:solidFill>
                  <a:srgbClr val="C81924"/>
                </a:solidFill>
                <a:latin typeface="Aptos" panose="020B0004020202020204" pitchFamily="34" charset="0"/>
              </a:rPr>
              <a:t>USD 0.102</a:t>
            </a:r>
          </a:p>
        </p:txBody>
      </p:sp>
      <p:sp>
        <p:nvSpPr>
          <p:cNvPr id="11" name="TextBox 10">
            <a:extLst>
              <a:ext uri="{FF2B5EF4-FFF2-40B4-BE49-F238E27FC236}">
                <a16:creationId xmlns:a16="http://schemas.microsoft.com/office/drawing/2014/main" id="{73918D36-4548-9773-40E4-26973D86BED3}"/>
              </a:ext>
            </a:extLst>
          </p:cNvPr>
          <p:cNvSpPr txBox="1"/>
          <p:nvPr/>
        </p:nvSpPr>
        <p:spPr>
          <a:xfrm>
            <a:off x="8128000" y="3810000"/>
            <a:ext cx="1651000" cy="276999"/>
          </a:xfrm>
          <a:prstGeom prst="rect">
            <a:avLst/>
          </a:prstGeom>
          <a:noFill/>
        </p:spPr>
        <p:txBody>
          <a:bodyPr vert="horz" wrap="square" lIns="0" tIns="0" rIns="0" bIns="0" rtlCol="0">
            <a:noAutofit/>
          </a:bodyPr>
          <a:lstStyle/>
          <a:p>
            <a:pPr algn="ctr"/>
            <a:r>
              <a:rPr lang="en-GB" b="1" dirty="0">
                <a:solidFill>
                  <a:srgbClr val="00566B"/>
                </a:solidFill>
                <a:latin typeface="Aptos" panose="020B0004020202020204" pitchFamily="34" charset="0"/>
              </a:rPr>
              <a:t>USD 0.144</a:t>
            </a:r>
          </a:p>
        </p:txBody>
      </p:sp>
      <p:sp>
        <p:nvSpPr>
          <p:cNvPr id="12" name="Rectangle 11">
            <a:extLst>
              <a:ext uri="{FF2B5EF4-FFF2-40B4-BE49-F238E27FC236}">
                <a16:creationId xmlns:a16="http://schemas.microsoft.com/office/drawing/2014/main" id="{996D4B4C-81E1-8678-FEB1-8A2202836D6E}"/>
              </a:ext>
            </a:extLst>
          </p:cNvPr>
          <p:cNvSpPr/>
          <p:nvPr/>
        </p:nvSpPr>
        <p:spPr>
          <a:xfrm>
            <a:off x="2768600" y="2730500"/>
            <a:ext cx="50800" cy="1587500"/>
          </a:xfrm>
          <a:prstGeom prst="rect">
            <a:avLst/>
          </a:prstGeom>
          <a:solidFill>
            <a:srgbClr val="C819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3B023CB9-7450-51BA-30C8-AFB254878F7D}"/>
              </a:ext>
            </a:extLst>
          </p:cNvPr>
          <p:cNvSpPr txBox="1"/>
          <p:nvPr/>
        </p:nvSpPr>
        <p:spPr>
          <a:xfrm>
            <a:off x="1587500" y="1968500"/>
            <a:ext cx="2413000" cy="530995"/>
          </a:xfrm>
          <a:prstGeom prst="rect">
            <a:avLst/>
          </a:prstGeom>
          <a:noFill/>
        </p:spPr>
        <p:txBody>
          <a:bodyPr vert="horz" wrap="square" lIns="0" tIns="0" rIns="0" bIns="0" rtlCol="0">
            <a:noAutofit/>
          </a:bodyPr>
          <a:lstStyle/>
          <a:p>
            <a:pPr algn="ctr"/>
            <a:r>
              <a:rPr lang="en-GB" sz="1700" b="1" dirty="0">
                <a:solidFill>
                  <a:srgbClr val="C81924"/>
                </a:solidFill>
                <a:latin typeface="Aptos" panose="020B0004020202020204" pitchFamily="34" charset="0"/>
              </a:rPr>
              <a:t>Investment threshold</a:t>
            </a:r>
          </a:p>
          <a:p>
            <a:pPr algn="ctr"/>
            <a:r>
              <a:rPr lang="en-GB" sz="1700" b="1" dirty="0">
                <a:solidFill>
                  <a:srgbClr val="C81924"/>
                </a:solidFill>
                <a:latin typeface="Aptos" panose="020B0004020202020204" pitchFamily="34" charset="0"/>
              </a:rPr>
              <a:t>USD 0.055</a:t>
            </a:r>
          </a:p>
        </p:txBody>
      </p:sp>
      <p:sp>
        <p:nvSpPr>
          <p:cNvPr id="14" name="Rectangle: Rounded Corners 13">
            <a:extLst>
              <a:ext uri="{FF2B5EF4-FFF2-40B4-BE49-F238E27FC236}">
                <a16:creationId xmlns:a16="http://schemas.microsoft.com/office/drawing/2014/main" id="{E4093898-2888-A431-1BA0-5F92753ABD93}"/>
              </a:ext>
            </a:extLst>
          </p:cNvPr>
          <p:cNvSpPr/>
          <p:nvPr/>
        </p:nvSpPr>
        <p:spPr>
          <a:xfrm>
            <a:off x="2603500" y="4953000"/>
            <a:ext cx="6985000" cy="698500"/>
          </a:xfrm>
          <a:prstGeom prst="roundRect">
            <a:avLst/>
          </a:prstGeom>
          <a:solidFill>
            <a:srgbClr val="C819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FF"/>
                </a:solidFill>
                <a:latin typeface="Aptos" panose="020B0004020202020204" pitchFamily="34" charset="0"/>
              </a:rPr>
              <a:t>Does the interval settle the investment decision?</a:t>
            </a:r>
            <a:endParaRPr lang="en-GB" sz="2000" b="1" dirty="0">
              <a:solidFill>
                <a:srgbClr val="FFFFFF"/>
              </a:solidFill>
              <a:latin typeface="Aptos" panose="020B0004020202020204" pitchFamily="34" charset="0"/>
            </a:endParaRPr>
          </a:p>
        </p:txBody>
      </p:sp>
    </p:spTree>
    <p:extLst>
      <p:ext uri="{BB962C8B-B14F-4D97-AF65-F5344CB8AC3E}">
        <p14:creationId xmlns:p14="http://schemas.microsoft.com/office/powerpoint/2010/main" val="3511940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LAB 2 — INTERVAL ESTIMATION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New data: motel occupancy</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Text 3"/>
          <p:cNvSpPr/>
          <p:nvPr/>
        </p:nvSpPr>
        <p:spPr>
          <a:xfrm>
            <a:off x="822960" y="1207008"/>
            <a:ext cx="3474720" cy="320040"/>
          </a:xfrm>
          <a:prstGeom prst="rect">
            <a:avLst/>
          </a:prstGeom>
          <a:noFill/>
          <a:ln/>
        </p:spPr>
        <p:txBody>
          <a:bodyPr wrap="square" lIns="0" tIns="0" rIns="0" bIns="0" rtlCol="0" anchor="ctr"/>
          <a:lstStyle/>
          <a:p>
            <a:pPr marL="0" indent="0">
              <a:buNone/>
            </a:pPr>
            <a:r>
              <a:rPr lang="en-US" sz="1400" b="1" dirty="0">
                <a:solidFill>
                  <a:srgbClr val="64737A"/>
                </a:solidFill>
              </a:rPr>
              <a:t>Textbook computer exercise 3.19</a:t>
            </a:r>
            <a:endParaRPr lang="en-US" sz="1400" dirty="0"/>
          </a:p>
        </p:txBody>
      </p:sp>
      <p:sp>
        <p:nvSpPr>
          <p:cNvPr id="6" name="Shape 4"/>
          <p:cNvSpPr/>
          <p:nvPr/>
        </p:nvSpPr>
        <p:spPr>
          <a:xfrm>
            <a:off x="914400" y="1783080"/>
            <a:ext cx="6675120" cy="731520"/>
          </a:xfrm>
          <a:prstGeom prst="roundRect">
            <a:avLst>
              <a:gd name="adj" fmla="val 7500"/>
            </a:avLst>
          </a:prstGeom>
          <a:solidFill>
            <a:srgbClr val="DDF4F9"/>
          </a:solidFill>
          <a:ln w="12700">
            <a:solidFill>
              <a:srgbClr val="DDF4F9"/>
            </a:solidFill>
            <a:prstDash val="solid"/>
          </a:ln>
        </p:spPr>
        <p:txBody>
          <a:bodyPr/>
          <a:lstStyle/>
          <a:p>
            <a:endParaRPr lang="en-GB"/>
          </a:p>
        </p:txBody>
      </p:sp>
      <p:sp>
        <p:nvSpPr>
          <p:cNvPr id="7" name="Text 5"/>
          <p:cNvSpPr/>
          <p:nvPr/>
        </p:nvSpPr>
        <p:spPr>
          <a:xfrm>
            <a:off x="1024128" y="1847088"/>
            <a:ext cx="6455664" cy="603504"/>
          </a:xfrm>
          <a:prstGeom prst="rect">
            <a:avLst/>
          </a:prstGeom>
          <a:noFill/>
          <a:ln/>
        </p:spPr>
        <p:txBody>
          <a:bodyPr wrap="square" lIns="254" tIns="254" rIns="254" bIns="254" rtlCol="0" anchor="ctr">
            <a:normAutofit/>
          </a:bodyPr>
          <a:lstStyle/>
          <a:p>
            <a:pPr marL="0" indent="0" algn="ctr">
              <a:buNone/>
            </a:pPr>
            <a:r>
              <a:rPr lang="en-US" sz="2400" b="1" i="1" dirty="0">
                <a:solidFill>
                  <a:srgbClr val="00566B"/>
                </a:solidFill>
                <a:latin typeface="Cambria Math" pitchFamily="34" charset="0"/>
                <a:ea typeface="Cambria Math" pitchFamily="34" charset="-122"/>
                <a:cs typeface="Cambria Math" pitchFamily="34" charset="-120"/>
              </a:rPr>
              <a:t>MOTEL_PCT = β₁ + β₂ · COMP_PCT + e</a:t>
            </a:r>
            <a:endParaRPr lang="en-US" sz="2400" i="1" dirty="0"/>
          </a:p>
        </p:txBody>
      </p:sp>
      <p:sp>
        <p:nvSpPr>
          <p:cNvPr id="8" name="Text 6"/>
          <p:cNvSpPr/>
          <p:nvPr/>
        </p:nvSpPr>
        <p:spPr>
          <a:xfrm>
            <a:off x="914400" y="2788920"/>
            <a:ext cx="6035040" cy="2423160"/>
          </a:xfrm>
          <a:prstGeom prst="rect">
            <a:avLst/>
          </a:prstGeom>
          <a:noFill/>
          <a:ln/>
        </p:spPr>
        <p:txBody>
          <a:bodyPr wrap="square" lIns="635" tIns="635" rIns="635" bIns="635" rtlCol="0" anchor="t"/>
          <a:lstStyle/>
          <a:p>
            <a:pPr marL="203200" indent="-203200">
              <a:buSzPct val="100000"/>
              <a:buChar char="•"/>
            </a:pPr>
            <a:r>
              <a:rPr lang="en-US" sz="1750" dirty="0">
                <a:solidFill>
                  <a:srgbClr val="1F2D33"/>
                </a:solidFill>
              </a:rPr>
              <a:t>Plot motel occupancy against competitor occupancy.</a:t>
            </a:r>
            <a:endParaRPr lang="en-US" sz="1750" dirty="0"/>
          </a:p>
          <a:p>
            <a:pPr marL="203200" indent="-203200">
              <a:buSzPct val="100000"/>
              <a:buChar char="•"/>
            </a:pPr>
            <a:r>
              <a:rPr lang="en-US" sz="1750" dirty="0">
                <a:solidFill>
                  <a:srgbClr val="1F2D33"/>
                </a:solidFill>
              </a:rPr>
              <a:t>Estimate the regression with lm().</a:t>
            </a:r>
            <a:endParaRPr lang="en-US" sz="1750" dirty="0"/>
          </a:p>
          <a:p>
            <a:pPr marL="203200" indent="-203200">
              <a:buSzPct val="100000"/>
              <a:buChar char="•"/>
            </a:pPr>
            <a:r>
              <a:rPr lang="en-US" sz="1750" dirty="0">
                <a:solidFill>
                  <a:srgbClr val="1F2D33"/>
                </a:solidFill>
              </a:rPr>
              <a:t>Extract b₂, se(b₂), and df.</a:t>
            </a:r>
            <a:endParaRPr lang="en-US" sz="1750" dirty="0"/>
          </a:p>
          <a:p>
            <a:pPr marL="203200" indent="-203200">
              <a:buSzPct val="100000"/>
              <a:buChar char="•"/>
            </a:pPr>
            <a:r>
              <a:rPr lang="en-US" sz="1750" dirty="0">
                <a:solidFill>
                  <a:srgbClr val="1F2D33"/>
                </a:solidFill>
              </a:rPr>
              <a:t>Construct the 95% interval manually.</a:t>
            </a:r>
            <a:endParaRPr lang="en-US" sz="1750" dirty="0"/>
          </a:p>
          <a:p>
            <a:pPr marL="203200" indent="-203200">
              <a:buSzPct val="100000"/>
              <a:buChar char="•"/>
            </a:pPr>
            <a:r>
              <a:rPr lang="en-US" sz="1750" dirty="0">
                <a:solidFill>
                  <a:srgbClr val="1F2D33"/>
                </a:solidFill>
              </a:rPr>
              <a:t>Check with confint().</a:t>
            </a:r>
            <a:endParaRPr lang="en-US" sz="1750" dirty="0"/>
          </a:p>
        </p:txBody>
      </p:sp>
      <p:sp>
        <p:nvSpPr>
          <p:cNvPr id="9" name="Shape 7"/>
          <p:cNvSpPr/>
          <p:nvPr/>
        </p:nvSpPr>
        <p:spPr>
          <a:xfrm>
            <a:off x="7635240" y="1874520"/>
            <a:ext cx="2971800" cy="2331720"/>
          </a:xfrm>
          <a:prstGeom prst="roundRect">
            <a:avLst>
              <a:gd name="adj" fmla="val 3137"/>
            </a:avLst>
          </a:prstGeom>
          <a:solidFill>
            <a:srgbClr val="F4F6F7"/>
          </a:solidFill>
          <a:ln w="12700">
            <a:solidFill>
              <a:srgbClr val="F4F6F7"/>
            </a:solidFill>
            <a:prstDash val="solid"/>
          </a:ln>
        </p:spPr>
        <p:txBody>
          <a:bodyPr/>
          <a:lstStyle/>
          <a:p>
            <a:endParaRPr lang="en-GB"/>
          </a:p>
        </p:txBody>
      </p:sp>
      <p:sp>
        <p:nvSpPr>
          <p:cNvPr id="10" name="Text 8"/>
          <p:cNvSpPr/>
          <p:nvPr/>
        </p:nvSpPr>
        <p:spPr>
          <a:xfrm>
            <a:off x="7799832" y="2011680"/>
            <a:ext cx="2642616" cy="292608"/>
          </a:xfrm>
          <a:prstGeom prst="rect">
            <a:avLst/>
          </a:prstGeom>
          <a:noFill/>
          <a:ln/>
        </p:spPr>
        <p:txBody>
          <a:bodyPr wrap="square" lIns="0" tIns="0" rIns="0" bIns="0" rtlCol="0" anchor="ctr"/>
          <a:lstStyle/>
          <a:p>
            <a:pPr marL="0" indent="0" algn="ctr">
              <a:buNone/>
            </a:pPr>
            <a:r>
              <a:rPr lang="en-US" sz="1600" b="1" dirty="0">
                <a:solidFill>
                  <a:srgbClr val="1F2D33"/>
                </a:solidFill>
              </a:rPr>
              <a:t>Interpretation question</a:t>
            </a:r>
            <a:endParaRPr lang="en-US" sz="1600" dirty="0"/>
          </a:p>
        </p:txBody>
      </p:sp>
      <p:sp>
        <p:nvSpPr>
          <p:cNvPr id="11" name="Text 9"/>
          <p:cNvSpPr/>
          <p:nvPr/>
        </p:nvSpPr>
        <p:spPr>
          <a:xfrm>
            <a:off x="7799832" y="2404872"/>
            <a:ext cx="2642616" cy="1645920"/>
          </a:xfrm>
          <a:prstGeom prst="rect">
            <a:avLst/>
          </a:prstGeom>
          <a:noFill/>
          <a:ln/>
        </p:spPr>
        <p:txBody>
          <a:bodyPr wrap="square" lIns="254" tIns="254" rIns="254" bIns="254" rtlCol="0" anchor="ctr"/>
          <a:lstStyle/>
          <a:p>
            <a:pPr marL="0" indent="0" algn="ctr">
              <a:buNone/>
            </a:pPr>
            <a:r>
              <a:rPr lang="en-US" sz="1400" dirty="0">
                <a:solidFill>
                  <a:srgbClr val="1F2D33"/>
                </a:solidFill>
              </a:rPr>
              <a:t>What does a one-percentage-point increase in competitor occupancy correspond to in predicted motel occupancy?</a:t>
            </a:r>
            <a:endParaRPr lang="en-US" sz="1400" dirty="0"/>
          </a:p>
        </p:txBody>
      </p:sp>
      <p:sp>
        <p:nvSpPr>
          <p:cNvPr id="12" name="Text 10"/>
          <p:cNvSpPr/>
          <p:nvPr/>
        </p:nvSpPr>
        <p:spPr>
          <a:xfrm>
            <a:off x="7635240" y="4709160"/>
            <a:ext cx="2971800" cy="457200"/>
          </a:xfrm>
          <a:prstGeom prst="rect">
            <a:avLst/>
          </a:prstGeom>
          <a:noFill/>
          <a:ln/>
        </p:spPr>
        <p:txBody>
          <a:bodyPr wrap="square" lIns="0" tIns="0" rIns="0" bIns="0" rtlCol="0" anchor="ctr"/>
          <a:lstStyle/>
          <a:p>
            <a:pPr marL="0" indent="0" algn="ctr">
              <a:buNone/>
            </a:pPr>
            <a:r>
              <a:rPr lang="en-US" sz="1800" b="1" dirty="0">
                <a:solidFill>
                  <a:srgbClr val="D71920"/>
                </a:solidFill>
              </a:rPr>
              <a:t>Work in pairs • 12–15 minutes</a:t>
            </a:r>
            <a:endParaRPr lang="en-US" sz="18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FROM OUTPUT TO INTERPRETATION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Motel debrief</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822960" y="1417320"/>
            <a:ext cx="2971800" cy="1828800"/>
          </a:xfrm>
          <a:prstGeom prst="roundRect">
            <a:avLst>
              <a:gd name="adj" fmla="val 4000"/>
            </a:avLst>
          </a:prstGeom>
          <a:solidFill>
            <a:srgbClr val="DDF4F9"/>
          </a:solidFill>
          <a:ln w="12700">
            <a:solidFill>
              <a:srgbClr val="DDF4F9"/>
            </a:solidFill>
            <a:prstDash val="solid"/>
          </a:ln>
        </p:spPr>
        <p:txBody>
          <a:bodyPr/>
          <a:lstStyle/>
          <a:p>
            <a:endParaRPr lang="en-GB"/>
          </a:p>
        </p:txBody>
      </p:sp>
      <p:sp>
        <p:nvSpPr>
          <p:cNvPr id="6" name="Text 4"/>
          <p:cNvSpPr/>
          <p:nvPr/>
        </p:nvSpPr>
        <p:spPr>
          <a:xfrm>
            <a:off x="987552" y="1554480"/>
            <a:ext cx="2642616" cy="292608"/>
          </a:xfrm>
          <a:prstGeom prst="rect">
            <a:avLst/>
          </a:prstGeom>
          <a:noFill/>
          <a:ln/>
        </p:spPr>
        <p:txBody>
          <a:bodyPr wrap="square" lIns="0" tIns="0" rIns="0" bIns="0" rtlCol="0" anchor="ctr"/>
          <a:lstStyle/>
          <a:p>
            <a:pPr marL="0" indent="0" algn="ctr">
              <a:buNone/>
            </a:pPr>
            <a:r>
              <a:rPr lang="en-US" sz="1600" b="1" dirty="0">
                <a:solidFill>
                  <a:srgbClr val="00566B"/>
                </a:solidFill>
              </a:rPr>
              <a:t>1. Estimate</a:t>
            </a:r>
            <a:endParaRPr lang="en-US" sz="1600" dirty="0"/>
          </a:p>
        </p:txBody>
      </p:sp>
      <mc:AlternateContent xmlns:mc="http://schemas.openxmlformats.org/markup-compatibility/2006">
        <mc:Choice xmlns:a14="http://schemas.microsoft.com/office/drawing/2010/main" Requires="a14">
          <p:sp>
            <p:nvSpPr>
              <p:cNvPr id="7" name="Text 5"/>
              <p:cNvSpPr/>
              <p:nvPr/>
            </p:nvSpPr>
            <p:spPr>
              <a:xfrm>
                <a:off x="987552" y="1947672"/>
                <a:ext cx="2642616" cy="1143000"/>
              </a:xfrm>
              <a:prstGeom prst="rect">
                <a:avLst/>
              </a:prstGeom>
              <a:noFill/>
              <a:ln/>
            </p:spPr>
            <p:txBody>
              <a:bodyPr wrap="square" lIns="254" tIns="254" rIns="254" bIns="254" rtlCol="0" anchor="ctr"/>
              <a:lstStyle/>
              <a:p>
                <a:pPr marL="0" indent="0" algn="ctr">
                  <a:buNone/>
                </a:pPr>
                <a:r>
                  <a:rPr lang="en-US" sz="1400" dirty="0">
                    <a:solidFill>
                      <a:srgbClr val="1F2D33"/>
                    </a:solidFill>
                  </a:rPr>
                  <a:t>What is </a:t>
                </a:r>
                <a14:m>
                  <m:oMath xmlns:m="http://schemas.openxmlformats.org/officeDocument/2006/math">
                    <m:sSub>
                      <m:sSubPr>
                        <m:ctrlPr>
                          <a:rPr lang="nb-NO" sz="1400" b="0" i="1" smtClean="0">
                            <a:solidFill>
                              <a:srgbClr val="1F2D33"/>
                            </a:solidFill>
                            <a:latin typeface="Cambria Math" panose="02040503050406030204" pitchFamily="18" charset="0"/>
                          </a:rPr>
                        </m:ctrlPr>
                      </m:sSubPr>
                      <m:e>
                        <m:r>
                          <a:rPr lang="nb-NO" sz="1400" b="0" i="1" smtClean="0">
                            <a:solidFill>
                              <a:srgbClr val="1F2D33"/>
                            </a:solidFill>
                            <a:latin typeface="Cambria Math" panose="02040503050406030204" pitchFamily="18" charset="0"/>
                          </a:rPr>
                          <m:t>𝑏</m:t>
                        </m:r>
                      </m:e>
                      <m:sub>
                        <m:r>
                          <a:rPr lang="nb-NO" sz="1400" b="0" i="1" smtClean="0">
                            <a:solidFill>
                              <a:srgbClr val="1F2D33"/>
                            </a:solidFill>
                            <a:latin typeface="Cambria Math" panose="02040503050406030204" pitchFamily="18" charset="0"/>
                          </a:rPr>
                          <m:t>2</m:t>
                        </m:r>
                      </m:sub>
                    </m:sSub>
                  </m:oMath>
                </a14:m>
                <a:r>
                  <a:rPr lang="en-US" sz="1400" dirty="0">
                    <a:solidFill>
                      <a:srgbClr val="1F2D33"/>
                    </a:solidFill>
                  </a:rPr>
                  <a:t> and what are its units?</a:t>
                </a:r>
                <a:endParaRPr lang="en-US" sz="1400" dirty="0"/>
              </a:p>
            </p:txBody>
          </p:sp>
        </mc:Choice>
        <mc:Fallback>
          <p:sp>
            <p:nvSpPr>
              <p:cNvPr id="7" name="Text 5"/>
              <p:cNvSpPr>
                <a:spLocks noRot="1" noChangeAspect="1" noMove="1" noResize="1" noEditPoints="1" noAdjustHandles="1" noChangeArrowheads="1" noChangeShapeType="1" noTextEdit="1"/>
              </p:cNvSpPr>
              <p:nvPr/>
            </p:nvSpPr>
            <p:spPr>
              <a:xfrm>
                <a:off x="987552" y="1947672"/>
                <a:ext cx="2642616" cy="1143000"/>
              </a:xfrm>
              <a:prstGeom prst="rect">
                <a:avLst/>
              </a:prstGeom>
              <a:blipFill>
                <a:blip r:embed="rId3"/>
                <a:stretch>
                  <a:fillRect l="-2074" r="-1843"/>
                </a:stretch>
              </a:blipFill>
              <a:ln/>
            </p:spPr>
            <p:txBody>
              <a:bodyPr/>
              <a:lstStyle/>
              <a:p>
                <a:r>
                  <a:rPr lang="en-GB">
                    <a:noFill/>
                  </a:rPr>
                  <a:t> </a:t>
                </a:r>
              </a:p>
            </p:txBody>
          </p:sp>
        </mc:Fallback>
      </mc:AlternateContent>
      <p:sp>
        <p:nvSpPr>
          <p:cNvPr id="8" name="Shape 6"/>
          <p:cNvSpPr/>
          <p:nvPr/>
        </p:nvSpPr>
        <p:spPr>
          <a:xfrm>
            <a:off x="4069080" y="1417320"/>
            <a:ext cx="2971800" cy="1828800"/>
          </a:xfrm>
          <a:prstGeom prst="roundRect">
            <a:avLst>
              <a:gd name="adj" fmla="val 4000"/>
            </a:avLst>
          </a:prstGeom>
          <a:solidFill>
            <a:srgbClr val="F4F6F7"/>
          </a:solidFill>
          <a:ln w="12700">
            <a:solidFill>
              <a:srgbClr val="F4F6F7"/>
            </a:solidFill>
            <a:prstDash val="solid"/>
          </a:ln>
        </p:spPr>
        <p:txBody>
          <a:bodyPr/>
          <a:lstStyle/>
          <a:p>
            <a:endParaRPr lang="en-GB"/>
          </a:p>
        </p:txBody>
      </p:sp>
      <p:sp>
        <p:nvSpPr>
          <p:cNvPr id="9" name="Text 7"/>
          <p:cNvSpPr/>
          <p:nvPr/>
        </p:nvSpPr>
        <p:spPr>
          <a:xfrm>
            <a:off x="4233672" y="1554480"/>
            <a:ext cx="2642616" cy="292608"/>
          </a:xfrm>
          <a:prstGeom prst="rect">
            <a:avLst/>
          </a:prstGeom>
          <a:noFill/>
          <a:ln/>
        </p:spPr>
        <p:txBody>
          <a:bodyPr wrap="square" lIns="0" tIns="0" rIns="0" bIns="0" rtlCol="0" anchor="ctr"/>
          <a:lstStyle/>
          <a:p>
            <a:pPr marL="0" indent="0" algn="ctr">
              <a:buNone/>
            </a:pPr>
            <a:r>
              <a:rPr lang="en-US" sz="1600" b="1" dirty="0">
                <a:solidFill>
                  <a:srgbClr val="1F2D33"/>
                </a:solidFill>
              </a:rPr>
              <a:t>2. Uncertainty</a:t>
            </a:r>
            <a:endParaRPr lang="en-US" sz="1600" dirty="0"/>
          </a:p>
        </p:txBody>
      </p:sp>
      <mc:AlternateContent xmlns:mc="http://schemas.openxmlformats.org/markup-compatibility/2006">
        <mc:Choice xmlns:a14="http://schemas.microsoft.com/office/drawing/2010/main" Requires="a14">
          <p:sp>
            <p:nvSpPr>
              <p:cNvPr id="10" name="Text 8"/>
              <p:cNvSpPr/>
              <p:nvPr/>
            </p:nvSpPr>
            <p:spPr>
              <a:xfrm>
                <a:off x="4233672" y="1947672"/>
                <a:ext cx="2642616" cy="1143000"/>
              </a:xfrm>
              <a:prstGeom prst="rect">
                <a:avLst/>
              </a:prstGeom>
              <a:noFill/>
              <a:ln/>
            </p:spPr>
            <p:txBody>
              <a:bodyPr wrap="square" lIns="254" tIns="254" rIns="254" bIns="254" rtlCol="0" anchor="ctr"/>
              <a:lstStyle/>
              <a:p>
                <a:pPr algn="ctr"/>
                <a:r>
                  <a:rPr lang="en-US" sz="1400" dirty="0">
                    <a:solidFill>
                      <a:srgbClr val="1F2D33"/>
                    </a:solidFill>
                  </a:rPr>
                  <a:t>How large is </a:t>
                </a:r>
                <a14:m>
                  <m:oMath xmlns:m="http://schemas.openxmlformats.org/officeDocument/2006/math">
                    <m:sSub>
                      <m:sSubPr>
                        <m:ctrlPr>
                          <a:rPr lang="nb-NO" sz="1400" b="0" i="1" smtClean="0">
                            <a:solidFill>
                              <a:srgbClr val="1F2D33"/>
                            </a:solidFill>
                            <a:latin typeface="Cambria Math" panose="02040503050406030204" pitchFamily="18" charset="0"/>
                          </a:rPr>
                        </m:ctrlPr>
                      </m:sSubPr>
                      <m:e>
                        <m:r>
                          <a:rPr lang="nb-NO" sz="1400" b="0" i="1" smtClean="0">
                            <a:solidFill>
                              <a:srgbClr val="1F2D33"/>
                            </a:solidFill>
                            <a:latin typeface="Cambria Math" panose="02040503050406030204" pitchFamily="18" charset="0"/>
                          </a:rPr>
                          <m:t>𝑠𝑒</m:t>
                        </m:r>
                        <m:r>
                          <a:rPr lang="nb-NO" sz="1400" b="0" i="1" smtClean="0">
                            <a:solidFill>
                              <a:srgbClr val="1F2D33"/>
                            </a:solidFill>
                            <a:latin typeface="Cambria Math" panose="02040503050406030204" pitchFamily="18" charset="0"/>
                          </a:rPr>
                          <m:t>(</m:t>
                        </m:r>
                        <m:r>
                          <a:rPr lang="nb-NO" sz="1400" i="1">
                            <a:solidFill>
                              <a:srgbClr val="1F2D33"/>
                            </a:solidFill>
                            <a:latin typeface="Cambria Math" panose="02040503050406030204" pitchFamily="18" charset="0"/>
                          </a:rPr>
                          <m:t>𝑏</m:t>
                        </m:r>
                      </m:e>
                      <m:sub>
                        <m:r>
                          <a:rPr lang="nb-NO" sz="1400" i="1">
                            <a:solidFill>
                              <a:srgbClr val="1F2D33"/>
                            </a:solidFill>
                            <a:latin typeface="Cambria Math" panose="02040503050406030204" pitchFamily="18" charset="0"/>
                          </a:rPr>
                          <m:t>2</m:t>
                        </m:r>
                      </m:sub>
                    </m:sSub>
                    <m:r>
                      <a:rPr lang="nb-NO" sz="1400" b="0" i="1" smtClean="0">
                        <a:solidFill>
                          <a:srgbClr val="1F2D33"/>
                        </a:solidFill>
                        <a:latin typeface="Cambria Math" panose="02040503050406030204" pitchFamily="18" charset="0"/>
                      </a:rPr>
                      <m:t>)</m:t>
                    </m:r>
                  </m:oMath>
                </a14:m>
                <a:r>
                  <a:rPr lang="en-US" sz="1400" dirty="0">
                    <a:solidFill>
                      <a:srgbClr val="1F2D33"/>
                    </a:solidFill>
                  </a:rPr>
                  <a:t>?</a:t>
                </a:r>
                <a:endParaRPr lang="en-US" sz="1400" dirty="0"/>
              </a:p>
              <a:p>
                <a:pPr marL="0" indent="0" algn="ctr">
                  <a:buNone/>
                </a:pPr>
                <a:r>
                  <a:rPr lang="en-US" sz="1400" dirty="0">
                    <a:solidFill>
                      <a:srgbClr val="1F2D33"/>
                    </a:solidFill>
                  </a:rPr>
                  <a:t>How wide is the interval?</a:t>
                </a:r>
                <a:endParaRPr lang="en-US" sz="1400" dirty="0"/>
              </a:p>
            </p:txBody>
          </p:sp>
        </mc:Choice>
        <mc:Fallback>
          <p:sp>
            <p:nvSpPr>
              <p:cNvPr id="10" name="Text 8"/>
              <p:cNvSpPr>
                <a:spLocks noRot="1" noChangeAspect="1" noMove="1" noResize="1" noEditPoints="1" noAdjustHandles="1" noChangeArrowheads="1" noChangeShapeType="1" noTextEdit="1"/>
              </p:cNvSpPr>
              <p:nvPr/>
            </p:nvSpPr>
            <p:spPr>
              <a:xfrm>
                <a:off x="4233672" y="1947672"/>
                <a:ext cx="2642616" cy="1143000"/>
              </a:xfrm>
              <a:prstGeom prst="rect">
                <a:avLst/>
              </a:prstGeom>
              <a:blipFill>
                <a:blip r:embed="rId4"/>
                <a:stretch>
                  <a:fillRect/>
                </a:stretch>
              </a:blipFill>
              <a:ln/>
            </p:spPr>
            <p:txBody>
              <a:bodyPr/>
              <a:lstStyle/>
              <a:p>
                <a:r>
                  <a:rPr lang="en-GB">
                    <a:noFill/>
                  </a:rPr>
                  <a:t> </a:t>
                </a:r>
              </a:p>
            </p:txBody>
          </p:sp>
        </mc:Fallback>
      </mc:AlternateContent>
      <p:sp>
        <p:nvSpPr>
          <p:cNvPr id="11" name="Shape 9"/>
          <p:cNvSpPr/>
          <p:nvPr/>
        </p:nvSpPr>
        <p:spPr>
          <a:xfrm>
            <a:off x="7315200" y="1417320"/>
            <a:ext cx="2971800" cy="1828800"/>
          </a:xfrm>
          <a:prstGeom prst="roundRect">
            <a:avLst>
              <a:gd name="adj" fmla="val 4000"/>
            </a:avLst>
          </a:prstGeom>
          <a:solidFill>
            <a:srgbClr val="FFF1F2"/>
          </a:solidFill>
          <a:ln w="12700">
            <a:solidFill>
              <a:srgbClr val="FFF1F2"/>
            </a:solidFill>
            <a:prstDash val="solid"/>
          </a:ln>
        </p:spPr>
        <p:txBody>
          <a:bodyPr/>
          <a:lstStyle/>
          <a:p>
            <a:endParaRPr lang="en-GB"/>
          </a:p>
        </p:txBody>
      </p:sp>
      <p:sp>
        <p:nvSpPr>
          <p:cNvPr id="12" name="Text 10"/>
          <p:cNvSpPr/>
          <p:nvPr/>
        </p:nvSpPr>
        <p:spPr>
          <a:xfrm>
            <a:off x="7479792" y="1554480"/>
            <a:ext cx="2642616" cy="292608"/>
          </a:xfrm>
          <a:prstGeom prst="rect">
            <a:avLst/>
          </a:prstGeom>
          <a:noFill/>
          <a:ln/>
        </p:spPr>
        <p:txBody>
          <a:bodyPr wrap="square" lIns="0" tIns="0" rIns="0" bIns="0" rtlCol="0" anchor="ctr"/>
          <a:lstStyle/>
          <a:p>
            <a:pPr marL="0" indent="0" algn="ctr">
              <a:buNone/>
            </a:pPr>
            <a:r>
              <a:rPr lang="en-US" sz="1600" b="1" dirty="0">
                <a:solidFill>
                  <a:srgbClr val="D71920"/>
                </a:solidFill>
              </a:rPr>
              <a:t>3. Interpretation</a:t>
            </a:r>
            <a:endParaRPr lang="en-US" sz="1600" dirty="0"/>
          </a:p>
        </p:txBody>
      </p:sp>
      <p:sp>
        <p:nvSpPr>
          <p:cNvPr id="13" name="Text 11"/>
          <p:cNvSpPr/>
          <p:nvPr/>
        </p:nvSpPr>
        <p:spPr>
          <a:xfrm>
            <a:off x="7479792" y="1947672"/>
            <a:ext cx="2642616" cy="1143000"/>
          </a:xfrm>
          <a:prstGeom prst="rect">
            <a:avLst/>
          </a:prstGeom>
          <a:noFill/>
          <a:ln/>
        </p:spPr>
        <p:txBody>
          <a:bodyPr wrap="square" lIns="254" tIns="254" rIns="254" bIns="254" rtlCol="0" anchor="ctr"/>
          <a:lstStyle/>
          <a:p>
            <a:pPr marL="0" indent="0" algn="ctr">
              <a:buNone/>
            </a:pPr>
            <a:r>
              <a:rPr lang="en-US" sz="1400" dirty="0">
                <a:solidFill>
                  <a:srgbClr val="1F2D33"/>
                </a:solidFill>
              </a:rPr>
              <a:t>Which population slope values are compatible with the sample?</a:t>
            </a:r>
            <a:endParaRPr lang="en-US" sz="1400" dirty="0"/>
          </a:p>
        </p:txBody>
      </p:sp>
      <p:sp>
        <p:nvSpPr>
          <p:cNvPr id="14" name="Text 12"/>
          <p:cNvSpPr/>
          <p:nvPr/>
        </p:nvSpPr>
        <p:spPr>
          <a:xfrm>
            <a:off x="1143000" y="3886200"/>
            <a:ext cx="8869680" cy="731520"/>
          </a:xfrm>
          <a:prstGeom prst="rect">
            <a:avLst/>
          </a:prstGeom>
          <a:noFill/>
          <a:ln/>
        </p:spPr>
        <p:txBody>
          <a:bodyPr wrap="square" lIns="254" tIns="254" rIns="254" bIns="254" rtlCol="0" anchor="ctr"/>
          <a:lstStyle/>
          <a:p>
            <a:pPr marL="0" indent="0" algn="ctr">
              <a:buNone/>
            </a:pPr>
            <a:r>
              <a:rPr lang="en-US" sz="2100" b="1" dirty="0">
                <a:solidFill>
                  <a:srgbClr val="00566B"/>
                </a:solidFill>
              </a:rPr>
              <a:t>Do not stop at “the interval is [lower, upper]”. State what the endpoints mean in the economic context.</a:t>
            </a:r>
            <a:endParaRPr lang="en-US" sz="2100" dirty="0"/>
          </a:p>
        </p:txBody>
      </p:sp>
      <p:sp>
        <p:nvSpPr>
          <p:cNvPr id="15" name="Text 13"/>
          <p:cNvSpPr/>
          <p:nvPr/>
        </p:nvSpPr>
        <p:spPr>
          <a:xfrm>
            <a:off x="1828800" y="5074920"/>
            <a:ext cx="7498080" cy="411480"/>
          </a:xfrm>
          <a:prstGeom prst="rect">
            <a:avLst/>
          </a:prstGeom>
          <a:noFill/>
          <a:ln/>
        </p:spPr>
        <p:txBody>
          <a:bodyPr wrap="square" lIns="0" tIns="0" rIns="0" bIns="0" rtlCol="0" anchor="ctr"/>
          <a:lstStyle/>
          <a:p>
            <a:pPr marL="0" indent="0" algn="ctr">
              <a:buNone/>
            </a:pPr>
            <a:r>
              <a:rPr lang="en-US" sz="1800" b="1" dirty="0">
                <a:solidFill>
                  <a:srgbClr val="D71920"/>
                </a:solidFill>
              </a:rPr>
              <a:t>Confidence is still about the procedure used to construct the interval.</a:t>
            </a:r>
            <a:endParaRPr lang="en-US" sz="18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566B"/>
          </a:solidFill>
          <a:ln w="12700">
            <a:solidFill>
              <a:srgbClr val="00566B"/>
            </a:solidFill>
            <a:prstDash val="solid"/>
          </a:ln>
        </p:spPr>
        <p:txBody>
          <a:bodyPr/>
          <a:lstStyle/>
          <a:p>
            <a:endParaRPr lang="en-GB"/>
          </a:p>
        </p:txBody>
      </p:sp>
      <p:sp>
        <p:nvSpPr>
          <p:cNvPr id="3" name="Text 1"/>
          <p:cNvSpPr/>
          <p:nvPr/>
        </p:nvSpPr>
        <p:spPr>
          <a:xfrm>
            <a:off x="914400" y="2148840"/>
            <a:ext cx="10058400" cy="685800"/>
          </a:xfrm>
          <a:prstGeom prst="rect">
            <a:avLst/>
          </a:prstGeom>
          <a:noFill/>
          <a:ln/>
        </p:spPr>
        <p:txBody>
          <a:bodyPr wrap="square" lIns="0" tIns="0" rIns="0" bIns="0" rtlCol="0" anchor="ctr"/>
          <a:lstStyle/>
          <a:p>
            <a:pPr marL="0" indent="0" algn="ctr">
              <a:buNone/>
            </a:pPr>
            <a:r>
              <a:rPr lang="en-US" sz="3400" b="1" dirty="0">
                <a:solidFill>
                  <a:srgbClr val="FFFFFF"/>
                </a:solidFill>
              </a:rPr>
              <a:t>Hypothesis testing</a:t>
            </a:r>
            <a:endParaRPr lang="en-US" sz="3400" dirty="0"/>
          </a:p>
        </p:txBody>
      </p:sp>
      <p:sp>
        <p:nvSpPr>
          <p:cNvPr id="4" name="Text 2"/>
          <p:cNvSpPr/>
          <p:nvPr/>
        </p:nvSpPr>
        <p:spPr>
          <a:xfrm>
            <a:off x="914400" y="3063240"/>
            <a:ext cx="10058400" cy="502920"/>
          </a:xfrm>
          <a:prstGeom prst="rect">
            <a:avLst/>
          </a:prstGeom>
          <a:noFill/>
          <a:ln/>
        </p:spPr>
        <p:txBody>
          <a:bodyPr wrap="square" lIns="0" tIns="0" rIns="0" bIns="0" rtlCol="0" anchor="ctr"/>
          <a:lstStyle/>
          <a:p>
            <a:pPr marL="0" indent="0" algn="ctr">
              <a:buNone/>
            </a:pPr>
            <a:r>
              <a:rPr lang="en-US" sz="2100" dirty="0">
                <a:solidFill>
                  <a:srgbClr val="D8F2F7"/>
                </a:solidFill>
              </a:rPr>
              <a:t>From a range of plausible values to one specific claim</a:t>
            </a:r>
            <a:endParaRPr lang="en-US" sz="21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A CLAIM WE CAN TEST</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Return to the supermarket decision</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960120" y="1325880"/>
            <a:ext cx="6766560" cy="685800"/>
          </a:xfrm>
          <a:prstGeom prst="roundRect">
            <a:avLst>
              <a:gd name="adj" fmla="val 8000"/>
            </a:avLst>
          </a:prstGeom>
          <a:solidFill>
            <a:srgbClr val="DDF4F9"/>
          </a:solidFill>
          <a:ln w="12700">
            <a:solidFill>
              <a:srgbClr val="DDF4F9"/>
            </a:solidFill>
            <a:prstDash val="solid"/>
          </a:ln>
        </p:spPr>
        <p:txBody>
          <a:bodyPr/>
          <a:lstStyle/>
          <a:p>
            <a:endParaRPr lang="en-GB"/>
          </a:p>
        </p:txBody>
      </p:sp>
      <p:sp>
        <p:nvSpPr>
          <p:cNvPr id="6" name="Text 4"/>
          <p:cNvSpPr/>
          <p:nvPr/>
        </p:nvSpPr>
        <p:spPr>
          <a:xfrm>
            <a:off x="1069848" y="1389888"/>
            <a:ext cx="6547104" cy="557784"/>
          </a:xfrm>
          <a:prstGeom prst="rect">
            <a:avLst/>
          </a:prstGeom>
          <a:noFill/>
          <a:ln/>
        </p:spPr>
        <p:txBody>
          <a:bodyPr wrap="square" lIns="254" tIns="254" rIns="254" bIns="254" rtlCol="0" anchor="ctr">
            <a:normAutofit/>
          </a:bodyPr>
          <a:lstStyle/>
          <a:p>
            <a:pPr marL="0" indent="0" algn="ctr">
              <a:buNone/>
            </a:pPr>
            <a:r>
              <a:rPr lang="en-US" sz="2200" b="1" i="1" dirty="0">
                <a:solidFill>
                  <a:srgbClr val="00566B"/>
                </a:solidFill>
                <a:latin typeface="Cambria Math" pitchFamily="34" charset="0"/>
                <a:ea typeface="Cambria Math" pitchFamily="34" charset="-122"/>
                <a:cs typeface="Cambria Math" pitchFamily="34" charset="-120"/>
              </a:rPr>
              <a:t>food_exp = 83.42 + 0.1021 · income</a:t>
            </a:r>
            <a:endParaRPr lang="en-US" sz="2200" b="1" i="1" dirty="0"/>
          </a:p>
        </p:txBody>
      </p:sp>
      <p:sp>
        <p:nvSpPr>
          <p:cNvPr id="7" name="Shape 5"/>
          <p:cNvSpPr/>
          <p:nvPr/>
        </p:nvSpPr>
        <p:spPr>
          <a:xfrm>
            <a:off x="960120" y="2423160"/>
            <a:ext cx="3657600" cy="1828800"/>
          </a:xfrm>
          <a:prstGeom prst="roundRect">
            <a:avLst>
              <a:gd name="adj" fmla="val 4000"/>
            </a:avLst>
          </a:prstGeom>
          <a:solidFill>
            <a:srgbClr val="EFF9FB"/>
          </a:solidFill>
          <a:ln w="12700">
            <a:solidFill>
              <a:srgbClr val="EFF9FB"/>
            </a:solidFill>
            <a:prstDash val="solid"/>
          </a:ln>
        </p:spPr>
        <p:txBody>
          <a:bodyPr/>
          <a:lstStyle/>
          <a:p>
            <a:endParaRPr lang="en-GB"/>
          </a:p>
        </p:txBody>
      </p:sp>
      <p:sp>
        <p:nvSpPr>
          <p:cNvPr id="8" name="Text 6"/>
          <p:cNvSpPr/>
          <p:nvPr/>
        </p:nvSpPr>
        <p:spPr>
          <a:xfrm>
            <a:off x="1124712" y="2560320"/>
            <a:ext cx="3328416" cy="292608"/>
          </a:xfrm>
          <a:prstGeom prst="rect">
            <a:avLst/>
          </a:prstGeom>
          <a:noFill/>
          <a:ln/>
        </p:spPr>
        <p:txBody>
          <a:bodyPr wrap="square" lIns="0" tIns="0" rIns="0" bIns="0" rtlCol="0" anchor="ctr"/>
          <a:lstStyle/>
          <a:p>
            <a:pPr marL="0" indent="0" algn="ctr">
              <a:buNone/>
            </a:pPr>
            <a:r>
              <a:rPr lang="en-US" sz="1600" b="1" dirty="0">
                <a:solidFill>
                  <a:srgbClr val="00566B"/>
                </a:solidFill>
              </a:rPr>
              <a:t>Estimate</a:t>
            </a:r>
            <a:endParaRPr lang="en-US" sz="1600" dirty="0"/>
          </a:p>
        </p:txBody>
      </p:sp>
      <p:sp>
        <p:nvSpPr>
          <p:cNvPr id="9" name="Text 7"/>
          <p:cNvSpPr/>
          <p:nvPr/>
        </p:nvSpPr>
        <p:spPr>
          <a:xfrm>
            <a:off x="1124712" y="2953512"/>
            <a:ext cx="3328416" cy="1143000"/>
          </a:xfrm>
          <a:prstGeom prst="rect">
            <a:avLst/>
          </a:prstGeom>
          <a:noFill/>
          <a:ln/>
        </p:spPr>
        <p:txBody>
          <a:bodyPr wrap="square" lIns="254" tIns="254" rIns="254" bIns="254" rtlCol="0" anchor="ctr"/>
          <a:lstStyle/>
          <a:p>
            <a:pPr marL="0" indent="0" algn="ctr">
              <a:buNone/>
            </a:pPr>
            <a:r>
              <a:rPr lang="en-US" sz="1400" dirty="0">
                <a:solidFill>
                  <a:srgbClr val="1F2D33"/>
                </a:solidFill>
              </a:rPr>
              <a:t>USD 0.102 more food expenditure</a:t>
            </a:r>
            <a:endParaRPr lang="en-US" sz="1400" dirty="0"/>
          </a:p>
          <a:p>
            <a:pPr marL="0" indent="0" algn="ctr">
              <a:buNone/>
            </a:pPr>
            <a:r>
              <a:rPr lang="en-US" sz="1400" dirty="0">
                <a:solidFill>
                  <a:srgbClr val="1F2D33"/>
                </a:solidFill>
              </a:rPr>
              <a:t>per USD higher weekly income</a:t>
            </a:r>
            <a:endParaRPr lang="en-US" sz="1400" dirty="0"/>
          </a:p>
        </p:txBody>
      </p:sp>
      <p:sp>
        <p:nvSpPr>
          <p:cNvPr id="10" name="Shape 8"/>
          <p:cNvSpPr/>
          <p:nvPr/>
        </p:nvSpPr>
        <p:spPr>
          <a:xfrm>
            <a:off x="5715000" y="2423160"/>
            <a:ext cx="3657600" cy="1828800"/>
          </a:xfrm>
          <a:prstGeom prst="roundRect">
            <a:avLst>
              <a:gd name="adj" fmla="val 4000"/>
            </a:avLst>
          </a:prstGeom>
          <a:solidFill>
            <a:srgbClr val="FFF1F2"/>
          </a:solidFill>
          <a:ln w="12700">
            <a:solidFill>
              <a:srgbClr val="FFF1F2"/>
            </a:solidFill>
            <a:prstDash val="solid"/>
          </a:ln>
        </p:spPr>
        <p:txBody>
          <a:bodyPr/>
          <a:lstStyle/>
          <a:p>
            <a:endParaRPr lang="en-GB"/>
          </a:p>
        </p:txBody>
      </p:sp>
      <p:sp>
        <p:nvSpPr>
          <p:cNvPr id="11" name="Text 9"/>
          <p:cNvSpPr/>
          <p:nvPr/>
        </p:nvSpPr>
        <p:spPr>
          <a:xfrm>
            <a:off x="5879592" y="2560320"/>
            <a:ext cx="3328416" cy="292608"/>
          </a:xfrm>
          <a:prstGeom prst="rect">
            <a:avLst/>
          </a:prstGeom>
          <a:noFill/>
          <a:ln/>
        </p:spPr>
        <p:txBody>
          <a:bodyPr wrap="square" lIns="0" tIns="0" rIns="0" bIns="0" rtlCol="0" anchor="ctr"/>
          <a:lstStyle/>
          <a:p>
            <a:pPr marL="0" indent="0" algn="ctr">
              <a:buNone/>
            </a:pPr>
            <a:r>
              <a:rPr lang="en-US" sz="1600" b="1" dirty="0">
                <a:solidFill>
                  <a:srgbClr val="D71920"/>
                </a:solidFill>
              </a:rPr>
              <a:t>Decision threshold</a:t>
            </a:r>
            <a:endParaRPr lang="en-US" sz="1600" dirty="0"/>
          </a:p>
        </p:txBody>
      </p:sp>
      <p:sp>
        <p:nvSpPr>
          <p:cNvPr id="12" name="Text 10"/>
          <p:cNvSpPr/>
          <p:nvPr/>
        </p:nvSpPr>
        <p:spPr>
          <a:xfrm>
            <a:off x="5879592" y="2953512"/>
            <a:ext cx="3328416" cy="1143000"/>
          </a:xfrm>
          <a:prstGeom prst="rect">
            <a:avLst/>
          </a:prstGeom>
          <a:noFill/>
          <a:ln/>
        </p:spPr>
        <p:txBody>
          <a:bodyPr wrap="square" lIns="254" tIns="254" rIns="254" bIns="254" rtlCol="0" anchor="ctr"/>
          <a:lstStyle/>
          <a:p>
            <a:pPr marL="0" indent="0" algn="ctr">
              <a:buNone/>
            </a:pPr>
            <a:r>
              <a:rPr lang="en-US" sz="1400" dirty="0">
                <a:solidFill>
                  <a:srgbClr val="1F2D33"/>
                </a:solidFill>
              </a:rPr>
              <a:t>Investment requires more than</a:t>
            </a:r>
            <a:endParaRPr lang="en-US" sz="1400" dirty="0"/>
          </a:p>
          <a:p>
            <a:pPr marL="0" indent="0" algn="ctr">
              <a:buNone/>
            </a:pPr>
            <a:r>
              <a:rPr lang="en-US" sz="1400" dirty="0">
                <a:solidFill>
                  <a:srgbClr val="1F2D33"/>
                </a:solidFill>
              </a:rPr>
              <a:t>USD 0.055 per USD</a:t>
            </a:r>
            <a:endParaRPr lang="en-US" sz="1400" dirty="0"/>
          </a:p>
        </p:txBody>
      </p:sp>
      <p:sp>
        <p:nvSpPr>
          <p:cNvPr id="13" name="Text 11"/>
          <p:cNvSpPr/>
          <p:nvPr/>
        </p:nvSpPr>
        <p:spPr>
          <a:xfrm>
            <a:off x="1417320" y="4892040"/>
            <a:ext cx="8321040" cy="548640"/>
          </a:xfrm>
          <a:prstGeom prst="rect">
            <a:avLst/>
          </a:prstGeom>
          <a:noFill/>
          <a:ln/>
        </p:spPr>
        <p:txBody>
          <a:bodyPr wrap="square" lIns="0" tIns="0" rIns="0" bIns="0" rtlCol="0" anchor="ctr"/>
          <a:lstStyle/>
          <a:p>
            <a:pPr marL="0" indent="0" algn="ctr">
              <a:buNone/>
            </a:pPr>
            <a:r>
              <a:rPr lang="en-US" sz="2300" b="1" dirty="0">
                <a:solidFill>
                  <a:srgbClr val="D71920"/>
                </a:solidFill>
              </a:rPr>
              <a:t>Question: Is the evidence strong enough to conclude that β₂ &gt; 0.055?</a:t>
            </a:r>
            <a:endParaRPr lang="en-US" sz="23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HYPOTHESES</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From the economic question to H₀ and H₁</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1097280" y="1508760"/>
            <a:ext cx="4114800" cy="822960"/>
          </a:xfrm>
          <a:prstGeom prst="roundRect">
            <a:avLst>
              <a:gd name="adj" fmla="val 6667"/>
            </a:avLst>
          </a:prstGeom>
          <a:solidFill>
            <a:srgbClr val="F4F6F7"/>
          </a:solidFill>
          <a:ln w="12700">
            <a:solidFill>
              <a:srgbClr val="F4F6F7"/>
            </a:solidFill>
            <a:prstDash val="solid"/>
          </a:ln>
        </p:spPr>
        <p:txBody>
          <a:bodyPr/>
          <a:lstStyle/>
          <a:p>
            <a:endParaRPr lang="en-GB"/>
          </a:p>
        </p:txBody>
      </p:sp>
      <p:sp>
        <p:nvSpPr>
          <p:cNvPr id="6" name="Text 4"/>
          <p:cNvSpPr/>
          <p:nvPr/>
        </p:nvSpPr>
        <p:spPr>
          <a:xfrm>
            <a:off x="1207008" y="1572768"/>
            <a:ext cx="3895344" cy="694944"/>
          </a:xfrm>
          <a:prstGeom prst="rect">
            <a:avLst/>
          </a:prstGeom>
          <a:noFill/>
          <a:ln/>
        </p:spPr>
        <p:txBody>
          <a:bodyPr wrap="square" lIns="254" tIns="254" rIns="254" bIns="254" rtlCol="0" anchor="ctr">
            <a:normAutofit/>
          </a:bodyPr>
          <a:lstStyle/>
          <a:p>
            <a:pPr marL="0" indent="0" algn="ctr">
              <a:buNone/>
            </a:pPr>
            <a:r>
              <a:rPr lang="en-US" sz="2700" b="1" i="1" dirty="0">
                <a:solidFill>
                  <a:srgbClr val="1F2D33"/>
                </a:solidFill>
                <a:latin typeface="Cambria Math" pitchFamily="34" charset="0"/>
                <a:ea typeface="Cambria Math" pitchFamily="34" charset="-122"/>
                <a:cs typeface="Cambria Math" pitchFamily="34" charset="-120"/>
              </a:rPr>
              <a:t>H₀: β₂ ≤ 0.055</a:t>
            </a:r>
            <a:endParaRPr lang="en-US" sz="2700" i="1" dirty="0"/>
          </a:p>
        </p:txBody>
      </p:sp>
      <p:sp>
        <p:nvSpPr>
          <p:cNvPr id="7" name="Shape 5"/>
          <p:cNvSpPr/>
          <p:nvPr/>
        </p:nvSpPr>
        <p:spPr>
          <a:xfrm>
            <a:off x="6400800" y="1508760"/>
            <a:ext cx="4114800" cy="822960"/>
          </a:xfrm>
          <a:prstGeom prst="roundRect">
            <a:avLst>
              <a:gd name="adj" fmla="val 6667"/>
            </a:avLst>
          </a:prstGeom>
          <a:solidFill>
            <a:srgbClr val="DDF4F9"/>
          </a:solidFill>
          <a:ln w="12700">
            <a:solidFill>
              <a:srgbClr val="DDF4F9"/>
            </a:solidFill>
            <a:prstDash val="solid"/>
          </a:ln>
        </p:spPr>
        <p:txBody>
          <a:bodyPr/>
          <a:lstStyle/>
          <a:p>
            <a:endParaRPr lang="en-GB"/>
          </a:p>
        </p:txBody>
      </p:sp>
      <p:sp>
        <p:nvSpPr>
          <p:cNvPr id="8" name="Text 6"/>
          <p:cNvSpPr/>
          <p:nvPr/>
        </p:nvSpPr>
        <p:spPr>
          <a:xfrm>
            <a:off x="6510528" y="1572768"/>
            <a:ext cx="3895344" cy="694944"/>
          </a:xfrm>
          <a:prstGeom prst="rect">
            <a:avLst/>
          </a:prstGeom>
          <a:noFill/>
          <a:ln/>
        </p:spPr>
        <p:txBody>
          <a:bodyPr wrap="square" lIns="254" tIns="254" rIns="254" bIns="254" rtlCol="0" anchor="ctr">
            <a:normAutofit/>
          </a:bodyPr>
          <a:lstStyle/>
          <a:p>
            <a:pPr marL="0" indent="0" algn="ctr">
              <a:buNone/>
            </a:pPr>
            <a:r>
              <a:rPr lang="en-US" sz="2700" b="1" i="1" dirty="0">
                <a:solidFill>
                  <a:srgbClr val="00566B"/>
                </a:solidFill>
                <a:latin typeface="Cambria Math" pitchFamily="34" charset="0"/>
                <a:ea typeface="Cambria Math" pitchFamily="34" charset="-122"/>
                <a:cs typeface="Cambria Math" pitchFamily="34" charset="-120"/>
              </a:rPr>
              <a:t>H₁: β₂ &gt; 0.055</a:t>
            </a:r>
            <a:endParaRPr lang="en-US" sz="2700" i="1" dirty="0"/>
          </a:p>
        </p:txBody>
      </p:sp>
      <p:sp>
        <p:nvSpPr>
          <p:cNvPr id="9" name="Text 7"/>
          <p:cNvSpPr/>
          <p:nvPr/>
        </p:nvSpPr>
        <p:spPr>
          <a:xfrm>
            <a:off x="1280160" y="2606040"/>
            <a:ext cx="3749040" cy="320040"/>
          </a:xfrm>
          <a:prstGeom prst="rect">
            <a:avLst/>
          </a:prstGeom>
          <a:noFill/>
          <a:ln/>
        </p:spPr>
        <p:txBody>
          <a:bodyPr wrap="square" lIns="0" tIns="0" rIns="0" bIns="0" rtlCol="0" anchor="ctr"/>
          <a:lstStyle/>
          <a:p>
            <a:pPr marL="0" indent="0" algn="ctr">
              <a:buNone/>
            </a:pPr>
            <a:r>
              <a:rPr lang="en-US" sz="1700" dirty="0">
                <a:solidFill>
                  <a:srgbClr val="64737A"/>
                </a:solidFill>
              </a:rPr>
              <a:t>Not enough for investment</a:t>
            </a:r>
            <a:endParaRPr lang="en-US" sz="1700" dirty="0"/>
          </a:p>
        </p:txBody>
      </p:sp>
      <p:sp>
        <p:nvSpPr>
          <p:cNvPr id="10" name="Text 8"/>
          <p:cNvSpPr/>
          <p:nvPr/>
        </p:nvSpPr>
        <p:spPr>
          <a:xfrm>
            <a:off x="6583680" y="2606040"/>
            <a:ext cx="3749040" cy="320040"/>
          </a:xfrm>
          <a:prstGeom prst="rect">
            <a:avLst/>
          </a:prstGeom>
          <a:noFill/>
          <a:ln/>
        </p:spPr>
        <p:txBody>
          <a:bodyPr wrap="square" lIns="0" tIns="0" rIns="0" bIns="0" rtlCol="0" anchor="ctr"/>
          <a:lstStyle/>
          <a:p>
            <a:pPr marL="0" indent="0" algn="ctr">
              <a:buNone/>
            </a:pPr>
            <a:r>
              <a:rPr lang="en-US" sz="1700" dirty="0">
                <a:solidFill>
                  <a:srgbClr val="64737A"/>
                </a:solidFill>
              </a:rPr>
              <a:t>Large enough for investment</a:t>
            </a:r>
            <a:endParaRPr lang="en-US" sz="1700" dirty="0"/>
          </a:p>
        </p:txBody>
      </p:sp>
      <p:sp>
        <p:nvSpPr>
          <p:cNvPr id="11" name="Text 9"/>
          <p:cNvSpPr/>
          <p:nvPr/>
        </p:nvSpPr>
        <p:spPr>
          <a:xfrm>
            <a:off x="1828800" y="3703320"/>
            <a:ext cx="7863840" cy="502920"/>
          </a:xfrm>
          <a:prstGeom prst="rect">
            <a:avLst/>
          </a:prstGeom>
          <a:noFill/>
          <a:ln/>
        </p:spPr>
        <p:txBody>
          <a:bodyPr wrap="square" lIns="0" tIns="0" rIns="0" bIns="0" rtlCol="0" anchor="ctr"/>
          <a:lstStyle/>
          <a:p>
            <a:pPr marL="0" indent="0" algn="ctr">
              <a:buNone/>
            </a:pPr>
            <a:r>
              <a:rPr lang="en-US" sz="2200" b="1" dirty="0">
                <a:solidFill>
                  <a:srgbClr val="D71920"/>
                </a:solidFill>
              </a:rPr>
              <a:t>The alternative hypothesis determines the direction of the test.</a:t>
            </a:r>
            <a:endParaRPr lang="en-US" sz="2200" dirty="0"/>
          </a:p>
        </p:txBody>
      </p:sp>
      <p:sp>
        <p:nvSpPr>
          <p:cNvPr id="12" name="Text 10"/>
          <p:cNvSpPr/>
          <p:nvPr/>
        </p:nvSpPr>
        <p:spPr>
          <a:xfrm>
            <a:off x="1828800" y="4572000"/>
            <a:ext cx="7863840" cy="411480"/>
          </a:xfrm>
          <a:prstGeom prst="rect">
            <a:avLst/>
          </a:prstGeom>
          <a:noFill/>
          <a:ln/>
        </p:spPr>
        <p:txBody>
          <a:bodyPr wrap="square" lIns="0" tIns="0" rIns="0" bIns="0" rtlCol="0" anchor="ctr"/>
          <a:lstStyle/>
          <a:p>
            <a:pPr marL="0" indent="0" algn="ctr">
              <a:buNone/>
            </a:pPr>
            <a:r>
              <a:rPr lang="en-US" sz="1800" dirty="0">
                <a:solidFill>
                  <a:srgbClr val="1F2D33"/>
                </a:solidFill>
              </a:rPr>
              <a:t>For calculations, the boundary value 0.055 is used in the t-statistic.</a:t>
            </a:r>
            <a:endParaRPr lang="en-US" sz="18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ONE FORMULA</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The test statistic measures distance from the claim</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7" name="Shape 5"/>
          <p:cNvSpPr/>
          <p:nvPr/>
        </p:nvSpPr>
        <p:spPr>
          <a:xfrm>
            <a:off x="6537960" y="1325880"/>
            <a:ext cx="3657600" cy="1143000"/>
          </a:xfrm>
          <a:prstGeom prst="roundRect">
            <a:avLst>
              <a:gd name="adj" fmla="val 6400"/>
            </a:avLst>
          </a:prstGeom>
          <a:solidFill>
            <a:srgbClr val="F4F6F7"/>
          </a:solidFill>
          <a:ln w="12700">
            <a:solidFill>
              <a:srgbClr val="F4F6F7"/>
            </a:solidFill>
            <a:prstDash val="solid"/>
          </a:ln>
        </p:spPr>
        <p:txBody>
          <a:bodyPr/>
          <a:lstStyle/>
          <a:p>
            <a:endParaRPr lang="en-GB"/>
          </a:p>
        </p:txBody>
      </p:sp>
      <p:sp>
        <p:nvSpPr>
          <p:cNvPr id="8" name="Text 6"/>
          <p:cNvSpPr/>
          <p:nvPr/>
        </p:nvSpPr>
        <p:spPr>
          <a:xfrm>
            <a:off x="6702552" y="1463040"/>
            <a:ext cx="3328416" cy="292608"/>
          </a:xfrm>
          <a:prstGeom prst="rect">
            <a:avLst/>
          </a:prstGeom>
          <a:noFill/>
          <a:ln/>
        </p:spPr>
        <p:txBody>
          <a:bodyPr wrap="square" lIns="0" tIns="0" rIns="0" bIns="0" rtlCol="0" anchor="ctr"/>
          <a:lstStyle/>
          <a:p>
            <a:pPr marL="0" indent="0" algn="ctr">
              <a:buNone/>
            </a:pPr>
            <a:r>
              <a:rPr lang="en-US" sz="1600" b="1" dirty="0">
                <a:solidFill>
                  <a:srgbClr val="1F2D33"/>
                </a:solidFill>
              </a:rPr>
              <a:t>Numerator</a:t>
            </a:r>
            <a:endParaRPr lang="en-US" sz="1600" dirty="0"/>
          </a:p>
        </p:txBody>
      </p:sp>
      <p:sp>
        <p:nvSpPr>
          <p:cNvPr id="9" name="Text 7"/>
          <p:cNvSpPr/>
          <p:nvPr/>
        </p:nvSpPr>
        <p:spPr>
          <a:xfrm>
            <a:off x="6702552" y="1856232"/>
            <a:ext cx="3328416" cy="457200"/>
          </a:xfrm>
          <a:prstGeom prst="rect">
            <a:avLst/>
          </a:prstGeom>
          <a:noFill/>
          <a:ln/>
        </p:spPr>
        <p:txBody>
          <a:bodyPr wrap="square" lIns="254" tIns="254" rIns="254" bIns="254" rtlCol="0" anchor="ctr"/>
          <a:lstStyle/>
          <a:p>
            <a:pPr marL="0" indent="0" algn="ctr">
              <a:buNone/>
            </a:pPr>
            <a:r>
              <a:rPr lang="en-US" sz="1400" dirty="0">
                <a:solidFill>
                  <a:srgbClr val="1F2D33"/>
                </a:solidFill>
              </a:rPr>
              <a:t>How far is the estimate from the hypothesized value?</a:t>
            </a:r>
            <a:endParaRPr lang="en-US" sz="1400" dirty="0"/>
          </a:p>
        </p:txBody>
      </p:sp>
      <p:sp>
        <p:nvSpPr>
          <p:cNvPr id="10" name="Shape 8"/>
          <p:cNvSpPr/>
          <p:nvPr/>
        </p:nvSpPr>
        <p:spPr>
          <a:xfrm>
            <a:off x="6537960" y="2743200"/>
            <a:ext cx="3657600" cy="1143000"/>
          </a:xfrm>
          <a:prstGeom prst="roundRect">
            <a:avLst>
              <a:gd name="adj" fmla="val 6400"/>
            </a:avLst>
          </a:prstGeom>
          <a:solidFill>
            <a:srgbClr val="EFF9FB"/>
          </a:solidFill>
          <a:ln w="12700">
            <a:solidFill>
              <a:srgbClr val="EFF9FB"/>
            </a:solidFill>
            <a:prstDash val="solid"/>
          </a:ln>
        </p:spPr>
        <p:txBody>
          <a:bodyPr/>
          <a:lstStyle/>
          <a:p>
            <a:endParaRPr lang="en-GB"/>
          </a:p>
        </p:txBody>
      </p:sp>
      <p:sp>
        <p:nvSpPr>
          <p:cNvPr id="11" name="Text 9"/>
          <p:cNvSpPr/>
          <p:nvPr/>
        </p:nvSpPr>
        <p:spPr>
          <a:xfrm>
            <a:off x="6702552" y="2880360"/>
            <a:ext cx="3328416" cy="292608"/>
          </a:xfrm>
          <a:prstGeom prst="rect">
            <a:avLst/>
          </a:prstGeom>
          <a:noFill/>
          <a:ln/>
        </p:spPr>
        <p:txBody>
          <a:bodyPr wrap="square" lIns="0" tIns="0" rIns="0" bIns="0" rtlCol="0" anchor="ctr"/>
          <a:lstStyle/>
          <a:p>
            <a:pPr marL="0" indent="0" algn="ctr">
              <a:buNone/>
            </a:pPr>
            <a:r>
              <a:rPr lang="en-US" sz="1600" b="1" dirty="0">
                <a:solidFill>
                  <a:srgbClr val="00566B"/>
                </a:solidFill>
              </a:rPr>
              <a:t>Denominator</a:t>
            </a:r>
            <a:endParaRPr lang="en-US" sz="1600" dirty="0"/>
          </a:p>
        </p:txBody>
      </p:sp>
      <p:sp>
        <p:nvSpPr>
          <p:cNvPr id="12" name="Text 10"/>
          <p:cNvSpPr/>
          <p:nvPr/>
        </p:nvSpPr>
        <p:spPr>
          <a:xfrm>
            <a:off x="6702552" y="3273552"/>
            <a:ext cx="3328416" cy="457200"/>
          </a:xfrm>
          <a:prstGeom prst="rect">
            <a:avLst/>
          </a:prstGeom>
          <a:noFill/>
          <a:ln/>
        </p:spPr>
        <p:txBody>
          <a:bodyPr wrap="square" lIns="254" tIns="254" rIns="254" bIns="254" rtlCol="0" anchor="ctr"/>
          <a:lstStyle/>
          <a:p>
            <a:pPr marL="0" indent="0" algn="ctr">
              <a:buNone/>
            </a:pPr>
            <a:r>
              <a:rPr lang="en-US" sz="1400" dirty="0">
                <a:solidFill>
                  <a:srgbClr val="1F2D33"/>
                </a:solidFill>
              </a:rPr>
              <a:t>How much sampling variation is normal for b₂?</a:t>
            </a:r>
            <a:endParaRPr lang="en-US" sz="1400" dirty="0"/>
          </a:p>
        </p:txBody>
      </p:sp>
      <p:sp>
        <p:nvSpPr>
          <p:cNvPr id="13" name="Text 11"/>
          <p:cNvSpPr/>
          <p:nvPr/>
        </p:nvSpPr>
        <p:spPr>
          <a:xfrm>
            <a:off x="1097280" y="4389120"/>
            <a:ext cx="9052560" cy="685800"/>
          </a:xfrm>
          <a:prstGeom prst="rect">
            <a:avLst/>
          </a:prstGeom>
          <a:noFill/>
          <a:ln/>
        </p:spPr>
        <p:txBody>
          <a:bodyPr wrap="square" lIns="254" tIns="254" rIns="254" bIns="254" rtlCol="0" anchor="ctr"/>
          <a:lstStyle/>
          <a:p>
            <a:pPr marL="0" indent="0" algn="ctr">
              <a:buNone/>
            </a:pPr>
            <a:r>
              <a:rPr lang="en-US" sz="2200" b="1" dirty="0">
                <a:solidFill>
                  <a:srgbClr val="00566B"/>
                </a:solidFill>
              </a:rPr>
              <a:t>Interpretation: how many standard errors is the estimate from the value specified by H₀?</a:t>
            </a:r>
            <a:endParaRPr lang="en-US" sz="22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29</a:t>
            </a:fld>
            <a:endParaRPr lang="en-US"/>
          </a:p>
        </p:txBody>
      </p:sp>
      <mc:AlternateContent xmlns:mc="http://schemas.openxmlformats.org/markup-compatibility/2006">
        <mc:Choice xmlns:a14="http://schemas.microsoft.com/office/drawing/2010/main" Requires="a14">
          <p:sp>
            <p:nvSpPr>
              <p:cNvPr id="17" name="Rectangle: Rounded Corners 10">
                <a:extLst>
                  <a:ext uri="{FF2B5EF4-FFF2-40B4-BE49-F238E27FC236}">
                    <a16:creationId xmlns:a16="http://schemas.microsoft.com/office/drawing/2014/main" id="{BDC45C08-6A61-A10B-F2BD-56E776FD3B36}"/>
                  </a:ext>
                </a:extLst>
              </p:cNvPr>
              <p:cNvSpPr/>
              <p:nvPr/>
            </p:nvSpPr>
            <p:spPr>
              <a:xfrm>
                <a:off x="822960" y="1350263"/>
                <a:ext cx="4461934" cy="838200"/>
              </a:xfrm>
              <a:prstGeom prst="roundRect">
                <a:avLst/>
              </a:prstGeom>
              <a:solidFill>
                <a:srgbClr val="20BCE6"/>
              </a:solidFill>
              <a:ln w="9525">
                <a:solidFill>
                  <a:srgbClr val="0056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𝑡</m:t>
                      </m:r>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m:t>
                      </m:r>
                      <m:f>
                        <m:f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fPr>
                        <m:num>
                          <m:sSub>
                            <m:sSub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m:t>
                          </m:r>
                          <m:r>
                            <a:rPr kumimoji="0" lang="nb-NO" sz="24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𝑐</m:t>
                          </m:r>
                        </m:num>
                        <m:den>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𝑠𝑒</m:t>
                          </m:r>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sSub>
                            <m:sSub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den>
                      </m:f>
                    </m:oMath>
                  </m:oMathPara>
                </a14:m>
                <a:endParaRPr kumimoji="0" lang="en-GB" sz="2400" i="0" u="none" strike="noStrike" kern="1200" cap="none" spc="0" normalizeH="0" baseline="0" noProof="0" dirty="0">
                  <a:ln>
                    <a:noFill/>
                  </a:ln>
                  <a:solidFill>
                    <a:srgbClr val="FFFFFF"/>
                  </a:solidFill>
                  <a:effectLst/>
                  <a:uLnTx/>
                  <a:uFillTx/>
                  <a:latin typeface="Aptos Display" panose="020B0004020202020204" pitchFamily="34" charset="0"/>
                  <a:cs typeface="+mn-cs"/>
                </a:endParaRPr>
              </a:p>
            </p:txBody>
          </p:sp>
        </mc:Choice>
        <mc:Fallback>
          <p:sp>
            <p:nvSpPr>
              <p:cNvPr id="17" name="Rectangle: Rounded Corners 10">
                <a:extLst>
                  <a:ext uri="{FF2B5EF4-FFF2-40B4-BE49-F238E27FC236}">
                    <a16:creationId xmlns:a16="http://schemas.microsoft.com/office/drawing/2014/main" id="{BDC45C08-6A61-A10B-F2BD-56E776FD3B36}"/>
                  </a:ext>
                </a:extLst>
              </p:cNvPr>
              <p:cNvSpPr>
                <a:spLocks noRot="1" noChangeAspect="1" noMove="1" noResize="1" noEditPoints="1" noAdjustHandles="1" noChangeArrowheads="1" noChangeShapeType="1" noTextEdit="1"/>
              </p:cNvSpPr>
              <p:nvPr/>
            </p:nvSpPr>
            <p:spPr>
              <a:xfrm>
                <a:off x="822960" y="1350263"/>
                <a:ext cx="4461934" cy="838200"/>
              </a:xfrm>
              <a:prstGeom prst="roundRect">
                <a:avLst/>
              </a:prstGeom>
              <a:blipFill>
                <a:blip r:embed="rId3"/>
                <a:stretch>
                  <a:fillRect/>
                </a:stretch>
              </a:blipFill>
              <a:ln w="9525">
                <a:solidFill>
                  <a:srgbClr val="00566B"/>
                </a:solidFill>
              </a:ln>
            </p:spPr>
            <p:txBody>
              <a:bodyPr/>
              <a:lstStyle/>
              <a:p>
                <a:r>
                  <a:rPr lang="en-GB">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WORK IT OUT TOGETHER</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Calculate the supermarket t-statistic</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Text 3"/>
          <p:cNvSpPr/>
          <p:nvPr/>
        </p:nvSpPr>
        <p:spPr>
          <a:xfrm>
            <a:off x="914400" y="1280160"/>
            <a:ext cx="8412480" cy="457200"/>
          </a:xfrm>
          <a:prstGeom prst="rect">
            <a:avLst/>
          </a:prstGeom>
          <a:noFill/>
          <a:ln/>
        </p:spPr>
        <p:txBody>
          <a:bodyPr wrap="square" lIns="0" tIns="0" rIns="0" bIns="0" rtlCol="0" anchor="ctr"/>
          <a:lstStyle/>
          <a:p>
            <a:pPr marL="0" indent="0">
              <a:buNone/>
            </a:pPr>
            <a:r>
              <a:rPr lang="en-US" sz="2200" b="1" dirty="0">
                <a:solidFill>
                  <a:srgbClr val="00566B"/>
                </a:solidFill>
                <a:latin typeface="Cambria Math" pitchFamily="34" charset="0"/>
                <a:ea typeface="Cambria Math" pitchFamily="34" charset="-122"/>
                <a:cs typeface="Cambria Math" pitchFamily="34" charset="-120"/>
              </a:rPr>
              <a:t>b₂ = 0.1021      c = 0.055      se(b₂) = 0.0209</a:t>
            </a:r>
            <a:endParaRPr lang="en-US" sz="2200" dirty="0"/>
          </a:p>
        </p:txBody>
      </p:sp>
      <p:sp>
        <p:nvSpPr>
          <p:cNvPr id="6" name="Shape 4"/>
          <p:cNvSpPr/>
          <p:nvPr/>
        </p:nvSpPr>
        <p:spPr>
          <a:xfrm>
            <a:off x="914400" y="1965960"/>
            <a:ext cx="4389120" cy="640080"/>
          </a:xfrm>
          <a:prstGeom prst="roundRect">
            <a:avLst>
              <a:gd name="adj" fmla="val 8571"/>
            </a:avLst>
          </a:prstGeom>
          <a:solidFill>
            <a:srgbClr val="FFFFFF"/>
          </a:solidFill>
          <a:ln w="12700">
            <a:solidFill>
              <a:srgbClr val="FFFFFF"/>
            </a:solidFill>
            <a:prstDash val="solid"/>
          </a:ln>
        </p:spPr>
        <p:txBody>
          <a:bodyPr/>
          <a:lstStyle/>
          <a:p>
            <a:endParaRPr lang="en-GB"/>
          </a:p>
        </p:txBody>
      </p:sp>
      <mc:AlternateContent xmlns:mc="http://schemas.openxmlformats.org/markup-compatibility/2006">
        <mc:Choice xmlns:a14="http://schemas.microsoft.com/office/drawing/2010/main" Requires="a14">
          <p:sp>
            <p:nvSpPr>
              <p:cNvPr id="7" name="Text 5"/>
              <p:cNvSpPr/>
              <p:nvPr/>
            </p:nvSpPr>
            <p:spPr>
              <a:xfrm>
                <a:off x="1024128" y="2029968"/>
                <a:ext cx="4169664" cy="512064"/>
              </a:xfrm>
              <a:prstGeom prst="rect">
                <a:avLst/>
              </a:prstGeom>
              <a:noFill/>
              <a:ln/>
            </p:spPr>
            <p:txBody>
              <a:bodyPr wrap="square" lIns="254" tIns="254" rIns="254" bIns="254" rtlCol="0" anchor="ctr">
                <a:normAutofit fontScale="77500" lnSpcReduction="20000"/>
              </a:bodyPr>
              <a:lstStyle/>
              <a:p>
                <a:pPr algn="ctr"/>
                <a14:m>
                  <m:oMathPara xmlns:m="http://schemas.openxmlformats.org/officeDocument/2006/math">
                    <m:oMath>
                      <m:r>
                        <a:rPr lang="nb-NO" sz="2000" i="1" smtClean="0">
                          <a:solidFill>
                            <a:schemeClr val="tx1"/>
                          </a:solidFill>
                          <a:latin typeface="Cambria Math" panose="02040503050406030204" pitchFamily="18" charset="0"/>
                        </a:rPr>
                        <m:t>𝑡</m:t>
                      </m:r>
                      <m:r>
                        <a:rPr lang="nb-NO" sz="2000" i="1" smtClean="0">
                          <a:solidFill>
                            <a:schemeClr val="tx1"/>
                          </a:solidFill>
                          <a:latin typeface="Cambria Math" panose="02040503050406030204" pitchFamily="18" charset="0"/>
                        </a:rPr>
                        <m:t>=</m:t>
                      </m:r>
                      <m:f>
                        <m:fPr>
                          <m:ctrlPr>
                            <a:rPr lang="nb-NO" sz="2000" i="1">
                              <a:solidFill>
                                <a:schemeClr val="tx1"/>
                              </a:solidFill>
                              <a:latin typeface="Cambria Math" panose="02040503050406030204" pitchFamily="18" charset="0"/>
                              <a:ea typeface="Cambria Math" panose="02040503050406030204" pitchFamily="18" charset="0"/>
                            </a:rPr>
                          </m:ctrlPr>
                        </m:fPr>
                        <m:num>
                          <m:sSub>
                            <m:sSubPr>
                              <m:ctrlPr>
                                <a:rPr lang="nb-NO" sz="2000" i="1">
                                  <a:solidFill>
                                    <a:schemeClr val="tx1"/>
                                  </a:solidFill>
                                  <a:latin typeface="Cambria Math" panose="02040503050406030204" pitchFamily="18" charset="0"/>
                                  <a:ea typeface="Cambria Math" panose="02040503050406030204" pitchFamily="18" charset="0"/>
                                </a:rPr>
                              </m:ctrlPr>
                            </m:sSubPr>
                            <m:e>
                              <m:r>
                                <a:rPr lang="nb-NO" sz="2000" i="1">
                                  <a:solidFill>
                                    <a:schemeClr val="tx1"/>
                                  </a:solidFill>
                                  <a:latin typeface="Cambria Math" panose="02040503050406030204" pitchFamily="18" charset="0"/>
                                  <a:ea typeface="Cambria Math" panose="02040503050406030204" pitchFamily="18" charset="0"/>
                                </a:rPr>
                                <m:t>𝑏</m:t>
                              </m:r>
                            </m:e>
                            <m:sub>
                              <m:r>
                                <a:rPr lang="nb-NO" sz="2000" i="1">
                                  <a:solidFill>
                                    <a:schemeClr val="tx1"/>
                                  </a:solidFill>
                                  <a:latin typeface="Cambria Math" panose="02040503050406030204" pitchFamily="18" charset="0"/>
                                  <a:ea typeface="Cambria Math" panose="02040503050406030204" pitchFamily="18" charset="0"/>
                                </a:rPr>
                                <m:t>2</m:t>
                              </m:r>
                            </m:sub>
                          </m:sSub>
                          <m:r>
                            <a:rPr lang="nb-NO" sz="2000" i="1">
                              <a:solidFill>
                                <a:schemeClr val="tx1"/>
                              </a:solidFill>
                              <a:latin typeface="Cambria Math" panose="02040503050406030204" pitchFamily="18" charset="0"/>
                              <a:ea typeface="Cambria Math" panose="02040503050406030204" pitchFamily="18" charset="0"/>
                            </a:rPr>
                            <m:t>−</m:t>
                          </m:r>
                          <m:r>
                            <a:rPr lang="nb-NO" sz="2000" i="1">
                              <a:solidFill>
                                <a:schemeClr val="tx1"/>
                              </a:solidFill>
                              <a:latin typeface="Cambria Math" panose="02040503050406030204" pitchFamily="18" charset="0"/>
                              <a:ea typeface="Cambria Math" panose="02040503050406030204" pitchFamily="18" charset="0"/>
                            </a:rPr>
                            <m:t>𝑐</m:t>
                          </m:r>
                        </m:num>
                        <m:den>
                          <m:r>
                            <a:rPr lang="nb-NO" sz="2000" i="1">
                              <a:solidFill>
                                <a:schemeClr val="tx1"/>
                              </a:solidFill>
                              <a:latin typeface="Cambria Math" panose="02040503050406030204" pitchFamily="18" charset="0"/>
                            </a:rPr>
                            <m:t>𝑠𝑒</m:t>
                          </m:r>
                          <m:r>
                            <a:rPr lang="nb-NO" sz="2000" i="1">
                              <a:solidFill>
                                <a:schemeClr val="tx1"/>
                              </a:solidFill>
                              <a:latin typeface="Cambria Math" panose="02040503050406030204" pitchFamily="18" charset="0"/>
                            </a:rPr>
                            <m:t>(</m:t>
                          </m:r>
                          <m:sSub>
                            <m:sSubPr>
                              <m:ctrlPr>
                                <a:rPr lang="nb-NO" sz="2000" i="1">
                                  <a:solidFill>
                                    <a:schemeClr val="tx1"/>
                                  </a:solidFill>
                                  <a:latin typeface="Cambria Math" panose="02040503050406030204" pitchFamily="18" charset="0"/>
                                  <a:ea typeface="Cambria Math" panose="02040503050406030204" pitchFamily="18" charset="0"/>
                                </a:rPr>
                              </m:ctrlPr>
                            </m:sSubPr>
                            <m:e>
                              <m:r>
                                <a:rPr lang="nb-NO" sz="2000" i="1">
                                  <a:solidFill>
                                    <a:schemeClr val="tx1"/>
                                  </a:solidFill>
                                  <a:latin typeface="Cambria Math" panose="02040503050406030204" pitchFamily="18" charset="0"/>
                                  <a:ea typeface="Cambria Math" panose="02040503050406030204" pitchFamily="18" charset="0"/>
                                </a:rPr>
                                <m:t>𝑏</m:t>
                              </m:r>
                            </m:e>
                            <m:sub>
                              <m:r>
                                <a:rPr lang="nb-NO" sz="2000" i="1">
                                  <a:solidFill>
                                    <a:schemeClr val="tx1"/>
                                  </a:solidFill>
                                  <a:latin typeface="Cambria Math" panose="02040503050406030204" pitchFamily="18" charset="0"/>
                                  <a:ea typeface="Cambria Math" panose="02040503050406030204" pitchFamily="18" charset="0"/>
                                </a:rPr>
                                <m:t>2</m:t>
                              </m:r>
                            </m:sub>
                          </m:sSub>
                          <m:r>
                            <a:rPr lang="nb-NO" sz="2000" i="1">
                              <a:solidFill>
                                <a:schemeClr val="tx1"/>
                              </a:solidFill>
                              <a:latin typeface="Cambria Math" panose="02040503050406030204" pitchFamily="18" charset="0"/>
                            </a:rPr>
                            <m:t>)</m:t>
                          </m:r>
                        </m:den>
                      </m:f>
                    </m:oMath>
                  </m:oMathPara>
                </a14:m>
                <a:endParaRPr lang="en-US" sz="2200" dirty="0">
                  <a:solidFill>
                    <a:schemeClr val="tx1"/>
                  </a:solidFill>
                </a:endParaRPr>
              </a:p>
            </p:txBody>
          </p:sp>
        </mc:Choice>
        <mc:Fallback>
          <p:sp>
            <p:nvSpPr>
              <p:cNvPr id="7" name="Text 5"/>
              <p:cNvSpPr>
                <a:spLocks noRot="1" noChangeAspect="1" noMove="1" noResize="1" noEditPoints="1" noAdjustHandles="1" noChangeArrowheads="1" noChangeShapeType="1" noTextEdit="1"/>
              </p:cNvSpPr>
              <p:nvPr/>
            </p:nvSpPr>
            <p:spPr>
              <a:xfrm>
                <a:off x="1024128" y="2029968"/>
                <a:ext cx="4169664" cy="512064"/>
              </a:xfrm>
              <a:prstGeom prst="rect">
                <a:avLst/>
              </a:prstGeom>
              <a:blipFill>
                <a:blip r:embed="rId3"/>
                <a:stretch>
                  <a:fillRect/>
                </a:stretch>
              </a:blipFill>
              <a:ln/>
            </p:spPr>
            <p:txBody>
              <a:bodyPr/>
              <a:lstStyle/>
              <a:p>
                <a:r>
                  <a:rPr lang="en-GB">
                    <a:noFill/>
                  </a:rPr>
                  <a:t> </a:t>
                </a:r>
              </a:p>
            </p:txBody>
          </p:sp>
        </mc:Fallback>
      </mc:AlternateContent>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DO NOT LEARN THREE DIFFERENT TESTS</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One idea, three alternatives</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pic>
        <p:nvPicPr>
          <p:cNvPr id="5" name="Image 0" descr="/mnt/data/ch3_figs/three_tails.png"/>
          <p:cNvPicPr>
            <a:picLocks noChangeAspect="1"/>
          </p:cNvPicPr>
          <p:nvPr/>
        </p:nvPicPr>
        <p:blipFill>
          <a:blip r:embed="rId3"/>
          <a:stretch>
            <a:fillRect/>
          </a:stretch>
        </p:blipFill>
        <p:spPr>
          <a:xfrm>
            <a:off x="731520" y="1280160"/>
            <a:ext cx="10241280" cy="3429000"/>
          </a:xfrm>
          <a:prstGeom prst="rect">
            <a:avLst/>
          </a:prstGeom>
        </p:spPr>
      </p:pic>
      <p:sp>
        <p:nvSpPr>
          <p:cNvPr id="6" name="Text 3"/>
          <p:cNvSpPr/>
          <p:nvPr/>
        </p:nvSpPr>
        <p:spPr>
          <a:xfrm>
            <a:off x="1645920" y="5074920"/>
            <a:ext cx="8229600" cy="502920"/>
          </a:xfrm>
          <a:prstGeom prst="rect">
            <a:avLst/>
          </a:prstGeom>
          <a:noFill/>
          <a:ln/>
        </p:spPr>
        <p:txBody>
          <a:bodyPr wrap="square" lIns="0" tIns="0" rIns="0" bIns="0" rtlCol="0" anchor="ctr"/>
          <a:lstStyle/>
          <a:p>
            <a:pPr marL="0" indent="0" algn="ctr">
              <a:buNone/>
            </a:pPr>
            <a:r>
              <a:rPr lang="en-US" sz="2100" b="1" dirty="0">
                <a:solidFill>
                  <a:srgbClr val="00566B"/>
                </a:solidFill>
              </a:rPr>
              <a:t>Same test statistic. What changes is where “unusual” values lie.</a:t>
            </a:r>
            <a:endParaRPr lang="en-US" sz="2100" dirty="0"/>
          </a:p>
        </p:txBody>
      </p:sp>
      <p:sp>
        <p:nvSpPr>
          <p:cNvPr id="7" name="Text 4"/>
          <p:cNvSpPr/>
          <p:nvPr/>
        </p:nvSpPr>
        <p:spPr>
          <a:xfrm>
            <a:off x="1097280" y="5742432"/>
            <a:ext cx="9326880" cy="438912"/>
          </a:xfrm>
          <a:prstGeom prst="rect">
            <a:avLst/>
          </a:prstGeom>
          <a:noFill/>
          <a:ln/>
        </p:spPr>
        <p:txBody>
          <a:bodyPr wrap="square" lIns="0" tIns="0" rIns="0" bIns="0" rtlCol="0" anchor="ctr"/>
          <a:lstStyle/>
          <a:p>
            <a:pPr marL="0" indent="0" algn="ctr">
              <a:buNone/>
            </a:pPr>
            <a:r>
              <a:rPr lang="en-US" sz="1600" dirty="0">
                <a:solidFill>
                  <a:srgbClr val="64737A"/>
                </a:solidFill>
              </a:rPr>
              <a:t>In this course we will mostly use two-sided tests, but the supermarket question is naturally right-sided.</a:t>
            </a:r>
            <a:endParaRPr lang="en-US" sz="16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HYPOTHESIS TESTING</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A five-step routine</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914400" y="1234440"/>
            <a:ext cx="502920" cy="502920"/>
          </a:xfrm>
          <a:prstGeom prst="ellipse">
            <a:avLst/>
          </a:prstGeom>
          <a:solidFill>
            <a:srgbClr val="20B4D6"/>
          </a:solidFill>
          <a:ln w="12700">
            <a:solidFill>
              <a:srgbClr val="20B4D6"/>
            </a:solidFill>
            <a:prstDash val="solid"/>
          </a:ln>
        </p:spPr>
        <p:txBody>
          <a:bodyPr/>
          <a:lstStyle/>
          <a:p>
            <a:endParaRPr lang="en-GB"/>
          </a:p>
        </p:txBody>
      </p:sp>
      <p:sp>
        <p:nvSpPr>
          <p:cNvPr id="6" name="Text 4"/>
          <p:cNvSpPr/>
          <p:nvPr/>
        </p:nvSpPr>
        <p:spPr>
          <a:xfrm>
            <a:off x="914400" y="1307592"/>
            <a:ext cx="502920" cy="22860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1691640" y="1261872"/>
            <a:ext cx="7863840" cy="411480"/>
          </a:xfrm>
          <a:prstGeom prst="rect">
            <a:avLst/>
          </a:prstGeom>
          <a:noFill/>
          <a:ln/>
        </p:spPr>
        <p:txBody>
          <a:bodyPr wrap="square" lIns="0" tIns="0" rIns="0" bIns="0" rtlCol="0" anchor="ctr"/>
          <a:lstStyle/>
          <a:p>
            <a:pPr marL="0" indent="0">
              <a:buNone/>
            </a:pPr>
            <a:r>
              <a:rPr lang="en-US" sz="2000" dirty="0">
                <a:solidFill>
                  <a:srgbClr val="1F2D33"/>
                </a:solidFill>
              </a:rPr>
              <a:t>State </a:t>
            </a:r>
            <a:r>
              <a:rPr lang="en-US" sz="2000" i="1" dirty="0">
                <a:solidFill>
                  <a:srgbClr val="1F2D33"/>
                </a:solidFill>
              </a:rPr>
              <a:t>H₀ </a:t>
            </a:r>
            <a:r>
              <a:rPr lang="en-US" sz="2000" dirty="0">
                <a:solidFill>
                  <a:srgbClr val="1F2D33"/>
                </a:solidFill>
              </a:rPr>
              <a:t>and </a:t>
            </a:r>
            <a:r>
              <a:rPr lang="en-US" sz="2000" i="1" dirty="0">
                <a:solidFill>
                  <a:srgbClr val="1F2D33"/>
                </a:solidFill>
              </a:rPr>
              <a:t>H₁</a:t>
            </a:r>
            <a:endParaRPr lang="en-US" sz="2000" i="1" dirty="0"/>
          </a:p>
        </p:txBody>
      </p:sp>
      <p:sp>
        <p:nvSpPr>
          <p:cNvPr id="8" name="Shape 6"/>
          <p:cNvSpPr/>
          <p:nvPr/>
        </p:nvSpPr>
        <p:spPr>
          <a:xfrm>
            <a:off x="914400" y="2112264"/>
            <a:ext cx="502920" cy="502920"/>
          </a:xfrm>
          <a:prstGeom prst="ellipse">
            <a:avLst/>
          </a:prstGeom>
          <a:solidFill>
            <a:srgbClr val="20B4D6"/>
          </a:solidFill>
          <a:ln w="12700">
            <a:solidFill>
              <a:srgbClr val="20B4D6"/>
            </a:solidFill>
            <a:prstDash val="solid"/>
          </a:ln>
        </p:spPr>
        <p:txBody>
          <a:bodyPr/>
          <a:lstStyle/>
          <a:p>
            <a:endParaRPr lang="en-GB"/>
          </a:p>
        </p:txBody>
      </p:sp>
      <p:sp>
        <p:nvSpPr>
          <p:cNvPr id="9" name="Text 7"/>
          <p:cNvSpPr/>
          <p:nvPr/>
        </p:nvSpPr>
        <p:spPr>
          <a:xfrm>
            <a:off x="914400" y="2185416"/>
            <a:ext cx="502920" cy="22860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0" name="Text 8"/>
          <p:cNvSpPr/>
          <p:nvPr/>
        </p:nvSpPr>
        <p:spPr>
          <a:xfrm>
            <a:off x="1691640" y="2139696"/>
            <a:ext cx="7863840" cy="411480"/>
          </a:xfrm>
          <a:prstGeom prst="rect">
            <a:avLst/>
          </a:prstGeom>
          <a:noFill/>
          <a:ln/>
        </p:spPr>
        <p:txBody>
          <a:bodyPr wrap="square" lIns="0" tIns="0" rIns="0" bIns="0" rtlCol="0" anchor="ctr"/>
          <a:lstStyle/>
          <a:p>
            <a:pPr marL="0" indent="0">
              <a:buNone/>
            </a:pPr>
            <a:r>
              <a:rPr lang="en-US" sz="2000" dirty="0">
                <a:solidFill>
                  <a:srgbClr val="1F2D33"/>
                </a:solidFill>
              </a:rPr>
              <a:t>Calculate the test statistic</a:t>
            </a:r>
            <a:endParaRPr lang="en-US" sz="2000" dirty="0"/>
          </a:p>
        </p:txBody>
      </p:sp>
      <p:sp>
        <p:nvSpPr>
          <p:cNvPr id="11" name="Shape 9"/>
          <p:cNvSpPr/>
          <p:nvPr/>
        </p:nvSpPr>
        <p:spPr>
          <a:xfrm>
            <a:off x="914400" y="2990088"/>
            <a:ext cx="502920" cy="502920"/>
          </a:xfrm>
          <a:prstGeom prst="ellipse">
            <a:avLst/>
          </a:prstGeom>
          <a:solidFill>
            <a:srgbClr val="20B4D6"/>
          </a:solidFill>
          <a:ln w="12700">
            <a:solidFill>
              <a:srgbClr val="20B4D6"/>
            </a:solidFill>
            <a:prstDash val="solid"/>
          </a:ln>
        </p:spPr>
        <p:txBody>
          <a:bodyPr/>
          <a:lstStyle/>
          <a:p>
            <a:endParaRPr lang="en-GB"/>
          </a:p>
        </p:txBody>
      </p:sp>
      <p:sp>
        <p:nvSpPr>
          <p:cNvPr id="12" name="Text 10"/>
          <p:cNvSpPr/>
          <p:nvPr/>
        </p:nvSpPr>
        <p:spPr>
          <a:xfrm>
            <a:off x="914400" y="3063240"/>
            <a:ext cx="502920" cy="22860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mc:AlternateContent xmlns:mc="http://schemas.openxmlformats.org/markup-compatibility/2006">
        <mc:Choice xmlns:a14="http://schemas.microsoft.com/office/drawing/2010/main" Requires="a14">
          <p:sp>
            <p:nvSpPr>
              <p:cNvPr id="13" name="Text 11"/>
              <p:cNvSpPr/>
              <p:nvPr/>
            </p:nvSpPr>
            <p:spPr>
              <a:xfrm>
                <a:off x="1691640" y="3017520"/>
                <a:ext cx="7863840" cy="411480"/>
              </a:xfrm>
              <a:prstGeom prst="rect">
                <a:avLst/>
              </a:prstGeom>
              <a:noFill/>
              <a:ln/>
            </p:spPr>
            <p:txBody>
              <a:bodyPr wrap="square" lIns="0" tIns="0" rIns="0" bIns="0" rtlCol="0" anchor="ctr"/>
              <a:lstStyle/>
              <a:p>
                <a:pPr marL="0" indent="0">
                  <a:buNone/>
                </a:pPr>
                <a:r>
                  <a:rPr lang="en-US" sz="2000" dirty="0">
                    <a:solidFill>
                      <a:srgbClr val="1F2D33"/>
                    </a:solidFill>
                  </a:rPr>
                  <a:t>Choose </a:t>
                </a:r>
                <a14:m>
                  <m:oMath xmlns:m="http://schemas.openxmlformats.org/officeDocument/2006/math">
                    <m:r>
                      <a:rPr lang="en-US" sz="2000" i="1" smtClean="0">
                        <a:solidFill>
                          <a:srgbClr val="1F2D33"/>
                        </a:solidFill>
                        <a:latin typeface="Cambria Math" panose="02040503050406030204" pitchFamily="18" charset="0"/>
                        <a:ea typeface="Cambria Math" panose="02040503050406030204" pitchFamily="18" charset="0"/>
                      </a:rPr>
                      <m:t>∝</m:t>
                    </m:r>
                  </m:oMath>
                </a14:m>
                <a:r>
                  <a:rPr lang="en-US" sz="2000" dirty="0">
                    <a:solidFill>
                      <a:srgbClr val="1F2D33"/>
                    </a:solidFill>
                  </a:rPr>
                  <a:t> and the relevant tail(s)</a:t>
                </a:r>
                <a:endParaRPr lang="en-US" sz="2000" dirty="0"/>
              </a:p>
            </p:txBody>
          </p:sp>
        </mc:Choice>
        <mc:Fallback>
          <p:sp>
            <p:nvSpPr>
              <p:cNvPr id="13" name="Text 11"/>
              <p:cNvSpPr>
                <a:spLocks noRot="1" noChangeAspect="1" noMove="1" noResize="1" noEditPoints="1" noAdjustHandles="1" noChangeArrowheads="1" noChangeShapeType="1" noTextEdit="1"/>
              </p:cNvSpPr>
              <p:nvPr/>
            </p:nvSpPr>
            <p:spPr>
              <a:xfrm>
                <a:off x="1691640" y="3017520"/>
                <a:ext cx="7863840" cy="411480"/>
              </a:xfrm>
              <a:prstGeom prst="rect">
                <a:avLst/>
              </a:prstGeom>
              <a:blipFill>
                <a:blip r:embed="rId3"/>
                <a:stretch>
                  <a:fillRect l="-2016" t="-4412" b="-25000"/>
                </a:stretch>
              </a:blipFill>
              <a:ln/>
            </p:spPr>
            <p:txBody>
              <a:bodyPr/>
              <a:lstStyle/>
              <a:p>
                <a:r>
                  <a:rPr lang="en-GB">
                    <a:noFill/>
                  </a:rPr>
                  <a:t> </a:t>
                </a:r>
              </a:p>
            </p:txBody>
          </p:sp>
        </mc:Fallback>
      </mc:AlternateContent>
      <p:sp>
        <p:nvSpPr>
          <p:cNvPr id="14" name="Shape 12"/>
          <p:cNvSpPr/>
          <p:nvPr/>
        </p:nvSpPr>
        <p:spPr>
          <a:xfrm>
            <a:off x="914400" y="3867912"/>
            <a:ext cx="502920" cy="502920"/>
          </a:xfrm>
          <a:prstGeom prst="ellipse">
            <a:avLst/>
          </a:prstGeom>
          <a:solidFill>
            <a:srgbClr val="20B4D6"/>
          </a:solidFill>
          <a:ln w="12700">
            <a:solidFill>
              <a:srgbClr val="20B4D6"/>
            </a:solidFill>
            <a:prstDash val="solid"/>
          </a:ln>
        </p:spPr>
        <p:txBody>
          <a:bodyPr/>
          <a:lstStyle/>
          <a:p>
            <a:endParaRPr lang="en-GB"/>
          </a:p>
        </p:txBody>
      </p:sp>
      <p:sp>
        <p:nvSpPr>
          <p:cNvPr id="15" name="Text 13"/>
          <p:cNvSpPr/>
          <p:nvPr/>
        </p:nvSpPr>
        <p:spPr>
          <a:xfrm>
            <a:off x="914400" y="3941064"/>
            <a:ext cx="502920" cy="22860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16" name="Text 14"/>
          <p:cNvSpPr/>
          <p:nvPr/>
        </p:nvSpPr>
        <p:spPr>
          <a:xfrm>
            <a:off x="1691640" y="3895344"/>
            <a:ext cx="7863840" cy="411480"/>
          </a:xfrm>
          <a:prstGeom prst="rect">
            <a:avLst/>
          </a:prstGeom>
          <a:noFill/>
          <a:ln/>
        </p:spPr>
        <p:txBody>
          <a:bodyPr wrap="square" lIns="0" tIns="0" rIns="0" bIns="0" rtlCol="0" anchor="ctr"/>
          <a:lstStyle/>
          <a:p>
            <a:pPr marL="0" indent="0">
              <a:buNone/>
            </a:pPr>
            <a:r>
              <a:rPr lang="en-US" sz="2000" dirty="0">
                <a:solidFill>
                  <a:srgbClr val="1F2D33"/>
                </a:solidFill>
              </a:rPr>
              <a:t>Compare with a critical value or p-value</a:t>
            </a:r>
            <a:endParaRPr lang="en-US" sz="2000" dirty="0"/>
          </a:p>
        </p:txBody>
      </p:sp>
      <p:sp>
        <p:nvSpPr>
          <p:cNvPr id="17" name="Shape 15"/>
          <p:cNvSpPr/>
          <p:nvPr/>
        </p:nvSpPr>
        <p:spPr>
          <a:xfrm>
            <a:off x="914400" y="4745736"/>
            <a:ext cx="502920" cy="502920"/>
          </a:xfrm>
          <a:prstGeom prst="ellipse">
            <a:avLst/>
          </a:prstGeom>
          <a:solidFill>
            <a:srgbClr val="D71920"/>
          </a:solidFill>
          <a:ln w="12700">
            <a:solidFill>
              <a:srgbClr val="D71920"/>
            </a:solidFill>
            <a:prstDash val="solid"/>
          </a:ln>
        </p:spPr>
        <p:txBody>
          <a:bodyPr/>
          <a:lstStyle/>
          <a:p>
            <a:endParaRPr lang="en-GB"/>
          </a:p>
        </p:txBody>
      </p:sp>
      <p:sp>
        <p:nvSpPr>
          <p:cNvPr id="18" name="Text 16"/>
          <p:cNvSpPr/>
          <p:nvPr/>
        </p:nvSpPr>
        <p:spPr>
          <a:xfrm>
            <a:off x="914400" y="4818888"/>
            <a:ext cx="502920" cy="22860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19" name="Text 17"/>
          <p:cNvSpPr/>
          <p:nvPr/>
        </p:nvSpPr>
        <p:spPr>
          <a:xfrm>
            <a:off x="1691640" y="4773168"/>
            <a:ext cx="7863840" cy="411480"/>
          </a:xfrm>
          <a:prstGeom prst="rect">
            <a:avLst/>
          </a:prstGeom>
          <a:noFill/>
          <a:ln/>
        </p:spPr>
        <p:txBody>
          <a:bodyPr wrap="square" lIns="0" tIns="0" rIns="0" bIns="0" rtlCol="0" anchor="ctr"/>
          <a:lstStyle/>
          <a:p>
            <a:pPr marL="0" indent="0">
              <a:buNone/>
            </a:pPr>
            <a:r>
              <a:rPr lang="en-US" sz="2000" b="1" dirty="0">
                <a:solidFill>
                  <a:srgbClr val="D71920"/>
                </a:solidFill>
              </a:rPr>
              <a:t>State the conclusion in context</a:t>
            </a:r>
            <a:endParaRPr lang="en-US" sz="2000" dirty="0"/>
          </a:p>
        </p:txBody>
      </p:sp>
      <p:sp>
        <p:nvSpPr>
          <p:cNvPr id="20" name="Text 18"/>
          <p:cNvSpPr/>
          <p:nvPr/>
        </p:nvSpPr>
        <p:spPr>
          <a:xfrm>
            <a:off x="7132320" y="5074920"/>
            <a:ext cx="3291840" cy="868680"/>
          </a:xfrm>
          <a:prstGeom prst="rect">
            <a:avLst/>
          </a:prstGeom>
          <a:noFill/>
          <a:ln/>
        </p:spPr>
        <p:txBody>
          <a:bodyPr wrap="square" lIns="381" tIns="381" rIns="381" bIns="381" rtlCol="0" anchor="ctr"/>
          <a:lstStyle/>
          <a:p>
            <a:pPr marL="0" indent="0" algn="ctr">
              <a:buNone/>
            </a:pPr>
            <a:r>
              <a:rPr lang="en-US" sz="1600" b="1" dirty="0">
                <a:solidFill>
                  <a:srgbClr val="00566B"/>
                </a:solidFill>
              </a:rPr>
              <a:t>The last step should use words from the economic question — not only H₀, H₁, and Greek letters.</a:t>
            </a:r>
            <a:endParaRPr lang="en-US" sz="16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Α = 0.05 VERSUS Α = 0.01</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Food example: same evidence, two thresholds</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914400" y="1325880"/>
            <a:ext cx="4023360" cy="685800"/>
          </a:xfrm>
          <a:prstGeom prst="roundRect">
            <a:avLst>
              <a:gd name="adj" fmla="val 8000"/>
            </a:avLst>
          </a:prstGeom>
          <a:solidFill>
            <a:srgbClr val="DDF4F9"/>
          </a:solidFill>
          <a:ln w="12700">
            <a:solidFill>
              <a:srgbClr val="DDF4F9"/>
            </a:solidFill>
            <a:prstDash val="solid"/>
          </a:ln>
        </p:spPr>
        <p:txBody>
          <a:bodyPr/>
          <a:lstStyle/>
          <a:p>
            <a:endParaRPr lang="en-GB"/>
          </a:p>
        </p:txBody>
      </p:sp>
      <p:sp>
        <p:nvSpPr>
          <p:cNvPr id="6" name="Text 4"/>
          <p:cNvSpPr/>
          <p:nvPr/>
        </p:nvSpPr>
        <p:spPr>
          <a:xfrm>
            <a:off x="1024128" y="1389888"/>
            <a:ext cx="3803904" cy="557784"/>
          </a:xfrm>
          <a:prstGeom prst="rect">
            <a:avLst/>
          </a:prstGeom>
          <a:noFill/>
          <a:ln/>
        </p:spPr>
        <p:txBody>
          <a:bodyPr wrap="square" lIns="254" tIns="254" rIns="254" bIns="254" rtlCol="0" anchor="ctr">
            <a:normAutofit/>
          </a:bodyPr>
          <a:lstStyle/>
          <a:p>
            <a:pPr marL="0" indent="0" algn="ctr">
              <a:buNone/>
            </a:pPr>
            <a:r>
              <a:rPr lang="en-US" sz="2500" b="1" dirty="0">
                <a:solidFill>
                  <a:srgbClr val="00566B"/>
                </a:solidFill>
                <a:latin typeface="Cambria Math" pitchFamily="34" charset="0"/>
                <a:ea typeface="Cambria Math" pitchFamily="34" charset="-122"/>
                <a:cs typeface="Cambria Math" pitchFamily="34" charset="-120"/>
              </a:rPr>
              <a:t>t = 2.25     df = 38</a:t>
            </a:r>
            <a:endParaRPr lang="en-US" sz="2500" dirty="0"/>
          </a:p>
        </p:txBody>
      </p:sp>
      <p:sp>
        <p:nvSpPr>
          <p:cNvPr id="7" name="Shape 5"/>
          <p:cNvSpPr/>
          <p:nvPr/>
        </p:nvSpPr>
        <p:spPr>
          <a:xfrm>
            <a:off x="914400" y="2423160"/>
            <a:ext cx="4114800" cy="2148840"/>
          </a:xfrm>
          <a:prstGeom prst="roundRect">
            <a:avLst>
              <a:gd name="adj" fmla="val 3404"/>
            </a:avLst>
          </a:prstGeom>
          <a:solidFill>
            <a:srgbClr val="EFF9FB"/>
          </a:solidFill>
          <a:ln w="12700">
            <a:solidFill>
              <a:srgbClr val="EFF9FB"/>
            </a:solidFill>
            <a:prstDash val="solid"/>
          </a:ln>
        </p:spPr>
        <p:txBody>
          <a:bodyPr/>
          <a:lstStyle/>
          <a:p>
            <a:endParaRPr lang="en-GB"/>
          </a:p>
        </p:txBody>
      </p:sp>
      <p:sp>
        <p:nvSpPr>
          <p:cNvPr id="8" name="Text 6"/>
          <p:cNvSpPr/>
          <p:nvPr/>
        </p:nvSpPr>
        <p:spPr>
          <a:xfrm>
            <a:off x="1078992" y="2560320"/>
            <a:ext cx="3785616" cy="292608"/>
          </a:xfrm>
          <a:prstGeom prst="rect">
            <a:avLst/>
          </a:prstGeom>
          <a:noFill/>
          <a:ln/>
        </p:spPr>
        <p:txBody>
          <a:bodyPr wrap="square" lIns="0" tIns="0" rIns="0" bIns="0" rtlCol="0" anchor="ctr"/>
          <a:lstStyle/>
          <a:p>
            <a:pPr marL="0" indent="0" algn="ctr">
              <a:buNone/>
            </a:pPr>
            <a:r>
              <a:rPr lang="en-US" sz="1600" b="1" dirty="0">
                <a:solidFill>
                  <a:srgbClr val="00566B"/>
                </a:solidFill>
              </a:rPr>
              <a:t>α = 0.05</a:t>
            </a:r>
            <a:endParaRPr lang="en-US" sz="1600" dirty="0"/>
          </a:p>
        </p:txBody>
      </p:sp>
      <p:sp>
        <p:nvSpPr>
          <p:cNvPr id="9" name="Text 7"/>
          <p:cNvSpPr/>
          <p:nvPr/>
        </p:nvSpPr>
        <p:spPr>
          <a:xfrm>
            <a:off x="1078992" y="2953512"/>
            <a:ext cx="3785616" cy="1463040"/>
          </a:xfrm>
          <a:prstGeom prst="rect">
            <a:avLst/>
          </a:prstGeom>
          <a:noFill/>
          <a:ln/>
        </p:spPr>
        <p:txBody>
          <a:bodyPr wrap="square" lIns="254" tIns="254" rIns="254" bIns="254" rtlCol="0" anchor="ctr"/>
          <a:lstStyle/>
          <a:p>
            <a:pPr marL="0" indent="0" algn="ctr">
              <a:buNone/>
            </a:pPr>
            <a:r>
              <a:rPr lang="en-US" sz="1400" dirty="0">
                <a:solidFill>
                  <a:srgbClr val="1F2D33"/>
                </a:solidFill>
              </a:rPr>
              <a:t>Critical t ≈ 1.686</a:t>
            </a:r>
            <a:endParaRPr lang="en-US" sz="1400" dirty="0"/>
          </a:p>
          <a:p>
            <a:pPr marL="0" indent="0" algn="ctr">
              <a:buNone/>
            </a:pPr>
            <a:r>
              <a:rPr lang="en-US" sz="1400" dirty="0">
                <a:solidFill>
                  <a:srgbClr val="1F2D33"/>
                </a:solidFill>
              </a:rPr>
              <a:t>2.25 &gt; 1.686</a:t>
            </a:r>
            <a:endParaRPr lang="en-US" sz="1400" dirty="0"/>
          </a:p>
          <a:p>
            <a:pPr marL="0" indent="0" algn="ctr">
              <a:buNone/>
            </a:pPr>
            <a:endParaRPr lang="en-US" sz="1400" dirty="0"/>
          </a:p>
          <a:p>
            <a:pPr marL="0" indent="0" algn="ctr">
              <a:buNone/>
            </a:pPr>
            <a:r>
              <a:rPr lang="en-US" sz="1400" dirty="0">
                <a:solidFill>
                  <a:srgbClr val="1F2D33"/>
                </a:solidFill>
              </a:rPr>
              <a:t>Reject H₀</a:t>
            </a:r>
            <a:endParaRPr lang="en-US" sz="1400" dirty="0"/>
          </a:p>
        </p:txBody>
      </p:sp>
      <p:sp>
        <p:nvSpPr>
          <p:cNvPr id="10" name="Shape 8"/>
          <p:cNvSpPr/>
          <p:nvPr/>
        </p:nvSpPr>
        <p:spPr>
          <a:xfrm>
            <a:off x="6126480" y="2423160"/>
            <a:ext cx="4114800" cy="2148840"/>
          </a:xfrm>
          <a:prstGeom prst="roundRect">
            <a:avLst>
              <a:gd name="adj" fmla="val 3404"/>
            </a:avLst>
          </a:prstGeom>
          <a:solidFill>
            <a:srgbClr val="FFF1F2"/>
          </a:solidFill>
          <a:ln w="12700">
            <a:solidFill>
              <a:srgbClr val="FFF1F2"/>
            </a:solidFill>
            <a:prstDash val="solid"/>
          </a:ln>
        </p:spPr>
        <p:txBody>
          <a:bodyPr/>
          <a:lstStyle/>
          <a:p>
            <a:endParaRPr lang="en-GB"/>
          </a:p>
        </p:txBody>
      </p:sp>
      <p:sp>
        <p:nvSpPr>
          <p:cNvPr id="11" name="Text 9"/>
          <p:cNvSpPr/>
          <p:nvPr/>
        </p:nvSpPr>
        <p:spPr>
          <a:xfrm>
            <a:off x="6291072" y="2560320"/>
            <a:ext cx="3785616" cy="292608"/>
          </a:xfrm>
          <a:prstGeom prst="rect">
            <a:avLst/>
          </a:prstGeom>
          <a:noFill/>
          <a:ln/>
        </p:spPr>
        <p:txBody>
          <a:bodyPr wrap="square" lIns="0" tIns="0" rIns="0" bIns="0" rtlCol="0" anchor="ctr"/>
          <a:lstStyle/>
          <a:p>
            <a:pPr marL="0" indent="0" algn="ctr">
              <a:buNone/>
            </a:pPr>
            <a:r>
              <a:rPr lang="en-US" sz="1600" b="1" dirty="0">
                <a:solidFill>
                  <a:srgbClr val="D71920"/>
                </a:solidFill>
              </a:rPr>
              <a:t>α = 0.01</a:t>
            </a:r>
            <a:endParaRPr lang="en-US" sz="1600" dirty="0"/>
          </a:p>
        </p:txBody>
      </p:sp>
      <p:sp>
        <p:nvSpPr>
          <p:cNvPr id="12" name="Text 10"/>
          <p:cNvSpPr/>
          <p:nvPr/>
        </p:nvSpPr>
        <p:spPr>
          <a:xfrm>
            <a:off x="6291072" y="2953512"/>
            <a:ext cx="3785616" cy="1463040"/>
          </a:xfrm>
          <a:prstGeom prst="rect">
            <a:avLst/>
          </a:prstGeom>
          <a:noFill/>
          <a:ln/>
        </p:spPr>
        <p:txBody>
          <a:bodyPr wrap="square" lIns="254" tIns="254" rIns="254" bIns="254" rtlCol="0" anchor="ctr"/>
          <a:lstStyle/>
          <a:p>
            <a:pPr marL="0" indent="0" algn="ctr">
              <a:buNone/>
            </a:pPr>
            <a:r>
              <a:rPr lang="en-US" sz="1400" dirty="0">
                <a:solidFill>
                  <a:srgbClr val="1F2D33"/>
                </a:solidFill>
              </a:rPr>
              <a:t>Critical t ≈ 2.429</a:t>
            </a:r>
            <a:endParaRPr lang="en-US" sz="1400" dirty="0"/>
          </a:p>
          <a:p>
            <a:pPr marL="0" indent="0" algn="ctr">
              <a:buNone/>
            </a:pPr>
            <a:r>
              <a:rPr lang="en-US" sz="1400" dirty="0">
                <a:solidFill>
                  <a:srgbClr val="1F2D33"/>
                </a:solidFill>
              </a:rPr>
              <a:t>2.25 &lt; 2.429</a:t>
            </a:r>
            <a:endParaRPr lang="en-US" sz="1400" dirty="0"/>
          </a:p>
          <a:p>
            <a:pPr marL="0" indent="0" algn="ctr">
              <a:buNone/>
            </a:pPr>
            <a:endParaRPr lang="en-US" sz="1400" dirty="0"/>
          </a:p>
          <a:p>
            <a:pPr marL="0" indent="0" algn="ctr">
              <a:buNone/>
            </a:pPr>
            <a:r>
              <a:rPr lang="en-US" sz="1400" dirty="0">
                <a:solidFill>
                  <a:srgbClr val="1F2D33"/>
                </a:solidFill>
              </a:rPr>
              <a:t>Fail to reject H₀</a:t>
            </a:r>
            <a:endParaRPr lang="en-US" sz="1400" dirty="0"/>
          </a:p>
        </p:txBody>
      </p:sp>
      <p:sp>
        <p:nvSpPr>
          <p:cNvPr id="13" name="Text 11"/>
          <p:cNvSpPr/>
          <p:nvPr/>
        </p:nvSpPr>
        <p:spPr>
          <a:xfrm>
            <a:off x="1280160" y="5166360"/>
            <a:ext cx="8686800" cy="502920"/>
          </a:xfrm>
          <a:prstGeom prst="rect">
            <a:avLst/>
          </a:prstGeom>
          <a:noFill/>
          <a:ln/>
        </p:spPr>
        <p:txBody>
          <a:bodyPr wrap="square" lIns="0" tIns="0" rIns="0" bIns="0" rtlCol="0" anchor="ctr"/>
          <a:lstStyle/>
          <a:p>
            <a:pPr marL="0" indent="0" algn="ctr">
              <a:buNone/>
            </a:pPr>
            <a:r>
              <a:rPr lang="en-US" sz="2000" b="1" dirty="0">
                <a:solidFill>
                  <a:srgbClr val="1F2D33"/>
                </a:solidFill>
              </a:rPr>
              <a:t>The data did not change. The standard for how unusual the evidence must be changed.</a:t>
            </a:r>
            <a:endParaRPr lang="en-US" sz="20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P-VALUE</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The p-value asks how unusual our result is under H₀</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pic>
        <p:nvPicPr>
          <p:cNvPr id="5" name="Image 0" descr="/mnt/data/ch3_figs/pvalue_right.png"/>
          <p:cNvPicPr>
            <a:picLocks noChangeAspect="1"/>
          </p:cNvPicPr>
          <p:nvPr/>
        </p:nvPicPr>
        <p:blipFill>
          <a:blip r:embed="rId3"/>
          <a:stretch>
            <a:fillRect/>
          </a:stretch>
        </p:blipFill>
        <p:spPr>
          <a:xfrm>
            <a:off x="822960" y="1325880"/>
            <a:ext cx="6949440" cy="3794760"/>
          </a:xfrm>
          <a:prstGeom prst="rect">
            <a:avLst/>
          </a:prstGeom>
        </p:spPr>
      </p:pic>
      <p:sp>
        <p:nvSpPr>
          <p:cNvPr id="6" name="Shape 3"/>
          <p:cNvSpPr/>
          <p:nvPr/>
        </p:nvSpPr>
        <p:spPr>
          <a:xfrm>
            <a:off x="7955280" y="1645920"/>
            <a:ext cx="2834640" cy="685800"/>
          </a:xfrm>
          <a:prstGeom prst="roundRect">
            <a:avLst>
              <a:gd name="adj" fmla="val 8000"/>
            </a:avLst>
          </a:prstGeom>
          <a:solidFill>
            <a:srgbClr val="DDF4F9"/>
          </a:solidFill>
          <a:ln w="12700">
            <a:solidFill>
              <a:srgbClr val="DDF4F9"/>
            </a:solidFill>
            <a:prstDash val="solid"/>
          </a:ln>
        </p:spPr>
        <p:txBody>
          <a:bodyPr/>
          <a:lstStyle/>
          <a:p>
            <a:endParaRPr lang="en-GB"/>
          </a:p>
        </p:txBody>
      </p:sp>
      <mc:AlternateContent xmlns:mc="http://schemas.openxmlformats.org/markup-compatibility/2006">
        <mc:Choice xmlns:a14="http://schemas.microsoft.com/office/drawing/2010/main" Requires="a14">
          <p:sp>
            <p:nvSpPr>
              <p:cNvPr id="7" name="Text 4"/>
              <p:cNvSpPr/>
              <p:nvPr/>
            </p:nvSpPr>
            <p:spPr>
              <a:xfrm>
                <a:off x="8065008" y="1709928"/>
                <a:ext cx="2615184" cy="557784"/>
              </a:xfrm>
              <a:prstGeom prst="rect">
                <a:avLst/>
              </a:prstGeom>
              <a:noFill/>
              <a:ln/>
            </p:spPr>
            <p:txBody>
              <a:bodyPr wrap="square" lIns="254" tIns="254" rIns="254" bIns="254" rtlCol="0" anchor="ctr">
                <a:normAutofit/>
              </a:bodyPr>
              <a:lstStyle/>
              <a:p>
                <a:pPr marL="0" indent="0" algn="ctr">
                  <a:buNone/>
                </a:pPr>
                <a14:m>
                  <m:oMathPara xmlns:m="http://schemas.openxmlformats.org/officeDocument/2006/math">
                    <m:oMath>
                      <m:r>
                        <a:rPr lang="nb-NO" sz="1900" b="1" i="1" smtClean="0">
                          <a:solidFill>
                            <a:srgbClr val="00566B"/>
                          </a:solidFill>
                          <a:latin typeface="Cambria Math" panose="02040503050406030204" pitchFamily="18" charset="0"/>
                          <a:ea typeface="Cambria Math" pitchFamily="34" charset="-122"/>
                          <a:cs typeface="Cambria Math" pitchFamily="34" charset="-120"/>
                        </a:rPr>
                        <m:t>𝒑</m:t>
                      </m:r>
                      <m:r>
                        <a:rPr lang="nb-NO" sz="1900" b="1" i="1" smtClean="0">
                          <a:solidFill>
                            <a:srgbClr val="00566B"/>
                          </a:solidFill>
                          <a:latin typeface="Cambria Math" panose="02040503050406030204" pitchFamily="18" charset="0"/>
                          <a:ea typeface="Cambria Math" pitchFamily="34" charset="-122"/>
                          <a:cs typeface="Cambria Math" pitchFamily="34" charset="-120"/>
                        </a:rPr>
                        <m:t>=</m:t>
                      </m:r>
                      <m:r>
                        <a:rPr lang="nb-NO" sz="1900" b="1" i="1" smtClean="0">
                          <a:solidFill>
                            <a:srgbClr val="00566B"/>
                          </a:solidFill>
                          <a:latin typeface="Cambria Math" panose="02040503050406030204" pitchFamily="18" charset="0"/>
                          <a:ea typeface="Cambria Math" pitchFamily="34" charset="-122"/>
                          <a:cs typeface="Cambria Math" pitchFamily="34" charset="-120"/>
                        </a:rPr>
                        <m:t>𝑷</m:t>
                      </m:r>
                      <m:r>
                        <a:rPr lang="nb-NO" sz="1900" b="1" i="1" smtClean="0">
                          <a:solidFill>
                            <a:srgbClr val="00566B"/>
                          </a:solidFill>
                          <a:latin typeface="Cambria Math" panose="02040503050406030204" pitchFamily="18" charset="0"/>
                          <a:ea typeface="Cambria Math" pitchFamily="34" charset="-122"/>
                          <a:cs typeface="Cambria Math" pitchFamily="34" charset="-120"/>
                        </a:rPr>
                        <m:t>(</m:t>
                      </m:r>
                      <m:r>
                        <a:rPr lang="nb-NO" sz="1900" b="1" i="1" smtClean="0">
                          <a:solidFill>
                            <a:srgbClr val="00566B"/>
                          </a:solidFill>
                          <a:latin typeface="Cambria Math" panose="02040503050406030204" pitchFamily="18" charset="0"/>
                          <a:ea typeface="Cambria Math" pitchFamily="34" charset="-122"/>
                          <a:cs typeface="Cambria Math" pitchFamily="34" charset="-120"/>
                        </a:rPr>
                        <m:t>𝒕</m:t>
                      </m:r>
                      <m:r>
                        <a:rPr lang="nb-NO" sz="1900" b="1" i="1" smtClean="0">
                          <a:solidFill>
                            <a:srgbClr val="00566B"/>
                          </a:solidFill>
                          <a:latin typeface="Cambria Math" panose="02040503050406030204" pitchFamily="18" charset="0"/>
                          <a:ea typeface="Cambria Math" panose="02040503050406030204" pitchFamily="18" charset="0"/>
                          <a:cs typeface="Cambria Math" pitchFamily="34" charset="-120"/>
                        </a:rPr>
                        <m:t>≥</m:t>
                      </m:r>
                      <m:r>
                        <a:rPr lang="nb-NO" sz="1900" b="1" i="1" smtClean="0">
                          <a:solidFill>
                            <a:srgbClr val="00566B"/>
                          </a:solidFill>
                          <a:latin typeface="Cambria Math" panose="02040503050406030204" pitchFamily="18" charset="0"/>
                          <a:ea typeface="Cambria Math" panose="02040503050406030204" pitchFamily="18" charset="0"/>
                          <a:cs typeface="Cambria Math" pitchFamily="34" charset="-120"/>
                        </a:rPr>
                        <m:t>𝟐</m:t>
                      </m:r>
                      <m:r>
                        <a:rPr lang="nb-NO" sz="1900" b="1" i="1" smtClean="0">
                          <a:solidFill>
                            <a:srgbClr val="00566B"/>
                          </a:solidFill>
                          <a:latin typeface="Cambria Math" panose="02040503050406030204" pitchFamily="18" charset="0"/>
                          <a:ea typeface="Cambria Math" panose="02040503050406030204" pitchFamily="18" charset="0"/>
                          <a:cs typeface="Cambria Math" pitchFamily="34" charset="-120"/>
                        </a:rPr>
                        <m:t>.</m:t>
                      </m:r>
                      <m:r>
                        <a:rPr lang="nb-NO" sz="1900" b="1" i="1" smtClean="0">
                          <a:solidFill>
                            <a:srgbClr val="00566B"/>
                          </a:solidFill>
                          <a:latin typeface="Cambria Math" panose="02040503050406030204" pitchFamily="18" charset="0"/>
                          <a:ea typeface="Cambria Math" panose="02040503050406030204" pitchFamily="18" charset="0"/>
                          <a:cs typeface="Cambria Math" pitchFamily="34" charset="-120"/>
                        </a:rPr>
                        <m:t>𝟐𝟓</m:t>
                      </m:r>
                      <m:r>
                        <a:rPr lang="nb-NO" sz="1900" b="1" i="1" smtClean="0">
                          <a:solidFill>
                            <a:srgbClr val="00566B"/>
                          </a:solidFill>
                          <a:latin typeface="Cambria Math" panose="02040503050406030204" pitchFamily="18" charset="0"/>
                          <a:ea typeface="Cambria Math" panose="02040503050406030204" pitchFamily="18" charset="0"/>
                          <a:cs typeface="Cambria Math" pitchFamily="34" charset="-120"/>
                        </a:rPr>
                        <m:t>|</m:t>
                      </m:r>
                      <m:sSub>
                        <m:sSubPr>
                          <m:ctrlPr>
                            <a:rPr lang="nb-NO" sz="1900" b="1" i="1" smtClean="0">
                              <a:solidFill>
                                <a:srgbClr val="00566B"/>
                              </a:solidFill>
                              <a:latin typeface="Cambria Math" panose="02040503050406030204" pitchFamily="18" charset="0"/>
                              <a:ea typeface="Cambria Math" panose="02040503050406030204" pitchFamily="18" charset="0"/>
                            </a:rPr>
                          </m:ctrlPr>
                        </m:sSubPr>
                        <m:e>
                          <m:r>
                            <a:rPr lang="nb-NO" sz="1900" b="1" i="1" smtClean="0">
                              <a:solidFill>
                                <a:srgbClr val="00566B"/>
                              </a:solidFill>
                              <a:latin typeface="Cambria Math" panose="02040503050406030204" pitchFamily="18" charset="0"/>
                              <a:ea typeface="Cambria Math" panose="02040503050406030204" pitchFamily="18" charset="0"/>
                            </a:rPr>
                            <m:t>𝑯</m:t>
                          </m:r>
                        </m:e>
                        <m:sub>
                          <m:r>
                            <a:rPr lang="nb-NO" sz="1900" b="1" i="1" smtClean="0">
                              <a:solidFill>
                                <a:srgbClr val="00566B"/>
                              </a:solidFill>
                              <a:latin typeface="Cambria Math" panose="02040503050406030204" pitchFamily="18" charset="0"/>
                              <a:ea typeface="Cambria Math" panose="02040503050406030204" pitchFamily="18" charset="0"/>
                            </a:rPr>
                            <m:t>𝟎</m:t>
                          </m:r>
                        </m:sub>
                      </m:sSub>
                      <m:r>
                        <a:rPr lang="nb-NO" sz="1900" b="1" i="1" smtClean="0">
                          <a:solidFill>
                            <a:srgbClr val="00566B"/>
                          </a:solidFill>
                          <a:latin typeface="Cambria Math" panose="02040503050406030204" pitchFamily="18" charset="0"/>
                          <a:ea typeface="Cambria Math" panose="02040503050406030204" pitchFamily="18" charset="0"/>
                        </a:rPr>
                        <m:t>)</m:t>
                      </m:r>
                    </m:oMath>
                  </m:oMathPara>
                </a14:m>
                <a:endParaRPr lang="en-US" sz="1900" dirty="0"/>
              </a:p>
            </p:txBody>
          </p:sp>
        </mc:Choice>
        <mc:Fallback>
          <p:sp>
            <p:nvSpPr>
              <p:cNvPr id="7" name="Text 4"/>
              <p:cNvSpPr>
                <a:spLocks noRot="1" noChangeAspect="1" noMove="1" noResize="1" noEditPoints="1" noAdjustHandles="1" noChangeArrowheads="1" noChangeShapeType="1" noTextEdit="1"/>
              </p:cNvSpPr>
              <p:nvPr/>
            </p:nvSpPr>
            <p:spPr>
              <a:xfrm>
                <a:off x="8065008" y="1709928"/>
                <a:ext cx="2615184" cy="557784"/>
              </a:xfrm>
              <a:prstGeom prst="rect">
                <a:avLst/>
              </a:prstGeom>
              <a:blipFill>
                <a:blip r:embed="rId4"/>
                <a:stretch>
                  <a:fillRect/>
                </a:stretch>
              </a:blipFill>
              <a:ln/>
            </p:spPr>
            <p:txBody>
              <a:bodyPr/>
              <a:lstStyle/>
              <a:p>
                <a:r>
                  <a:rPr lang="en-GB">
                    <a:noFill/>
                  </a:rPr>
                  <a:t> </a:t>
                </a:r>
              </a:p>
            </p:txBody>
          </p:sp>
        </mc:Fallback>
      </mc:AlternateContent>
      <p:sp>
        <p:nvSpPr>
          <p:cNvPr id="8" name="Text 5"/>
          <p:cNvSpPr/>
          <p:nvPr/>
        </p:nvSpPr>
        <p:spPr>
          <a:xfrm>
            <a:off x="7818120" y="2834640"/>
            <a:ext cx="3108960" cy="914400"/>
          </a:xfrm>
          <a:prstGeom prst="rect">
            <a:avLst/>
          </a:prstGeom>
          <a:noFill/>
          <a:ln/>
        </p:spPr>
        <p:txBody>
          <a:bodyPr wrap="square" lIns="381" tIns="381" rIns="381" bIns="381" rtlCol="0" anchor="ctr"/>
          <a:lstStyle/>
          <a:p>
            <a:pPr marL="0" indent="0" algn="ctr">
              <a:buNone/>
            </a:pPr>
            <a:r>
              <a:rPr lang="en-US" sz="1800" b="1" dirty="0">
                <a:solidFill>
                  <a:srgbClr val="00566B"/>
                </a:solidFill>
              </a:rPr>
              <a:t>Small p-value → the observed t is difficult to reconcile with H₀.</a:t>
            </a:r>
            <a:endParaRPr lang="en-US" sz="1800" dirty="0"/>
          </a:p>
        </p:txBody>
      </p:sp>
      <p:sp>
        <p:nvSpPr>
          <p:cNvPr id="9" name="Text 6"/>
          <p:cNvSpPr/>
          <p:nvPr/>
        </p:nvSpPr>
        <p:spPr>
          <a:xfrm>
            <a:off x="7726680" y="4206240"/>
            <a:ext cx="3291840" cy="777240"/>
          </a:xfrm>
          <a:prstGeom prst="rect">
            <a:avLst/>
          </a:prstGeom>
          <a:noFill/>
          <a:ln/>
        </p:spPr>
        <p:txBody>
          <a:bodyPr wrap="square" lIns="381" tIns="381" rIns="381" bIns="381" rtlCol="0" anchor="ctr"/>
          <a:lstStyle/>
          <a:p>
            <a:pPr marL="0" indent="0" algn="ctr">
              <a:buNone/>
            </a:pPr>
            <a:r>
              <a:rPr lang="en-US" sz="1600" b="1" dirty="0">
                <a:solidFill>
                  <a:srgbClr val="D71920"/>
                </a:solidFill>
              </a:rPr>
              <a:t>Do not say: “the p-value is the probability that H₀ is true.”</a:t>
            </a:r>
            <a:endParaRPr lang="en-US" sz="16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34</a:t>
            </a:fld>
            <a:endParaRPr lang="en-US"/>
          </a:p>
        </p:txBody>
      </p:sp>
      <p:sp>
        <p:nvSpPr>
          <p:cNvPr id="11" name="TekstSylinder 10">
            <a:extLst>
              <a:ext uri="{FF2B5EF4-FFF2-40B4-BE49-F238E27FC236}">
                <a16:creationId xmlns:a16="http://schemas.microsoft.com/office/drawing/2014/main" id="{11A9DCC7-B948-0ABB-24F7-14077DCE1385}"/>
              </a:ext>
            </a:extLst>
          </p:cNvPr>
          <p:cNvSpPr txBox="1"/>
          <p:nvPr/>
        </p:nvSpPr>
        <p:spPr>
          <a:xfrm>
            <a:off x="1789642" y="5404104"/>
            <a:ext cx="8033596" cy="646331"/>
          </a:xfrm>
          <a:prstGeom prst="rect">
            <a:avLst/>
          </a:prstGeom>
          <a:noFill/>
        </p:spPr>
        <p:txBody>
          <a:bodyPr wrap="square">
            <a:spAutoFit/>
          </a:bodyPr>
          <a:lstStyle/>
          <a:p>
            <a:r>
              <a:rPr lang="nb-NO" i="1" dirty="0"/>
              <a:t>The p-</a:t>
            </a:r>
            <a:r>
              <a:rPr lang="nb-NO" i="1" dirty="0" err="1"/>
              <a:t>value</a:t>
            </a:r>
            <a:r>
              <a:rPr lang="nb-NO" i="1" dirty="0"/>
              <a:t> is </a:t>
            </a:r>
            <a:r>
              <a:rPr lang="nb-NO" i="1" dirty="0" err="1"/>
              <a:t>the</a:t>
            </a:r>
            <a:r>
              <a:rPr lang="nb-NO" i="1" dirty="0"/>
              <a:t> </a:t>
            </a:r>
            <a:r>
              <a:rPr lang="nb-NO" i="1" dirty="0" err="1"/>
              <a:t>probability</a:t>
            </a:r>
            <a:r>
              <a:rPr lang="nb-NO" i="1" dirty="0"/>
              <a:t> </a:t>
            </a:r>
            <a:r>
              <a:rPr lang="nb-NO" i="1" dirty="0" err="1"/>
              <a:t>of</a:t>
            </a:r>
            <a:r>
              <a:rPr lang="nb-NO" i="1" dirty="0"/>
              <a:t> </a:t>
            </a:r>
            <a:r>
              <a:rPr lang="nb-NO" i="1" dirty="0" err="1"/>
              <a:t>obtaining</a:t>
            </a:r>
            <a:r>
              <a:rPr lang="nb-NO" i="1" dirty="0"/>
              <a:t> a t-</a:t>
            </a:r>
            <a:r>
              <a:rPr lang="nb-NO" i="1" dirty="0" err="1"/>
              <a:t>value</a:t>
            </a:r>
            <a:r>
              <a:rPr lang="nb-NO" i="1" dirty="0"/>
              <a:t> as </a:t>
            </a:r>
            <a:r>
              <a:rPr lang="nb-NO" i="1" dirty="0" err="1"/>
              <a:t>extreme</a:t>
            </a:r>
            <a:r>
              <a:rPr lang="nb-NO" i="1" dirty="0"/>
              <a:t> or more </a:t>
            </a:r>
            <a:r>
              <a:rPr lang="nb-NO" i="1" dirty="0" err="1"/>
              <a:t>extreme</a:t>
            </a:r>
            <a:r>
              <a:rPr lang="nb-NO" i="1" dirty="0"/>
              <a:t> </a:t>
            </a:r>
            <a:r>
              <a:rPr lang="nb-NO" i="1" dirty="0" err="1"/>
              <a:t>than</a:t>
            </a:r>
            <a:r>
              <a:rPr lang="nb-NO" i="1" dirty="0"/>
              <a:t> </a:t>
            </a:r>
            <a:r>
              <a:rPr lang="nb-NO" i="1" dirty="0" err="1"/>
              <a:t>the</a:t>
            </a:r>
            <a:r>
              <a:rPr lang="nb-NO" i="1" dirty="0"/>
              <a:t> </a:t>
            </a:r>
            <a:r>
              <a:rPr lang="nb-NO" i="1" dirty="0" err="1"/>
              <a:t>observed</a:t>
            </a:r>
            <a:r>
              <a:rPr lang="nb-NO" i="1" dirty="0"/>
              <a:t> t-</a:t>
            </a:r>
            <a:r>
              <a:rPr lang="nb-NO" i="1" dirty="0" err="1"/>
              <a:t>value</a:t>
            </a:r>
            <a:r>
              <a:rPr lang="nb-NO" i="1" dirty="0"/>
              <a:t>, </a:t>
            </a:r>
            <a:r>
              <a:rPr lang="nb-NO" i="1" dirty="0" err="1"/>
              <a:t>assuming</a:t>
            </a:r>
            <a:r>
              <a:rPr lang="nb-NO" i="1" dirty="0"/>
              <a:t> </a:t>
            </a:r>
            <a:r>
              <a:rPr lang="nb-NO" i="1" dirty="0" err="1"/>
              <a:t>that</a:t>
            </a:r>
            <a:r>
              <a:rPr lang="nb-NO" i="1" dirty="0"/>
              <a:t> </a:t>
            </a:r>
            <a:r>
              <a:rPr lang="nb-NO" i="1" dirty="0" err="1"/>
              <a:t>the</a:t>
            </a:r>
            <a:r>
              <a:rPr lang="nb-NO" i="1" dirty="0"/>
              <a:t> null </a:t>
            </a:r>
            <a:r>
              <a:rPr lang="nb-NO" i="1" dirty="0" err="1"/>
              <a:t>hypothesis</a:t>
            </a:r>
            <a:r>
              <a:rPr lang="nb-NO" i="1" dirty="0"/>
              <a:t> is true.</a:t>
            </a:r>
            <a:endParaRPr lang="en-GB" i="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CRITICAL VALUE AND P-VALUE</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R can calculate both routes</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868680" y="1325880"/>
            <a:ext cx="4754880" cy="3291840"/>
          </a:xfrm>
          <a:prstGeom prst="roundRect">
            <a:avLst/>
          </a:prstGeom>
          <a:solidFill>
            <a:srgbClr val="F4F6F7"/>
          </a:solidFill>
          <a:ln w="12700">
            <a:solidFill>
              <a:srgbClr val="D7DEE1"/>
            </a:solidFill>
            <a:prstDash val="solid"/>
          </a:ln>
        </p:spPr>
        <p:txBody>
          <a:bodyPr/>
          <a:lstStyle/>
          <a:p>
            <a:endParaRPr lang="en-GB"/>
          </a:p>
        </p:txBody>
      </p:sp>
      <p:sp>
        <p:nvSpPr>
          <p:cNvPr id="6" name="Text 4"/>
          <p:cNvSpPr/>
          <p:nvPr/>
        </p:nvSpPr>
        <p:spPr>
          <a:xfrm>
            <a:off x="1033272" y="1453896"/>
            <a:ext cx="4425696" cy="3035808"/>
          </a:xfrm>
          <a:prstGeom prst="rect">
            <a:avLst/>
          </a:prstGeom>
          <a:noFill/>
          <a:ln/>
        </p:spPr>
        <p:txBody>
          <a:bodyPr wrap="square" lIns="254" tIns="254" rIns="254" bIns="254" rtlCol="0" anchor="t">
            <a:normAutofit/>
          </a:bodyPr>
          <a:lstStyle/>
          <a:p>
            <a:pPr marL="0" indent="0">
              <a:buNone/>
            </a:pPr>
            <a:r>
              <a:rPr lang="en-US" sz="1450" dirty="0">
                <a:solidFill>
                  <a:srgbClr val="24333A"/>
                </a:solidFill>
                <a:latin typeface="Aptos Mono" pitchFamily="34" charset="0"/>
                <a:ea typeface="Aptos Mono" pitchFamily="34" charset="-122"/>
                <a:cs typeface="Aptos Mono" pitchFamily="34" charset="-120"/>
              </a:rPr>
              <a:t># Test statistic</a:t>
            </a:r>
            <a:endParaRPr lang="en-US" sz="1450" dirty="0"/>
          </a:p>
          <a:p>
            <a:pPr marL="0" indent="0">
              <a:buNone/>
            </a:pPr>
            <a:r>
              <a:rPr lang="en-US" sz="1450" dirty="0">
                <a:solidFill>
                  <a:srgbClr val="24333A"/>
                </a:solidFill>
                <a:latin typeface="Aptos Mono" pitchFamily="34" charset="0"/>
                <a:ea typeface="Aptos Mono" pitchFamily="34" charset="-122"/>
                <a:cs typeface="Aptos Mono" pitchFamily="34" charset="-120"/>
              </a:rPr>
              <a:t>t &lt;- (b_2 - 0.055) / se_b2</a:t>
            </a:r>
            <a:endParaRPr lang="en-US" sz="1450" dirty="0"/>
          </a:p>
          <a:p>
            <a:pPr marL="0" indent="0">
              <a:buNone/>
            </a:pPr>
            <a:endParaRPr lang="en-US" sz="1450" dirty="0"/>
          </a:p>
          <a:p>
            <a:pPr marL="0" indent="0">
              <a:buNone/>
            </a:pPr>
            <a:r>
              <a:rPr lang="en-US" sz="1450" dirty="0">
                <a:solidFill>
                  <a:srgbClr val="24333A"/>
                </a:solidFill>
                <a:latin typeface="Aptos Mono" pitchFamily="34" charset="0"/>
                <a:ea typeface="Aptos Mono" pitchFamily="34" charset="-122"/>
                <a:cs typeface="Aptos Mono" pitchFamily="34" charset="-120"/>
              </a:rPr>
              <a:t># Critical value: right-tail 5% test</a:t>
            </a:r>
            <a:endParaRPr lang="en-US" sz="1450" dirty="0"/>
          </a:p>
          <a:p>
            <a:pPr marL="0" indent="0">
              <a:buNone/>
            </a:pPr>
            <a:r>
              <a:rPr lang="en-US" sz="1450" dirty="0">
                <a:solidFill>
                  <a:srgbClr val="24333A"/>
                </a:solidFill>
                <a:latin typeface="Aptos Mono" pitchFamily="34" charset="0"/>
                <a:ea typeface="Aptos Mono" pitchFamily="34" charset="-122"/>
                <a:cs typeface="Aptos Mono" pitchFamily="34" charset="-120"/>
              </a:rPr>
              <a:t>qt(0.95, df = 38)</a:t>
            </a:r>
            <a:endParaRPr lang="en-US" sz="1450" dirty="0"/>
          </a:p>
          <a:p>
            <a:pPr marL="0" indent="0">
              <a:buNone/>
            </a:pPr>
            <a:endParaRPr lang="en-US" sz="1450" dirty="0"/>
          </a:p>
          <a:p>
            <a:pPr marL="0" indent="0">
              <a:buNone/>
            </a:pPr>
            <a:r>
              <a:rPr lang="en-US" sz="1450" dirty="0">
                <a:solidFill>
                  <a:srgbClr val="24333A"/>
                </a:solidFill>
                <a:latin typeface="Aptos Mono" pitchFamily="34" charset="0"/>
                <a:ea typeface="Aptos Mono" pitchFamily="34" charset="-122"/>
                <a:cs typeface="Aptos Mono" pitchFamily="34" charset="-120"/>
              </a:rPr>
              <a:t># Right-tail p-value</a:t>
            </a:r>
            <a:endParaRPr lang="en-US" sz="1450" dirty="0"/>
          </a:p>
          <a:p>
            <a:pPr marL="0" indent="0">
              <a:buNone/>
            </a:pPr>
            <a:r>
              <a:rPr lang="en-US" sz="1450" dirty="0">
                <a:solidFill>
                  <a:srgbClr val="24333A"/>
                </a:solidFill>
                <a:latin typeface="Aptos Mono" pitchFamily="34" charset="0"/>
                <a:ea typeface="Aptos Mono" pitchFamily="34" charset="-122"/>
                <a:cs typeface="Aptos Mono" pitchFamily="34" charset="-120"/>
              </a:rPr>
              <a:t>1 - pt(t, df = 38)</a:t>
            </a:r>
            <a:endParaRPr lang="en-US" sz="1450" dirty="0"/>
          </a:p>
        </p:txBody>
      </p:sp>
      <p:sp>
        <p:nvSpPr>
          <p:cNvPr id="7" name="Text 5"/>
          <p:cNvSpPr/>
          <p:nvPr/>
        </p:nvSpPr>
        <p:spPr>
          <a:xfrm>
            <a:off x="6400800" y="1417320"/>
            <a:ext cx="3200400" cy="365760"/>
          </a:xfrm>
          <a:prstGeom prst="rect">
            <a:avLst/>
          </a:prstGeom>
          <a:noFill/>
          <a:ln/>
        </p:spPr>
        <p:txBody>
          <a:bodyPr wrap="square" lIns="0" tIns="0" rIns="0" bIns="0" rtlCol="0" anchor="ctr"/>
          <a:lstStyle/>
          <a:p>
            <a:pPr marL="0" indent="0" algn="ctr">
              <a:buNone/>
            </a:pPr>
            <a:r>
              <a:rPr lang="en-US" sz="2000" b="1" dirty="0">
                <a:solidFill>
                  <a:srgbClr val="1F2D33"/>
                </a:solidFill>
              </a:rPr>
              <a:t>Decision rules</a:t>
            </a:r>
            <a:endParaRPr lang="en-US" sz="2000" dirty="0"/>
          </a:p>
        </p:txBody>
      </p:sp>
      <p:sp>
        <p:nvSpPr>
          <p:cNvPr id="8" name="Shape 6"/>
          <p:cNvSpPr/>
          <p:nvPr/>
        </p:nvSpPr>
        <p:spPr>
          <a:xfrm>
            <a:off x="6263640" y="2057400"/>
            <a:ext cx="3657600" cy="685800"/>
          </a:xfrm>
          <a:prstGeom prst="roundRect">
            <a:avLst>
              <a:gd name="adj" fmla="val 8000"/>
            </a:avLst>
          </a:prstGeom>
          <a:solidFill>
            <a:srgbClr val="DDF4F9"/>
          </a:solidFill>
          <a:ln w="12700">
            <a:solidFill>
              <a:srgbClr val="DDF4F9"/>
            </a:solidFill>
            <a:prstDash val="solid"/>
          </a:ln>
        </p:spPr>
        <p:txBody>
          <a:bodyPr/>
          <a:lstStyle/>
          <a:p>
            <a:endParaRPr lang="en-GB"/>
          </a:p>
        </p:txBody>
      </p:sp>
      <mc:AlternateContent xmlns:mc="http://schemas.openxmlformats.org/markup-compatibility/2006">
        <mc:Choice xmlns:a14="http://schemas.microsoft.com/office/drawing/2010/main" Requires="a14">
          <p:sp>
            <p:nvSpPr>
              <p:cNvPr id="9" name="Text 7"/>
              <p:cNvSpPr/>
              <p:nvPr/>
            </p:nvSpPr>
            <p:spPr>
              <a:xfrm>
                <a:off x="6373368" y="2121408"/>
                <a:ext cx="3438144" cy="557784"/>
              </a:xfrm>
              <a:prstGeom prst="rect">
                <a:avLst/>
              </a:prstGeom>
              <a:noFill/>
              <a:ln/>
            </p:spPr>
            <p:txBody>
              <a:bodyPr wrap="square" lIns="254" tIns="254" rIns="254" bIns="254" rtlCol="0" anchor="ctr">
                <a:normAutofit/>
              </a:bodyPr>
              <a:lstStyle/>
              <a:p>
                <a:pPr marL="0" indent="0" algn="ctr">
                  <a:buNone/>
                </a:pPr>
                <a14:m>
                  <m:oMath xmlns:m="http://schemas.openxmlformats.org/officeDocument/2006/math">
                    <m:r>
                      <a:rPr lang="nb-NO" sz="2000" b="1" i="1" smtClean="0">
                        <a:solidFill>
                          <a:srgbClr val="00566B"/>
                        </a:solidFill>
                        <a:latin typeface="Cambria Math" panose="02040503050406030204" pitchFamily="18" charset="0"/>
                        <a:ea typeface="Cambria Math" pitchFamily="34" charset="-122"/>
                        <a:cs typeface="Cambria Math" pitchFamily="34" charset="-120"/>
                      </a:rPr>
                      <m:t>𝒕</m:t>
                    </m:r>
                    <m:r>
                      <a:rPr lang="nb-NO" sz="2000" b="1" i="1" smtClean="0">
                        <a:solidFill>
                          <a:srgbClr val="00566B"/>
                        </a:solidFill>
                        <a:latin typeface="Cambria Math" panose="02040503050406030204" pitchFamily="18" charset="0"/>
                        <a:ea typeface="Cambria Math" panose="02040503050406030204" pitchFamily="18" charset="0"/>
                        <a:cs typeface="Cambria Math" pitchFamily="34" charset="-120"/>
                      </a:rPr>
                      <m:t>≥</m:t>
                    </m:r>
                    <m:sSub>
                      <m:sSubPr>
                        <m:ctrlPr>
                          <a:rPr lang="nb-NO" sz="2000" b="1" i="1" smtClean="0">
                            <a:solidFill>
                              <a:srgbClr val="00566B"/>
                            </a:solidFill>
                            <a:latin typeface="Cambria Math" panose="02040503050406030204" pitchFamily="18" charset="0"/>
                            <a:ea typeface="Cambria Math" panose="02040503050406030204" pitchFamily="18" charset="0"/>
                          </a:rPr>
                        </m:ctrlPr>
                      </m:sSubPr>
                      <m:e>
                        <m:r>
                          <a:rPr lang="nb-NO" sz="2000" b="1" i="1" smtClean="0">
                            <a:solidFill>
                              <a:srgbClr val="00566B"/>
                            </a:solidFill>
                            <a:latin typeface="Cambria Math" panose="02040503050406030204" pitchFamily="18" charset="0"/>
                            <a:ea typeface="Cambria Math" panose="02040503050406030204" pitchFamily="18" charset="0"/>
                          </a:rPr>
                          <m:t>𝒕</m:t>
                        </m:r>
                      </m:e>
                      <m:sub>
                        <m:r>
                          <a:rPr lang="nb-NO" sz="2000" b="1" i="1" smtClean="0">
                            <a:solidFill>
                              <a:srgbClr val="00566B"/>
                            </a:solidFill>
                            <a:latin typeface="Cambria Math" panose="02040503050406030204" pitchFamily="18" charset="0"/>
                            <a:ea typeface="Cambria Math" panose="02040503050406030204" pitchFamily="18" charset="0"/>
                          </a:rPr>
                          <m:t>𝒄</m:t>
                        </m:r>
                      </m:sub>
                    </m:sSub>
                  </m:oMath>
                </a14:m>
                <a:r>
                  <a:rPr lang="en-US" sz="2000" b="1" dirty="0">
                    <a:solidFill>
                      <a:srgbClr val="00566B"/>
                    </a:solidFill>
                    <a:latin typeface="Cambria Math" pitchFamily="34" charset="0"/>
                    <a:ea typeface="Cambria Math" pitchFamily="34" charset="-122"/>
                    <a:cs typeface="Cambria Math" pitchFamily="34" charset="-120"/>
                  </a:rPr>
                  <a:t>  → reject H₀</a:t>
                </a:r>
                <a:endParaRPr lang="en-US" sz="2000" dirty="0"/>
              </a:p>
            </p:txBody>
          </p:sp>
        </mc:Choice>
        <mc:Fallback>
          <p:sp>
            <p:nvSpPr>
              <p:cNvPr id="9" name="Text 7"/>
              <p:cNvSpPr>
                <a:spLocks noRot="1" noChangeAspect="1" noMove="1" noResize="1" noEditPoints="1" noAdjustHandles="1" noChangeArrowheads="1" noChangeShapeType="1" noTextEdit="1"/>
              </p:cNvSpPr>
              <p:nvPr/>
            </p:nvSpPr>
            <p:spPr>
              <a:xfrm>
                <a:off x="6373368" y="2121408"/>
                <a:ext cx="3438144" cy="557784"/>
              </a:xfrm>
              <a:prstGeom prst="rect">
                <a:avLst/>
              </a:prstGeom>
              <a:blipFill>
                <a:blip r:embed="rId3"/>
                <a:stretch>
                  <a:fillRect b="-2174"/>
                </a:stretch>
              </a:blipFill>
              <a:ln/>
            </p:spPr>
            <p:txBody>
              <a:bodyPr/>
              <a:lstStyle/>
              <a:p>
                <a:r>
                  <a:rPr lang="en-GB">
                    <a:noFill/>
                  </a:rPr>
                  <a:t> </a:t>
                </a:r>
              </a:p>
            </p:txBody>
          </p:sp>
        </mc:Fallback>
      </mc:AlternateContent>
      <p:sp>
        <p:nvSpPr>
          <p:cNvPr id="10" name="Shape 8"/>
          <p:cNvSpPr/>
          <p:nvPr/>
        </p:nvSpPr>
        <p:spPr>
          <a:xfrm>
            <a:off x="6263640" y="3063240"/>
            <a:ext cx="3657600" cy="685800"/>
          </a:xfrm>
          <a:prstGeom prst="roundRect">
            <a:avLst>
              <a:gd name="adj" fmla="val 8000"/>
            </a:avLst>
          </a:prstGeom>
          <a:solidFill>
            <a:srgbClr val="F4F6F7"/>
          </a:solidFill>
          <a:ln w="12700">
            <a:solidFill>
              <a:srgbClr val="F4F6F7"/>
            </a:solidFill>
            <a:prstDash val="solid"/>
          </a:ln>
        </p:spPr>
        <p:txBody>
          <a:bodyPr/>
          <a:lstStyle/>
          <a:p>
            <a:endParaRPr lang="en-GB"/>
          </a:p>
        </p:txBody>
      </p:sp>
      <p:sp>
        <p:nvSpPr>
          <p:cNvPr id="11" name="Text 9"/>
          <p:cNvSpPr/>
          <p:nvPr/>
        </p:nvSpPr>
        <p:spPr>
          <a:xfrm>
            <a:off x="6373368" y="3127248"/>
            <a:ext cx="3438144" cy="557784"/>
          </a:xfrm>
          <a:prstGeom prst="rect">
            <a:avLst/>
          </a:prstGeom>
          <a:noFill/>
          <a:ln/>
        </p:spPr>
        <p:txBody>
          <a:bodyPr wrap="square" lIns="254" tIns="254" rIns="254" bIns="254" rtlCol="0" anchor="ctr">
            <a:normAutofit/>
          </a:bodyPr>
          <a:lstStyle/>
          <a:p>
            <a:pPr marL="0" indent="0" algn="ctr">
              <a:buNone/>
            </a:pPr>
            <a:r>
              <a:rPr lang="en-US" sz="2000" b="1" dirty="0">
                <a:solidFill>
                  <a:srgbClr val="1F2D33"/>
                </a:solidFill>
                <a:latin typeface="Cambria Math" pitchFamily="34" charset="0"/>
                <a:ea typeface="Cambria Math" pitchFamily="34" charset="-122"/>
                <a:cs typeface="Cambria Math" pitchFamily="34" charset="-120"/>
              </a:rPr>
              <a:t>p ≤ α  → reject H₀</a:t>
            </a:r>
            <a:endParaRPr lang="en-US" sz="2000" dirty="0"/>
          </a:p>
        </p:txBody>
      </p:sp>
      <p:sp>
        <p:nvSpPr>
          <p:cNvPr id="12" name="Text 10"/>
          <p:cNvSpPr/>
          <p:nvPr/>
        </p:nvSpPr>
        <p:spPr>
          <a:xfrm>
            <a:off x="6263640" y="4297680"/>
            <a:ext cx="3657600" cy="502920"/>
          </a:xfrm>
          <a:prstGeom prst="rect">
            <a:avLst/>
          </a:prstGeom>
          <a:noFill/>
          <a:ln/>
        </p:spPr>
        <p:txBody>
          <a:bodyPr wrap="square" lIns="0" tIns="0" rIns="0" bIns="0" rtlCol="0" anchor="ctr"/>
          <a:lstStyle/>
          <a:p>
            <a:pPr marL="0" indent="0" algn="ctr">
              <a:buNone/>
            </a:pPr>
            <a:r>
              <a:rPr lang="en-US" sz="1800" b="1" dirty="0">
                <a:solidFill>
                  <a:srgbClr val="00566B"/>
                </a:solidFill>
              </a:rPr>
              <a:t>Two ways of expressing the same evidence.</a:t>
            </a:r>
            <a:endParaRPr lang="en-US" sz="18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438912"/>
            <a:ext cx="2743200" cy="201168"/>
          </a:xfrm>
          <a:prstGeom prst="rect">
            <a:avLst/>
          </a:prstGeom>
          <a:noFill/>
          <a:ln/>
        </p:spPr>
        <p:txBody>
          <a:bodyPr wrap="square" lIns="0" tIns="0" rIns="0" bIns="0" rtlCol="0" anchor="ctr"/>
          <a:lstStyle/>
          <a:p>
            <a:pPr marL="0" indent="0">
              <a:buNone/>
            </a:pPr>
            <a:r>
              <a:rPr lang="en-US" sz="800" b="1" kern="0" spc="40" dirty="0">
                <a:solidFill>
                  <a:srgbClr val="20B4D6"/>
                </a:solidFill>
              </a:rPr>
              <a:t>P-VALUE</a:t>
            </a:r>
            <a:endParaRPr lang="en-US" sz="800" dirty="0"/>
          </a:p>
        </p:txBody>
      </p:sp>
      <p:sp>
        <p:nvSpPr>
          <p:cNvPr id="3" name="Text 1"/>
          <p:cNvSpPr/>
          <p:nvPr/>
        </p:nvSpPr>
        <p:spPr>
          <a:xfrm>
            <a:off x="438912" y="658368"/>
            <a:ext cx="10927080" cy="475488"/>
          </a:xfrm>
          <a:prstGeom prst="rect">
            <a:avLst/>
          </a:prstGeom>
          <a:noFill/>
          <a:ln/>
        </p:spPr>
        <p:txBody>
          <a:bodyPr wrap="square" lIns="0" tIns="0" rIns="0" bIns="0" rtlCol="0" anchor="ctr">
            <a:normAutofit/>
          </a:bodyPr>
          <a:lstStyle/>
          <a:p>
            <a:pPr marL="0" indent="0">
              <a:buNone/>
            </a:pPr>
            <a:r>
              <a:rPr lang="en-US" sz="2300" dirty="0">
                <a:solidFill>
                  <a:srgbClr val="16323D"/>
                </a:solidFill>
              </a:rPr>
              <a:t>Calculate the p-value</a:t>
            </a:r>
            <a:endParaRPr lang="en-US" sz="2300" dirty="0"/>
          </a:p>
        </p:txBody>
      </p:sp>
      <p:sp>
        <p:nvSpPr>
          <p:cNvPr id="4" name="Text 2"/>
          <p:cNvSpPr/>
          <p:nvPr/>
        </p:nvSpPr>
        <p:spPr>
          <a:xfrm>
            <a:off x="457200" y="1234440"/>
            <a:ext cx="2011680" cy="274320"/>
          </a:xfrm>
          <a:prstGeom prst="rect">
            <a:avLst/>
          </a:prstGeom>
          <a:noFill/>
          <a:ln/>
        </p:spPr>
        <p:txBody>
          <a:bodyPr wrap="square" lIns="0" tIns="0" rIns="0" bIns="0" rtlCol="0" anchor="ctr"/>
          <a:lstStyle/>
          <a:p>
            <a:pPr marL="0" indent="0">
              <a:buNone/>
            </a:pPr>
            <a:r>
              <a:rPr lang="en-US" sz="1100" b="1" dirty="0">
                <a:solidFill>
                  <a:srgbClr val="00566B"/>
                </a:solidFill>
              </a:rPr>
              <a:t>Supermarket test</a:t>
            </a:r>
            <a:endParaRPr lang="en-US" sz="1100" dirty="0"/>
          </a:p>
        </p:txBody>
      </p:sp>
      <p:sp>
        <p:nvSpPr>
          <p:cNvPr id="5" name="Text 3"/>
          <p:cNvSpPr/>
          <p:nvPr/>
        </p:nvSpPr>
        <p:spPr>
          <a:xfrm>
            <a:off x="457200" y="1536192"/>
            <a:ext cx="4389120" cy="347472"/>
          </a:xfrm>
          <a:prstGeom prst="rect">
            <a:avLst/>
          </a:prstGeom>
          <a:noFill/>
          <a:ln/>
        </p:spPr>
        <p:txBody>
          <a:bodyPr wrap="square" lIns="0" tIns="0" rIns="0" bIns="0" rtlCol="0" anchor="ctr"/>
          <a:lstStyle/>
          <a:p>
            <a:pPr marL="0" indent="0">
              <a:buNone/>
            </a:pPr>
            <a:r>
              <a:rPr lang="en-US" sz="2000" dirty="0">
                <a:solidFill>
                  <a:srgbClr val="16323D"/>
                </a:solidFill>
              </a:rPr>
              <a:t>H₀: β₂ ≤ 0.055     H₁: β₂ &gt; 0.055</a:t>
            </a:r>
            <a:endParaRPr lang="en-US" sz="2000" dirty="0"/>
          </a:p>
        </p:txBody>
      </p:sp>
      <p:sp>
        <p:nvSpPr>
          <p:cNvPr id="6" name="Text 4"/>
          <p:cNvSpPr/>
          <p:nvPr/>
        </p:nvSpPr>
        <p:spPr>
          <a:xfrm>
            <a:off x="457200" y="1993392"/>
            <a:ext cx="4389120" cy="320040"/>
          </a:xfrm>
          <a:prstGeom prst="rect">
            <a:avLst/>
          </a:prstGeom>
          <a:noFill/>
          <a:ln/>
        </p:spPr>
        <p:txBody>
          <a:bodyPr wrap="square" lIns="0" tIns="0" rIns="0" bIns="0" rtlCol="0" anchor="ctr"/>
          <a:lstStyle/>
          <a:p>
            <a:pPr marL="0" indent="0">
              <a:buNone/>
            </a:pPr>
            <a:r>
              <a:rPr lang="en-US" sz="1600" dirty="0">
                <a:solidFill>
                  <a:srgbClr val="16323D"/>
                </a:solidFill>
              </a:rPr>
              <a:t>Observed test statistic:  t = 2.25</a:t>
            </a:r>
            <a:endParaRPr lang="en-US" sz="1600" dirty="0"/>
          </a:p>
        </p:txBody>
      </p:sp>
      <p:sp>
        <p:nvSpPr>
          <p:cNvPr id="7" name="Shape 5"/>
          <p:cNvSpPr/>
          <p:nvPr/>
        </p:nvSpPr>
        <p:spPr>
          <a:xfrm>
            <a:off x="457200" y="2514600"/>
            <a:ext cx="4983480" cy="1828800"/>
          </a:xfrm>
          <a:prstGeom prst="roundRect">
            <a:avLst/>
          </a:prstGeom>
          <a:solidFill>
            <a:srgbClr val="F4F6F7"/>
          </a:solidFill>
          <a:ln w="10160">
            <a:solidFill>
              <a:srgbClr val="D5DEE2"/>
            </a:solidFill>
            <a:prstDash val="solid"/>
          </a:ln>
        </p:spPr>
        <p:txBody>
          <a:bodyPr/>
          <a:lstStyle/>
          <a:p>
            <a:endParaRPr lang="en-GB"/>
          </a:p>
        </p:txBody>
      </p:sp>
      <p:sp>
        <p:nvSpPr>
          <p:cNvPr id="8" name="Text 6"/>
          <p:cNvSpPr/>
          <p:nvPr/>
        </p:nvSpPr>
        <p:spPr>
          <a:xfrm>
            <a:off x="621792" y="2660904"/>
            <a:ext cx="4654296" cy="1554480"/>
          </a:xfrm>
          <a:prstGeom prst="rect">
            <a:avLst/>
          </a:prstGeom>
          <a:noFill/>
          <a:ln/>
        </p:spPr>
        <p:txBody>
          <a:bodyPr wrap="square" lIns="0" tIns="0" rIns="0" bIns="0" rtlCol="0" anchor="ctr">
            <a:normAutofit/>
          </a:bodyPr>
          <a:lstStyle/>
          <a:p>
            <a:pPr marL="0" indent="0">
              <a:buNone/>
            </a:pPr>
            <a:r>
              <a:rPr lang="en-US" sz="1400" dirty="0">
                <a:solidFill>
                  <a:srgbClr val="24343B"/>
                </a:solidFill>
                <a:latin typeface="Aptos Mono" pitchFamily="34" charset="0"/>
                <a:ea typeface="Aptos Mono" pitchFamily="34" charset="-122"/>
                <a:cs typeface="Aptos Mono" pitchFamily="34" charset="-120"/>
              </a:rPr>
              <a:t># Right-tail p-value</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p_value &lt;- 1 - pt(t_food, df = 38)</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p_value</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 0.015</a:t>
            </a:r>
            <a:endParaRPr lang="en-US" sz="1400" dirty="0"/>
          </a:p>
        </p:txBody>
      </p:sp>
      <p:sp>
        <p:nvSpPr>
          <p:cNvPr id="9" name="Shape 7"/>
          <p:cNvSpPr/>
          <p:nvPr/>
        </p:nvSpPr>
        <p:spPr>
          <a:xfrm>
            <a:off x="5806440" y="1307592"/>
            <a:ext cx="5440680" cy="1874520"/>
          </a:xfrm>
          <a:prstGeom prst="roundRect">
            <a:avLst>
              <a:gd name="adj" fmla="val 3902"/>
            </a:avLst>
          </a:prstGeom>
          <a:solidFill>
            <a:srgbClr val="DDF4F9"/>
          </a:solidFill>
          <a:ln w="12700">
            <a:solidFill>
              <a:srgbClr val="CDEBF1"/>
            </a:solidFill>
            <a:prstDash val="solid"/>
          </a:ln>
        </p:spPr>
        <p:txBody>
          <a:bodyPr/>
          <a:lstStyle/>
          <a:p>
            <a:endParaRPr lang="en-GB"/>
          </a:p>
        </p:txBody>
      </p:sp>
      <p:sp>
        <p:nvSpPr>
          <p:cNvPr id="10" name="Text 8"/>
          <p:cNvSpPr/>
          <p:nvPr/>
        </p:nvSpPr>
        <p:spPr>
          <a:xfrm>
            <a:off x="6126480" y="1581912"/>
            <a:ext cx="4480560" cy="310896"/>
          </a:xfrm>
          <a:prstGeom prst="rect">
            <a:avLst/>
          </a:prstGeom>
          <a:noFill/>
          <a:ln/>
        </p:spPr>
        <p:txBody>
          <a:bodyPr wrap="square" lIns="0" tIns="0" rIns="0" bIns="0" rtlCol="0" anchor="ctr"/>
          <a:lstStyle/>
          <a:p>
            <a:pPr marL="0" indent="0" algn="ctr">
              <a:buNone/>
            </a:pPr>
            <a:r>
              <a:rPr lang="en-US" sz="1700" b="1" dirty="0">
                <a:solidFill>
                  <a:srgbClr val="00566B"/>
                </a:solidFill>
              </a:rPr>
              <a:t>What does 0.015 mean?</a:t>
            </a:r>
            <a:endParaRPr lang="en-US" sz="1700" dirty="0"/>
          </a:p>
        </p:txBody>
      </p:sp>
      <p:sp>
        <p:nvSpPr>
          <p:cNvPr id="11" name="Text 9"/>
          <p:cNvSpPr/>
          <p:nvPr/>
        </p:nvSpPr>
        <p:spPr>
          <a:xfrm>
            <a:off x="6199632" y="2011680"/>
            <a:ext cx="4343400" cy="841248"/>
          </a:xfrm>
          <a:prstGeom prst="rect">
            <a:avLst/>
          </a:prstGeom>
          <a:noFill/>
          <a:ln/>
        </p:spPr>
        <p:txBody>
          <a:bodyPr wrap="square" lIns="508" tIns="508" rIns="508" bIns="508" rtlCol="0" anchor="ctr"/>
          <a:lstStyle/>
          <a:p>
            <a:pPr marL="0" indent="0" algn="ctr">
              <a:buNone/>
            </a:pPr>
            <a:r>
              <a:rPr lang="en-US" sz="1500" dirty="0">
                <a:solidFill>
                  <a:srgbClr val="16323D"/>
                </a:solidFill>
              </a:rPr>
              <a:t>If the null value β₂ = 0.055 were true, the probability of obtaining a t-value of 2.25 or larger is about 1.5%.</a:t>
            </a:r>
            <a:endParaRPr lang="en-US" sz="1500" dirty="0"/>
          </a:p>
        </p:txBody>
      </p:sp>
      <p:sp>
        <p:nvSpPr>
          <p:cNvPr id="12" name="Shape 10"/>
          <p:cNvSpPr/>
          <p:nvPr/>
        </p:nvSpPr>
        <p:spPr>
          <a:xfrm>
            <a:off x="5806440" y="3493008"/>
            <a:ext cx="2514600" cy="1143000"/>
          </a:xfrm>
          <a:prstGeom prst="roundRect">
            <a:avLst>
              <a:gd name="adj" fmla="val 6400"/>
            </a:avLst>
          </a:prstGeom>
          <a:solidFill>
            <a:srgbClr val="E8F5F0"/>
          </a:solidFill>
          <a:ln w="12700">
            <a:solidFill>
              <a:srgbClr val="D7E9E2"/>
            </a:solidFill>
            <a:prstDash val="solid"/>
          </a:ln>
        </p:spPr>
        <p:txBody>
          <a:bodyPr/>
          <a:lstStyle/>
          <a:p>
            <a:endParaRPr lang="en-GB"/>
          </a:p>
        </p:txBody>
      </p:sp>
      <p:sp>
        <p:nvSpPr>
          <p:cNvPr id="13" name="Text 11"/>
          <p:cNvSpPr/>
          <p:nvPr/>
        </p:nvSpPr>
        <p:spPr>
          <a:xfrm>
            <a:off x="6080760" y="3675888"/>
            <a:ext cx="1965960" cy="274320"/>
          </a:xfrm>
          <a:prstGeom prst="rect">
            <a:avLst/>
          </a:prstGeom>
          <a:noFill/>
          <a:ln/>
        </p:spPr>
        <p:txBody>
          <a:bodyPr wrap="square" lIns="0" tIns="0" rIns="0" bIns="0" rtlCol="0" anchor="ctr"/>
          <a:lstStyle/>
          <a:p>
            <a:pPr marL="0" indent="0" algn="ctr">
              <a:buNone/>
            </a:pPr>
            <a:r>
              <a:rPr lang="en-US" sz="1400" b="1" dirty="0">
                <a:solidFill>
                  <a:srgbClr val="2F6F5E"/>
                </a:solidFill>
              </a:rPr>
              <a:t>α = 0.05</a:t>
            </a:r>
            <a:endParaRPr lang="en-US" sz="1400" dirty="0"/>
          </a:p>
        </p:txBody>
      </p:sp>
      <p:sp>
        <p:nvSpPr>
          <p:cNvPr id="14" name="Text 12"/>
          <p:cNvSpPr/>
          <p:nvPr/>
        </p:nvSpPr>
        <p:spPr>
          <a:xfrm>
            <a:off x="5989320" y="4050792"/>
            <a:ext cx="2148840" cy="274320"/>
          </a:xfrm>
          <a:prstGeom prst="rect">
            <a:avLst/>
          </a:prstGeom>
          <a:noFill/>
          <a:ln/>
        </p:spPr>
        <p:txBody>
          <a:bodyPr wrap="square" lIns="0" tIns="0" rIns="0" bIns="0" rtlCol="0" anchor="ctr"/>
          <a:lstStyle/>
          <a:p>
            <a:pPr marL="0" indent="0" algn="ctr">
              <a:buNone/>
            </a:pPr>
            <a:r>
              <a:rPr lang="en-US" sz="1300" dirty="0">
                <a:solidFill>
                  <a:srgbClr val="16323D"/>
                </a:solidFill>
              </a:rPr>
              <a:t>p &lt; α  →  Reject H₀</a:t>
            </a:r>
            <a:endParaRPr lang="en-US" sz="1300" dirty="0"/>
          </a:p>
        </p:txBody>
      </p:sp>
      <p:sp>
        <p:nvSpPr>
          <p:cNvPr id="15" name="Shape 13"/>
          <p:cNvSpPr/>
          <p:nvPr/>
        </p:nvSpPr>
        <p:spPr>
          <a:xfrm>
            <a:off x="8732520" y="3493008"/>
            <a:ext cx="2514600" cy="1143000"/>
          </a:xfrm>
          <a:prstGeom prst="roundRect">
            <a:avLst>
              <a:gd name="adj" fmla="val 6400"/>
            </a:avLst>
          </a:prstGeom>
          <a:solidFill>
            <a:srgbClr val="FCE9EA"/>
          </a:solidFill>
          <a:ln w="12700">
            <a:solidFill>
              <a:srgbClr val="F4D2D4"/>
            </a:solidFill>
            <a:prstDash val="solid"/>
          </a:ln>
        </p:spPr>
        <p:txBody>
          <a:bodyPr/>
          <a:lstStyle/>
          <a:p>
            <a:endParaRPr lang="en-GB"/>
          </a:p>
        </p:txBody>
      </p:sp>
      <p:sp>
        <p:nvSpPr>
          <p:cNvPr id="16" name="Text 14"/>
          <p:cNvSpPr/>
          <p:nvPr/>
        </p:nvSpPr>
        <p:spPr>
          <a:xfrm>
            <a:off x="9006840" y="3675888"/>
            <a:ext cx="1965960" cy="274320"/>
          </a:xfrm>
          <a:prstGeom prst="rect">
            <a:avLst/>
          </a:prstGeom>
          <a:noFill/>
          <a:ln/>
        </p:spPr>
        <p:txBody>
          <a:bodyPr wrap="square" lIns="0" tIns="0" rIns="0" bIns="0" rtlCol="0" anchor="ctr"/>
          <a:lstStyle/>
          <a:p>
            <a:pPr marL="0" indent="0" algn="ctr">
              <a:buNone/>
            </a:pPr>
            <a:r>
              <a:rPr lang="en-US" sz="1400" b="1" dirty="0">
                <a:solidFill>
                  <a:srgbClr val="D71920"/>
                </a:solidFill>
              </a:rPr>
              <a:t>α = 0.01</a:t>
            </a:r>
            <a:endParaRPr lang="en-US" sz="1400" dirty="0"/>
          </a:p>
        </p:txBody>
      </p:sp>
      <p:sp>
        <p:nvSpPr>
          <p:cNvPr id="17" name="Text 15"/>
          <p:cNvSpPr/>
          <p:nvPr/>
        </p:nvSpPr>
        <p:spPr>
          <a:xfrm>
            <a:off x="8887968" y="4050792"/>
            <a:ext cx="2194560" cy="274320"/>
          </a:xfrm>
          <a:prstGeom prst="rect">
            <a:avLst/>
          </a:prstGeom>
          <a:noFill/>
          <a:ln/>
        </p:spPr>
        <p:txBody>
          <a:bodyPr wrap="square" lIns="0" tIns="0" rIns="0" bIns="0" rtlCol="0" anchor="ctr"/>
          <a:lstStyle/>
          <a:p>
            <a:pPr marL="0" indent="0" algn="ctr">
              <a:buNone/>
            </a:pPr>
            <a:r>
              <a:rPr lang="en-US" sz="1300" dirty="0">
                <a:solidFill>
                  <a:srgbClr val="16323D"/>
                </a:solidFill>
              </a:rPr>
              <a:t>p &gt; α  →  Fail to reject H₀</a:t>
            </a:r>
            <a:endParaRPr lang="en-US" sz="1300" dirty="0"/>
          </a:p>
        </p:txBody>
      </p:sp>
      <p:sp>
        <p:nvSpPr>
          <p:cNvPr id="18" name="Text 16"/>
          <p:cNvSpPr/>
          <p:nvPr/>
        </p:nvSpPr>
        <p:spPr>
          <a:xfrm>
            <a:off x="5852160" y="4983480"/>
            <a:ext cx="5303520" cy="310896"/>
          </a:xfrm>
          <a:prstGeom prst="rect">
            <a:avLst/>
          </a:prstGeom>
          <a:noFill/>
          <a:ln/>
        </p:spPr>
        <p:txBody>
          <a:bodyPr wrap="square" lIns="0" tIns="0" rIns="0" bIns="0" rtlCol="0" anchor="ctr"/>
          <a:lstStyle/>
          <a:p>
            <a:pPr marL="0" indent="0" algn="ctr">
              <a:buNone/>
            </a:pPr>
            <a:r>
              <a:rPr lang="en-US" sz="1400" i="1" dirty="0">
                <a:solidFill>
                  <a:srgbClr val="66757C"/>
                </a:solidFill>
              </a:rPr>
              <a:t>Same data, different decision threshold.</a:t>
            </a:r>
            <a:endParaRPr lang="en-US" sz="1400" dirty="0"/>
          </a:p>
        </p:txBody>
      </p:sp>
      <p:sp>
        <p:nvSpPr>
          <p:cNvPr id="25"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SMALL CALCULATION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Your turn: a new study</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Text 3"/>
          <p:cNvSpPr/>
          <p:nvPr/>
        </p:nvSpPr>
        <p:spPr>
          <a:xfrm>
            <a:off x="914400" y="1280160"/>
            <a:ext cx="2011680" cy="320040"/>
          </a:xfrm>
          <a:prstGeom prst="rect">
            <a:avLst/>
          </a:prstGeom>
          <a:noFill/>
          <a:ln/>
        </p:spPr>
        <p:txBody>
          <a:bodyPr wrap="square" lIns="0" tIns="0" rIns="0" bIns="0" rtlCol="0" anchor="ctr"/>
          <a:lstStyle/>
          <a:p>
            <a:pPr marL="0" indent="0">
              <a:buNone/>
            </a:pPr>
            <a:r>
              <a:rPr lang="en-US" sz="1800" b="1" dirty="0">
                <a:solidFill>
                  <a:srgbClr val="1F2D33"/>
                </a:solidFill>
              </a:rPr>
              <a:t>A study reports:</a:t>
            </a:r>
            <a:endParaRPr lang="en-US" sz="1800" dirty="0"/>
          </a:p>
        </p:txBody>
      </p:sp>
      <p:sp>
        <p:nvSpPr>
          <p:cNvPr id="6" name="Shape 4"/>
          <p:cNvSpPr/>
          <p:nvPr/>
        </p:nvSpPr>
        <p:spPr>
          <a:xfrm>
            <a:off x="914400" y="1783080"/>
            <a:ext cx="2194560" cy="594360"/>
          </a:xfrm>
          <a:prstGeom prst="roundRect">
            <a:avLst>
              <a:gd name="adj" fmla="val 9231"/>
            </a:avLst>
          </a:prstGeom>
          <a:solidFill>
            <a:srgbClr val="DDF4F9"/>
          </a:solidFill>
          <a:ln w="12700">
            <a:solidFill>
              <a:srgbClr val="DDF4F9"/>
            </a:solidFill>
            <a:prstDash val="solid"/>
          </a:ln>
        </p:spPr>
        <p:txBody>
          <a:bodyPr/>
          <a:lstStyle/>
          <a:p>
            <a:endParaRPr lang="en-GB"/>
          </a:p>
        </p:txBody>
      </p:sp>
      <p:sp>
        <p:nvSpPr>
          <p:cNvPr id="7" name="Text 5"/>
          <p:cNvSpPr/>
          <p:nvPr/>
        </p:nvSpPr>
        <p:spPr>
          <a:xfrm>
            <a:off x="1024128" y="1847088"/>
            <a:ext cx="1975104" cy="466344"/>
          </a:xfrm>
          <a:prstGeom prst="rect">
            <a:avLst/>
          </a:prstGeom>
          <a:noFill/>
          <a:ln/>
        </p:spPr>
        <p:txBody>
          <a:bodyPr wrap="square" lIns="254" tIns="254" rIns="254" bIns="254" rtlCol="0" anchor="ctr">
            <a:normAutofit/>
          </a:bodyPr>
          <a:lstStyle/>
          <a:p>
            <a:pPr marL="0" indent="0" algn="ctr">
              <a:buNone/>
            </a:pPr>
            <a:r>
              <a:rPr lang="en-US" sz="2200" b="1" dirty="0">
                <a:solidFill>
                  <a:srgbClr val="00566B"/>
                </a:solidFill>
                <a:latin typeface="Cambria Math" pitchFamily="34" charset="0"/>
                <a:ea typeface="Cambria Math" pitchFamily="34" charset="-122"/>
                <a:cs typeface="Cambria Math" pitchFamily="34" charset="-120"/>
              </a:rPr>
              <a:t>b₂ = 0.084</a:t>
            </a:r>
            <a:endParaRPr lang="en-US" sz="2200" dirty="0"/>
          </a:p>
        </p:txBody>
      </p:sp>
      <p:sp>
        <p:nvSpPr>
          <p:cNvPr id="8" name="Shape 6"/>
          <p:cNvSpPr/>
          <p:nvPr/>
        </p:nvSpPr>
        <p:spPr>
          <a:xfrm>
            <a:off x="3429000" y="1783080"/>
            <a:ext cx="2651760" cy="594360"/>
          </a:xfrm>
          <a:prstGeom prst="roundRect">
            <a:avLst>
              <a:gd name="adj" fmla="val 9231"/>
            </a:avLst>
          </a:prstGeom>
          <a:solidFill>
            <a:srgbClr val="F4F6F7"/>
          </a:solidFill>
          <a:ln w="12700">
            <a:solidFill>
              <a:srgbClr val="F4F6F7"/>
            </a:solidFill>
            <a:prstDash val="solid"/>
          </a:ln>
        </p:spPr>
        <p:txBody>
          <a:bodyPr/>
          <a:lstStyle/>
          <a:p>
            <a:endParaRPr lang="en-GB"/>
          </a:p>
        </p:txBody>
      </p:sp>
      <p:sp>
        <p:nvSpPr>
          <p:cNvPr id="9" name="Text 7"/>
          <p:cNvSpPr/>
          <p:nvPr/>
        </p:nvSpPr>
        <p:spPr>
          <a:xfrm>
            <a:off x="3538728" y="1847088"/>
            <a:ext cx="2432304" cy="466344"/>
          </a:xfrm>
          <a:prstGeom prst="rect">
            <a:avLst/>
          </a:prstGeom>
          <a:noFill/>
          <a:ln/>
        </p:spPr>
        <p:txBody>
          <a:bodyPr wrap="square" lIns="254" tIns="254" rIns="254" bIns="254" rtlCol="0" anchor="ctr">
            <a:normAutofit/>
          </a:bodyPr>
          <a:lstStyle/>
          <a:p>
            <a:pPr marL="0" indent="0" algn="ctr">
              <a:buNone/>
            </a:pPr>
            <a:r>
              <a:rPr lang="en-US" sz="2100" b="1" dirty="0">
                <a:solidFill>
                  <a:srgbClr val="1F2D33"/>
                </a:solidFill>
                <a:latin typeface="Cambria Math" pitchFamily="34" charset="0"/>
                <a:ea typeface="Cambria Math" pitchFamily="34" charset="-122"/>
                <a:cs typeface="Cambria Math" pitchFamily="34" charset="-120"/>
              </a:rPr>
              <a:t>se(b₂) = 0.016</a:t>
            </a:r>
            <a:endParaRPr lang="en-US" sz="2100" dirty="0"/>
          </a:p>
        </p:txBody>
      </p:sp>
      <p:sp>
        <p:nvSpPr>
          <p:cNvPr id="10" name="Shape 8"/>
          <p:cNvSpPr/>
          <p:nvPr/>
        </p:nvSpPr>
        <p:spPr>
          <a:xfrm>
            <a:off x="6400800" y="1783080"/>
            <a:ext cx="1828800" cy="594360"/>
          </a:xfrm>
          <a:prstGeom prst="roundRect">
            <a:avLst>
              <a:gd name="adj" fmla="val 9231"/>
            </a:avLst>
          </a:prstGeom>
          <a:solidFill>
            <a:srgbClr val="FFF1F2"/>
          </a:solidFill>
          <a:ln w="12700">
            <a:solidFill>
              <a:srgbClr val="FFF1F2"/>
            </a:solidFill>
            <a:prstDash val="solid"/>
          </a:ln>
        </p:spPr>
        <p:txBody>
          <a:bodyPr/>
          <a:lstStyle/>
          <a:p>
            <a:endParaRPr lang="en-GB"/>
          </a:p>
        </p:txBody>
      </p:sp>
      <p:sp>
        <p:nvSpPr>
          <p:cNvPr id="11" name="Text 9"/>
          <p:cNvSpPr/>
          <p:nvPr/>
        </p:nvSpPr>
        <p:spPr>
          <a:xfrm>
            <a:off x="6510528" y="1847088"/>
            <a:ext cx="1609344" cy="466344"/>
          </a:xfrm>
          <a:prstGeom prst="rect">
            <a:avLst/>
          </a:prstGeom>
          <a:noFill/>
          <a:ln/>
        </p:spPr>
        <p:txBody>
          <a:bodyPr wrap="square" lIns="254" tIns="254" rIns="254" bIns="254" rtlCol="0" anchor="ctr">
            <a:normAutofit/>
          </a:bodyPr>
          <a:lstStyle/>
          <a:p>
            <a:pPr marL="0" indent="0" algn="ctr">
              <a:buNone/>
            </a:pPr>
            <a:r>
              <a:rPr lang="en-US" sz="2100" b="1" dirty="0">
                <a:solidFill>
                  <a:srgbClr val="D71920"/>
                </a:solidFill>
                <a:latin typeface="Cambria Math" pitchFamily="34" charset="0"/>
                <a:ea typeface="Cambria Math" pitchFamily="34" charset="-122"/>
                <a:cs typeface="Cambria Math" pitchFamily="34" charset="-120"/>
              </a:rPr>
              <a:t>df = 48</a:t>
            </a:r>
            <a:endParaRPr lang="en-US" sz="2100" dirty="0"/>
          </a:p>
        </p:txBody>
      </p:sp>
      <p:sp>
        <p:nvSpPr>
          <p:cNvPr id="12" name="Text 10"/>
          <p:cNvSpPr/>
          <p:nvPr/>
        </p:nvSpPr>
        <p:spPr>
          <a:xfrm>
            <a:off x="914400" y="2743200"/>
            <a:ext cx="2560320" cy="320040"/>
          </a:xfrm>
          <a:prstGeom prst="rect">
            <a:avLst/>
          </a:prstGeom>
          <a:noFill/>
          <a:ln/>
        </p:spPr>
        <p:txBody>
          <a:bodyPr wrap="square" lIns="0" tIns="0" rIns="0" bIns="0" rtlCol="0" anchor="ctr"/>
          <a:lstStyle/>
          <a:p>
            <a:pPr marL="0" indent="0">
              <a:buNone/>
            </a:pPr>
            <a:r>
              <a:rPr lang="en-US" sz="1800" b="1" dirty="0">
                <a:solidFill>
                  <a:srgbClr val="1F2D33"/>
                </a:solidFill>
              </a:rPr>
              <a:t>Test at α = 0.05:</a:t>
            </a:r>
            <a:endParaRPr lang="en-US" sz="1800" dirty="0"/>
          </a:p>
        </p:txBody>
      </p:sp>
      <p:sp>
        <p:nvSpPr>
          <p:cNvPr id="13" name="Shape 11"/>
          <p:cNvSpPr/>
          <p:nvPr/>
        </p:nvSpPr>
        <p:spPr>
          <a:xfrm>
            <a:off x="914400" y="3246120"/>
            <a:ext cx="7315200" cy="640080"/>
          </a:xfrm>
          <a:prstGeom prst="roundRect">
            <a:avLst>
              <a:gd name="adj" fmla="val 8571"/>
            </a:avLst>
          </a:prstGeom>
          <a:solidFill>
            <a:srgbClr val="FFFFFF"/>
          </a:solidFill>
          <a:ln w="12700">
            <a:solidFill>
              <a:srgbClr val="FFFFFF"/>
            </a:solidFill>
            <a:prstDash val="solid"/>
          </a:ln>
        </p:spPr>
        <p:txBody>
          <a:bodyPr/>
          <a:lstStyle/>
          <a:p>
            <a:endParaRPr lang="en-GB"/>
          </a:p>
        </p:txBody>
      </p:sp>
      <p:sp>
        <p:nvSpPr>
          <p:cNvPr id="14" name="Text 12"/>
          <p:cNvSpPr/>
          <p:nvPr/>
        </p:nvSpPr>
        <p:spPr>
          <a:xfrm>
            <a:off x="1024128" y="3310128"/>
            <a:ext cx="7095744" cy="512064"/>
          </a:xfrm>
          <a:prstGeom prst="rect">
            <a:avLst/>
          </a:prstGeom>
          <a:noFill/>
          <a:ln/>
        </p:spPr>
        <p:txBody>
          <a:bodyPr wrap="square" lIns="254" tIns="254" rIns="254" bIns="254" rtlCol="0" anchor="ctr">
            <a:normAutofit/>
          </a:bodyPr>
          <a:lstStyle/>
          <a:p>
            <a:pPr marL="0" indent="0" algn="ctr">
              <a:buNone/>
            </a:pPr>
            <a:r>
              <a:rPr lang="en-US" sz="2100" b="1" dirty="0">
                <a:solidFill>
                  <a:srgbClr val="00566B"/>
                </a:solidFill>
                <a:latin typeface="Cambria Math" pitchFamily="34" charset="0"/>
                <a:ea typeface="Cambria Math" pitchFamily="34" charset="-122"/>
                <a:cs typeface="Cambria Math" pitchFamily="34" charset="-120"/>
              </a:rPr>
              <a:t>H₀: β₂ ≤ 0.055    vs.    H₁: β₂ &gt; 0.055</a:t>
            </a:r>
            <a:endParaRPr lang="en-US" sz="2100" dirty="0"/>
          </a:p>
        </p:txBody>
      </p:sp>
      <p:sp>
        <p:nvSpPr>
          <p:cNvPr id="15" name="Text 13"/>
          <p:cNvSpPr/>
          <p:nvPr/>
        </p:nvSpPr>
        <p:spPr>
          <a:xfrm>
            <a:off x="914400" y="4251960"/>
            <a:ext cx="5669280" cy="1371600"/>
          </a:xfrm>
          <a:prstGeom prst="rect">
            <a:avLst/>
          </a:prstGeom>
          <a:noFill/>
          <a:ln/>
        </p:spPr>
        <p:txBody>
          <a:bodyPr wrap="square" lIns="635" tIns="635" rIns="635" bIns="635" rtlCol="0" anchor="t"/>
          <a:lstStyle/>
          <a:p>
            <a:pPr marL="203200" indent="-203200">
              <a:buSzPct val="100000"/>
              <a:buChar char="•"/>
            </a:pPr>
            <a:r>
              <a:rPr lang="en-US" sz="1700" dirty="0">
                <a:solidFill>
                  <a:srgbClr val="1F2D33"/>
                </a:solidFill>
              </a:rPr>
              <a:t>Calculate t.</a:t>
            </a:r>
            <a:endParaRPr lang="en-US" sz="1700" dirty="0"/>
          </a:p>
          <a:p>
            <a:pPr marL="203200" indent="-203200">
              <a:buSzPct val="100000"/>
              <a:buChar char="•"/>
            </a:pPr>
            <a:r>
              <a:rPr lang="en-US" sz="1700" dirty="0">
                <a:solidFill>
                  <a:srgbClr val="1F2D33"/>
                </a:solidFill>
              </a:rPr>
              <a:t>Find the critical value or p-value.</a:t>
            </a:r>
            <a:endParaRPr lang="en-US" sz="1700" dirty="0"/>
          </a:p>
          <a:p>
            <a:pPr marL="203200" indent="-203200">
              <a:buSzPct val="100000"/>
              <a:buChar char="•"/>
            </a:pPr>
            <a:r>
              <a:rPr lang="en-US" sz="1700" dirty="0">
                <a:solidFill>
                  <a:srgbClr val="1F2D33"/>
                </a:solidFill>
              </a:rPr>
              <a:t>State the conclusion in one sentence.</a:t>
            </a:r>
            <a:endParaRPr lang="en-US" sz="1700" dirty="0"/>
          </a:p>
        </p:txBody>
      </p:sp>
      <p:sp>
        <p:nvSpPr>
          <p:cNvPr id="16" name="Text 14"/>
          <p:cNvSpPr/>
          <p:nvPr/>
        </p:nvSpPr>
        <p:spPr>
          <a:xfrm>
            <a:off x="7315200" y="4709160"/>
            <a:ext cx="2926080" cy="411480"/>
          </a:xfrm>
          <a:prstGeom prst="rect">
            <a:avLst/>
          </a:prstGeom>
          <a:noFill/>
          <a:ln/>
        </p:spPr>
        <p:txBody>
          <a:bodyPr wrap="square" lIns="0" tIns="0" rIns="0" bIns="0" rtlCol="0" anchor="ctr"/>
          <a:lstStyle/>
          <a:p>
            <a:pPr marL="0" indent="0" algn="ctr">
              <a:buNone/>
            </a:pPr>
            <a:r>
              <a:rPr lang="en-US" sz="1700" b="1" dirty="0">
                <a:solidFill>
                  <a:srgbClr val="D71920"/>
                </a:solidFill>
              </a:rPr>
              <a:t>Use R as a calculator.</a:t>
            </a:r>
            <a:endParaRPr lang="en-US" sz="17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A USEFUL CONNECTION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Two-sided tests and confidence intervals tell a consistent story</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1097280" y="1325880"/>
            <a:ext cx="4937760" cy="685800"/>
          </a:xfrm>
          <a:prstGeom prst="roundRect">
            <a:avLst>
              <a:gd name="adj" fmla="val 8000"/>
            </a:avLst>
          </a:prstGeom>
          <a:solidFill>
            <a:srgbClr val="DDF4F9"/>
          </a:solidFill>
          <a:ln w="12700">
            <a:solidFill>
              <a:srgbClr val="DDF4F9"/>
            </a:solidFill>
            <a:prstDash val="solid"/>
          </a:ln>
        </p:spPr>
        <p:txBody>
          <a:bodyPr/>
          <a:lstStyle/>
          <a:p>
            <a:endParaRPr lang="en-GB"/>
          </a:p>
        </p:txBody>
      </p:sp>
      <p:sp>
        <p:nvSpPr>
          <p:cNvPr id="6" name="Text 4"/>
          <p:cNvSpPr/>
          <p:nvPr/>
        </p:nvSpPr>
        <p:spPr>
          <a:xfrm>
            <a:off x="1207008" y="1389888"/>
            <a:ext cx="4718304" cy="557784"/>
          </a:xfrm>
          <a:prstGeom prst="rect">
            <a:avLst/>
          </a:prstGeom>
          <a:noFill/>
          <a:ln/>
        </p:spPr>
        <p:txBody>
          <a:bodyPr wrap="square" lIns="254" tIns="254" rIns="254" bIns="254" rtlCol="0" anchor="ctr">
            <a:normAutofit/>
          </a:bodyPr>
          <a:lstStyle/>
          <a:p>
            <a:pPr marL="0" indent="0" algn="ctr">
              <a:buNone/>
            </a:pPr>
            <a:r>
              <a:rPr lang="en-US" sz="2200" b="1" dirty="0">
                <a:solidFill>
                  <a:srgbClr val="00566B"/>
                </a:solidFill>
                <a:latin typeface="Cambria Math" pitchFamily="34" charset="0"/>
                <a:ea typeface="Cambria Math" pitchFamily="34" charset="-122"/>
                <a:cs typeface="Cambria Math" pitchFamily="34" charset="-120"/>
              </a:rPr>
              <a:t>H₀: β₂ = c    vs.    H₁: β₂ ≠ c</a:t>
            </a:r>
            <a:endParaRPr lang="en-US" sz="2200" dirty="0"/>
          </a:p>
        </p:txBody>
      </p:sp>
      <p:sp>
        <p:nvSpPr>
          <p:cNvPr id="7" name="Shape 5"/>
          <p:cNvSpPr/>
          <p:nvPr/>
        </p:nvSpPr>
        <p:spPr>
          <a:xfrm>
            <a:off x="1097280" y="2423160"/>
            <a:ext cx="3977640" cy="2011680"/>
          </a:xfrm>
          <a:prstGeom prst="roundRect">
            <a:avLst>
              <a:gd name="adj" fmla="val 3636"/>
            </a:avLst>
          </a:prstGeom>
          <a:solidFill>
            <a:srgbClr val="EFF9FB"/>
          </a:solidFill>
          <a:ln w="12700">
            <a:solidFill>
              <a:srgbClr val="EFF9FB"/>
            </a:solidFill>
            <a:prstDash val="solid"/>
          </a:ln>
        </p:spPr>
        <p:txBody>
          <a:bodyPr/>
          <a:lstStyle/>
          <a:p>
            <a:endParaRPr lang="en-GB"/>
          </a:p>
        </p:txBody>
      </p:sp>
      <p:sp>
        <p:nvSpPr>
          <p:cNvPr id="8" name="Text 6"/>
          <p:cNvSpPr/>
          <p:nvPr/>
        </p:nvSpPr>
        <p:spPr>
          <a:xfrm>
            <a:off x="1261872" y="2560320"/>
            <a:ext cx="3648456" cy="292608"/>
          </a:xfrm>
          <a:prstGeom prst="rect">
            <a:avLst/>
          </a:prstGeom>
          <a:noFill/>
          <a:ln/>
        </p:spPr>
        <p:txBody>
          <a:bodyPr wrap="square" lIns="0" tIns="0" rIns="0" bIns="0" rtlCol="0" anchor="ctr"/>
          <a:lstStyle/>
          <a:p>
            <a:pPr marL="0" indent="0" algn="ctr">
              <a:buNone/>
            </a:pPr>
            <a:r>
              <a:rPr lang="en-US" sz="1600" b="1" dirty="0">
                <a:solidFill>
                  <a:srgbClr val="00566B"/>
                </a:solidFill>
              </a:rPr>
              <a:t>If c is inside the 95% interval</a:t>
            </a:r>
            <a:endParaRPr lang="en-US" sz="1600" dirty="0"/>
          </a:p>
        </p:txBody>
      </p:sp>
      <p:sp>
        <p:nvSpPr>
          <p:cNvPr id="9" name="Text 7"/>
          <p:cNvSpPr/>
          <p:nvPr/>
        </p:nvSpPr>
        <p:spPr>
          <a:xfrm>
            <a:off x="1261872" y="2953512"/>
            <a:ext cx="3648456" cy="1325880"/>
          </a:xfrm>
          <a:prstGeom prst="rect">
            <a:avLst/>
          </a:prstGeom>
          <a:noFill/>
          <a:ln/>
        </p:spPr>
        <p:txBody>
          <a:bodyPr wrap="square" lIns="254" tIns="254" rIns="254" bIns="254" rtlCol="0" anchor="ctr"/>
          <a:lstStyle/>
          <a:p>
            <a:pPr marL="0" indent="0" algn="ctr">
              <a:buNone/>
            </a:pPr>
            <a:r>
              <a:rPr lang="en-US" sz="1400" dirty="0">
                <a:solidFill>
                  <a:srgbClr val="1F2D33"/>
                </a:solidFill>
              </a:rPr>
              <a:t>Fail to reject H₀</a:t>
            </a:r>
            <a:endParaRPr lang="en-US" sz="1400" dirty="0"/>
          </a:p>
          <a:p>
            <a:pPr marL="0" indent="0" algn="ctr">
              <a:buNone/>
            </a:pPr>
            <a:r>
              <a:rPr lang="en-US" sz="1400" dirty="0">
                <a:solidFill>
                  <a:srgbClr val="1F2D33"/>
                </a:solidFill>
              </a:rPr>
              <a:t>at α = 0.05</a:t>
            </a:r>
            <a:endParaRPr lang="en-US" sz="1400" dirty="0"/>
          </a:p>
        </p:txBody>
      </p:sp>
      <p:sp>
        <p:nvSpPr>
          <p:cNvPr id="10" name="Shape 8"/>
          <p:cNvSpPr/>
          <p:nvPr/>
        </p:nvSpPr>
        <p:spPr>
          <a:xfrm>
            <a:off x="6126480" y="2423160"/>
            <a:ext cx="3977640" cy="2011680"/>
          </a:xfrm>
          <a:prstGeom prst="roundRect">
            <a:avLst>
              <a:gd name="adj" fmla="val 3636"/>
            </a:avLst>
          </a:prstGeom>
          <a:solidFill>
            <a:srgbClr val="FFF1F2"/>
          </a:solidFill>
          <a:ln w="12700">
            <a:solidFill>
              <a:srgbClr val="FFF1F2"/>
            </a:solidFill>
            <a:prstDash val="solid"/>
          </a:ln>
        </p:spPr>
        <p:txBody>
          <a:bodyPr/>
          <a:lstStyle/>
          <a:p>
            <a:endParaRPr lang="en-GB"/>
          </a:p>
        </p:txBody>
      </p:sp>
      <p:sp>
        <p:nvSpPr>
          <p:cNvPr id="11" name="Text 9"/>
          <p:cNvSpPr/>
          <p:nvPr/>
        </p:nvSpPr>
        <p:spPr>
          <a:xfrm>
            <a:off x="6291072" y="2560320"/>
            <a:ext cx="3648456" cy="292608"/>
          </a:xfrm>
          <a:prstGeom prst="rect">
            <a:avLst/>
          </a:prstGeom>
          <a:noFill/>
          <a:ln/>
        </p:spPr>
        <p:txBody>
          <a:bodyPr wrap="square" lIns="0" tIns="0" rIns="0" bIns="0" rtlCol="0" anchor="ctr"/>
          <a:lstStyle/>
          <a:p>
            <a:pPr marL="0" indent="0" algn="ctr">
              <a:buNone/>
            </a:pPr>
            <a:r>
              <a:rPr lang="en-US" sz="1600" b="1" dirty="0">
                <a:solidFill>
                  <a:srgbClr val="D71920"/>
                </a:solidFill>
              </a:rPr>
              <a:t>If c is outside the 95% interval</a:t>
            </a:r>
            <a:endParaRPr lang="en-US" sz="1600" dirty="0"/>
          </a:p>
        </p:txBody>
      </p:sp>
      <p:sp>
        <p:nvSpPr>
          <p:cNvPr id="12" name="Text 10"/>
          <p:cNvSpPr/>
          <p:nvPr/>
        </p:nvSpPr>
        <p:spPr>
          <a:xfrm>
            <a:off x="6291072" y="2953512"/>
            <a:ext cx="3648456" cy="1325880"/>
          </a:xfrm>
          <a:prstGeom prst="rect">
            <a:avLst/>
          </a:prstGeom>
          <a:noFill/>
          <a:ln/>
        </p:spPr>
        <p:txBody>
          <a:bodyPr wrap="square" lIns="254" tIns="254" rIns="254" bIns="254" rtlCol="0" anchor="ctr"/>
          <a:lstStyle/>
          <a:p>
            <a:pPr marL="0" indent="0" algn="ctr">
              <a:buNone/>
            </a:pPr>
            <a:r>
              <a:rPr lang="en-US" sz="1400" dirty="0">
                <a:solidFill>
                  <a:srgbClr val="1F2D33"/>
                </a:solidFill>
              </a:rPr>
              <a:t>Reject H₀</a:t>
            </a:r>
            <a:endParaRPr lang="en-US" sz="1400" dirty="0"/>
          </a:p>
          <a:p>
            <a:pPr marL="0" indent="0" algn="ctr">
              <a:buNone/>
            </a:pPr>
            <a:r>
              <a:rPr lang="en-US" sz="1400" dirty="0">
                <a:solidFill>
                  <a:srgbClr val="1F2D33"/>
                </a:solidFill>
              </a:rPr>
              <a:t>at α = 0.05</a:t>
            </a:r>
            <a:endParaRPr lang="en-US" sz="1400" dirty="0"/>
          </a:p>
        </p:txBody>
      </p:sp>
      <p:sp>
        <p:nvSpPr>
          <p:cNvPr id="13" name="Text 11"/>
          <p:cNvSpPr/>
          <p:nvPr/>
        </p:nvSpPr>
        <p:spPr>
          <a:xfrm>
            <a:off x="1554480" y="5074920"/>
            <a:ext cx="8138160" cy="502920"/>
          </a:xfrm>
          <a:prstGeom prst="rect">
            <a:avLst/>
          </a:prstGeom>
          <a:noFill/>
          <a:ln/>
        </p:spPr>
        <p:txBody>
          <a:bodyPr wrap="square" lIns="0" tIns="0" rIns="0" bIns="0" rtlCol="0" anchor="ctr"/>
          <a:lstStyle/>
          <a:p>
            <a:pPr marL="0" indent="0" algn="ctr">
              <a:buNone/>
            </a:pPr>
            <a:r>
              <a:rPr lang="en-US" sz="1700" b="1" dirty="0">
                <a:solidFill>
                  <a:srgbClr val="64737A"/>
                </a:solidFill>
              </a:rPr>
              <a:t>This equivalence is for a two-sided 5% test and a 95% interval for the same parameter.</a:t>
            </a:r>
            <a:endParaRPr lang="en-US" sz="17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TYPE I AND TYPE II</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Errors are possible because we make decisions from samples</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914400" y="1417320"/>
            <a:ext cx="4206240" cy="2148840"/>
          </a:xfrm>
          <a:prstGeom prst="roundRect">
            <a:avLst>
              <a:gd name="adj" fmla="val 3404"/>
            </a:avLst>
          </a:prstGeom>
          <a:solidFill>
            <a:srgbClr val="FFF1F2"/>
          </a:solidFill>
          <a:ln w="12700">
            <a:solidFill>
              <a:srgbClr val="FFF1F2"/>
            </a:solidFill>
            <a:prstDash val="solid"/>
          </a:ln>
        </p:spPr>
        <p:txBody>
          <a:bodyPr/>
          <a:lstStyle/>
          <a:p>
            <a:endParaRPr lang="en-GB"/>
          </a:p>
        </p:txBody>
      </p:sp>
      <p:sp>
        <p:nvSpPr>
          <p:cNvPr id="6" name="Text 4"/>
          <p:cNvSpPr/>
          <p:nvPr/>
        </p:nvSpPr>
        <p:spPr>
          <a:xfrm>
            <a:off x="1078992" y="1554480"/>
            <a:ext cx="3877056" cy="292608"/>
          </a:xfrm>
          <a:prstGeom prst="rect">
            <a:avLst/>
          </a:prstGeom>
          <a:noFill/>
          <a:ln/>
        </p:spPr>
        <p:txBody>
          <a:bodyPr wrap="square" lIns="0" tIns="0" rIns="0" bIns="0" rtlCol="0" anchor="ctr"/>
          <a:lstStyle/>
          <a:p>
            <a:pPr marL="0" indent="0" algn="ctr">
              <a:buNone/>
            </a:pPr>
            <a:r>
              <a:rPr lang="en-US" sz="1600" b="1" dirty="0">
                <a:solidFill>
                  <a:srgbClr val="D71920"/>
                </a:solidFill>
              </a:rPr>
              <a:t>Type I error</a:t>
            </a:r>
            <a:endParaRPr lang="en-US" sz="1600" dirty="0"/>
          </a:p>
        </p:txBody>
      </p:sp>
      <p:sp>
        <p:nvSpPr>
          <p:cNvPr id="7" name="Text 5"/>
          <p:cNvSpPr/>
          <p:nvPr/>
        </p:nvSpPr>
        <p:spPr>
          <a:xfrm>
            <a:off x="1078992" y="1947672"/>
            <a:ext cx="3877056" cy="1463040"/>
          </a:xfrm>
          <a:prstGeom prst="rect">
            <a:avLst/>
          </a:prstGeom>
          <a:noFill/>
          <a:ln/>
        </p:spPr>
        <p:txBody>
          <a:bodyPr wrap="square" lIns="254" tIns="254" rIns="254" bIns="254" rtlCol="0" anchor="ctr"/>
          <a:lstStyle/>
          <a:p>
            <a:pPr marL="0" indent="0" algn="ctr">
              <a:buNone/>
            </a:pPr>
            <a:r>
              <a:rPr lang="en-US" sz="1400" dirty="0">
                <a:solidFill>
                  <a:srgbClr val="1F2D33"/>
                </a:solidFill>
              </a:rPr>
              <a:t>Reject H₀ even though H₀ is true.</a:t>
            </a:r>
            <a:endParaRPr lang="en-US" sz="1400" dirty="0"/>
          </a:p>
          <a:p>
            <a:pPr marL="0" indent="0" algn="ctr">
              <a:buNone/>
            </a:pPr>
            <a:endParaRPr lang="en-US" sz="1400" dirty="0"/>
          </a:p>
          <a:p>
            <a:pPr marL="0" indent="0" algn="ctr">
              <a:buNone/>
            </a:pPr>
            <a:r>
              <a:rPr lang="en-US" sz="1400" dirty="0">
                <a:solidFill>
                  <a:srgbClr val="1F2D33"/>
                </a:solidFill>
              </a:rPr>
              <a:t>For the supermarket: invest because we conclude β₂ &gt; 0.055 when the true slope is not above the threshold.</a:t>
            </a:r>
            <a:endParaRPr lang="en-US" sz="1400" dirty="0"/>
          </a:p>
        </p:txBody>
      </p:sp>
      <p:sp>
        <p:nvSpPr>
          <p:cNvPr id="8" name="Shape 6"/>
          <p:cNvSpPr/>
          <p:nvPr/>
        </p:nvSpPr>
        <p:spPr>
          <a:xfrm>
            <a:off x="6035040" y="1417320"/>
            <a:ext cx="4206240" cy="2148840"/>
          </a:xfrm>
          <a:prstGeom prst="roundRect">
            <a:avLst>
              <a:gd name="adj" fmla="val 3404"/>
            </a:avLst>
          </a:prstGeom>
          <a:solidFill>
            <a:srgbClr val="DDF4F9"/>
          </a:solidFill>
          <a:ln w="12700">
            <a:solidFill>
              <a:srgbClr val="DDF4F9"/>
            </a:solidFill>
            <a:prstDash val="solid"/>
          </a:ln>
        </p:spPr>
        <p:txBody>
          <a:bodyPr/>
          <a:lstStyle/>
          <a:p>
            <a:endParaRPr lang="en-GB"/>
          </a:p>
        </p:txBody>
      </p:sp>
      <p:sp>
        <p:nvSpPr>
          <p:cNvPr id="9" name="Text 7"/>
          <p:cNvSpPr/>
          <p:nvPr/>
        </p:nvSpPr>
        <p:spPr>
          <a:xfrm>
            <a:off x="6199632" y="1554480"/>
            <a:ext cx="3877056" cy="292608"/>
          </a:xfrm>
          <a:prstGeom prst="rect">
            <a:avLst/>
          </a:prstGeom>
          <a:noFill/>
          <a:ln/>
        </p:spPr>
        <p:txBody>
          <a:bodyPr wrap="square" lIns="0" tIns="0" rIns="0" bIns="0" rtlCol="0" anchor="ctr"/>
          <a:lstStyle/>
          <a:p>
            <a:pPr marL="0" indent="0" algn="ctr">
              <a:buNone/>
            </a:pPr>
            <a:r>
              <a:rPr lang="en-US" sz="1600" b="1" dirty="0">
                <a:solidFill>
                  <a:srgbClr val="00566B"/>
                </a:solidFill>
              </a:rPr>
              <a:t>Type II error</a:t>
            </a:r>
            <a:endParaRPr lang="en-US" sz="1600" dirty="0"/>
          </a:p>
        </p:txBody>
      </p:sp>
      <p:sp>
        <p:nvSpPr>
          <p:cNvPr id="10" name="Text 8"/>
          <p:cNvSpPr/>
          <p:nvPr/>
        </p:nvSpPr>
        <p:spPr>
          <a:xfrm>
            <a:off x="6199632" y="1947672"/>
            <a:ext cx="3877056" cy="1463040"/>
          </a:xfrm>
          <a:prstGeom prst="rect">
            <a:avLst/>
          </a:prstGeom>
          <a:noFill/>
          <a:ln/>
        </p:spPr>
        <p:txBody>
          <a:bodyPr wrap="square" lIns="254" tIns="254" rIns="254" bIns="254" rtlCol="0" anchor="ctr"/>
          <a:lstStyle/>
          <a:p>
            <a:pPr marL="0" indent="0" algn="ctr">
              <a:buNone/>
            </a:pPr>
            <a:r>
              <a:rPr lang="en-US" sz="1400" dirty="0">
                <a:solidFill>
                  <a:srgbClr val="1F2D33"/>
                </a:solidFill>
              </a:rPr>
              <a:t>Fail to reject H₀ even though the alternative is true.</a:t>
            </a:r>
            <a:endParaRPr lang="en-US" sz="1400" dirty="0"/>
          </a:p>
          <a:p>
            <a:pPr marL="0" indent="0" algn="ctr">
              <a:buNone/>
            </a:pPr>
            <a:endParaRPr lang="en-US" sz="1400" dirty="0"/>
          </a:p>
          <a:p>
            <a:pPr marL="0" indent="0" algn="ctr">
              <a:buNone/>
            </a:pPr>
            <a:r>
              <a:rPr lang="en-US" sz="1400" dirty="0">
                <a:solidFill>
                  <a:srgbClr val="1F2D33"/>
                </a:solidFill>
              </a:rPr>
              <a:t>For the supermarket: do not establish the threshold even though β₂ really is above 0.055.</a:t>
            </a:r>
            <a:endParaRPr lang="en-US" sz="1400" dirty="0"/>
          </a:p>
        </p:txBody>
      </p:sp>
      <p:sp>
        <p:nvSpPr>
          <p:cNvPr id="11" name="Text 9"/>
          <p:cNvSpPr/>
          <p:nvPr/>
        </p:nvSpPr>
        <p:spPr>
          <a:xfrm>
            <a:off x="1828800" y="4251960"/>
            <a:ext cx="7498080" cy="502920"/>
          </a:xfrm>
          <a:prstGeom prst="rect">
            <a:avLst/>
          </a:prstGeom>
          <a:noFill/>
          <a:ln/>
        </p:spPr>
        <p:txBody>
          <a:bodyPr wrap="square" lIns="0" tIns="0" rIns="0" bIns="0" rtlCol="0" anchor="ctr"/>
          <a:lstStyle/>
          <a:p>
            <a:pPr marL="0" indent="0" algn="ctr">
              <a:buNone/>
            </a:pPr>
            <a:r>
              <a:rPr lang="en-US" sz="2100" b="1" dirty="0">
                <a:solidFill>
                  <a:srgbClr val="1F2D33"/>
                </a:solidFill>
              </a:rPr>
              <a:t>α controls the probability of a Type I error under the null.</a:t>
            </a:r>
            <a:endParaRPr lang="en-US" sz="2100" dirty="0"/>
          </a:p>
        </p:txBody>
      </p:sp>
      <p:sp>
        <p:nvSpPr>
          <p:cNvPr id="12" name="Text 10"/>
          <p:cNvSpPr/>
          <p:nvPr/>
        </p:nvSpPr>
        <p:spPr>
          <a:xfrm>
            <a:off x="2880360" y="5074920"/>
            <a:ext cx="5394960" cy="365760"/>
          </a:xfrm>
          <a:prstGeom prst="rect">
            <a:avLst/>
          </a:prstGeom>
          <a:noFill/>
          <a:ln/>
        </p:spPr>
        <p:txBody>
          <a:bodyPr wrap="square" lIns="0" tIns="0" rIns="0" bIns="0" rtlCol="0" anchor="ctr"/>
          <a:lstStyle/>
          <a:p>
            <a:pPr marL="0" indent="0" algn="ctr">
              <a:buNone/>
            </a:pPr>
            <a:r>
              <a:rPr lang="en-US" sz="1600" dirty="0">
                <a:solidFill>
                  <a:srgbClr val="64737A"/>
                </a:solidFill>
              </a:rPr>
              <a:t>We will not develop power calculations here.</a:t>
            </a:r>
            <a:endParaRPr lang="en-US" sz="16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F988A268-A3BF-0D3B-FC1F-1A111DFD0ED7}"/>
              </a:ext>
            </a:extLst>
          </p:cNvPr>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Type I and Type II error illustrated</a:t>
            </a:r>
            <a:endParaRPr lang="en-US" sz="2400" dirty="0"/>
          </a:p>
        </p:txBody>
      </p:sp>
      <p:sp>
        <p:nvSpPr>
          <p:cNvPr id="7" name="Shape 2">
            <a:extLst>
              <a:ext uri="{FF2B5EF4-FFF2-40B4-BE49-F238E27FC236}">
                <a16:creationId xmlns:a16="http://schemas.microsoft.com/office/drawing/2014/main" id="{558B9A19-E2C3-0431-90E6-DB353620524E}"/>
              </a:ext>
            </a:extLst>
          </p:cNvPr>
          <p:cNvSpPr/>
          <p:nvPr/>
        </p:nvSpPr>
        <p:spPr>
          <a:xfrm>
            <a:off x="463973" y="1214119"/>
            <a:ext cx="1051560" cy="0"/>
          </a:xfrm>
          <a:prstGeom prst="line">
            <a:avLst/>
          </a:prstGeom>
          <a:noFill/>
          <a:ln w="38100">
            <a:solidFill>
              <a:srgbClr val="20B4D6"/>
            </a:solidFill>
            <a:prstDash val="solid"/>
          </a:ln>
        </p:spPr>
        <p:txBody>
          <a:bodyPr/>
          <a:lstStyle/>
          <a:p>
            <a:endParaRPr lang="en-GB"/>
          </a:p>
        </p:txBody>
      </p:sp>
      <p:pic>
        <p:nvPicPr>
          <p:cNvPr id="12" name="Bilde 11" descr="Type I and Type II errors explained! 🧑‍⚕️ A false positive can mislead,  just as a false negative can hide the truth. Knowing the difference between  errors is crucial in hypothesis testing. #">
            <a:extLst>
              <a:ext uri="{FF2B5EF4-FFF2-40B4-BE49-F238E27FC236}">
                <a16:creationId xmlns:a16="http://schemas.microsoft.com/office/drawing/2014/main" id="{B1A84C91-987A-61E0-781D-C355C04C841D}"/>
              </a:ext>
            </a:extLst>
          </p:cNvPr>
          <p:cNvPicPr>
            <a:picLocks noChangeAspect="1"/>
          </p:cNvPicPr>
          <p:nvPr/>
        </p:nvPicPr>
        <p:blipFill>
          <a:blip r:embed="rId2"/>
          <a:srcRect t="16195" b="17189"/>
          <a:stretch>
            <a:fillRect/>
          </a:stretch>
        </p:blipFill>
        <p:spPr>
          <a:xfrm>
            <a:off x="3141579" y="2548806"/>
            <a:ext cx="5617588" cy="3742266"/>
          </a:xfrm>
          <a:prstGeom prst="rect">
            <a:avLst/>
          </a:prstGeom>
        </p:spPr>
      </p:pic>
      <p:cxnSp>
        <p:nvCxnSpPr>
          <p:cNvPr id="14" name="Rett linje 13">
            <a:extLst>
              <a:ext uri="{FF2B5EF4-FFF2-40B4-BE49-F238E27FC236}">
                <a16:creationId xmlns:a16="http://schemas.microsoft.com/office/drawing/2014/main" id="{93F94010-F7DF-3676-5D96-EA8B6B69E62B}"/>
              </a:ext>
            </a:extLst>
          </p:cNvPr>
          <p:cNvCxnSpPr/>
          <p:nvPr/>
        </p:nvCxnSpPr>
        <p:spPr>
          <a:xfrm>
            <a:off x="828040" y="4458886"/>
            <a:ext cx="98382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Rett linje 14">
            <a:extLst>
              <a:ext uri="{FF2B5EF4-FFF2-40B4-BE49-F238E27FC236}">
                <a16:creationId xmlns:a16="http://schemas.microsoft.com/office/drawing/2014/main" id="{C104FE64-61E3-BA8B-9F45-3B324AE85CF5}"/>
              </a:ext>
            </a:extLst>
          </p:cNvPr>
          <p:cNvCxnSpPr>
            <a:cxnSpLocks/>
          </p:cNvCxnSpPr>
          <p:nvPr/>
        </p:nvCxnSpPr>
        <p:spPr>
          <a:xfrm>
            <a:off x="5950373" y="1791885"/>
            <a:ext cx="0" cy="48852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TekstSylinder 18">
                <a:extLst>
                  <a:ext uri="{FF2B5EF4-FFF2-40B4-BE49-F238E27FC236}">
                    <a16:creationId xmlns:a16="http://schemas.microsoft.com/office/drawing/2014/main" id="{C6E78B09-E0F2-DC55-29E9-DBFBBDA5BDD3}"/>
                  </a:ext>
                </a:extLst>
              </p:cNvPr>
              <p:cNvSpPr txBox="1"/>
              <p:nvPr/>
            </p:nvSpPr>
            <p:spPr>
              <a:xfrm>
                <a:off x="3767043" y="1924150"/>
                <a:ext cx="1557866" cy="369332"/>
              </a:xfrm>
              <a:prstGeom prst="rect">
                <a:avLst/>
              </a:prstGeom>
              <a:noFill/>
            </p:spPr>
            <p:txBody>
              <a:bodyPr wrap="square" rtlCol="0">
                <a:spAutoFit/>
              </a:bodyPr>
              <a:lstStyle/>
              <a:p>
                <a14:m>
                  <m:oMath xmlns:m="http://schemas.openxmlformats.org/officeDocument/2006/math">
                    <m:sSub>
                      <m:sSubPr>
                        <m:ctrlPr>
                          <a:rPr lang="nb-NO" b="0" i="1" smtClean="0">
                            <a:latin typeface="Cambria Math" panose="02040503050406030204" pitchFamily="18" charset="0"/>
                          </a:rPr>
                        </m:ctrlPr>
                      </m:sSubPr>
                      <m:e>
                        <m:r>
                          <a:rPr lang="nb-NO" b="0" i="1" smtClean="0">
                            <a:latin typeface="Cambria Math" panose="02040503050406030204" pitchFamily="18" charset="0"/>
                          </a:rPr>
                          <m:t>𝐻</m:t>
                        </m:r>
                      </m:e>
                      <m:sub>
                        <m:r>
                          <a:rPr lang="nb-NO" b="0" i="1" smtClean="0">
                            <a:latin typeface="Cambria Math" panose="02040503050406030204" pitchFamily="18" charset="0"/>
                          </a:rPr>
                          <m:t>0</m:t>
                        </m:r>
                      </m:sub>
                    </m:sSub>
                  </m:oMath>
                </a14:m>
                <a:r>
                  <a:rPr lang="en-GB" dirty="0"/>
                  <a:t>: is true</a:t>
                </a:r>
              </a:p>
            </p:txBody>
          </p:sp>
        </mc:Choice>
        <mc:Fallback>
          <p:sp>
            <p:nvSpPr>
              <p:cNvPr id="19" name="TekstSylinder 18">
                <a:extLst>
                  <a:ext uri="{FF2B5EF4-FFF2-40B4-BE49-F238E27FC236}">
                    <a16:creationId xmlns:a16="http://schemas.microsoft.com/office/drawing/2014/main" id="{C6E78B09-E0F2-DC55-29E9-DBFBBDA5BDD3}"/>
                  </a:ext>
                </a:extLst>
              </p:cNvPr>
              <p:cNvSpPr txBox="1">
                <a:spLocks noRot="1" noChangeAspect="1" noMove="1" noResize="1" noEditPoints="1" noAdjustHandles="1" noChangeArrowheads="1" noChangeShapeType="1" noTextEdit="1"/>
              </p:cNvSpPr>
              <p:nvPr/>
            </p:nvSpPr>
            <p:spPr>
              <a:xfrm>
                <a:off x="3767043" y="1924150"/>
                <a:ext cx="1557866" cy="369332"/>
              </a:xfrm>
              <a:prstGeom prst="rect">
                <a:avLst/>
              </a:prstGeom>
              <a:blipFill>
                <a:blip r:embed="rId3"/>
                <a:stretch>
                  <a:fillRect t="-8333" b="-28333"/>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21" name="TekstSylinder 20">
                <a:extLst>
                  <a:ext uri="{FF2B5EF4-FFF2-40B4-BE49-F238E27FC236}">
                    <a16:creationId xmlns:a16="http://schemas.microsoft.com/office/drawing/2014/main" id="{147CF1C5-92EE-B327-5559-9C8D0CCD452D}"/>
                  </a:ext>
                </a:extLst>
              </p:cNvPr>
              <p:cNvSpPr txBox="1"/>
              <p:nvPr/>
            </p:nvSpPr>
            <p:spPr>
              <a:xfrm>
                <a:off x="6529493" y="1891884"/>
                <a:ext cx="2013371" cy="369332"/>
              </a:xfrm>
              <a:prstGeom prst="rect">
                <a:avLst/>
              </a:prstGeom>
              <a:noFill/>
            </p:spPr>
            <p:txBody>
              <a:bodyPr wrap="square" rtlCol="0">
                <a:spAutoFit/>
              </a:bodyPr>
              <a:lstStyle/>
              <a:p>
                <a14:m>
                  <m:oMath xmlns:m="http://schemas.openxmlformats.org/officeDocument/2006/math">
                    <m:sSub>
                      <m:sSubPr>
                        <m:ctrlPr>
                          <a:rPr lang="nb-NO" i="1">
                            <a:latin typeface="Cambria Math" panose="02040503050406030204" pitchFamily="18" charset="0"/>
                          </a:rPr>
                        </m:ctrlPr>
                      </m:sSubPr>
                      <m:e>
                        <m:r>
                          <a:rPr lang="nb-NO" i="1">
                            <a:latin typeface="Cambria Math" panose="02040503050406030204" pitchFamily="18" charset="0"/>
                          </a:rPr>
                          <m:t>𝐻</m:t>
                        </m:r>
                      </m:e>
                      <m:sub>
                        <m:r>
                          <a:rPr lang="nb-NO" i="1">
                            <a:latin typeface="Cambria Math" panose="02040503050406030204" pitchFamily="18" charset="0"/>
                          </a:rPr>
                          <m:t>0</m:t>
                        </m:r>
                      </m:sub>
                    </m:sSub>
                  </m:oMath>
                </a14:m>
                <a:r>
                  <a:rPr lang="en-GB" dirty="0"/>
                  <a:t>:  is </a:t>
                </a:r>
                <a:r>
                  <a:rPr lang="en-GB" b="1" dirty="0"/>
                  <a:t>not</a:t>
                </a:r>
                <a:r>
                  <a:rPr lang="en-GB" dirty="0"/>
                  <a:t> true</a:t>
                </a:r>
              </a:p>
            </p:txBody>
          </p:sp>
        </mc:Choice>
        <mc:Fallback>
          <p:sp>
            <p:nvSpPr>
              <p:cNvPr id="21" name="TekstSylinder 20">
                <a:extLst>
                  <a:ext uri="{FF2B5EF4-FFF2-40B4-BE49-F238E27FC236}">
                    <a16:creationId xmlns:a16="http://schemas.microsoft.com/office/drawing/2014/main" id="{147CF1C5-92EE-B327-5559-9C8D0CCD452D}"/>
                  </a:ext>
                </a:extLst>
              </p:cNvPr>
              <p:cNvSpPr txBox="1">
                <a:spLocks noRot="1" noChangeAspect="1" noMove="1" noResize="1" noEditPoints="1" noAdjustHandles="1" noChangeArrowheads="1" noChangeShapeType="1" noTextEdit="1"/>
              </p:cNvSpPr>
              <p:nvPr/>
            </p:nvSpPr>
            <p:spPr>
              <a:xfrm>
                <a:off x="6529493" y="1891884"/>
                <a:ext cx="2013371" cy="369332"/>
              </a:xfrm>
              <a:prstGeom prst="rect">
                <a:avLst/>
              </a:prstGeom>
              <a:blipFill>
                <a:blip r:embed="rId4"/>
                <a:stretch>
                  <a:fillRect t="-6557" b="-26230"/>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23" name="TekstSylinder 22">
                <a:extLst>
                  <a:ext uri="{FF2B5EF4-FFF2-40B4-BE49-F238E27FC236}">
                    <a16:creationId xmlns:a16="http://schemas.microsoft.com/office/drawing/2014/main" id="{25A623F5-E3DC-5F31-DD8B-C5D9D22BC8A9}"/>
                  </a:ext>
                </a:extLst>
              </p:cNvPr>
              <p:cNvSpPr txBox="1"/>
              <p:nvPr/>
            </p:nvSpPr>
            <p:spPr>
              <a:xfrm>
                <a:off x="1270981" y="3292084"/>
                <a:ext cx="1557866" cy="369332"/>
              </a:xfrm>
              <a:prstGeom prst="rect">
                <a:avLst/>
              </a:prstGeom>
              <a:noFill/>
            </p:spPr>
            <p:txBody>
              <a:bodyPr wrap="square" rtlCol="0">
                <a:spAutoFit/>
              </a:bodyPr>
              <a:lstStyle/>
              <a:p>
                <a:r>
                  <a:rPr lang="nb-NO" b="0" dirty="0" err="1"/>
                  <a:t>Reject</a:t>
                </a:r>
                <a:r>
                  <a:rPr lang="nb-NO" b="0" dirty="0"/>
                  <a:t> </a:t>
                </a:r>
                <a14:m>
                  <m:oMath xmlns:m="http://schemas.openxmlformats.org/officeDocument/2006/math">
                    <m:sSub>
                      <m:sSubPr>
                        <m:ctrlPr>
                          <a:rPr lang="nb-NO" b="0" i="1" smtClean="0">
                            <a:latin typeface="Cambria Math" panose="02040503050406030204" pitchFamily="18" charset="0"/>
                          </a:rPr>
                        </m:ctrlPr>
                      </m:sSubPr>
                      <m:e>
                        <m:r>
                          <a:rPr lang="nb-NO" b="0" i="1" smtClean="0">
                            <a:latin typeface="Cambria Math" panose="02040503050406030204" pitchFamily="18" charset="0"/>
                          </a:rPr>
                          <m:t>𝐻</m:t>
                        </m:r>
                      </m:e>
                      <m:sub>
                        <m:r>
                          <a:rPr lang="nb-NO" b="0" i="1" smtClean="0">
                            <a:latin typeface="Cambria Math" panose="02040503050406030204" pitchFamily="18" charset="0"/>
                          </a:rPr>
                          <m:t>0</m:t>
                        </m:r>
                      </m:sub>
                    </m:sSub>
                  </m:oMath>
                </a14:m>
                <a:endParaRPr lang="en-GB" dirty="0"/>
              </a:p>
            </p:txBody>
          </p:sp>
        </mc:Choice>
        <mc:Fallback>
          <p:sp>
            <p:nvSpPr>
              <p:cNvPr id="23" name="TekstSylinder 22">
                <a:extLst>
                  <a:ext uri="{FF2B5EF4-FFF2-40B4-BE49-F238E27FC236}">
                    <a16:creationId xmlns:a16="http://schemas.microsoft.com/office/drawing/2014/main" id="{25A623F5-E3DC-5F31-DD8B-C5D9D22BC8A9}"/>
                  </a:ext>
                </a:extLst>
              </p:cNvPr>
              <p:cNvSpPr txBox="1">
                <a:spLocks noRot="1" noChangeAspect="1" noMove="1" noResize="1" noEditPoints="1" noAdjustHandles="1" noChangeArrowheads="1" noChangeShapeType="1" noTextEdit="1"/>
              </p:cNvSpPr>
              <p:nvPr/>
            </p:nvSpPr>
            <p:spPr>
              <a:xfrm>
                <a:off x="1270981" y="3292084"/>
                <a:ext cx="1557866" cy="369332"/>
              </a:xfrm>
              <a:prstGeom prst="rect">
                <a:avLst/>
              </a:prstGeom>
              <a:blipFill>
                <a:blip r:embed="rId5"/>
                <a:stretch>
                  <a:fillRect l="-3125" t="-6557" b="-26230"/>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25" name="TekstSylinder 24">
                <a:extLst>
                  <a:ext uri="{FF2B5EF4-FFF2-40B4-BE49-F238E27FC236}">
                    <a16:creationId xmlns:a16="http://schemas.microsoft.com/office/drawing/2014/main" id="{DA7C99A1-9F7E-C757-F9E0-059D039E3AD2}"/>
                  </a:ext>
                </a:extLst>
              </p:cNvPr>
              <p:cNvSpPr txBox="1"/>
              <p:nvPr/>
            </p:nvSpPr>
            <p:spPr>
              <a:xfrm>
                <a:off x="1234439" y="5196340"/>
                <a:ext cx="1557866" cy="369332"/>
              </a:xfrm>
              <a:prstGeom prst="rect">
                <a:avLst/>
              </a:prstGeom>
              <a:noFill/>
            </p:spPr>
            <p:txBody>
              <a:bodyPr wrap="square" rtlCol="0">
                <a:spAutoFit/>
              </a:bodyPr>
              <a:lstStyle/>
              <a:p>
                <a:r>
                  <a:rPr lang="nb-NO" b="0" dirty="0" err="1"/>
                  <a:t>Keep</a:t>
                </a:r>
                <a:r>
                  <a:rPr lang="nb-NO" b="0" dirty="0"/>
                  <a:t> </a:t>
                </a:r>
                <a14:m>
                  <m:oMath xmlns:m="http://schemas.openxmlformats.org/officeDocument/2006/math">
                    <m:sSub>
                      <m:sSubPr>
                        <m:ctrlPr>
                          <a:rPr lang="nb-NO" b="0" i="1" smtClean="0">
                            <a:latin typeface="Cambria Math" panose="02040503050406030204" pitchFamily="18" charset="0"/>
                          </a:rPr>
                        </m:ctrlPr>
                      </m:sSubPr>
                      <m:e>
                        <m:r>
                          <a:rPr lang="nb-NO" b="0" i="1" smtClean="0">
                            <a:latin typeface="Cambria Math" panose="02040503050406030204" pitchFamily="18" charset="0"/>
                          </a:rPr>
                          <m:t>𝐻</m:t>
                        </m:r>
                      </m:e>
                      <m:sub>
                        <m:r>
                          <a:rPr lang="nb-NO" b="0" i="1" smtClean="0">
                            <a:latin typeface="Cambria Math" panose="02040503050406030204" pitchFamily="18" charset="0"/>
                          </a:rPr>
                          <m:t>0</m:t>
                        </m:r>
                      </m:sub>
                    </m:sSub>
                  </m:oMath>
                </a14:m>
                <a:endParaRPr lang="en-GB" dirty="0"/>
              </a:p>
            </p:txBody>
          </p:sp>
        </mc:Choice>
        <mc:Fallback>
          <p:sp>
            <p:nvSpPr>
              <p:cNvPr id="25" name="TekstSylinder 24">
                <a:extLst>
                  <a:ext uri="{FF2B5EF4-FFF2-40B4-BE49-F238E27FC236}">
                    <a16:creationId xmlns:a16="http://schemas.microsoft.com/office/drawing/2014/main" id="{DA7C99A1-9F7E-C757-F9E0-059D039E3AD2}"/>
                  </a:ext>
                </a:extLst>
              </p:cNvPr>
              <p:cNvSpPr txBox="1">
                <a:spLocks noRot="1" noChangeAspect="1" noMove="1" noResize="1" noEditPoints="1" noAdjustHandles="1" noChangeArrowheads="1" noChangeShapeType="1" noTextEdit="1"/>
              </p:cNvSpPr>
              <p:nvPr/>
            </p:nvSpPr>
            <p:spPr>
              <a:xfrm>
                <a:off x="1234439" y="5196340"/>
                <a:ext cx="1557866" cy="369332"/>
              </a:xfrm>
              <a:prstGeom prst="rect">
                <a:avLst/>
              </a:prstGeom>
              <a:blipFill>
                <a:blip r:embed="rId6"/>
                <a:stretch>
                  <a:fillRect l="-3125" t="-6557" b="-26230"/>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27" name="TekstSylinder 26">
                <a:extLst>
                  <a:ext uri="{FF2B5EF4-FFF2-40B4-BE49-F238E27FC236}">
                    <a16:creationId xmlns:a16="http://schemas.microsoft.com/office/drawing/2014/main" id="{34629342-EA0B-9CA6-1215-ED47328E0D93}"/>
                  </a:ext>
                </a:extLst>
              </p:cNvPr>
              <p:cNvSpPr txBox="1"/>
              <p:nvPr/>
            </p:nvSpPr>
            <p:spPr>
              <a:xfrm>
                <a:off x="7247467" y="355107"/>
                <a:ext cx="3663948" cy="646331"/>
              </a:xfrm>
              <a:prstGeom prst="rect">
                <a:avLst/>
              </a:prstGeom>
              <a:noFill/>
            </p:spPr>
            <p:txBody>
              <a:bodyPr wrap="square">
                <a:spAutoFit/>
              </a:bodyPr>
              <a:lstStyle/>
              <a:p>
                <a:pPr/>
                <a14:m>
                  <m:oMath xmlns:m="http://schemas.openxmlformats.org/officeDocument/2006/math">
                    <m:sSub>
                      <m:sSubPr>
                        <m:ctrlPr>
                          <a:rPr lang="nb-NO" sz="1800" b="0" i="1" smtClean="0">
                            <a:latin typeface="Cambria Math" panose="02040503050406030204" pitchFamily="18" charset="0"/>
                          </a:rPr>
                        </m:ctrlPr>
                      </m:sSubPr>
                      <m:e>
                        <m:r>
                          <a:rPr lang="nb-NO" sz="1800" b="0" i="1" smtClean="0">
                            <a:latin typeface="Cambria Math" panose="02040503050406030204" pitchFamily="18" charset="0"/>
                          </a:rPr>
                          <m:t>𝐻</m:t>
                        </m:r>
                      </m:e>
                      <m:sub>
                        <m:r>
                          <a:rPr lang="nb-NO" sz="1800" b="0" i="1" smtClean="0">
                            <a:latin typeface="Cambria Math" panose="02040503050406030204" pitchFamily="18" charset="0"/>
                          </a:rPr>
                          <m:t>0</m:t>
                        </m:r>
                      </m:sub>
                    </m:sSub>
                  </m:oMath>
                </a14:m>
                <a:r>
                  <a:rPr lang="en-GB" dirty="0"/>
                  <a:t>: The person is </a:t>
                </a:r>
                <a:r>
                  <a:rPr lang="en-GB" b="1" dirty="0"/>
                  <a:t>not</a:t>
                </a:r>
                <a:r>
                  <a:rPr lang="en-GB" dirty="0"/>
                  <a:t> pregnant</a:t>
                </a:r>
              </a:p>
              <a:p>
                <a14:m>
                  <m:oMath xmlns:m="http://schemas.openxmlformats.org/officeDocument/2006/math">
                    <m:sSub>
                      <m:sSubPr>
                        <m:ctrlPr>
                          <a:rPr lang="nb-NO" i="1">
                            <a:latin typeface="Cambria Math" panose="02040503050406030204" pitchFamily="18" charset="0"/>
                          </a:rPr>
                        </m:ctrlPr>
                      </m:sSubPr>
                      <m:e>
                        <m:r>
                          <a:rPr lang="nb-NO" i="1">
                            <a:latin typeface="Cambria Math" panose="02040503050406030204" pitchFamily="18" charset="0"/>
                          </a:rPr>
                          <m:t>𝐻</m:t>
                        </m:r>
                      </m:e>
                      <m:sub>
                        <m:r>
                          <a:rPr lang="nb-NO" b="0" i="1" smtClean="0">
                            <a:latin typeface="Cambria Math" panose="02040503050406030204" pitchFamily="18" charset="0"/>
                          </a:rPr>
                          <m:t>1</m:t>
                        </m:r>
                      </m:sub>
                    </m:sSub>
                  </m:oMath>
                </a14:m>
                <a:r>
                  <a:rPr lang="en-GB" dirty="0"/>
                  <a:t>: The person is pregnant</a:t>
                </a:r>
              </a:p>
            </p:txBody>
          </p:sp>
        </mc:Choice>
        <mc:Fallback>
          <p:sp>
            <p:nvSpPr>
              <p:cNvPr id="27" name="TekstSylinder 26">
                <a:extLst>
                  <a:ext uri="{FF2B5EF4-FFF2-40B4-BE49-F238E27FC236}">
                    <a16:creationId xmlns:a16="http://schemas.microsoft.com/office/drawing/2014/main" id="{34629342-EA0B-9CA6-1215-ED47328E0D93}"/>
                  </a:ext>
                </a:extLst>
              </p:cNvPr>
              <p:cNvSpPr txBox="1">
                <a:spLocks noRot="1" noChangeAspect="1" noMove="1" noResize="1" noEditPoints="1" noAdjustHandles="1" noChangeArrowheads="1" noChangeShapeType="1" noTextEdit="1"/>
              </p:cNvSpPr>
              <p:nvPr/>
            </p:nvSpPr>
            <p:spPr>
              <a:xfrm>
                <a:off x="7247467" y="355107"/>
                <a:ext cx="3663948" cy="646331"/>
              </a:xfrm>
              <a:prstGeom prst="rect">
                <a:avLst/>
              </a:prstGeom>
              <a:blipFill>
                <a:blip r:embed="rId7"/>
                <a:stretch>
                  <a:fillRect t="-3774" b="-15094"/>
                </a:stretch>
              </a:blipFill>
            </p:spPr>
            <p:txBody>
              <a:bodyPr/>
              <a:lstStyle/>
              <a:p>
                <a:r>
                  <a:rPr lang="en-GB">
                    <a:noFill/>
                  </a:rPr>
                  <a:t> </a:t>
                </a:r>
              </a:p>
            </p:txBody>
          </p:sp>
        </mc:Fallback>
      </mc:AlternateContent>
    </p:spTree>
    <p:extLst>
      <p:ext uri="{BB962C8B-B14F-4D97-AF65-F5344CB8AC3E}">
        <p14:creationId xmlns:p14="http://schemas.microsoft.com/office/powerpoint/2010/main" val="2054480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INTERPRETATION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Statistical significance is not economic importance</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822960" y="1417320"/>
            <a:ext cx="4297680" cy="2468880"/>
          </a:xfrm>
          <a:prstGeom prst="roundRect">
            <a:avLst>
              <a:gd name="adj" fmla="val 2963"/>
            </a:avLst>
          </a:prstGeom>
          <a:solidFill>
            <a:srgbClr val="DDF4F9"/>
          </a:solidFill>
          <a:ln w="12700">
            <a:solidFill>
              <a:srgbClr val="DDF4F9"/>
            </a:solidFill>
            <a:prstDash val="solid"/>
          </a:ln>
        </p:spPr>
        <p:txBody>
          <a:bodyPr/>
          <a:lstStyle/>
          <a:p>
            <a:endParaRPr lang="en-GB"/>
          </a:p>
        </p:txBody>
      </p:sp>
      <p:sp>
        <p:nvSpPr>
          <p:cNvPr id="6" name="Text 4"/>
          <p:cNvSpPr/>
          <p:nvPr/>
        </p:nvSpPr>
        <p:spPr>
          <a:xfrm>
            <a:off x="987552" y="1554480"/>
            <a:ext cx="3968496" cy="292608"/>
          </a:xfrm>
          <a:prstGeom prst="rect">
            <a:avLst/>
          </a:prstGeom>
          <a:noFill/>
          <a:ln/>
        </p:spPr>
        <p:txBody>
          <a:bodyPr wrap="square" lIns="0" tIns="0" rIns="0" bIns="0" rtlCol="0" anchor="ctr"/>
          <a:lstStyle/>
          <a:p>
            <a:pPr marL="0" indent="0" algn="ctr">
              <a:buNone/>
            </a:pPr>
            <a:r>
              <a:rPr lang="en-US" sz="1600" b="1" dirty="0">
                <a:solidFill>
                  <a:srgbClr val="00566B"/>
                </a:solidFill>
              </a:rPr>
              <a:t>Statistical question</a:t>
            </a:r>
            <a:endParaRPr lang="en-US" sz="1600" dirty="0"/>
          </a:p>
        </p:txBody>
      </p:sp>
      <p:sp>
        <p:nvSpPr>
          <p:cNvPr id="7" name="Text 5"/>
          <p:cNvSpPr/>
          <p:nvPr/>
        </p:nvSpPr>
        <p:spPr>
          <a:xfrm>
            <a:off x="987552" y="1947672"/>
            <a:ext cx="3968496" cy="1783080"/>
          </a:xfrm>
          <a:prstGeom prst="rect">
            <a:avLst/>
          </a:prstGeom>
          <a:noFill/>
          <a:ln/>
        </p:spPr>
        <p:txBody>
          <a:bodyPr wrap="square" lIns="254" tIns="254" rIns="254" bIns="254" rtlCol="0" anchor="ctr"/>
          <a:lstStyle/>
          <a:p>
            <a:pPr marL="0" indent="0" algn="ctr">
              <a:buNone/>
            </a:pPr>
            <a:r>
              <a:rPr lang="en-US" sz="1400" dirty="0">
                <a:solidFill>
                  <a:srgbClr val="1F2D33"/>
                </a:solidFill>
              </a:rPr>
              <a:t>Is the estimated difference large relative to its sampling uncertainty?</a:t>
            </a:r>
            <a:endParaRPr lang="en-US" sz="1400" dirty="0"/>
          </a:p>
          <a:p>
            <a:pPr marL="0" indent="0" algn="ctr">
              <a:buNone/>
            </a:pPr>
            <a:endParaRPr lang="en-US" sz="1400" dirty="0"/>
          </a:p>
          <a:p>
            <a:pPr marL="0" indent="0" algn="ctr">
              <a:buNone/>
            </a:pPr>
            <a:r>
              <a:rPr lang="en-US" sz="1400" dirty="0">
                <a:solidFill>
                  <a:srgbClr val="1F2D33"/>
                </a:solidFill>
              </a:rPr>
              <a:t>This is what the t-statistic and p-value address.</a:t>
            </a:r>
            <a:endParaRPr lang="en-US" sz="1400" dirty="0"/>
          </a:p>
        </p:txBody>
      </p:sp>
      <p:sp>
        <p:nvSpPr>
          <p:cNvPr id="8" name="Shape 6"/>
          <p:cNvSpPr/>
          <p:nvPr/>
        </p:nvSpPr>
        <p:spPr>
          <a:xfrm>
            <a:off x="5852160" y="1417320"/>
            <a:ext cx="4297680" cy="2468880"/>
          </a:xfrm>
          <a:prstGeom prst="roundRect">
            <a:avLst>
              <a:gd name="adj" fmla="val 2963"/>
            </a:avLst>
          </a:prstGeom>
          <a:solidFill>
            <a:srgbClr val="F4F6F7"/>
          </a:solidFill>
          <a:ln w="12700">
            <a:solidFill>
              <a:srgbClr val="F4F6F7"/>
            </a:solidFill>
            <a:prstDash val="solid"/>
          </a:ln>
        </p:spPr>
        <p:txBody>
          <a:bodyPr/>
          <a:lstStyle/>
          <a:p>
            <a:endParaRPr lang="en-GB"/>
          </a:p>
        </p:txBody>
      </p:sp>
      <p:sp>
        <p:nvSpPr>
          <p:cNvPr id="9" name="Text 7"/>
          <p:cNvSpPr/>
          <p:nvPr/>
        </p:nvSpPr>
        <p:spPr>
          <a:xfrm>
            <a:off x="6016752" y="1554480"/>
            <a:ext cx="3968496" cy="292608"/>
          </a:xfrm>
          <a:prstGeom prst="rect">
            <a:avLst/>
          </a:prstGeom>
          <a:noFill/>
          <a:ln/>
        </p:spPr>
        <p:txBody>
          <a:bodyPr wrap="square" lIns="0" tIns="0" rIns="0" bIns="0" rtlCol="0" anchor="ctr"/>
          <a:lstStyle/>
          <a:p>
            <a:pPr marL="0" indent="0" algn="ctr">
              <a:buNone/>
            </a:pPr>
            <a:r>
              <a:rPr lang="en-US" sz="1600" b="1" dirty="0">
                <a:solidFill>
                  <a:srgbClr val="1F2D33"/>
                </a:solidFill>
              </a:rPr>
              <a:t>Economic question</a:t>
            </a:r>
            <a:endParaRPr lang="en-US" sz="1600" dirty="0"/>
          </a:p>
        </p:txBody>
      </p:sp>
      <p:sp>
        <p:nvSpPr>
          <p:cNvPr id="10" name="Text 8"/>
          <p:cNvSpPr/>
          <p:nvPr/>
        </p:nvSpPr>
        <p:spPr>
          <a:xfrm>
            <a:off x="6016752" y="1947672"/>
            <a:ext cx="3968496" cy="1783080"/>
          </a:xfrm>
          <a:prstGeom prst="rect">
            <a:avLst/>
          </a:prstGeom>
          <a:noFill/>
          <a:ln/>
        </p:spPr>
        <p:txBody>
          <a:bodyPr wrap="square" lIns="254" tIns="254" rIns="254" bIns="254" rtlCol="0" anchor="ctr"/>
          <a:lstStyle/>
          <a:p>
            <a:pPr marL="0" indent="0" algn="ctr">
              <a:buNone/>
            </a:pPr>
            <a:r>
              <a:rPr lang="en-US" sz="1400" dirty="0">
                <a:solidFill>
                  <a:srgbClr val="1F2D33"/>
                </a:solidFill>
              </a:rPr>
              <a:t>Is the magnitude large enough to matter for the actual decision?</a:t>
            </a:r>
            <a:endParaRPr lang="en-US" sz="1400" dirty="0"/>
          </a:p>
          <a:p>
            <a:pPr marL="0" indent="0" algn="ctr">
              <a:buNone/>
            </a:pPr>
            <a:endParaRPr lang="en-US" sz="1400" dirty="0"/>
          </a:p>
          <a:p>
            <a:pPr marL="0" indent="0" algn="ctr">
              <a:buNone/>
            </a:pPr>
            <a:r>
              <a:rPr lang="en-US" sz="1400" dirty="0">
                <a:solidFill>
                  <a:srgbClr val="1F2D33"/>
                </a:solidFill>
              </a:rPr>
              <a:t>This requires context, units, costs, benefits, and thresholds.</a:t>
            </a:r>
            <a:endParaRPr lang="en-US" sz="1400" dirty="0"/>
          </a:p>
        </p:txBody>
      </p:sp>
      <p:sp>
        <p:nvSpPr>
          <p:cNvPr id="11" name="Text 9"/>
          <p:cNvSpPr/>
          <p:nvPr/>
        </p:nvSpPr>
        <p:spPr>
          <a:xfrm>
            <a:off x="1097280" y="4617720"/>
            <a:ext cx="8778240" cy="685800"/>
          </a:xfrm>
          <a:prstGeom prst="rect">
            <a:avLst/>
          </a:prstGeom>
          <a:noFill/>
          <a:ln/>
        </p:spPr>
        <p:txBody>
          <a:bodyPr wrap="square" lIns="254" tIns="254" rIns="254" bIns="254" rtlCol="0" anchor="ctr"/>
          <a:lstStyle/>
          <a:p>
            <a:pPr marL="0" indent="0" algn="ctr">
              <a:buNone/>
            </a:pPr>
            <a:r>
              <a:rPr lang="en-US" sz="2000" b="1" dirty="0">
                <a:solidFill>
                  <a:srgbClr val="D71920"/>
                </a:solidFill>
              </a:rPr>
              <a:t>A tiny effect can be statistically significant in a large sample. A large estimate can be too imprecise to be statistically significant.</a:t>
            </a:r>
            <a:endParaRPr lang="en-US" sz="20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SCOPE OF THE REGRESSION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Inference does not create causality</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Text 3"/>
          <p:cNvSpPr/>
          <p:nvPr/>
        </p:nvSpPr>
        <p:spPr>
          <a:xfrm>
            <a:off x="914400" y="1234440"/>
            <a:ext cx="3840480" cy="365760"/>
          </a:xfrm>
          <a:prstGeom prst="rect">
            <a:avLst/>
          </a:prstGeom>
          <a:noFill/>
          <a:ln/>
        </p:spPr>
        <p:txBody>
          <a:bodyPr wrap="square" lIns="0" tIns="0" rIns="0" bIns="0" rtlCol="0" anchor="ctr"/>
          <a:lstStyle/>
          <a:p>
            <a:pPr marL="0" indent="0">
              <a:buNone/>
            </a:pPr>
            <a:r>
              <a:rPr lang="en-US" sz="2000" b="1" dirty="0">
                <a:solidFill>
                  <a:srgbClr val="1F2D33"/>
                </a:solidFill>
              </a:rPr>
              <a:t>Which statement is defensible?</a:t>
            </a:r>
            <a:endParaRPr lang="en-US" sz="2000" dirty="0"/>
          </a:p>
        </p:txBody>
      </p:sp>
      <p:sp>
        <p:nvSpPr>
          <p:cNvPr id="6" name="Shape 4"/>
          <p:cNvSpPr/>
          <p:nvPr/>
        </p:nvSpPr>
        <p:spPr>
          <a:xfrm>
            <a:off x="914400" y="1874520"/>
            <a:ext cx="3931920" cy="1234440"/>
          </a:xfrm>
          <a:prstGeom prst="roundRect">
            <a:avLst>
              <a:gd name="adj" fmla="val 5926"/>
            </a:avLst>
          </a:prstGeom>
          <a:solidFill>
            <a:srgbClr val="FFF1F2"/>
          </a:solidFill>
          <a:ln w="12700">
            <a:solidFill>
              <a:srgbClr val="FFF1F2"/>
            </a:solidFill>
            <a:prstDash val="solid"/>
          </a:ln>
        </p:spPr>
        <p:txBody>
          <a:bodyPr/>
          <a:lstStyle/>
          <a:p>
            <a:endParaRPr lang="en-GB"/>
          </a:p>
        </p:txBody>
      </p:sp>
      <p:sp>
        <p:nvSpPr>
          <p:cNvPr id="7" name="Text 5"/>
          <p:cNvSpPr/>
          <p:nvPr/>
        </p:nvSpPr>
        <p:spPr>
          <a:xfrm>
            <a:off x="1078992" y="2011680"/>
            <a:ext cx="3602736" cy="292608"/>
          </a:xfrm>
          <a:prstGeom prst="rect">
            <a:avLst/>
          </a:prstGeom>
          <a:noFill/>
          <a:ln/>
        </p:spPr>
        <p:txBody>
          <a:bodyPr wrap="square" lIns="0" tIns="0" rIns="0" bIns="0" rtlCol="0" anchor="ctr"/>
          <a:lstStyle/>
          <a:p>
            <a:pPr marL="0" indent="0" algn="ctr">
              <a:buNone/>
            </a:pPr>
            <a:r>
              <a:rPr lang="en-US" sz="1600" b="1" dirty="0">
                <a:solidFill>
                  <a:srgbClr val="D71920"/>
                </a:solidFill>
              </a:rPr>
              <a:t>A</a:t>
            </a:r>
            <a:endParaRPr lang="en-US" sz="1600" dirty="0"/>
          </a:p>
        </p:txBody>
      </p:sp>
      <p:sp>
        <p:nvSpPr>
          <p:cNvPr id="8" name="Text 6"/>
          <p:cNvSpPr/>
          <p:nvPr/>
        </p:nvSpPr>
        <p:spPr>
          <a:xfrm>
            <a:off x="1078992" y="2404872"/>
            <a:ext cx="3602736" cy="548640"/>
          </a:xfrm>
          <a:prstGeom prst="rect">
            <a:avLst/>
          </a:prstGeom>
          <a:noFill/>
          <a:ln/>
        </p:spPr>
        <p:txBody>
          <a:bodyPr wrap="square" lIns="254" tIns="254" rIns="254" bIns="254" rtlCol="0" anchor="ctr"/>
          <a:lstStyle/>
          <a:p>
            <a:pPr marL="0" indent="0" algn="ctr">
              <a:buNone/>
            </a:pPr>
            <a:r>
              <a:rPr lang="en-US" sz="1400" dirty="0">
                <a:solidFill>
                  <a:srgbClr val="1F2D33"/>
                </a:solidFill>
              </a:rPr>
              <a:t>Raising a household’s income by USD 100 causes food expenditure to rise by USD 10.21.</a:t>
            </a:r>
            <a:endParaRPr lang="en-US" sz="1400" dirty="0"/>
          </a:p>
        </p:txBody>
      </p:sp>
      <p:sp>
        <p:nvSpPr>
          <p:cNvPr id="9" name="Shape 7"/>
          <p:cNvSpPr/>
          <p:nvPr/>
        </p:nvSpPr>
        <p:spPr>
          <a:xfrm>
            <a:off x="5486400" y="1874520"/>
            <a:ext cx="3931920" cy="1234440"/>
          </a:xfrm>
          <a:prstGeom prst="roundRect">
            <a:avLst>
              <a:gd name="adj" fmla="val 5926"/>
            </a:avLst>
          </a:prstGeom>
          <a:solidFill>
            <a:srgbClr val="DDF4F9"/>
          </a:solidFill>
          <a:ln w="12700">
            <a:solidFill>
              <a:srgbClr val="DDF4F9"/>
            </a:solidFill>
            <a:prstDash val="solid"/>
          </a:ln>
        </p:spPr>
        <p:txBody>
          <a:bodyPr/>
          <a:lstStyle/>
          <a:p>
            <a:endParaRPr lang="en-GB"/>
          </a:p>
        </p:txBody>
      </p:sp>
      <p:sp>
        <p:nvSpPr>
          <p:cNvPr id="10" name="Text 8"/>
          <p:cNvSpPr/>
          <p:nvPr/>
        </p:nvSpPr>
        <p:spPr>
          <a:xfrm>
            <a:off x="5650992" y="2011680"/>
            <a:ext cx="3602736" cy="292608"/>
          </a:xfrm>
          <a:prstGeom prst="rect">
            <a:avLst/>
          </a:prstGeom>
          <a:noFill/>
          <a:ln/>
        </p:spPr>
        <p:txBody>
          <a:bodyPr wrap="square" lIns="0" tIns="0" rIns="0" bIns="0" rtlCol="0" anchor="ctr"/>
          <a:lstStyle/>
          <a:p>
            <a:pPr marL="0" indent="0" algn="ctr">
              <a:buNone/>
            </a:pPr>
            <a:r>
              <a:rPr lang="en-US" sz="1600" b="1" dirty="0">
                <a:solidFill>
                  <a:srgbClr val="00566B"/>
                </a:solidFill>
              </a:rPr>
              <a:t>B</a:t>
            </a:r>
            <a:endParaRPr lang="en-US" sz="1600" dirty="0"/>
          </a:p>
        </p:txBody>
      </p:sp>
      <p:sp>
        <p:nvSpPr>
          <p:cNvPr id="11" name="Text 9"/>
          <p:cNvSpPr/>
          <p:nvPr/>
        </p:nvSpPr>
        <p:spPr>
          <a:xfrm>
            <a:off x="5650992" y="2404872"/>
            <a:ext cx="3602736" cy="548640"/>
          </a:xfrm>
          <a:prstGeom prst="rect">
            <a:avLst/>
          </a:prstGeom>
          <a:noFill/>
          <a:ln/>
        </p:spPr>
        <p:txBody>
          <a:bodyPr wrap="square" lIns="254" tIns="254" rIns="254" bIns="254" rtlCol="0" anchor="ctr"/>
          <a:lstStyle/>
          <a:p>
            <a:pPr marL="0" indent="0" algn="ctr">
              <a:buNone/>
            </a:pPr>
            <a:r>
              <a:rPr lang="en-US" sz="1400" dirty="0">
                <a:solidFill>
                  <a:srgbClr val="1F2D33"/>
                </a:solidFill>
              </a:rPr>
              <a:t>In this sample, higher income is associated with higher food expenditure; the estimated slope is 0.1021.</a:t>
            </a:r>
            <a:endParaRPr lang="en-US" sz="1400" dirty="0"/>
          </a:p>
        </p:txBody>
      </p:sp>
      <p:sp>
        <p:nvSpPr>
          <p:cNvPr id="12" name="Text 10"/>
          <p:cNvSpPr/>
          <p:nvPr/>
        </p:nvSpPr>
        <p:spPr>
          <a:xfrm>
            <a:off x="1143000" y="4251960"/>
            <a:ext cx="8869680" cy="777240"/>
          </a:xfrm>
          <a:prstGeom prst="rect">
            <a:avLst/>
          </a:prstGeom>
          <a:noFill/>
          <a:ln/>
        </p:spPr>
        <p:txBody>
          <a:bodyPr wrap="square" lIns="254" tIns="254" rIns="254" bIns="254" rtlCol="0" anchor="ctr"/>
          <a:lstStyle/>
          <a:p>
            <a:pPr marL="0" indent="0" algn="ctr">
              <a:buNone/>
            </a:pPr>
            <a:r>
              <a:rPr lang="en-US" sz="2000" b="1" dirty="0">
                <a:solidFill>
                  <a:srgbClr val="00566B"/>
                </a:solidFill>
              </a:rPr>
              <a:t>Confidence intervals and hypothesis tests quantify sampling uncertainty conditional on the model assumptions. They do not solve identification.</a:t>
            </a:r>
            <a:endParaRPr lang="en-US" sz="20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SUMMARY</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Chapter 3: one chain of reasoning</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868680" y="1188720"/>
            <a:ext cx="3017520" cy="530352"/>
          </a:xfrm>
          <a:prstGeom prst="roundRect">
            <a:avLst/>
          </a:prstGeom>
          <a:solidFill>
            <a:srgbClr val="DDF4F9"/>
          </a:solidFill>
          <a:ln w="12700">
            <a:solidFill>
              <a:srgbClr val="20B4D6"/>
            </a:solidFill>
            <a:prstDash val="solid"/>
          </a:ln>
        </p:spPr>
        <p:txBody>
          <a:bodyPr/>
          <a:lstStyle/>
          <a:p>
            <a:endParaRPr lang="en-GB"/>
          </a:p>
        </p:txBody>
      </p:sp>
      <p:sp>
        <p:nvSpPr>
          <p:cNvPr id="6" name="Text 4"/>
          <p:cNvSpPr/>
          <p:nvPr/>
        </p:nvSpPr>
        <p:spPr>
          <a:xfrm>
            <a:off x="960120" y="1271016"/>
            <a:ext cx="2834640" cy="256032"/>
          </a:xfrm>
          <a:prstGeom prst="rect">
            <a:avLst/>
          </a:prstGeom>
          <a:noFill/>
          <a:ln/>
        </p:spPr>
        <p:txBody>
          <a:bodyPr wrap="square" lIns="0" tIns="0" rIns="0" bIns="0" rtlCol="0" anchor="ctr"/>
          <a:lstStyle/>
          <a:p>
            <a:pPr marL="0" indent="0" algn="ctr">
              <a:buNone/>
            </a:pPr>
            <a:r>
              <a:rPr lang="en-US" sz="1800" b="1" dirty="0">
                <a:solidFill>
                  <a:srgbClr val="00566B"/>
                </a:solidFill>
                <a:latin typeface="Cambria Math" pitchFamily="34" charset="0"/>
                <a:ea typeface="Cambria Math" pitchFamily="34" charset="-122"/>
                <a:cs typeface="Cambria Math" pitchFamily="34" charset="-120"/>
              </a:rPr>
              <a:t>β₂</a:t>
            </a:r>
            <a:endParaRPr lang="en-US" sz="1800" dirty="0"/>
          </a:p>
        </p:txBody>
      </p:sp>
      <p:sp>
        <p:nvSpPr>
          <p:cNvPr id="7" name="Text 5"/>
          <p:cNvSpPr/>
          <p:nvPr/>
        </p:nvSpPr>
        <p:spPr>
          <a:xfrm>
            <a:off x="4297680" y="1225296"/>
            <a:ext cx="5669280" cy="411480"/>
          </a:xfrm>
          <a:prstGeom prst="rect">
            <a:avLst/>
          </a:prstGeom>
          <a:noFill/>
          <a:ln/>
        </p:spPr>
        <p:txBody>
          <a:bodyPr wrap="square" lIns="0" tIns="0" rIns="0" bIns="0" rtlCol="0" anchor="ctr"/>
          <a:lstStyle/>
          <a:p>
            <a:pPr marL="0" indent="0">
              <a:buNone/>
            </a:pPr>
            <a:r>
              <a:rPr lang="en-US" sz="1700" dirty="0">
                <a:solidFill>
                  <a:srgbClr val="1F2D33"/>
                </a:solidFill>
              </a:rPr>
              <a:t>Fixed but unknown population parameter</a:t>
            </a:r>
            <a:endParaRPr lang="en-US" sz="1700" dirty="0"/>
          </a:p>
        </p:txBody>
      </p:sp>
      <p:sp>
        <p:nvSpPr>
          <p:cNvPr id="8" name="Text 6"/>
          <p:cNvSpPr/>
          <p:nvPr/>
        </p:nvSpPr>
        <p:spPr>
          <a:xfrm>
            <a:off x="2148840" y="1709928"/>
            <a:ext cx="457200" cy="256032"/>
          </a:xfrm>
          <a:prstGeom prst="rect">
            <a:avLst/>
          </a:prstGeom>
          <a:noFill/>
          <a:ln/>
        </p:spPr>
        <p:txBody>
          <a:bodyPr wrap="square" lIns="0" tIns="0" rIns="0" bIns="0" rtlCol="0" anchor="ctr"/>
          <a:lstStyle/>
          <a:p>
            <a:pPr marL="0" indent="0" algn="ctr">
              <a:buNone/>
            </a:pPr>
            <a:r>
              <a:rPr lang="en-US" sz="1700" dirty="0">
                <a:solidFill>
                  <a:srgbClr val="64737A"/>
                </a:solidFill>
              </a:rPr>
              <a:t>↓</a:t>
            </a:r>
            <a:endParaRPr lang="en-US" sz="1700" dirty="0"/>
          </a:p>
        </p:txBody>
      </p:sp>
      <p:sp>
        <p:nvSpPr>
          <p:cNvPr id="9" name="Shape 7"/>
          <p:cNvSpPr/>
          <p:nvPr/>
        </p:nvSpPr>
        <p:spPr>
          <a:xfrm>
            <a:off x="868680" y="1993392"/>
            <a:ext cx="3017520" cy="530352"/>
          </a:xfrm>
          <a:prstGeom prst="roundRect">
            <a:avLst/>
          </a:prstGeom>
          <a:solidFill>
            <a:srgbClr val="DDF4F9"/>
          </a:solidFill>
          <a:ln w="12700">
            <a:solidFill>
              <a:srgbClr val="20B4D6"/>
            </a:solidFill>
            <a:prstDash val="solid"/>
          </a:ln>
        </p:spPr>
        <p:txBody>
          <a:bodyPr/>
          <a:lstStyle/>
          <a:p>
            <a:endParaRPr lang="en-GB"/>
          </a:p>
        </p:txBody>
      </p:sp>
      <p:sp>
        <p:nvSpPr>
          <p:cNvPr id="10" name="Text 8"/>
          <p:cNvSpPr/>
          <p:nvPr/>
        </p:nvSpPr>
        <p:spPr>
          <a:xfrm>
            <a:off x="960120" y="2075688"/>
            <a:ext cx="2834640" cy="256032"/>
          </a:xfrm>
          <a:prstGeom prst="rect">
            <a:avLst/>
          </a:prstGeom>
          <a:noFill/>
          <a:ln/>
        </p:spPr>
        <p:txBody>
          <a:bodyPr wrap="square" lIns="0" tIns="0" rIns="0" bIns="0" rtlCol="0" anchor="ctr"/>
          <a:lstStyle/>
          <a:p>
            <a:pPr marL="0" indent="0" algn="ctr">
              <a:buNone/>
            </a:pPr>
            <a:r>
              <a:rPr lang="en-US" sz="1800" b="1" dirty="0">
                <a:solidFill>
                  <a:srgbClr val="00566B"/>
                </a:solidFill>
                <a:latin typeface="Cambria Math" pitchFamily="34" charset="0"/>
                <a:ea typeface="Cambria Math" pitchFamily="34" charset="-122"/>
                <a:cs typeface="Cambria Math" pitchFamily="34" charset="-120"/>
              </a:rPr>
              <a:t>b₂</a:t>
            </a:r>
            <a:endParaRPr lang="en-US" sz="1800" dirty="0"/>
          </a:p>
        </p:txBody>
      </p:sp>
      <p:sp>
        <p:nvSpPr>
          <p:cNvPr id="11" name="Text 9"/>
          <p:cNvSpPr/>
          <p:nvPr/>
        </p:nvSpPr>
        <p:spPr>
          <a:xfrm>
            <a:off x="4297680" y="2029968"/>
            <a:ext cx="5669280" cy="411480"/>
          </a:xfrm>
          <a:prstGeom prst="rect">
            <a:avLst/>
          </a:prstGeom>
          <a:noFill/>
          <a:ln/>
        </p:spPr>
        <p:txBody>
          <a:bodyPr wrap="square" lIns="0" tIns="0" rIns="0" bIns="0" rtlCol="0" anchor="ctr"/>
          <a:lstStyle/>
          <a:p>
            <a:pPr marL="0" indent="0">
              <a:buNone/>
            </a:pPr>
            <a:r>
              <a:rPr lang="en-US" sz="1700" dirty="0">
                <a:solidFill>
                  <a:srgbClr val="1F2D33"/>
                </a:solidFill>
              </a:rPr>
              <a:t>Estimate from one random sample</a:t>
            </a:r>
            <a:endParaRPr lang="en-US" sz="1700" dirty="0"/>
          </a:p>
        </p:txBody>
      </p:sp>
      <p:sp>
        <p:nvSpPr>
          <p:cNvPr id="12" name="Text 10"/>
          <p:cNvSpPr/>
          <p:nvPr/>
        </p:nvSpPr>
        <p:spPr>
          <a:xfrm>
            <a:off x="2148840" y="2514600"/>
            <a:ext cx="457200" cy="256032"/>
          </a:xfrm>
          <a:prstGeom prst="rect">
            <a:avLst/>
          </a:prstGeom>
          <a:noFill/>
          <a:ln/>
        </p:spPr>
        <p:txBody>
          <a:bodyPr wrap="square" lIns="0" tIns="0" rIns="0" bIns="0" rtlCol="0" anchor="ctr"/>
          <a:lstStyle/>
          <a:p>
            <a:pPr marL="0" indent="0" algn="ctr">
              <a:buNone/>
            </a:pPr>
            <a:r>
              <a:rPr lang="en-US" sz="1700" dirty="0">
                <a:solidFill>
                  <a:srgbClr val="64737A"/>
                </a:solidFill>
              </a:rPr>
              <a:t>↓</a:t>
            </a:r>
            <a:endParaRPr lang="en-US" sz="1700" dirty="0"/>
          </a:p>
        </p:txBody>
      </p:sp>
      <p:sp>
        <p:nvSpPr>
          <p:cNvPr id="13" name="Shape 11"/>
          <p:cNvSpPr/>
          <p:nvPr/>
        </p:nvSpPr>
        <p:spPr>
          <a:xfrm>
            <a:off x="868680" y="2798064"/>
            <a:ext cx="3017520" cy="530352"/>
          </a:xfrm>
          <a:prstGeom prst="roundRect">
            <a:avLst/>
          </a:prstGeom>
          <a:solidFill>
            <a:srgbClr val="DDF4F9"/>
          </a:solidFill>
          <a:ln w="12700">
            <a:solidFill>
              <a:srgbClr val="20B4D6"/>
            </a:solidFill>
            <a:prstDash val="solid"/>
          </a:ln>
        </p:spPr>
        <p:txBody>
          <a:bodyPr/>
          <a:lstStyle/>
          <a:p>
            <a:endParaRPr lang="en-GB"/>
          </a:p>
        </p:txBody>
      </p:sp>
      <p:sp>
        <p:nvSpPr>
          <p:cNvPr id="14" name="Text 12"/>
          <p:cNvSpPr/>
          <p:nvPr/>
        </p:nvSpPr>
        <p:spPr>
          <a:xfrm>
            <a:off x="960120" y="2880360"/>
            <a:ext cx="2834640" cy="256032"/>
          </a:xfrm>
          <a:prstGeom prst="rect">
            <a:avLst/>
          </a:prstGeom>
          <a:noFill/>
          <a:ln/>
        </p:spPr>
        <p:txBody>
          <a:bodyPr wrap="square" lIns="0" tIns="0" rIns="0" bIns="0" rtlCol="0" anchor="ctr"/>
          <a:lstStyle/>
          <a:p>
            <a:pPr marL="0" indent="0" algn="ctr">
              <a:buNone/>
            </a:pPr>
            <a:r>
              <a:rPr lang="en-US" sz="1800" b="1" dirty="0">
                <a:solidFill>
                  <a:srgbClr val="00566B"/>
                </a:solidFill>
                <a:latin typeface="Cambria Math" pitchFamily="34" charset="0"/>
                <a:ea typeface="Cambria Math" pitchFamily="34" charset="-122"/>
                <a:cs typeface="Cambria Math" pitchFamily="34" charset="-120"/>
              </a:rPr>
              <a:t>se(b₂)</a:t>
            </a:r>
            <a:endParaRPr lang="en-US" sz="1800" dirty="0"/>
          </a:p>
        </p:txBody>
      </p:sp>
      <p:sp>
        <p:nvSpPr>
          <p:cNvPr id="15" name="Text 13"/>
          <p:cNvSpPr/>
          <p:nvPr/>
        </p:nvSpPr>
        <p:spPr>
          <a:xfrm>
            <a:off x="4297680" y="2834640"/>
            <a:ext cx="5669280" cy="411480"/>
          </a:xfrm>
          <a:prstGeom prst="rect">
            <a:avLst/>
          </a:prstGeom>
          <a:noFill/>
          <a:ln/>
        </p:spPr>
        <p:txBody>
          <a:bodyPr wrap="square" lIns="0" tIns="0" rIns="0" bIns="0" rtlCol="0" anchor="ctr"/>
          <a:lstStyle/>
          <a:p>
            <a:pPr marL="0" indent="0">
              <a:buNone/>
            </a:pPr>
            <a:r>
              <a:rPr lang="en-US" sz="1700" dirty="0">
                <a:solidFill>
                  <a:srgbClr val="1F2D33"/>
                </a:solidFill>
              </a:rPr>
              <a:t>Estimated sampling variability</a:t>
            </a:r>
            <a:endParaRPr lang="en-US" sz="1700" dirty="0"/>
          </a:p>
        </p:txBody>
      </p:sp>
      <p:sp>
        <p:nvSpPr>
          <p:cNvPr id="16" name="Text 14"/>
          <p:cNvSpPr/>
          <p:nvPr/>
        </p:nvSpPr>
        <p:spPr>
          <a:xfrm>
            <a:off x="2148840" y="3319272"/>
            <a:ext cx="457200" cy="256032"/>
          </a:xfrm>
          <a:prstGeom prst="rect">
            <a:avLst/>
          </a:prstGeom>
          <a:noFill/>
          <a:ln/>
        </p:spPr>
        <p:txBody>
          <a:bodyPr wrap="square" lIns="0" tIns="0" rIns="0" bIns="0" rtlCol="0" anchor="ctr"/>
          <a:lstStyle/>
          <a:p>
            <a:pPr marL="0" indent="0" algn="ctr">
              <a:buNone/>
            </a:pPr>
            <a:r>
              <a:rPr lang="en-US" sz="1700" dirty="0">
                <a:solidFill>
                  <a:srgbClr val="64737A"/>
                </a:solidFill>
              </a:rPr>
              <a:t>↓</a:t>
            </a:r>
            <a:endParaRPr lang="en-US" sz="1700" dirty="0"/>
          </a:p>
        </p:txBody>
      </p:sp>
      <p:sp>
        <p:nvSpPr>
          <p:cNvPr id="17" name="Shape 15"/>
          <p:cNvSpPr/>
          <p:nvPr/>
        </p:nvSpPr>
        <p:spPr>
          <a:xfrm>
            <a:off x="868680" y="3602736"/>
            <a:ext cx="3017520" cy="530352"/>
          </a:xfrm>
          <a:prstGeom prst="roundRect">
            <a:avLst/>
          </a:prstGeom>
          <a:solidFill>
            <a:srgbClr val="F4F6F7"/>
          </a:solidFill>
          <a:ln w="12700">
            <a:solidFill>
              <a:srgbClr val="20B4D6"/>
            </a:solidFill>
            <a:prstDash val="solid"/>
          </a:ln>
        </p:spPr>
        <p:txBody>
          <a:bodyPr/>
          <a:lstStyle/>
          <a:p>
            <a:endParaRPr lang="en-GB"/>
          </a:p>
        </p:txBody>
      </p:sp>
      <p:sp>
        <p:nvSpPr>
          <p:cNvPr id="18" name="Text 16"/>
          <p:cNvSpPr/>
          <p:nvPr/>
        </p:nvSpPr>
        <p:spPr>
          <a:xfrm>
            <a:off x="960120" y="3685032"/>
            <a:ext cx="2834640" cy="256032"/>
          </a:xfrm>
          <a:prstGeom prst="rect">
            <a:avLst/>
          </a:prstGeom>
          <a:noFill/>
          <a:ln/>
        </p:spPr>
        <p:txBody>
          <a:bodyPr wrap="square" lIns="0" tIns="0" rIns="0" bIns="0" rtlCol="0" anchor="ctr"/>
          <a:lstStyle/>
          <a:p>
            <a:pPr marL="0" indent="0" algn="ctr">
              <a:buNone/>
            </a:pPr>
            <a:r>
              <a:rPr lang="en-US" sz="1800" b="1" dirty="0">
                <a:solidFill>
                  <a:srgbClr val="00566B"/>
                </a:solidFill>
                <a:latin typeface="Cambria Math" pitchFamily="34" charset="0"/>
                <a:ea typeface="Cambria Math" pitchFamily="34" charset="-122"/>
                <a:cs typeface="Cambria Math" pitchFamily="34" charset="-120"/>
              </a:rPr>
              <a:t>b₂ ± t_c se(b₂)</a:t>
            </a:r>
            <a:endParaRPr lang="en-US" sz="1800" dirty="0"/>
          </a:p>
        </p:txBody>
      </p:sp>
      <p:sp>
        <p:nvSpPr>
          <p:cNvPr id="19" name="Text 17"/>
          <p:cNvSpPr/>
          <p:nvPr/>
        </p:nvSpPr>
        <p:spPr>
          <a:xfrm>
            <a:off x="4297680" y="3639312"/>
            <a:ext cx="5669280" cy="411480"/>
          </a:xfrm>
          <a:prstGeom prst="rect">
            <a:avLst/>
          </a:prstGeom>
          <a:noFill/>
          <a:ln/>
        </p:spPr>
        <p:txBody>
          <a:bodyPr wrap="square" lIns="0" tIns="0" rIns="0" bIns="0" rtlCol="0" anchor="ctr"/>
          <a:lstStyle/>
          <a:p>
            <a:pPr marL="0" indent="0">
              <a:buNone/>
            </a:pPr>
            <a:r>
              <a:rPr lang="en-US" sz="1700" dirty="0">
                <a:solidFill>
                  <a:srgbClr val="1F2D33"/>
                </a:solidFill>
              </a:rPr>
              <a:t>Range of parameter values compatible with the sample</a:t>
            </a:r>
            <a:endParaRPr lang="en-US" sz="1700" dirty="0"/>
          </a:p>
        </p:txBody>
      </p:sp>
      <p:sp>
        <p:nvSpPr>
          <p:cNvPr id="20" name="Text 18"/>
          <p:cNvSpPr/>
          <p:nvPr/>
        </p:nvSpPr>
        <p:spPr>
          <a:xfrm>
            <a:off x="2148840" y="4123944"/>
            <a:ext cx="457200" cy="256032"/>
          </a:xfrm>
          <a:prstGeom prst="rect">
            <a:avLst/>
          </a:prstGeom>
          <a:noFill/>
          <a:ln/>
        </p:spPr>
        <p:txBody>
          <a:bodyPr wrap="square" lIns="0" tIns="0" rIns="0" bIns="0" rtlCol="0" anchor="ctr"/>
          <a:lstStyle/>
          <a:p>
            <a:pPr marL="0" indent="0" algn="ctr">
              <a:buNone/>
            </a:pPr>
            <a:r>
              <a:rPr lang="en-US" sz="1700" dirty="0">
                <a:solidFill>
                  <a:srgbClr val="64737A"/>
                </a:solidFill>
              </a:rPr>
              <a:t>↓</a:t>
            </a:r>
            <a:endParaRPr lang="en-US" sz="1700" dirty="0"/>
          </a:p>
        </p:txBody>
      </p:sp>
      <p:sp>
        <p:nvSpPr>
          <p:cNvPr id="21" name="Shape 19"/>
          <p:cNvSpPr/>
          <p:nvPr/>
        </p:nvSpPr>
        <p:spPr>
          <a:xfrm>
            <a:off x="868680" y="4407408"/>
            <a:ext cx="3017520" cy="530352"/>
          </a:xfrm>
          <a:prstGeom prst="roundRect">
            <a:avLst/>
          </a:prstGeom>
          <a:solidFill>
            <a:srgbClr val="F4F6F7"/>
          </a:solidFill>
          <a:ln w="12700">
            <a:solidFill>
              <a:srgbClr val="20B4D6"/>
            </a:solidFill>
            <a:prstDash val="solid"/>
          </a:ln>
        </p:spPr>
        <p:txBody>
          <a:bodyPr/>
          <a:lstStyle/>
          <a:p>
            <a:endParaRPr lang="en-GB"/>
          </a:p>
        </p:txBody>
      </p:sp>
      <p:sp>
        <p:nvSpPr>
          <p:cNvPr id="22" name="Text 20"/>
          <p:cNvSpPr/>
          <p:nvPr/>
        </p:nvSpPr>
        <p:spPr>
          <a:xfrm>
            <a:off x="960120" y="4489704"/>
            <a:ext cx="2834640" cy="256032"/>
          </a:xfrm>
          <a:prstGeom prst="rect">
            <a:avLst/>
          </a:prstGeom>
          <a:noFill/>
          <a:ln/>
        </p:spPr>
        <p:txBody>
          <a:bodyPr wrap="square" lIns="0" tIns="0" rIns="0" bIns="0" rtlCol="0" anchor="ctr"/>
          <a:lstStyle/>
          <a:p>
            <a:pPr marL="0" indent="0" algn="ctr">
              <a:buNone/>
            </a:pPr>
            <a:r>
              <a:rPr lang="en-US" sz="1800" b="1" dirty="0">
                <a:solidFill>
                  <a:srgbClr val="00566B"/>
                </a:solidFill>
                <a:latin typeface="Cambria Math" pitchFamily="34" charset="0"/>
                <a:ea typeface="Cambria Math" pitchFamily="34" charset="-122"/>
                <a:cs typeface="Cambria Math" pitchFamily="34" charset="-120"/>
              </a:rPr>
              <a:t>t = (b₂ − c) / se(b₂)</a:t>
            </a:r>
            <a:endParaRPr lang="en-US" sz="1800" dirty="0"/>
          </a:p>
        </p:txBody>
      </p:sp>
      <p:sp>
        <p:nvSpPr>
          <p:cNvPr id="23" name="Text 21"/>
          <p:cNvSpPr/>
          <p:nvPr/>
        </p:nvSpPr>
        <p:spPr>
          <a:xfrm>
            <a:off x="4297680" y="4443984"/>
            <a:ext cx="5669280" cy="411480"/>
          </a:xfrm>
          <a:prstGeom prst="rect">
            <a:avLst/>
          </a:prstGeom>
          <a:noFill/>
          <a:ln/>
        </p:spPr>
        <p:txBody>
          <a:bodyPr wrap="square" lIns="0" tIns="0" rIns="0" bIns="0" rtlCol="0" anchor="ctr"/>
          <a:lstStyle/>
          <a:p>
            <a:pPr marL="0" indent="0">
              <a:buNone/>
            </a:pPr>
            <a:r>
              <a:rPr lang="en-US" sz="1700" dirty="0">
                <a:solidFill>
                  <a:srgbClr val="1F2D33"/>
                </a:solidFill>
              </a:rPr>
              <a:t>Distance from a specific claim</a:t>
            </a:r>
            <a:endParaRPr lang="en-US" sz="1700" dirty="0"/>
          </a:p>
        </p:txBody>
      </p:sp>
      <p:sp>
        <p:nvSpPr>
          <p:cNvPr id="24" name="Text 22"/>
          <p:cNvSpPr/>
          <p:nvPr/>
        </p:nvSpPr>
        <p:spPr>
          <a:xfrm>
            <a:off x="2148840" y="4928616"/>
            <a:ext cx="457200" cy="256032"/>
          </a:xfrm>
          <a:prstGeom prst="rect">
            <a:avLst/>
          </a:prstGeom>
          <a:noFill/>
          <a:ln/>
        </p:spPr>
        <p:txBody>
          <a:bodyPr wrap="square" lIns="0" tIns="0" rIns="0" bIns="0" rtlCol="0" anchor="ctr"/>
          <a:lstStyle/>
          <a:p>
            <a:pPr marL="0" indent="0" algn="ctr">
              <a:buNone/>
            </a:pPr>
            <a:r>
              <a:rPr lang="en-US" sz="1700" dirty="0">
                <a:solidFill>
                  <a:srgbClr val="64737A"/>
                </a:solidFill>
              </a:rPr>
              <a:t>↓</a:t>
            </a:r>
            <a:endParaRPr lang="en-US" sz="1700" dirty="0"/>
          </a:p>
        </p:txBody>
      </p:sp>
      <p:sp>
        <p:nvSpPr>
          <p:cNvPr id="25" name="Shape 23"/>
          <p:cNvSpPr/>
          <p:nvPr/>
        </p:nvSpPr>
        <p:spPr>
          <a:xfrm>
            <a:off x="868680" y="5212080"/>
            <a:ext cx="3017520" cy="530352"/>
          </a:xfrm>
          <a:prstGeom prst="roundRect">
            <a:avLst/>
          </a:prstGeom>
          <a:solidFill>
            <a:srgbClr val="F4F6F7"/>
          </a:solidFill>
          <a:ln w="25400">
            <a:solidFill>
              <a:srgbClr val="D71920"/>
            </a:solidFill>
            <a:prstDash val="solid"/>
          </a:ln>
        </p:spPr>
        <p:txBody>
          <a:bodyPr/>
          <a:lstStyle/>
          <a:p>
            <a:endParaRPr lang="en-GB"/>
          </a:p>
        </p:txBody>
      </p:sp>
      <p:sp>
        <p:nvSpPr>
          <p:cNvPr id="26" name="Text 24"/>
          <p:cNvSpPr/>
          <p:nvPr/>
        </p:nvSpPr>
        <p:spPr>
          <a:xfrm>
            <a:off x="960120" y="5294376"/>
            <a:ext cx="2834640" cy="256032"/>
          </a:xfrm>
          <a:prstGeom prst="rect">
            <a:avLst/>
          </a:prstGeom>
          <a:noFill/>
          <a:ln/>
        </p:spPr>
        <p:txBody>
          <a:bodyPr wrap="square" lIns="0" tIns="0" rIns="0" bIns="0" rtlCol="0" anchor="ctr"/>
          <a:lstStyle/>
          <a:p>
            <a:pPr marL="0" indent="0" algn="ctr">
              <a:buNone/>
            </a:pPr>
            <a:r>
              <a:rPr lang="en-US" sz="1800" b="1" dirty="0">
                <a:solidFill>
                  <a:srgbClr val="D71920"/>
                </a:solidFill>
                <a:latin typeface="Cambria Math" pitchFamily="34" charset="0"/>
                <a:ea typeface="Cambria Math" pitchFamily="34" charset="-122"/>
                <a:cs typeface="Cambria Math" pitchFamily="34" charset="-120"/>
              </a:rPr>
              <a:t>p-value</a:t>
            </a:r>
            <a:endParaRPr lang="en-US" sz="1800" dirty="0"/>
          </a:p>
        </p:txBody>
      </p:sp>
      <p:sp>
        <p:nvSpPr>
          <p:cNvPr id="27" name="Text 25"/>
          <p:cNvSpPr/>
          <p:nvPr/>
        </p:nvSpPr>
        <p:spPr>
          <a:xfrm>
            <a:off x="4297680" y="5248656"/>
            <a:ext cx="5669280" cy="411480"/>
          </a:xfrm>
          <a:prstGeom prst="rect">
            <a:avLst/>
          </a:prstGeom>
          <a:noFill/>
          <a:ln/>
        </p:spPr>
        <p:txBody>
          <a:bodyPr wrap="square" lIns="0" tIns="0" rIns="0" bIns="0" rtlCol="0" anchor="ctr"/>
          <a:lstStyle/>
          <a:p>
            <a:pPr marL="0" indent="0">
              <a:buNone/>
            </a:pPr>
            <a:r>
              <a:rPr lang="en-US" sz="1700" dirty="0">
                <a:solidFill>
                  <a:srgbClr val="1F2D33"/>
                </a:solidFill>
              </a:rPr>
              <a:t>How unusual the observed t would be under H₀</a:t>
            </a:r>
            <a:endParaRPr lang="en-US" sz="1700" dirty="0"/>
          </a:p>
        </p:txBody>
      </p:sp>
      <p:sp>
        <p:nvSpPr>
          <p:cNvPr id="28" name="Text 26"/>
          <p:cNvSpPr/>
          <p:nvPr/>
        </p:nvSpPr>
        <p:spPr>
          <a:xfrm>
            <a:off x="1188720" y="6053328"/>
            <a:ext cx="8869680" cy="457200"/>
          </a:xfrm>
          <a:prstGeom prst="rect">
            <a:avLst/>
          </a:prstGeom>
          <a:noFill/>
          <a:ln/>
        </p:spPr>
        <p:txBody>
          <a:bodyPr wrap="square" lIns="0" tIns="0" rIns="0" bIns="0" rtlCol="0" anchor="ctr"/>
          <a:lstStyle/>
          <a:p>
            <a:pPr marL="0" indent="0" algn="ctr">
              <a:buNone/>
            </a:pPr>
            <a:r>
              <a:rPr lang="en-US" sz="1900" b="1" dirty="0">
                <a:solidFill>
                  <a:srgbClr val="D71920"/>
                </a:solidFill>
              </a:rPr>
              <a:t>The same sampling uncertainty underlies both interval estimation and hypothesis testing.</a:t>
            </a:r>
            <a:endParaRPr lang="en-US" sz="1900" dirty="0"/>
          </a:p>
        </p:txBody>
      </p:sp>
      <p:sp>
        <p:nvSpPr>
          <p:cNvPr id="29"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E7C82"/>
                </a:solidFill>
              </a:defRPr>
            </a:lvl1pPr>
          </a:lstStyle>
          <a:p>
            <a:pPr algn="l"/>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438912"/>
            <a:ext cx="2743200" cy="201168"/>
          </a:xfrm>
          <a:prstGeom prst="rect">
            <a:avLst/>
          </a:prstGeom>
          <a:noFill/>
          <a:ln/>
        </p:spPr>
        <p:txBody>
          <a:bodyPr wrap="square" lIns="0" tIns="0" rIns="0" bIns="0" rtlCol="0" anchor="ctr"/>
          <a:lstStyle/>
          <a:p>
            <a:pPr marL="0" indent="0">
              <a:buNone/>
            </a:pPr>
            <a:r>
              <a:rPr lang="en-US" sz="800" b="1" kern="0" spc="40" dirty="0">
                <a:solidFill>
                  <a:srgbClr val="20B4D6"/>
                </a:solidFill>
              </a:rPr>
              <a:t>BOOK EXERCISE 3.19(C)</a:t>
            </a:r>
            <a:endParaRPr lang="en-US" sz="800" dirty="0"/>
          </a:p>
        </p:txBody>
      </p:sp>
      <p:sp>
        <p:nvSpPr>
          <p:cNvPr id="3" name="Text 1"/>
          <p:cNvSpPr/>
          <p:nvPr/>
        </p:nvSpPr>
        <p:spPr>
          <a:xfrm>
            <a:off x="438912" y="658368"/>
            <a:ext cx="10927080" cy="475488"/>
          </a:xfrm>
          <a:prstGeom prst="rect">
            <a:avLst/>
          </a:prstGeom>
          <a:noFill/>
          <a:ln/>
        </p:spPr>
        <p:txBody>
          <a:bodyPr wrap="square" lIns="0" tIns="0" rIns="0" bIns="0" rtlCol="0" anchor="ctr">
            <a:normAutofit/>
          </a:bodyPr>
          <a:lstStyle/>
          <a:p>
            <a:pPr marL="0" indent="0">
              <a:buNone/>
            </a:pPr>
            <a:r>
              <a:rPr lang="en-US" sz="2300" dirty="0">
                <a:solidFill>
                  <a:srgbClr val="16323D"/>
                </a:solidFill>
              </a:rPr>
              <a:t>Worked example — motel occupancy</a:t>
            </a:r>
            <a:endParaRPr lang="en-US" sz="2300" dirty="0"/>
          </a:p>
        </p:txBody>
      </p:sp>
      <p:sp>
        <p:nvSpPr>
          <p:cNvPr id="4" name="Text 2"/>
          <p:cNvSpPr/>
          <p:nvPr/>
        </p:nvSpPr>
        <p:spPr>
          <a:xfrm>
            <a:off x="475488" y="1234440"/>
            <a:ext cx="1097280" cy="228600"/>
          </a:xfrm>
          <a:prstGeom prst="rect">
            <a:avLst/>
          </a:prstGeom>
          <a:noFill/>
          <a:ln/>
        </p:spPr>
        <p:txBody>
          <a:bodyPr wrap="square" lIns="0" tIns="0" rIns="0" bIns="0" rtlCol="0" anchor="ctr"/>
          <a:lstStyle/>
          <a:p>
            <a:pPr marL="0" indent="0">
              <a:buNone/>
            </a:pPr>
            <a:r>
              <a:rPr lang="en-US" sz="1000" b="1" dirty="0">
                <a:solidFill>
                  <a:srgbClr val="20B4D6"/>
                </a:solidFill>
              </a:rPr>
              <a:t>Model</a:t>
            </a:r>
            <a:endParaRPr lang="en-US" sz="1000" dirty="0"/>
          </a:p>
        </p:txBody>
      </p:sp>
      <p:sp>
        <p:nvSpPr>
          <p:cNvPr id="5" name="Shape 3"/>
          <p:cNvSpPr/>
          <p:nvPr/>
        </p:nvSpPr>
        <p:spPr>
          <a:xfrm>
            <a:off x="457200" y="1508760"/>
            <a:ext cx="5486400" cy="1188720"/>
          </a:xfrm>
          <a:prstGeom prst="roundRect">
            <a:avLst>
              <a:gd name="adj" fmla="val 6154"/>
            </a:avLst>
          </a:prstGeom>
          <a:solidFill>
            <a:srgbClr val="DDF4F9"/>
          </a:solidFill>
          <a:ln w="12700">
            <a:solidFill>
              <a:srgbClr val="CDEBF1"/>
            </a:solidFill>
            <a:prstDash val="solid"/>
          </a:ln>
        </p:spPr>
        <p:txBody>
          <a:bodyPr/>
          <a:lstStyle/>
          <a:p>
            <a:endParaRPr lang="en-GB"/>
          </a:p>
        </p:txBody>
      </p:sp>
      <p:sp>
        <p:nvSpPr>
          <p:cNvPr id="6" name="Text 4"/>
          <p:cNvSpPr/>
          <p:nvPr/>
        </p:nvSpPr>
        <p:spPr>
          <a:xfrm>
            <a:off x="713232" y="1792224"/>
            <a:ext cx="4983480" cy="365760"/>
          </a:xfrm>
          <a:prstGeom prst="rect">
            <a:avLst/>
          </a:prstGeom>
          <a:noFill/>
          <a:ln/>
        </p:spPr>
        <p:txBody>
          <a:bodyPr wrap="square" lIns="0" tIns="0" rIns="0" bIns="0" rtlCol="0" anchor="ctr"/>
          <a:lstStyle/>
          <a:p>
            <a:pPr marL="0" indent="0" algn="ctr">
              <a:buNone/>
            </a:pPr>
            <a:r>
              <a:rPr lang="en-US" sz="2000" b="1" dirty="0">
                <a:solidFill>
                  <a:srgbClr val="00566B"/>
                </a:solidFill>
              </a:rPr>
              <a:t>MOTEL_PCT = β₁ + β₂ COMP_PCT + e</a:t>
            </a:r>
            <a:endParaRPr lang="en-US" sz="2000" dirty="0"/>
          </a:p>
        </p:txBody>
      </p:sp>
      <p:sp>
        <p:nvSpPr>
          <p:cNvPr id="7" name="Text 5"/>
          <p:cNvSpPr/>
          <p:nvPr/>
        </p:nvSpPr>
        <p:spPr>
          <a:xfrm>
            <a:off x="475488" y="2971800"/>
            <a:ext cx="2560320" cy="228600"/>
          </a:xfrm>
          <a:prstGeom prst="rect">
            <a:avLst/>
          </a:prstGeom>
          <a:noFill/>
          <a:ln/>
        </p:spPr>
        <p:txBody>
          <a:bodyPr wrap="square" lIns="0" tIns="0" rIns="0" bIns="0" rtlCol="0" anchor="ctr"/>
          <a:lstStyle/>
          <a:p>
            <a:pPr marL="0" indent="0">
              <a:buNone/>
            </a:pPr>
            <a:r>
              <a:rPr lang="en-US" sz="1000" b="1" dirty="0">
                <a:solidFill>
                  <a:srgbClr val="20B4D6"/>
                </a:solidFill>
              </a:rPr>
              <a:t>What we estimate from the data</a:t>
            </a:r>
            <a:endParaRPr lang="en-US" sz="1000" dirty="0"/>
          </a:p>
        </p:txBody>
      </p:sp>
      <p:sp>
        <p:nvSpPr>
          <p:cNvPr id="8" name="Shape 6"/>
          <p:cNvSpPr/>
          <p:nvPr/>
        </p:nvSpPr>
        <p:spPr>
          <a:xfrm>
            <a:off x="457200" y="3246120"/>
            <a:ext cx="5486400" cy="1600200"/>
          </a:xfrm>
          <a:prstGeom prst="roundRect">
            <a:avLst>
              <a:gd name="adj" fmla="val 4571"/>
            </a:avLst>
          </a:prstGeom>
          <a:solidFill>
            <a:srgbClr val="F7FAFB"/>
          </a:solidFill>
          <a:ln w="12700">
            <a:solidFill>
              <a:srgbClr val="E1E8EB"/>
            </a:solidFill>
            <a:prstDash val="solid"/>
          </a:ln>
        </p:spPr>
        <p:txBody>
          <a:bodyPr/>
          <a:lstStyle/>
          <a:p>
            <a:endParaRPr lang="en-GB"/>
          </a:p>
        </p:txBody>
      </p:sp>
      <p:sp>
        <p:nvSpPr>
          <p:cNvPr id="9" name="Text 7"/>
          <p:cNvSpPr/>
          <p:nvPr/>
        </p:nvSpPr>
        <p:spPr>
          <a:xfrm>
            <a:off x="749808" y="3547872"/>
            <a:ext cx="4892040" cy="384048"/>
          </a:xfrm>
          <a:prstGeom prst="rect">
            <a:avLst/>
          </a:prstGeom>
          <a:noFill/>
          <a:ln/>
        </p:spPr>
        <p:txBody>
          <a:bodyPr wrap="square" lIns="0" tIns="0" rIns="0" bIns="0" rtlCol="0" anchor="ctr"/>
          <a:lstStyle/>
          <a:p>
            <a:pPr marL="0" indent="0" algn="ctr">
              <a:buNone/>
            </a:pPr>
            <a:r>
              <a:rPr lang="en-US" sz="1800" b="1" dirty="0">
                <a:solidFill>
                  <a:srgbClr val="16323D"/>
                </a:solidFill>
              </a:rPr>
              <a:t>MOTEL_PCT  =  21.340  +  0.865 COMP_PCT</a:t>
            </a:r>
            <a:endParaRPr lang="en-US" sz="1800" dirty="0"/>
          </a:p>
        </p:txBody>
      </p:sp>
      <p:sp>
        <p:nvSpPr>
          <p:cNvPr id="10" name="Text 8"/>
          <p:cNvSpPr/>
          <p:nvPr/>
        </p:nvSpPr>
        <p:spPr>
          <a:xfrm>
            <a:off x="1143000" y="4096512"/>
            <a:ext cx="4114800" cy="292608"/>
          </a:xfrm>
          <a:prstGeom prst="rect">
            <a:avLst/>
          </a:prstGeom>
          <a:noFill/>
          <a:ln/>
        </p:spPr>
        <p:txBody>
          <a:bodyPr wrap="square" lIns="0" tIns="0" rIns="0" bIns="0" rtlCol="0" anchor="ctr"/>
          <a:lstStyle/>
          <a:p>
            <a:pPr marL="0" indent="0" algn="ctr">
              <a:buNone/>
            </a:pPr>
            <a:r>
              <a:rPr lang="en-US" sz="1400" dirty="0">
                <a:solidFill>
                  <a:srgbClr val="66757C"/>
                </a:solidFill>
                <a:latin typeface="Aptos Mono" pitchFamily="34" charset="0"/>
                <a:ea typeface="Aptos Mono" pitchFamily="34" charset="-122"/>
                <a:cs typeface="Aptos Mono" pitchFamily="34" charset="-120"/>
              </a:rPr>
              <a:t>SE                 (12.907)       (0.203)</a:t>
            </a:r>
            <a:endParaRPr lang="en-US" sz="1400" dirty="0"/>
          </a:p>
        </p:txBody>
      </p:sp>
      <p:sp>
        <p:nvSpPr>
          <p:cNvPr id="11" name="Text 9"/>
          <p:cNvSpPr/>
          <p:nvPr/>
        </p:nvSpPr>
        <p:spPr>
          <a:xfrm>
            <a:off x="1554480" y="4507992"/>
            <a:ext cx="3200400" cy="237744"/>
          </a:xfrm>
          <a:prstGeom prst="rect">
            <a:avLst/>
          </a:prstGeom>
          <a:noFill/>
          <a:ln/>
        </p:spPr>
        <p:txBody>
          <a:bodyPr wrap="square" lIns="0" tIns="0" rIns="0" bIns="0" rtlCol="0" anchor="ctr"/>
          <a:lstStyle/>
          <a:p>
            <a:pPr marL="0" indent="0" algn="ctr">
              <a:buNone/>
            </a:pPr>
            <a:r>
              <a:rPr lang="en-US" sz="1200" dirty="0">
                <a:solidFill>
                  <a:srgbClr val="66757C"/>
                </a:solidFill>
              </a:rPr>
              <a:t>N = 25     df = 23</a:t>
            </a:r>
            <a:endParaRPr lang="en-US" sz="1200" dirty="0"/>
          </a:p>
        </p:txBody>
      </p:sp>
      <p:sp>
        <p:nvSpPr>
          <p:cNvPr id="12" name="Shape 10"/>
          <p:cNvSpPr/>
          <p:nvPr/>
        </p:nvSpPr>
        <p:spPr>
          <a:xfrm>
            <a:off x="6355080" y="1508760"/>
            <a:ext cx="4892040" cy="3337560"/>
          </a:xfrm>
          <a:prstGeom prst="roundRect">
            <a:avLst>
              <a:gd name="adj" fmla="val 2192"/>
            </a:avLst>
          </a:prstGeom>
          <a:solidFill>
            <a:srgbClr val="FFFFFF"/>
          </a:solidFill>
          <a:ln w="12700">
            <a:solidFill>
              <a:srgbClr val="DCE4E8"/>
            </a:solidFill>
            <a:prstDash val="solid"/>
          </a:ln>
        </p:spPr>
        <p:txBody>
          <a:bodyPr/>
          <a:lstStyle/>
          <a:p>
            <a:endParaRPr lang="en-GB"/>
          </a:p>
        </p:txBody>
      </p:sp>
      <p:sp>
        <p:nvSpPr>
          <p:cNvPr id="13" name="Text 11"/>
          <p:cNvSpPr/>
          <p:nvPr/>
        </p:nvSpPr>
        <p:spPr>
          <a:xfrm>
            <a:off x="6675120" y="1783080"/>
            <a:ext cx="1097280" cy="274320"/>
          </a:xfrm>
          <a:prstGeom prst="rect">
            <a:avLst/>
          </a:prstGeom>
          <a:noFill/>
          <a:ln/>
        </p:spPr>
        <p:txBody>
          <a:bodyPr wrap="square" lIns="0" tIns="0" rIns="0" bIns="0" rtlCol="0" anchor="ctr"/>
          <a:lstStyle/>
          <a:p>
            <a:pPr marL="0" indent="0">
              <a:buNone/>
            </a:pPr>
            <a:r>
              <a:rPr lang="en-US" sz="1200" b="1" dirty="0">
                <a:solidFill>
                  <a:srgbClr val="D71920"/>
                </a:solidFill>
              </a:rPr>
              <a:t>Question</a:t>
            </a:r>
            <a:endParaRPr lang="en-US" sz="1200" dirty="0"/>
          </a:p>
        </p:txBody>
      </p:sp>
      <p:sp>
        <p:nvSpPr>
          <p:cNvPr id="14" name="Text 12"/>
          <p:cNvSpPr/>
          <p:nvPr/>
        </p:nvSpPr>
        <p:spPr>
          <a:xfrm>
            <a:off x="6675120" y="2176272"/>
            <a:ext cx="4206240" cy="1024128"/>
          </a:xfrm>
          <a:prstGeom prst="rect">
            <a:avLst/>
          </a:prstGeom>
          <a:noFill/>
          <a:ln/>
        </p:spPr>
        <p:txBody>
          <a:bodyPr wrap="square" lIns="254" tIns="254" rIns="254" bIns="254" rtlCol="0" anchor="ctr">
            <a:normAutofit/>
          </a:bodyPr>
          <a:lstStyle/>
          <a:p>
            <a:pPr marL="0" indent="0">
              <a:buNone/>
            </a:pPr>
            <a:r>
              <a:rPr lang="en-US" sz="1600" dirty="0">
                <a:solidFill>
                  <a:srgbClr val="16323D"/>
                </a:solidFill>
              </a:rPr>
              <a:t>Do the data provide strong evidence that the competitor’s occupancy rate is positively associated with the motel’s occupancy rate?</a:t>
            </a:r>
            <a:endParaRPr lang="en-US" sz="1600" dirty="0"/>
          </a:p>
        </p:txBody>
      </p:sp>
      <p:sp>
        <p:nvSpPr>
          <p:cNvPr id="15" name="Text 13"/>
          <p:cNvSpPr/>
          <p:nvPr/>
        </p:nvSpPr>
        <p:spPr>
          <a:xfrm>
            <a:off x="6812280" y="3383280"/>
            <a:ext cx="2057400" cy="1024128"/>
          </a:xfrm>
          <a:prstGeom prst="rect">
            <a:avLst/>
          </a:prstGeom>
          <a:noFill/>
          <a:ln/>
        </p:spPr>
        <p:txBody>
          <a:bodyPr wrap="square" lIns="254" tIns="254" rIns="254" bIns="254" rtlCol="0" anchor="ctr"/>
          <a:lstStyle/>
          <a:p>
            <a:pPr marL="0" indent="0">
              <a:buNone/>
            </a:pPr>
            <a:r>
              <a:rPr lang="en-US" sz="2000" dirty="0">
                <a:solidFill>
                  <a:srgbClr val="16323D"/>
                </a:solidFill>
              </a:rPr>
              <a:t>H₀: β₂ ≤ 0</a:t>
            </a:r>
            <a:endParaRPr lang="en-US" sz="2000" dirty="0"/>
          </a:p>
          <a:p>
            <a:pPr marL="0" indent="0">
              <a:buNone/>
            </a:pPr>
            <a:r>
              <a:rPr lang="en-US" sz="2000" dirty="0">
                <a:solidFill>
                  <a:srgbClr val="16323D"/>
                </a:solidFill>
              </a:rPr>
              <a:t>H₁: β₂ &gt; 0</a:t>
            </a:r>
            <a:endParaRPr lang="en-US" sz="2000" dirty="0"/>
          </a:p>
          <a:p>
            <a:pPr marL="0" indent="0">
              <a:buNone/>
            </a:pPr>
            <a:r>
              <a:rPr lang="en-US" sz="2000" dirty="0">
                <a:solidFill>
                  <a:srgbClr val="16323D"/>
                </a:solidFill>
              </a:rPr>
              <a:t>α = 0.01</a:t>
            </a:r>
            <a:endParaRPr lang="en-US" sz="2000" dirty="0"/>
          </a:p>
        </p:txBody>
      </p:sp>
      <p:sp>
        <p:nvSpPr>
          <p:cNvPr id="16" name="Shape 14"/>
          <p:cNvSpPr/>
          <p:nvPr/>
        </p:nvSpPr>
        <p:spPr>
          <a:xfrm>
            <a:off x="9326880" y="3529584"/>
            <a:ext cx="1188720" cy="566928"/>
          </a:xfrm>
          <a:prstGeom prst="chevron">
            <a:avLst/>
          </a:prstGeom>
          <a:solidFill>
            <a:srgbClr val="D71920"/>
          </a:solidFill>
          <a:ln w="12700">
            <a:solidFill>
              <a:srgbClr val="D71920"/>
            </a:solidFill>
            <a:prstDash val="solid"/>
          </a:ln>
        </p:spPr>
        <p:txBody>
          <a:bodyPr/>
          <a:lstStyle/>
          <a:p>
            <a:endParaRPr lang="en-GB"/>
          </a:p>
        </p:txBody>
      </p:sp>
      <p:sp>
        <p:nvSpPr>
          <p:cNvPr id="17" name="Text 15"/>
          <p:cNvSpPr/>
          <p:nvPr/>
        </p:nvSpPr>
        <p:spPr>
          <a:xfrm>
            <a:off x="9198864" y="4187952"/>
            <a:ext cx="1508760" cy="256032"/>
          </a:xfrm>
          <a:prstGeom prst="rect">
            <a:avLst/>
          </a:prstGeom>
          <a:noFill/>
          <a:ln/>
        </p:spPr>
        <p:txBody>
          <a:bodyPr wrap="square" lIns="0" tIns="0" rIns="0" bIns="0" rtlCol="0" anchor="ctr"/>
          <a:lstStyle/>
          <a:p>
            <a:pPr marL="0" indent="0" algn="ctr">
              <a:buNone/>
            </a:pPr>
            <a:r>
              <a:rPr lang="en-US" sz="1100" b="1" dirty="0">
                <a:solidFill>
                  <a:srgbClr val="D71920"/>
                </a:solidFill>
              </a:rPr>
              <a:t>Right-tail</a:t>
            </a:r>
            <a:endParaRPr lang="en-US" sz="1100" dirty="0"/>
          </a:p>
        </p:txBody>
      </p:sp>
      <p:sp>
        <p:nvSpPr>
          <p:cNvPr id="18" name="Text 16"/>
          <p:cNvSpPr/>
          <p:nvPr/>
        </p:nvSpPr>
        <p:spPr>
          <a:xfrm>
            <a:off x="6583680" y="5239512"/>
            <a:ext cx="4297680" cy="320040"/>
          </a:xfrm>
          <a:prstGeom prst="rect">
            <a:avLst/>
          </a:prstGeom>
          <a:noFill/>
          <a:ln/>
        </p:spPr>
        <p:txBody>
          <a:bodyPr wrap="square" lIns="0" tIns="0" rIns="0" bIns="0" rtlCol="0" anchor="ctr"/>
          <a:lstStyle/>
          <a:p>
            <a:pPr marL="0" indent="0" algn="ctr">
              <a:buNone/>
            </a:pPr>
            <a:r>
              <a:rPr lang="en-US" sz="1500" b="1" dirty="0">
                <a:solidFill>
                  <a:srgbClr val="00566B"/>
                </a:solidFill>
              </a:rPr>
              <a:t>I will work this one through first.</a:t>
            </a:r>
            <a:endParaRPr lang="en-US" sz="1500" dirty="0"/>
          </a:p>
        </p:txBody>
      </p:sp>
      <p:sp>
        <p:nvSpPr>
          <p:cNvPr id="19" name="Text 17"/>
          <p:cNvSpPr/>
          <p:nvPr/>
        </p:nvSpPr>
        <p:spPr>
          <a:xfrm>
            <a:off x="502920" y="6144768"/>
            <a:ext cx="7315200" cy="182880"/>
          </a:xfrm>
          <a:prstGeom prst="rect">
            <a:avLst/>
          </a:prstGeom>
          <a:noFill/>
          <a:ln/>
        </p:spPr>
        <p:txBody>
          <a:bodyPr wrap="square" lIns="0" tIns="0" rIns="0" bIns="0" rtlCol="0" anchor="ctr"/>
          <a:lstStyle/>
          <a:p>
            <a:pPr marL="0" indent="0">
              <a:buNone/>
            </a:pPr>
            <a:r>
              <a:rPr lang="en-US" sz="750" dirty="0">
                <a:solidFill>
                  <a:srgbClr val="8B969B"/>
                </a:solidFill>
              </a:rPr>
              <a:t>Source: Hill, Griffiths &amp; Lim, Principles of Econometrics 5e, Exercise 3.19(c)</a:t>
            </a:r>
            <a:endParaRPr lang="en-US" sz="750" dirty="0"/>
          </a:p>
        </p:txBody>
      </p:sp>
      <p:sp>
        <p:nvSpPr>
          <p:cNvPr id="25"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438912"/>
            <a:ext cx="2743200" cy="201168"/>
          </a:xfrm>
          <a:prstGeom prst="rect">
            <a:avLst/>
          </a:prstGeom>
          <a:noFill/>
          <a:ln/>
        </p:spPr>
        <p:txBody>
          <a:bodyPr wrap="square" lIns="0" tIns="0" rIns="0" bIns="0" rtlCol="0" anchor="ctr"/>
          <a:lstStyle/>
          <a:p>
            <a:pPr marL="0" indent="0">
              <a:buNone/>
            </a:pPr>
            <a:r>
              <a:rPr lang="en-US" sz="800" b="1" kern="0" spc="40" dirty="0">
                <a:solidFill>
                  <a:srgbClr val="20B4D6"/>
                </a:solidFill>
              </a:rPr>
              <a:t>BOOK EXERCISE 3.19(C)</a:t>
            </a:r>
            <a:endParaRPr lang="en-US" sz="800" dirty="0"/>
          </a:p>
        </p:txBody>
      </p:sp>
      <p:sp>
        <p:nvSpPr>
          <p:cNvPr id="3" name="Text 1"/>
          <p:cNvSpPr/>
          <p:nvPr/>
        </p:nvSpPr>
        <p:spPr>
          <a:xfrm>
            <a:off x="438912" y="658368"/>
            <a:ext cx="10927080" cy="475488"/>
          </a:xfrm>
          <a:prstGeom prst="rect">
            <a:avLst/>
          </a:prstGeom>
          <a:noFill/>
          <a:ln/>
        </p:spPr>
        <p:txBody>
          <a:bodyPr wrap="square" lIns="0" tIns="0" rIns="0" bIns="0" rtlCol="0" anchor="ctr">
            <a:normAutofit/>
          </a:bodyPr>
          <a:lstStyle/>
          <a:p>
            <a:pPr marL="0" indent="0">
              <a:buNone/>
            </a:pPr>
            <a:r>
              <a:rPr lang="en-US" sz="2300" dirty="0">
                <a:solidFill>
                  <a:srgbClr val="16323D"/>
                </a:solidFill>
              </a:rPr>
              <a:t>Worked example — calculation and decision</a:t>
            </a:r>
            <a:endParaRPr lang="en-US" sz="2300" dirty="0"/>
          </a:p>
        </p:txBody>
      </p:sp>
      <p:sp>
        <p:nvSpPr>
          <p:cNvPr id="4" name="Text 2"/>
          <p:cNvSpPr/>
          <p:nvPr/>
        </p:nvSpPr>
        <p:spPr>
          <a:xfrm>
            <a:off x="502920" y="1298448"/>
            <a:ext cx="1828800" cy="274320"/>
          </a:xfrm>
          <a:prstGeom prst="rect">
            <a:avLst/>
          </a:prstGeom>
          <a:noFill/>
          <a:ln/>
        </p:spPr>
        <p:txBody>
          <a:bodyPr wrap="square" lIns="0" tIns="0" rIns="0" bIns="0" rtlCol="0" anchor="ctr"/>
          <a:lstStyle/>
          <a:p>
            <a:pPr marL="0" indent="0">
              <a:buNone/>
            </a:pPr>
            <a:r>
              <a:rPr lang="en-US" sz="1200" b="1" dirty="0">
                <a:solidFill>
                  <a:srgbClr val="20B4D6"/>
                </a:solidFill>
              </a:rPr>
              <a:t>1. Test statistic</a:t>
            </a:r>
            <a:endParaRPr lang="en-US" sz="1200" dirty="0"/>
          </a:p>
        </p:txBody>
      </p:sp>
      <p:sp>
        <p:nvSpPr>
          <p:cNvPr id="5" name="Shape 3"/>
          <p:cNvSpPr/>
          <p:nvPr/>
        </p:nvSpPr>
        <p:spPr>
          <a:xfrm>
            <a:off x="475488" y="1627632"/>
            <a:ext cx="5120640" cy="1353312"/>
          </a:xfrm>
          <a:prstGeom prst="roundRect">
            <a:avLst/>
          </a:prstGeom>
          <a:solidFill>
            <a:srgbClr val="F4F6F7"/>
          </a:solidFill>
          <a:ln w="10160">
            <a:solidFill>
              <a:srgbClr val="D5DEE2"/>
            </a:solidFill>
            <a:prstDash val="solid"/>
          </a:ln>
        </p:spPr>
        <p:txBody>
          <a:bodyPr/>
          <a:lstStyle/>
          <a:p>
            <a:endParaRPr lang="en-GB"/>
          </a:p>
        </p:txBody>
      </p:sp>
      <p:sp>
        <p:nvSpPr>
          <p:cNvPr id="6" name="Text 4"/>
          <p:cNvSpPr/>
          <p:nvPr/>
        </p:nvSpPr>
        <p:spPr>
          <a:xfrm>
            <a:off x="640080" y="1773936"/>
            <a:ext cx="4791456" cy="1078992"/>
          </a:xfrm>
          <a:prstGeom prst="rect">
            <a:avLst/>
          </a:prstGeom>
          <a:noFill/>
          <a:ln/>
        </p:spPr>
        <p:txBody>
          <a:bodyPr wrap="square" lIns="0" tIns="0" rIns="0" bIns="0" rtlCol="0" anchor="ctr">
            <a:normAutofit/>
          </a:bodyPr>
          <a:lstStyle/>
          <a:p>
            <a:pPr marL="0" indent="0">
              <a:buNone/>
            </a:pPr>
            <a:r>
              <a:rPr lang="en-US" sz="1400" dirty="0">
                <a:solidFill>
                  <a:srgbClr val="24343B"/>
                </a:solidFill>
                <a:latin typeface="Aptos Mono" pitchFamily="34" charset="0"/>
                <a:ea typeface="Aptos Mono" pitchFamily="34" charset="-122"/>
                <a:cs typeface="Aptos Mono" pitchFamily="34" charset="-120"/>
              </a:rPr>
              <a:t>motel_t &lt;- (motel_b2 - 0) / motel_se_b2</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motel_t</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 4.27</a:t>
            </a:r>
            <a:endParaRPr lang="en-US" sz="1400" dirty="0"/>
          </a:p>
        </p:txBody>
      </p:sp>
      <p:sp>
        <p:nvSpPr>
          <p:cNvPr id="7" name="Text 5"/>
          <p:cNvSpPr/>
          <p:nvPr/>
        </p:nvSpPr>
        <p:spPr>
          <a:xfrm>
            <a:off x="502920" y="3246120"/>
            <a:ext cx="3108960" cy="274320"/>
          </a:xfrm>
          <a:prstGeom prst="rect">
            <a:avLst/>
          </a:prstGeom>
          <a:noFill/>
          <a:ln/>
        </p:spPr>
        <p:txBody>
          <a:bodyPr wrap="square" lIns="0" tIns="0" rIns="0" bIns="0" rtlCol="0" anchor="ctr"/>
          <a:lstStyle/>
          <a:p>
            <a:pPr marL="0" indent="0">
              <a:buNone/>
            </a:pPr>
            <a:r>
              <a:rPr lang="en-US" sz="1200" b="1" dirty="0">
                <a:solidFill>
                  <a:srgbClr val="20B4D6"/>
                </a:solidFill>
              </a:rPr>
              <a:t>2. Critical value, right-tail α = 0.01</a:t>
            </a:r>
            <a:endParaRPr lang="en-US" sz="1200" dirty="0"/>
          </a:p>
        </p:txBody>
      </p:sp>
      <p:sp>
        <p:nvSpPr>
          <p:cNvPr id="8" name="Shape 6"/>
          <p:cNvSpPr/>
          <p:nvPr/>
        </p:nvSpPr>
        <p:spPr>
          <a:xfrm>
            <a:off x="475488" y="3566160"/>
            <a:ext cx="5120640" cy="1051560"/>
          </a:xfrm>
          <a:prstGeom prst="roundRect">
            <a:avLst/>
          </a:prstGeom>
          <a:solidFill>
            <a:srgbClr val="F4F6F7"/>
          </a:solidFill>
          <a:ln w="10160">
            <a:solidFill>
              <a:srgbClr val="D5DEE2"/>
            </a:solidFill>
            <a:prstDash val="solid"/>
          </a:ln>
        </p:spPr>
        <p:txBody>
          <a:bodyPr/>
          <a:lstStyle/>
          <a:p>
            <a:endParaRPr lang="en-GB"/>
          </a:p>
        </p:txBody>
      </p:sp>
      <p:sp>
        <p:nvSpPr>
          <p:cNvPr id="9" name="Text 7"/>
          <p:cNvSpPr/>
          <p:nvPr/>
        </p:nvSpPr>
        <p:spPr>
          <a:xfrm>
            <a:off x="640080" y="3712464"/>
            <a:ext cx="4791456" cy="777240"/>
          </a:xfrm>
          <a:prstGeom prst="rect">
            <a:avLst/>
          </a:prstGeom>
          <a:noFill/>
          <a:ln/>
        </p:spPr>
        <p:txBody>
          <a:bodyPr wrap="square" lIns="0" tIns="0" rIns="0" bIns="0" rtlCol="0" anchor="ctr">
            <a:normAutofit/>
          </a:bodyPr>
          <a:lstStyle/>
          <a:p>
            <a:pPr marL="0" indent="0">
              <a:buNone/>
            </a:pPr>
            <a:r>
              <a:rPr lang="en-US" sz="1400" dirty="0">
                <a:solidFill>
                  <a:srgbClr val="24343B"/>
                </a:solidFill>
                <a:latin typeface="Aptos Mono" pitchFamily="34" charset="0"/>
                <a:ea typeface="Aptos Mono" pitchFamily="34" charset="-122"/>
                <a:cs typeface="Aptos Mono" pitchFamily="34" charset="-120"/>
              </a:rPr>
              <a:t>qt(0.99, df = 23)</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 2.50</a:t>
            </a:r>
            <a:endParaRPr lang="en-US" sz="1400" dirty="0"/>
          </a:p>
        </p:txBody>
      </p:sp>
      <p:sp>
        <p:nvSpPr>
          <p:cNvPr id="10" name="Text 8"/>
          <p:cNvSpPr/>
          <p:nvPr/>
        </p:nvSpPr>
        <p:spPr>
          <a:xfrm>
            <a:off x="502920" y="4910328"/>
            <a:ext cx="1645920" cy="274320"/>
          </a:xfrm>
          <a:prstGeom prst="rect">
            <a:avLst/>
          </a:prstGeom>
          <a:noFill/>
          <a:ln/>
        </p:spPr>
        <p:txBody>
          <a:bodyPr wrap="square" lIns="0" tIns="0" rIns="0" bIns="0" rtlCol="0" anchor="ctr"/>
          <a:lstStyle/>
          <a:p>
            <a:pPr marL="0" indent="0">
              <a:buNone/>
            </a:pPr>
            <a:r>
              <a:rPr lang="en-US" sz="1200" b="1" dirty="0">
                <a:solidFill>
                  <a:srgbClr val="20B4D6"/>
                </a:solidFill>
              </a:rPr>
              <a:t>3. p-value</a:t>
            </a:r>
            <a:endParaRPr lang="en-US" sz="1200" dirty="0"/>
          </a:p>
        </p:txBody>
      </p:sp>
      <p:sp>
        <p:nvSpPr>
          <p:cNvPr id="11" name="Shape 9"/>
          <p:cNvSpPr/>
          <p:nvPr/>
        </p:nvSpPr>
        <p:spPr>
          <a:xfrm>
            <a:off x="475488" y="5212080"/>
            <a:ext cx="5120640" cy="914400"/>
          </a:xfrm>
          <a:prstGeom prst="roundRect">
            <a:avLst/>
          </a:prstGeom>
          <a:solidFill>
            <a:srgbClr val="F4F6F7"/>
          </a:solidFill>
          <a:ln w="10160">
            <a:solidFill>
              <a:srgbClr val="D5DEE2"/>
            </a:solidFill>
            <a:prstDash val="solid"/>
          </a:ln>
        </p:spPr>
        <p:txBody>
          <a:bodyPr/>
          <a:lstStyle/>
          <a:p>
            <a:endParaRPr lang="en-GB"/>
          </a:p>
        </p:txBody>
      </p:sp>
      <p:sp>
        <p:nvSpPr>
          <p:cNvPr id="12" name="Text 10"/>
          <p:cNvSpPr/>
          <p:nvPr/>
        </p:nvSpPr>
        <p:spPr>
          <a:xfrm>
            <a:off x="640080" y="5358384"/>
            <a:ext cx="4791456" cy="640080"/>
          </a:xfrm>
          <a:prstGeom prst="rect">
            <a:avLst/>
          </a:prstGeom>
          <a:noFill/>
          <a:ln/>
        </p:spPr>
        <p:txBody>
          <a:bodyPr wrap="square" lIns="0" tIns="0" rIns="0" bIns="0" rtlCol="0" anchor="ctr">
            <a:normAutofit/>
          </a:bodyPr>
          <a:lstStyle/>
          <a:p>
            <a:pPr marL="0" indent="0">
              <a:buNone/>
            </a:pPr>
            <a:r>
              <a:rPr lang="en-US" sz="1400" dirty="0">
                <a:solidFill>
                  <a:srgbClr val="24343B"/>
                </a:solidFill>
                <a:latin typeface="Aptos Mono" pitchFamily="34" charset="0"/>
                <a:ea typeface="Aptos Mono" pitchFamily="34" charset="-122"/>
                <a:cs typeface="Aptos Mono" pitchFamily="34" charset="-120"/>
              </a:rPr>
              <a:t>1 - pt(motel_t, df = 23)</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 &lt; 0.001</a:t>
            </a:r>
            <a:endParaRPr lang="en-US" sz="1400" dirty="0"/>
          </a:p>
        </p:txBody>
      </p:sp>
      <p:sp>
        <p:nvSpPr>
          <p:cNvPr id="13" name="Shape 11"/>
          <p:cNvSpPr/>
          <p:nvPr/>
        </p:nvSpPr>
        <p:spPr>
          <a:xfrm>
            <a:off x="6035040" y="1417320"/>
            <a:ext cx="5166360" cy="2103120"/>
          </a:xfrm>
          <a:prstGeom prst="roundRect">
            <a:avLst>
              <a:gd name="adj" fmla="val 3478"/>
            </a:avLst>
          </a:prstGeom>
          <a:solidFill>
            <a:srgbClr val="DDF4F9"/>
          </a:solidFill>
          <a:ln w="12700">
            <a:solidFill>
              <a:srgbClr val="CDEBF1"/>
            </a:solidFill>
            <a:prstDash val="solid"/>
          </a:ln>
        </p:spPr>
        <p:txBody>
          <a:bodyPr/>
          <a:lstStyle/>
          <a:p>
            <a:endParaRPr lang="en-GB"/>
          </a:p>
        </p:txBody>
      </p:sp>
      <p:sp>
        <p:nvSpPr>
          <p:cNvPr id="14" name="Text 12"/>
          <p:cNvSpPr/>
          <p:nvPr/>
        </p:nvSpPr>
        <p:spPr>
          <a:xfrm>
            <a:off x="6355080" y="1719072"/>
            <a:ext cx="1280160" cy="274320"/>
          </a:xfrm>
          <a:prstGeom prst="rect">
            <a:avLst/>
          </a:prstGeom>
          <a:noFill/>
          <a:ln/>
        </p:spPr>
        <p:txBody>
          <a:bodyPr wrap="square" lIns="0" tIns="0" rIns="0" bIns="0" rtlCol="0" anchor="ctr"/>
          <a:lstStyle/>
          <a:p>
            <a:pPr marL="0" indent="0">
              <a:buNone/>
            </a:pPr>
            <a:r>
              <a:rPr lang="en-US" sz="1500" b="1" dirty="0">
                <a:solidFill>
                  <a:srgbClr val="00566B"/>
                </a:solidFill>
              </a:rPr>
              <a:t>Decision</a:t>
            </a:r>
            <a:endParaRPr lang="en-US" sz="1500" dirty="0"/>
          </a:p>
        </p:txBody>
      </p:sp>
      <p:sp>
        <p:nvSpPr>
          <p:cNvPr id="15" name="Text 13"/>
          <p:cNvSpPr/>
          <p:nvPr/>
        </p:nvSpPr>
        <p:spPr>
          <a:xfrm>
            <a:off x="6446520" y="2212848"/>
            <a:ext cx="4297680" cy="384048"/>
          </a:xfrm>
          <a:prstGeom prst="rect">
            <a:avLst/>
          </a:prstGeom>
          <a:noFill/>
          <a:ln/>
        </p:spPr>
        <p:txBody>
          <a:bodyPr wrap="square" lIns="0" tIns="0" rIns="0" bIns="0" rtlCol="0" anchor="ctr"/>
          <a:lstStyle/>
          <a:p>
            <a:pPr marL="0" indent="0" algn="ctr">
              <a:buNone/>
            </a:pPr>
            <a:r>
              <a:rPr lang="en-US" sz="2300" b="1" dirty="0">
                <a:solidFill>
                  <a:srgbClr val="16323D"/>
                </a:solidFill>
              </a:rPr>
              <a:t>t = 4.27  &gt;  2.50</a:t>
            </a:r>
            <a:endParaRPr lang="en-US" sz="2300" dirty="0"/>
          </a:p>
        </p:txBody>
      </p:sp>
      <p:sp>
        <p:nvSpPr>
          <p:cNvPr id="16" name="Text 14"/>
          <p:cNvSpPr/>
          <p:nvPr/>
        </p:nvSpPr>
        <p:spPr>
          <a:xfrm>
            <a:off x="6446520" y="2706624"/>
            <a:ext cx="4297680" cy="347472"/>
          </a:xfrm>
          <a:prstGeom prst="rect">
            <a:avLst/>
          </a:prstGeom>
          <a:noFill/>
          <a:ln/>
        </p:spPr>
        <p:txBody>
          <a:bodyPr wrap="square" lIns="0" tIns="0" rIns="0" bIns="0" rtlCol="0" anchor="ctr"/>
          <a:lstStyle/>
          <a:p>
            <a:pPr marL="0" indent="0" algn="ctr">
              <a:buNone/>
            </a:pPr>
            <a:r>
              <a:rPr lang="en-US" sz="1800" dirty="0">
                <a:solidFill>
                  <a:srgbClr val="16323D"/>
                </a:solidFill>
              </a:rPr>
              <a:t>and  p &lt; 0.01</a:t>
            </a:r>
            <a:endParaRPr lang="en-US" sz="1800" dirty="0"/>
          </a:p>
        </p:txBody>
      </p:sp>
      <p:sp>
        <p:nvSpPr>
          <p:cNvPr id="17" name="Shape 15"/>
          <p:cNvSpPr/>
          <p:nvPr/>
        </p:nvSpPr>
        <p:spPr>
          <a:xfrm>
            <a:off x="6035040" y="3822192"/>
            <a:ext cx="5166360" cy="1463040"/>
          </a:xfrm>
          <a:prstGeom prst="roundRect">
            <a:avLst>
              <a:gd name="adj" fmla="val 5000"/>
            </a:avLst>
          </a:prstGeom>
          <a:solidFill>
            <a:srgbClr val="FCE9EA"/>
          </a:solidFill>
          <a:ln w="12700">
            <a:solidFill>
              <a:srgbClr val="F3D0D3"/>
            </a:solidFill>
            <a:prstDash val="solid"/>
          </a:ln>
        </p:spPr>
        <p:txBody>
          <a:bodyPr/>
          <a:lstStyle/>
          <a:p>
            <a:endParaRPr lang="en-GB"/>
          </a:p>
        </p:txBody>
      </p:sp>
      <p:sp>
        <p:nvSpPr>
          <p:cNvPr id="18" name="Text 16"/>
          <p:cNvSpPr/>
          <p:nvPr/>
        </p:nvSpPr>
        <p:spPr>
          <a:xfrm>
            <a:off x="6400800" y="4114800"/>
            <a:ext cx="4389120" cy="347472"/>
          </a:xfrm>
          <a:prstGeom prst="rect">
            <a:avLst/>
          </a:prstGeom>
          <a:noFill/>
          <a:ln/>
        </p:spPr>
        <p:txBody>
          <a:bodyPr wrap="square" lIns="0" tIns="0" rIns="0" bIns="0" rtlCol="0" anchor="ctr"/>
          <a:lstStyle/>
          <a:p>
            <a:pPr marL="0" indent="0" algn="ctr">
              <a:buNone/>
            </a:pPr>
            <a:r>
              <a:rPr lang="en-US" sz="2300" b="1" dirty="0">
                <a:solidFill>
                  <a:srgbClr val="D71920"/>
                </a:solidFill>
              </a:rPr>
              <a:t>Reject H₀</a:t>
            </a:r>
            <a:endParaRPr lang="en-US" sz="2300" dirty="0"/>
          </a:p>
        </p:txBody>
      </p:sp>
      <p:sp>
        <p:nvSpPr>
          <p:cNvPr id="19" name="Text 17"/>
          <p:cNvSpPr/>
          <p:nvPr/>
        </p:nvSpPr>
        <p:spPr>
          <a:xfrm>
            <a:off x="6537960" y="4590288"/>
            <a:ext cx="4114800" cy="502920"/>
          </a:xfrm>
          <a:prstGeom prst="rect">
            <a:avLst/>
          </a:prstGeom>
          <a:noFill/>
          <a:ln/>
        </p:spPr>
        <p:txBody>
          <a:bodyPr wrap="square" lIns="254" tIns="254" rIns="254" bIns="254" rtlCol="0" anchor="ctr">
            <a:normAutofit fontScale="92500"/>
          </a:bodyPr>
          <a:lstStyle/>
          <a:p>
            <a:pPr marL="0" indent="0" algn="ctr">
              <a:buNone/>
            </a:pPr>
            <a:r>
              <a:rPr lang="en-US" sz="1400" dirty="0">
                <a:solidFill>
                  <a:srgbClr val="16323D"/>
                </a:solidFill>
              </a:rPr>
              <a:t>At the 1% level, the data provide evidence of a positive association between the two occupancy rates.</a:t>
            </a:r>
            <a:endParaRPr lang="en-US" sz="1400" dirty="0"/>
          </a:p>
        </p:txBody>
      </p:sp>
      <p:sp>
        <p:nvSpPr>
          <p:cNvPr id="20" name="Text 18"/>
          <p:cNvSpPr/>
          <p:nvPr/>
        </p:nvSpPr>
        <p:spPr>
          <a:xfrm>
            <a:off x="6199632" y="5650992"/>
            <a:ext cx="4846320" cy="310896"/>
          </a:xfrm>
          <a:prstGeom prst="rect">
            <a:avLst/>
          </a:prstGeom>
          <a:noFill/>
          <a:ln/>
        </p:spPr>
        <p:txBody>
          <a:bodyPr wrap="square" lIns="0" tIns="0" rIns="0" bIns="0" rtlCol="0" anchor="ctr"/>
          <a:lstStyle/>
          <a:p>
            <a:pPr marL="0" indent="0" algn="ctr">
              <a:buNone/>
            </a:pPr>
            <a:r>
              <a:rPr lang="en-US" sz="1300" i="1" dirty="0">
                <a:solidFill>
                  <a:srgbClr val="66757C"/>
                </a:solidFill>
              </a:rPr>
              <a:t>Always return to the economic question after the calculation.</a:t>
            </a:r>
            <a:endParaRPr lang="en-US" sz="1300" dirty="0"/>
          </a:p>
        </p:txBody>
      </p:sp>
      <p:sp>
        <p:nvSpPr>
          <p:cNvPr id="25"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438912"/>
            <a:ext cx="2743200" cy="201168"/>
          </a:xfrm>
          <a:prstGeom prst="rect">
            <a:avLst/>
          </a:prstGeom>
          <a:noFill/>
          <a:ln/>
        </p:spPr>
        <p:txBody>
          <a:bodyPr wrap="square" lIns="0" tIns="0" rIns="0" bIns="0" rtlCol="0" anchor="ctr"/>
          <a:lstStyle/>
          <a:p>
            <a:pPr marL="0" indent="0">
              <a:buNone/>
            </a:pPr>
            <a:r>
              <a:rPr lang="en-US" sz="800" b="1" kern="0" spc="40" dirty="0">
                <a:solidFill>
                  <a:srgbClr val="20B4D6"/>
                </a:solidFill>
              </a:rPr>
              <a:t>BOOK EXERCISE 3.19(D)</a:t>
            </a:r>
            <a:endParaRPr lang="en-US" sz="800" dirty="0"/>
          </a:p>
        </p:txBody>
      </p:sp>
      <p:sp>
        <p:nvSpPr>
          <p:cNvPr id="3" name="Text 1"/>
          <p:cNvSpPr/>
          <p:nvPr/>
        </p:nvSpPr>
        <p:spPr>
          <a:xfrm>
            <a:off x="438912" y="658368"/>
            <a:ext cx="10927080" cy="475488"/>
          </a:xfrm>
          <a:prstGeom prst="rect">
            <a:avLst/>
          </a:prstGeom>
          <a:noFill/>
          <a:ln/>
        </p:spPr>
        <p:txBody>
          <a:bodyPr wrap="square" lIns="0" tIns="0" rIns="0" bIns="0" rtlCol="0" anchor="ctr">
            <a:normAutofit/>
          </a:bodyPr>
          <a:lstStyle/>
          <a:p>
            <a:pPr marL="0" indent="0">
              <a:buNone/>
            </a:pPr>
            <a:r>
              <a:rPr lang="en-US" sz="2300" dirty="0">
                <a:solidFill>
                  <a:srgbClr val="16323D"/>
                </a:solidFill>
              </a:rPr>
              <a:t>Your turn — same data, a different claim</a:t>
            </a:r>
            <a:endParaRPr lang="en-US" sz="2300" dirty="0"/>
          </a:p>
        </p:txBody>
      </p:sp>
      <p:sp>
        <p:nvSpPr>
          <p:cNvPr id="4" name="Shape 2"/>
          <p:cNvSpPr/>
          <p:nvPr/>
        </p:nvSpPr>
        <p:spPr>
          <a:xfrm>
            <a:off x="502920" y="1353312"/>
            <a:ext cx="4480560" cy="1920240"/>
          </a:xfrm>
          <a:prstGeom prst="roundRect">
            <a:avLst>
              <a:gd name="adj" fmla="val 3810"/>
            </a:avLst>
          </a:prstGeom>
          <a:solidFill>
            <a:srgbClr val="DDF4F9"/>
          </a:solidFill>
          <a:ln w="12700">
            <a:solidFill>
              <a:srgbClr val="CDEBF1"/>
            </a:solidFill>
            <a:prstDash val="solid"/>
          </a:ln>
        </p:spPr>
        <p:txBody>
          <a:bodyPr/>
          <a:lstStyle/>
          <a:p>
            <a:endParaRPr lang="en-GB"/>
          </a:p>
        </p:txBody>
      </p:sp>
      <p:sp>
        <p:nvSpPr>
          <p:cNvPr id="5" name="Text 3"/>
          <p:cNvSpPr/>
          <p:nvPr/>
        </p:nvSpPr>
        <p:spPr>
          <a:xfrm>
            <a:off x="804672" y="1636776"/>
            <a:ext cx="731520" cy="256032"/>
          </a:xfrm>
          <a:prstGeom prst="rect">
            <a:avLst/>
          </a:prstGeom>
          <a:noFill/>
          <a:ln/>
        </p:spPr>
        <p:txBody>
          <a:bodyPr wrap="square" lIns="0" tIns="0" rIns="0" bIns="0" rtlCol="0" anchor="ctr"/>
          <a:lstStyle/>
          <a:p>
            <a:pPr marL="0" indent="0">
              <a:buNone/>
            </a:pPr>
            <a:r>
              <a:rPr lang="en-US" sz="1200" b="1" dirty="0">
                <a:solidFill>
                  <a:srgbClr val="00566B"/>
                </a:solidFill>
              </a:rPr>
              <a:t>Test</a:t>
            </a:r>
            <a:endParaRPr lang="en-US" sz="1200" dirty="0"/>
          </a:p>
        </p:txBody>
      </p:sp>
      <p:sp>
        <p:nvSpPr>
          <p:cNvPr id="6" name="Text 4"/>
          <p:cNvSpPr/>
          <p:nvPr/>
        </p:nvSpPr>
        <p:spPr>
          <a:xfrm>
            <a:off x="914400" y="2029968"/>
            <a:ext cx="3383280" cy="914400"/>
          </a:xfrm>
          <a:prstGeom prst="rect">
            <a:avLst/>
          </a:prstGeom>
          <a:noFill/>
          <a:ln/>
        </p:spPr>
        <p:txBody>
          <a:bodyPr wrap="square" lIns="0" tIns="0" rIns="0" bIns="0" rtlCol="0" anchor="ctr"/>
          <a:lstStyle/>
          <a:p>
            <a:pPr marL="0" indent="0" algn="ctr">
              <a:buNone/>
            </a:pPr>
            <a:r>
              <a:rPr lang="en-US" sz="2200" dirty="0">
                <a:solidFill>
                  <a:srgbClr val="16323D"/>
                </a:solidFill>
              </a:rPr>
              <a:t>H₀: β₂ = 1</a:t>
            </a:r>
            <a:endParaRPr lang="en-US" sz="2200" dirty="0"/>
          </a:p>
          <a:p>
            <a:pPr marL="0" indent="0" algn="ctr">
              <a:buNone/>
            </a:pPr>
            <a:r>
              <a:rPr lang="en-US" sz="2200" dirty="0">
                <a:solidFill>
                  <a:srgbClr val="16323D"/>
                </a:solidFill>
              </a:rPr>
              <a:t>H₁: β₂ ≠ 1</a:t>
            </a:r>
            <a:endParaRPr lang="en-US" sz="2200" dirty="0"/>
          </a:p>
          <a:p>
            <a:pPr marL="0" indent="0" algn="ctr">
              <a:buNone/>
            </a:pPr>
            <a:r>
              <a:rPr lang="en-US" sz="2200" dirty="0">
                <a:solidFill>
                  <a:srgbClr val="16323D"/>
                </a:solidFill>
              </a:rPr>
              <a:t>α = 0.01</a:t>
            </a:r>
            <a:endParaRPr lang="en-US" sz="2200" dirty="0"/>
          </a:p>
        </p:txBody>
      </p:sp>
      <p:sp>
        <p:nvSpPr>
          <p:cNvPr id="7" name="Text 5"/>
          <p:cNvSpPr/>
          <p:nvPr/>
        </p:nvSpPr>
        <p:spPr>
          <a:xfrm>
            <a:off x="640080" y="3611880"/>
            <a:ext cx="4160520" cy="384048"/>
          </a:xfrm>
          <a:prstGeom prst="rect">
            <a:avLst/>
          </a:prstGeom>
          <a:noFill/>
          <a:ln/>
        </p:spPr>
        <p:txBody>
          <a:bodyPr wrap="square" lIns="0" tIns="0" rIns="0" bIns="0" rtlCol="0" anchor="ctr"/>
          <a:lstStyle/>
          <a:p>
            <a:pPr marL="0" indent="0" algn="ctr">
              <a:buNone/>
            </a:pPr>
            <a:r>
              <a:rPr lang="en-US" sz="1600" b="1" dirty="0">
                <a:solidFill>
                  <a:srgbClr val="D71920"/>
                </a:solidFill>
              </a:rPr>
              <a:t>What would β₂ = 1 mean economically?</a:t>
            </a:r>
            <a:endParaRPr lang="en-US" sz="1600" dirty="0"/>
          </a:p>
        </p:txBody>
      </p:sp>
      <p:sp>
        <p:nvSpPr>
          <p:cNvPr id="8" name="Text 6"/>
          <p:cNvSpPr/>
          <p:nvPr/>
        </p:nvSpPr>
        <p:spPr>
          <a:xfrm>
            <a:off x="685800" y="4160520"/>
            <a:ext cx="4069080" cy="320040"/>
          </a:xfrm>
          <a:prstGeom prst="rect">
            <a:avLst/>
          </a:prstGeom>
          <a:noFill/>
          <a:ln/>
        </p:spPr>
        <p:txBody>
          <a:bodyPr wrap="square" lIns="0" tIns="0" rIns="0" bIns="0" rtlCol="0" anchor="ctr"/>
          <a:lstStyle/>
          <a:p>
            <a:pPr marL="0" indent="0" algn="ctr">
              <a:buNone/>
            </a:pPr>
            <a:r>
              <a:rPr lang="en-US" sz="1400" dirty="0">
                <a:solidFill>
                  <a:srgbClr val="66757C"/>
                </a:solidFill>
              </a:rPr>
              <a:t>Use the regression you already estimated.</a:t>
            </a:r>
            <a:endParaRPr lang="en-US" sz="1400" dirty="0"/>
          </a:p>
        </p:txBody>
      </p:sp>
      <p:sp>
        <p:nvSpPr>
          <p:cNvPr id="9" name="Shape 7"/>
          <p:cNvSpPr/>
          <p:nvPr/>
        </p:nvSpPr>
        <p:spPr>
          <a:xfrm>
            <a:off x="822960" y="4709160"/>
            <a:ext cx="3703320" cy="1051560"/>
          </a:xfrm>
          <a:prstGeom prst="roundRect">
            <a:avLst/>
          </a:prstGeom>
          <a:solidFill>
            <a:srgbClr val="F4F6F7"/>
          </a:solidFill>
          <a:ln w="10160">
            <a:solidFill>
              <a:srgbClr val="D5DEE2"/>
            </a:solidFill>
            <a:prstDash val="solid"/>
          </a:ln>
        </p:spPr>
        <p:txBody>
          <a:bodyPr/>
          <a:lstStyle/>
          <a:p>
            <a:endParaRPr lang="en-GB"/>
          </a:p>
        </p:txBody>
      </p:sp>
      <p:sp>
        <p:nvSpPr>
          <p:cNvPr id="10" name="Text 8"/>
          <p:cNvSpPr/>
          <p:nvPr/>
        </p:nvSpPr>
        <p:spPr>
          <a:xfrm>
            <a:off x="987552" y="4855464"/>
            <a:ext cx="3374136" cy="777240"/>
          </a:xfrm>
          <a:prstGeom prst="rect">
            <a:avLst/>
          </a:prstGeom>
          <a:noFill/>
          <a:ln/>
        </p:spPr>
        <p:txBody>
          <a:bodyPr wrap="square" lIns="0" tIns="0" rIns="0" bIns="0" rtlCol="0" anchor="ctr">
            <a:normAutofit/>
          </a:bodyPr>
          <a:lstStyle/>
          <a:p>
            <a:pPr marL="0" indent="0">
              <a:buNone/>
            </a:pPr>
            <a:r>
              <a:rPr lang="en-US" sz="1400" dirty="0">
                <a:solidFill>
                  <a:srgbClr val="24343B"/>
                </a:solidFill>
                <a:latin typeface="Aptos Mono" pitchFamily="34" charset="0"/>
                <a:ea typeface="Aptos Mono" pitchFamily="34" charset="-122"/>
                <a:cs typeface="Aptos Mono" pitchFamily="34" charset="-120"/>
              </a:rPr>
              <a:t>motel_b2</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motel_se_b2</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motel_df</a:t>
            </a:r>
            <a:endParaRPr lang="en-US" sz="1400" dirty="0"/>
          </a:p>
        </p:txBody>
      </p:sp>
      <p:sp>
        <p:nvSpPr>
          <p:cNvPr id="11" name="Text 9"/>
          <p:cNvSpPr/>
          <p:nvPr/>
        </p:nvSpPr>
        <p:spPr>
          <a:xfrm>
            <a:off x="5532120" y="1353312"/>
            <a:ext cx="1005840" cy="274320"/>
          </a:xfrm>
          <a:prstGeom prst="rect">
            <a:avLst/>
          </a:prstGeom>
          <a:noFill/>
          <a:ln/>
        </p:spPr>
        <p:txBody>
          <a:bodyPr wrap="square" lIns="0" tIns="0" rIns="0" bIns="0" rtlCol="0" anchor="ctr"/>
          <a:lstStyle/>
          <a:p>
            <a:pPr marL="0" indent="0">
              <a:buNone/>
            </a:pPr>
            <a:r>
              <a:rPr lang="en-US" sz="1200" b="1" dirty="0">
                <a:solidFill>
                  <a:srgbClr val="20B4D6"/>
                </a:solidFill>
              </a:rPr>
              <a:t>Tasks</a:t>
            </a:r>
            <a:endParaRPr lang="en-US" sz="1200" dirty="0"/>
          </a:p>
        </p:txBody>
      </p:sp>
      <p:sp>
        <p:nvSpPr>
          <p:cNvPr id="12" name="Shape 10"/>
          <p:cNvSpPr/>
          <p:nvPr/>
        </p:nvSpPr>
        <p:spPr>
          <a:xfrm>
            <a:off x="5577840" y="1783080"/>
            <a:ext cx="384048" cy="384048"/>
          </a:xfrm>
          <a:prstGeom prst="ellipse">
            <a:avLst/>
          </a:prstGeom>
          <a:solidFill>
            <a:srgbClr val="20B4D6"/>
          </a:solidFill>
          <a:ln w="12700">
            <a:solidFill>
              <a:srgbClr val="20B4D6"/>
            </a:solidFill>
            <a:prstDash val="solid"/>
          </a:ln>
        </p:spPr>
        <p:txBody>
          <a:bodyPr/>
          <a:lstStyle/>
          <a:p>
            <a:endParaRPr lang="en-GB"/>
          </a:p>
        </p:txBody>
      </p:sp>
      <p:sp>
        <p:nvSpPr>
          <p:cNvPr id="13" name="Text 11"/>
          <p:cNvSpPr/>
          <p:nvPr/>
        </p:nvSpPr>
        <p:spPr>
          <a:xfrm>
            <a:off x="5577840" y="1847088"/>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4" name="Text 12"/>
          <p:cNvSpPr/>
          <p:nvPr/>
        </p:nvSpPr>
        <p:spPr>
          <a:xfrm>
            <a:off x="6144768" y="1773936"/>
            <a:ext cx="4572000" cy="411480"/>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Write down the test statistic.</a:t>
            </a:r>
            <a:endParaRPr lang="en-US" sz="1400" dirty="0"/>
          </a:p>
        </p:txBody>
      </p:sp>
      <p:sp>
        <p:nvSpPr>
          <p:cNvPr id="15" name="Shape 13"/>
          <p:cNvSpPr/>
          <p:nvPr/>
        </p:nvSpPr>
        <p:spPr>
          <a:xfrm>
            <a:off x="5577840" y="2542032"/>
            <a:ext cx="384048" cy="384048"/>
          </a:xfrm>
          <a:prstGeom prst="ellipse">
            <a:avLst/>
          </a:prstGeom>
          <a:solidFill>
            <a:srgbClr val="20B4D6"/>
          </a:solidFill>
          <a:ln w="12700">
            <a:solidFill>
              <a:srgbClr val="20B4D6"/>
            </a:solidFill>
            <a:prstDash val="solid"/>
          </a:ln>
        </p:spPr>
        <p:txBody>
          <a:bodyPr/>
          <a:lstStyle/>
          <a:p>
            <a:endParaRPr lang="en-GB"/>
          </a:p>
        </p:txBody>
      </p:sp>
      <p:sp>
        <p:nvSpPr>
          <p:cNvPr id="16" name="Text 14"/>
          <p:cNvSpPr/>
          <p:nvPr/>
        </p:nvSpPr>
        <p:spPr>
          <a:xfrm>
            <a:off x="5577840" y="2606040"/>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7" name="Text 15"/>
          <p:cNvSpPr/>
          <p:nvPr/>
        </p:nvSpPr>
        <p:spPr>
          <a:xfrm>
            <a:off x="6144768" y="2532888"/>
            <a:ext cx="4572000" cy="411480"/>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Calculate t in R.</a:t>
            </a:r>
            <a:endParaRPr lang="en-US" sz="1400" dirty="0"/>
          </a:p>
        </p:txBody>
      </p:sp>
      <p:sp>
        <p:nvSpPr>
          <p:cNvPr id="18" name="Shape 16"/>
          <p:cNvSpPr/>
          <p:nvPr/>
        </p:nvSpPr>
        <p:spPr>
          <a:xfrm>
            <a:off x="5577840" y="3300984"/>
            <a:ext cx="384048" cy="384048"/>
          </a:xfrm>
          <a:prstGeom prst="ellipse">
            <a:avLst/>
          </a:prstGeom>
          <a:solidFill>
            <a:srgbClr val="20B4D6"/>
          </a:solidFill>
          <a:ln w="12700">
            <a:solidFill>
              <a:srgbClr val="20B4D6"/>
            </a:solidFill>
            <a:prstDash val="solid"/>
          </a:ln>
        </p:spPr>
        <p:txBody>
          <a:bodyPr/>
          <a:lstStyle/>
          <a:p>
            <a:endParaRPr lang="en-GB"/>
          </a:p>
        </p:txBody>
      </p:sp>
      <p:sp>
        <p:nvSpPr>
          <p:cNvPr id="19" name="Text 17"/>
          <p:cNvSpPr/>
          <p:nvPr/>
        </p:nvSpPr>
        <p:spPr>
          <a:xfrm>
            <a:off x="5577840" y="3364992"/>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0" name="Text 18"/>
          <p:cNvSpPr/>
          <p:nvPr/>
        </p:nvSpPr>
        <p:spPr>
          <a:xfrm>
            <a:off x="6144768" y="3291840"/>
            <a:ext cx="4572000" cy="411480"/>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Find the two-sided critical value.</a:t>
            </a:r>
            <a:endParaRPr lang="en-US" sz="1400" dirty="0"/>
          </a:p>
        </p:txBody>
      </p:sp>
      <p:sp>
        <p:nvSpPr>
          <p:cNvPr id="21" name="Shape 19"/>
          <p:cNvSpPr/>
          <p:nvPr/>
        </p:nvSpPr>
        <p:spPr>
          <a:xfrm>
            <a:off x="5577840" y="4059936"/>
            <a:ext cx="384048" cy="384048"/>
          </a:xfrm>
          <a:prstGeom prst="ellipse">
            <a:avLst/>
          </a:prstGeom>
          <a:solidFill>
            <a:srgbClr val="20B4D6"/>
          </a:solidFill>
          <a:ln w="12700">
            <a:solidFill>
              <a:srgbClr val="20B4D6"/>
            </a:solidFill>
            <a:prstDash val="solid"/>
          </a:ln>
        </p:spPr>
        <p:txBody>
          <a:bodyPr/>
          <a:lstStyle/>
          <a:p>
            <a:endParaRPr lang="en-GB"/>
          </a:p>
        </p:txBody>
      </p:sp>
      <p:sp>
        <p:nvSpPr>
          <p:cNvPr id="22" name="Text 20"/>
          <p:cNvSpPr/>
          <p:nvPr/>
        </p:nvSpPr>
        <p:spPr>
          <a:xfrm>
            <a:off x="5577840" y="4123944"/>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3" name="Text 21"/>
          <p:cNvSpPr/>
          <p:nvPr/>
        </p:nvSpPr>
        <p:spPr>
          <a:xfrm>
            <a:off x="6144768" y="4050792"/>
            <a:ext cx="4572000" cy="411480"/>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Calculate the two-sided p-value.</a:t>
            </a:r>
            <a:endParaRPr lang="en-US" sz="1400" dirty="0"/>
          </a:p>
        </p:txBody>
      </p:sp>
      <p:sp>
        <p:nvSpPr>
          <p:cNvPr id="24" name="Shape 22"/>
          <p:cNvSpPr/>
          <p:nvPr/>
        </p:nvSpPr>
        <p:spPr>
          <a:xfrm>
            <a:off x="5577840" y="4818888"/>
            <a:ext cx="384048" cy="384048"/>
          </a:xfrm>
          <a:prstGeom prst="ellipse">
            <a:avLst/>
          </a:prstGeom>
          <a:solidFill>
            <a:srgbClr val="D71920"/>
          </a:solidFill>
          <a:ln w="12700">
            <a:solidFill>
              <a:srgbClr val="D71920"/>
            </a:solidFill>
            <a:prstDash val="solid"/>
          </a:ln>
        </p:spPr>
        <p:txBody>
          <a:bodyPr/>
          <a:lstStyle/>
          <a:p>
            <a:endParaRPr lang="en-GB"/>
          </a:p>
        </p:txBody>
      </p:sp>
      <p:sp>
        <p:nvSpPr>
          <p:cNvPr id="25" name="Text 23"/>
          <p:cNvSpPr/>
          <p:nvPr/>
        </p:nvSpPr>
        <p:spPr>
          <a:xfrm>
            <a:off x="5577840" y="4882896"/>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6" name="Text 24"/>
          <p:cNvSpPr/>
          <p:nvPr/>
        </p:nvSpPr>
        <p:spPr>
          <a:xfrm>
            <a:off x="6144768" y="4809744"/>
            <a:ext cx="4572000" cy="411480"/>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State the statistical and economic conclusion.</a:t>
            </a:r>
            <a:endParaRPr lang="en-US" sz="1400" dirty="0"/>
          </a:p>
        </p:txBody>
      </p:sp>
      <p:sp>
        <p:nvSpPr>
          <p:cNvPr id="27" name="Text 25"/>
          <p:cNvSpPr/>
          <p:nvPr/>
        </p:nvSpPr>
        <p:spPr>
          <a:xfrm>
            <a:off x="5623560" y="5715000"/>
            <a:ext cx="5074920" cy="438912"/>
          </a:xfrm>
          <a:prstGeom prst="rect">
            <a:avLst/>
          </a:prstGeom>
          <a:noFill/>
          <a:ln/>
        </p:spPr>
        <p:txBody>
          <a:bodyPr wrap="square" lIns="0" tIns="0" rIns="0" bIns="0" rtlCol="0" anchor="ctr"/>
          <a:lstStyle/>
          <a:p>
            <a:pPr marL="0" indent="0" algn="ctr">
              <a:buNone/>
            </a:pPr>
            <a:r>
              <a:rPr lang="en-US" sz="1250" b="1" dirty="0">
                <a:solidFill>
                  <a:srgbClr val="D71920"/>
                </a:solidFill>
              </a:rPr>
              <a:t>Do not use the p-value reported by summary(lm()) — that tests β₂ = 0.</a:t>
            </a:r>
            <a:endParaRPr lang="en-US" sz="1250" dirty="0"/>
          </a:p>
        </p:txBody>
      </p:sp>
      <p:sp>
        <p:nvSpPr>
          <p:cNvPr id="28"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438912"/>
            <a:ext cx="2743200" cy="201168"/>
          </a:xfrm>
          <a:prstGeom prst="rect">
            <a:avLst/>
          </a:prstGeom>
          <a:noFill/>
          <a:ln/>
        </p:spPr>
        <p:txBody>
          <a:bodyPr wrap="square" lIns="0" tIns="0" rIns="0" bIns="0" rtlCol="0" anchor="ctr"/>
          <a:lstStyle/>
          <a:p>
            <a:pPr marL="0" indent="0">
              <a:buNone/>
            </a:pPr>
            <a:r>
              <a:rPr lang="en-US" sz="800" b="1" kern="0" spc="40" dirty="0">
                <a:solidFill>
                  <a:srgbClr val="20B4D6"/>
                </a:solidFill>
              </a:rPr>
              <a:t>BOOK EXERCISE 3.20(D)</a:t>
            </a:r>
            <a:endParaRPr lang="en-US" sz="800" dirty="0"/>
          </a:p>
        </p:txBody>
      </p:sp>
      <p:sp>
        <p:nvSpPr>
          <p:cNvPr id="3" name="Text 1"/>
          <p:cNvSpPr/>
          <p:nvPr/>
        </p:nvSpPr>
        <p:spPr>
          <a:xfrm>
            <a:off x="438912" y="658368"/>
            <a:ext cx="10927080" cy="475488"/>
          </a:xfrm>
          <a:prstGeom prst="rect">
            <a:avLst/>
          </a:prstGeom>
          <a:noFill/>
          <a:ln/>
        </p:spPr>
        <p:txBody>
          <a:bodyPr wrap="square" lIns="0" tIns="0" rIns="0" bIns="0" rtlCol="0" anchor="ctr">
            <a:normAutofit/>
          </a:bodyPr>
          <a:lstStyle/>
          <a:p>
            <a:pPr marL="0" indent="0">
              <a:buNone/>
            </a:pPr>
            <a:r>
              <a:rPr lang="en-US" sz="2300" dirty="0">
                <a:solidFill>
                  <a:srgbClr val="16323D"/>
                </a:solidFill>
              </a:rPr>
              <a:t>Your turn — a left-tail test with the motel data</a:t>
            </a:r>
            <a:endParaRPr lang="en-US" sz="2300" dirty="0"/>
          </a:p>
        </p:txBody>
      </p:sp>
      <p:sp>
        <p:nvSpPr>
          <p:cNvPr id="4" name="Text 2"/>
          <p:cNvSpPr/>
          <p:nvPr/>
        </p:nvSpPr>
        <p:spPr>
          <a:xfrm>
            <a:off x="475488" y="1280160"/>
            <a:ext cx="1920240" cy="274320"/>
          </a:xfrm>
          <a:prstGeom prst="rect">
            <a:avLst/>
          </a:prstGeom>
          <a:noFill/>
          <a:ln/>
        </p:spPr>
        <p:txBody>
          <a:bodyPr wrap="square" lIns="0" tIns="0" rIns="0" bIns="0" rtlCol="0" anchor="ctr"/>
          <a:lstStyle/>
          <a:p>
            <a:pPr marL="0" indent="0">
              <a:buNone/>
            </a:pPr>
            <a:r>
              <a:rPr lang="en-US" sz="1200" b="1" dirty="0">
                <a:solidFill>
                  <a:srgbClr val="20B4D6"/>
                </a:solidFill>
              </a:rPr>
              <a:t>A different regression</a:t>
            </a:r>
            <a:endParaRPr lang="en-US" sz="1200" dirty="0"/>
          </a:p>
        </p:txBody>
      </p:sp>
      <p:sp>
        <p:nvSpPr>
          <p:cNvPr id="5" name="Shape 3"/>
          <p:cNvSpPr/>
          <p:nvPr/>
        </p:nvSpPr>
        <p:spPr>
          <a:xfrm>
            <a:off x="457200" y="1627632"/>
            <a:ext cx="5257800" cy="1097280"/>
          </a:xfrm>
          <a:prstGeom prst="roundRect">
            <a:avLst>
              <a:gd name="adj" fmla="val 6667"/>
            </a:avLst>
          </a:prstGeom>
          <a:solidFill>
            <a:srgbClr val="DDF4F9"/>
          </a:solidFill>
          <a:ln w="12700">
            <a:solidFill>
              <a:srgbClr val="CDEBF1"/>
            </a:solidFill>
            <a:prstDash val="solid"/>
          </a:ln>
        </p:spPr>
        <p:txBody>
          <a:bodyPr/>
          <a:lstStyle/>
          <a:p>
            <a:endParaRPr lang="en-GB"/>
          </a:p>
        </p:txBody>
      </p:sp>
      <p:sp>
        <p:nvSpPr>
          <p:cNvPr id="6" name="Text 4"/>
          <p:cNvSpPr/>
          <p:nvPr/>
        </p:nvSpPr>
        <p:spPr>
          <a:xfrm>
            <a:off x="758952" y="1947672"/>
            <a:ext cx="4663440" cy="365760"/>
          </a:xfrm>
          <a:prstGeom prst="rect">
            <a:avLst/>
          </a:prstGeom>
          <a:noFill/>
          <a:ln/>
        </p:spPr>
        <p:txBody>
          <a:bodyPr wrap="square" lIns="0" tIns="0" rIns="0" bIns="0" rtlCol="0" anchor="ctr"/>
          <a:lstStyle/>
          <a:p>
            <a:pPr marL="0" indent="0" algn="ctr">
              <a:buNone/>
            </a:pPr>
            <a:r>
              <a:rPr lang="en-US" sz="2000" b="1" dirty="0">
                <a:solidFill>
                  <a:srgbClr val="00566B"/>
                </a:solidFill>
              </a:rPr>
              <a:t>MOTEL_PCT = δ₁ + δ₂ REPAIR + e</a:t>
            </a:r>
            <a:endParaRPr lang="en-US" sz="2000" dirty="0"/>
          </a:p>
        </p:txBody>
      </p:sp>
      <p:sp>
        <p:nvSpPr>
          <p:cNvPr id="7" name="Shape 5"/>
          <p:cNvSpPr/>
          <p:nvPr/>
        </p:nvSpPr>
        <p:spPr>
          <a:xfrm>
            <a:off x="475488" y="3017520"/>
            <a:ext cx="5212080" cy="1234440"/>
          </a:xfrm>
          <a:prstGeom prst="roundRect">
            <a:avLst/>
          </a:prstGeom>
          <a:solidFill>
            <a:srgbClr val="F4F6F7"/>
          </a:solidFill>
          <a:ln w="10160">
            <a:solidFill>
              <a:srgbClr val="D5DEE2"/>
            </a:solidFill>
            <a:prstDash val="solid"/>
          </a:ln>
        </p:spPr>
        <p:txBody>
          <a:bodyPr/>
          <a:lstStyle/>
          <a:p>
            <a:endParaRPr lang="en-GB"/>
          </a:p>
        </p:txBody>
      </p:sp>
      <p:sp>
        <p:nvSpPr>
          <p:cNvPr id="8" name="Text 6"/>
          <p:cNvSpPr/>
          <p:nvPr/>
        </p:nvSpPr>
        <p:spPr>
          <a:xfrm>
            <a:off x="640080" y="3163824"/>
            <a:ext cx="4882896" cy="960120"/>
          </a:xfrm>
          <a:prstGeom prst="rect">
            <a:avLst/>
          </a:prstGeom>
          <a:noFill/>
          <a:ln/>
        </p:spPr>
        <p:txBody>
          <a:bodyPr wrap="square" lIns="0" tIns="0" rIns="0" bIns="0" rtlCol="0" anchor="ctr">
            <a:normAutofit/>
          </a:bodyPr>
          <a:lstStyle/>
          <a:p>
            <a:pPr marL="0" indent="0">
              <a:buNone/>
            </a:pPr>
            <a:r>
              <a:rPr lang="en-US" sz="1300" dirty="0">
                <a:solidFill>
                  <a:srgbClr val="24343B"/>
                </a:solidFill>
                <a:latin typeface="Aptos Mono" pitchFamily="34" charset="0"/>
                <a:ea typeface="Aptos Mono" pitchFamily="34" charset="-122"/>
                <a:cs typeface="Aptos Mono" pitchFamily="34" charset="-120"/>
              </a:rPr>
              <a:t>model_repair &lt;- lm(motel_pct ~ repair, data = motel)</a:t>
            </a:r>
            <a:endParaRPr lang="en-US" sz="1300" dirty="0"/>
          </a:p>
          <a:p>
            <a:pPr marL="0" indent="0">
              <a:buNone/>
            </a:pPr>
            <a:r>
              <a:rPr lang="en-US" sz="1300" dirty="0">
                <a:solidFill>
                  <a:srgbClr val="24343B"/>
                </a:solidFill>
                <a:latin typeface="Aptos Mono" pitchFamily="34" charset="0"/>
                <a:ea typeface="Aptos Mono" pitchFamily="34" charset="-122"/>
                <a:cs typeface="Aptos Mono" pitchFamily="34" charset="-120"/>
              </a:rPr>
              <a:t>summary(model_repair)</a:t>
            </a:r>
            <a:endParaRPr lang="en-US" sz="1300" dirty="0"/>
          </a:p>
        </p:txBody>
      </p:sp>
      <p:sp>
        <p:nvSpPr>
          <p:cNvPr id="9" name="Text 7"/>
          <p:cNvSpPr/>
          <p:nvPr/>
        </p:nvSpPr>
        <p:spPr>
          <a:xfrm>
            <a:off x="621792" y="4645152"/>
            <a:ext cx="4937760" cy="347472"/>
          </a:xfrm>
          <a:prstGeom prst="rect">
            <a:avLst/>
          </a:prstGeom>
          <a:noFill/>
          <a:ln/>
        </p:spPr>
        <p:txBody>
          <a:bodyPr wrap="square" lIns="0" tIns="0" rIns="0" bIns="0" rtlCol="0" anchor="ctr"/>
          <a:lstStyle/>
          <a:p>
            <a:pPr marL="0" indent="0" algn="ctr">
              <a:buNone/>
            </a:pPr>
            <a:r>
              <a:rPr lang="en-US" sz="1700" b="1" dirty="0">
                <a:solidFill>
                  <a:srgbClr val="D71920"/>
                </a:solidFill>
              </a:rPr>
              <a:t>Question: did the repairs reduce occupancy?</a:t>
            </a:r>
            <a:endParaRPr lang="en-US" sz="1700" dirty="0"/>
          </a:p>
        </p:txBody>
      </p:sp>
      <p:sp>
        <p:nvSpPr>
          <p:cNvPr id="10" name="Text 8"/>
          <p:cNvSpPr/>
          <p:nvPr/>
        </p:nvSpPr>
        <p:spPr>
          <a:xfrm>
            <a:off x="694944" y="5230368"/>
            <a:ext cx="4709160" cy="384048"/>
          </a:xfrm>
          <a:prstGeom prst="rect">
            <a:avLst/>
          </a:prstGeom>
          <a:noFill/>
          <a:ln/>
        </p:spPr>
        <p:txBody>
          <a:bodyPr wrap="square" lIns="0" tIns="0" rIns="0" bIns="0" rtlCol="0" anchor="ctr"/>
          <a:lstStyle/>
          <a:p>
            <a:pPr marL="0" indent="0" algn="ctr">
              <a:buNone/>
            </a:pPr>
            <a:r>
              <a:rPr lang="en-US" sz="1800" dirty="0">
                <a:solidFill>
                  <a:srgbClr val="16323D"/>
                </a:solidFill>
              </a:rPr>
              <a:t>H₀: δ₂ ≥ 0     H₁: δ₂ &lt; 0     α = 0.05</a:t>
            </a:r>
            <a:endParaRPr lang="en-US" sz="1800" dirty="0"/>
          </a:p>
        </p:txBody>
      </p:sp>
      <p:sp>
        <p:nvSpPr>
          <p:cNvPr id="11" name="Text 9"/>
          <p:cNvSpPr/>
          <p:nvPr/>
        </p:nvSpPr>
        <p:spPr>
          <a:xfrm>
            <a:off x="6172200" y="1280160"/>
            <a:ext cx="914400" cy="274320"/>
          </a:xfrm>
          <a:prstGeom prst="rect">
            <a:avLst/>
          </a:prstGeom>
          <a:noFill/>
          <a:ln/>
        </p:spPr>
        <p:txBody>
          <a:bodyPr wrap="square" lIns="0" tIns="0" rIns="0" bIns="0" rtlCol="0" anchor="ctr"/>
          <a:lstStyle/>
          <a:p>
            <a:pPr marL="0" indent="0">
              <a:buNone/>
            </a:pPr>
            <a:r>
              <a:rPr lang="en-US" sz="1200" b="1" dirty="0">
                <a:solidFill>
                  <a:srgbClr val="20B4D6"/>
                </a:solidFill>
              </a:rPr>
              <a:t>Tasks</a:t>
            </a:r>
            <a:endParaRPr lang="en-US" sz="1200" dirty="0"/>
          </a:p>
        </p:txBody>
      </p:sp>
      <p:sp>
        <p:nvSpPr>
          <p:cNvPr id="12" name="Shape 10"/>
          <p:cNvSpPr/>
          <p:nvPr/>
        </p:nvSpPr>
        <p:spPr>
          <a:xfrm>
            <a:off x="6236208" y="1755648"/>
            <a:ext cx="384048" cy="384048"/>
          </a:xfrm>
          <a:prstGeom prst="ellipse">
            <a:avLst/>
          </a:prstGeom>
          <a:solidFill>
            <a:srgbClr val="20B4D6"/>
          </a:solidFill>
          <a:ln w="12700">
            <a:solidFill>
              <a:srgbClr val="20B4D6"/>
            </a:solidFill>
            <a:prstDash val="solid"/>
          </a:ln>
        </p:spPr>
        <p:txBody>
          <a:bodyPr/>
          <a:lstStyle/>
          <a:p>
            <a:endParaRPr lang="en-GB"/>
          </a:p>
        </p:txBody>
      </p:sp>
      <p:sp>
        <p:nvSpPr>
          <p:cNvPr id="13" name="Text 11"/>
          <p:cNvSpPr/>
          <p:nvPr/>
        </p:nvSpPr>
        <p:spPr>
          <a:xfrm>
            <a:off x="6236208" y="1819656"/>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4" name="Text 12"/>
          <p:cNvSpPr/>
          <p:nvPr/>
        </p:nvSpPr>
        <p:spPr>
          <a:xfrm>
            <a:off x="6812280" y="1719072"/>
            <a:ext cx="4297680" cy="493776"/>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Interpret the estimated REPAIR coefficient.</a:t>
            </a:r>
            <a:endParaRPr lang="en-US" sz="1400" dirty="0"/>
          </a:p>
        </p:txBody>
      </p:sp>
      <p:sp>
        <p:nvSpPr>
          <p:cNvPr id="15" name="Shape 13"/>
          <p:cNvSpPr/>
          <p:nvPr/>
        </p:nvSpPr>
        <p:spPr>
          <a:xfrm>
            <a:off x="6236208" y="2542032"/>
            <a:ext cx="384048" cy="384048"/>
          </a:xfrm>
          <a:prstGeom prst="ellipse">
            <a:avLst/>
          </a:prstGeom>
          <a:solidFill>
            <a:srgbClr val="20B4D6"/>
          </a:solidFill>
          <a:ln w="12700">
            <a:solidFill>
              <a:srgbClr val="20B4D6"/>
            </a:solidFill>
            <a:prstDash val="solid"/>
          </a:ln>
        </p:spPr>
        <p:txBody>
          <a:bodyPr/>
          <a:lstStyle/>
          <a:p>
            <a:endParaRPr lang="en-GB"/>
          </a:p>
        </p:txBody>
      </p:sp>
      <p:sp>
        <p:nvSpPr>
          <p:cNvPr id="16" name="Text 14"/>
          <p:cNvSpPr/>
          <p:nvPr/>
        </p:nvSpPr>
        <p:spPr>
          <a:xfrm>
            <a:off x="6236208" y="2606040"/>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7" name="Text 15"/>
          <p:cNvSpPr/>
          <p:nvPr/>
        </p:nvSpPr>
        <p:spPr>
          <a:xfrm>
            <a:off x="6812280" y="2505456"/>
            <a:ext cx="4297680" cy="493776"/>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Calculate the t-statistic for the boundary value δ₂ = 0.</a:t>
            </a:r>
            <a:endParaRPr lang="en-US" sz="1400" dirty="0"/>
          </a:p>
        </p:txBody>
      </p:sp>
      <p:sp>
        <p:nvSpPr>
          <p:cNvPr id="18" name="Shape 16"/>
          <p:cNvSpPr/>
          <p:nvPr/>
        </p:nvSpPr>
        <p:spPr>
          <a:xfrm>
            <a:off x="6236208" y="3328416"/>
            <a:ext cx="384048" cy="384048"/>
          </a:xfrm>
          <a:prstGeom prst="ellipse">
            <a:avLst/>
          </a:prstGeom>
          <a:solidFill>
            <a:srgbClr val="20B4D6"/>
          </a:solidFill>
          <a:ln w="12700">
            <a:solidFill>
              <a:srgbClr val="20B4D6"/>
            </a:solidFill>
            <a:prstDash val="solid"/>
          </a:ln>
        </p:spPr>
        <p:txBody>
          <a:bodyPr/>
          <a:lstStyle/>
          <a:p>
            <a:endParaRPr lang="en-GB"/>
          </a:p>
        </p:txBody>
      </p:sp>
      <p:sp>
        <p:nvSpPr>
          <p:cNvPr id="19" name="Text 17"/>
          <p:cNvSpPr/>
          <p:nvPr/>
        </p:nvSpPr>
        <p:spPr>
          <a:xfrm>
            <a:off x="6236208" y="3392424"/>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0" name="Text 18"/>
          <p:cNvSpPr/>
          <p:nvPr/>
        </p:nvSpPr>
        <p:spPr>
          <a:xfrm>
            <a:off x="6812280" y="3291840"/>
            <a:ext cx="4297680" cy="493776"/>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Find the left-tail critical value.</a:t>
            </a:r>
            <a:endParaRPr lang="en-US" sz="1400" dirty="0"/>
          </a:p>
        </p:txBody>
      </p:sp>
      <p:sp>
        <p:nvSpPr>
          <p:cNvPr id="21" name="Shape 19"/>
          <p:cNvSpPr/>
          <p:nvPr/>
        </p:nvSpPr>
        <p:spPr>
          <a:xfrm>
            <a:off x="6236208" y="4114800"/>
            <a:ext cx="384048" cy="384048"/>
          </a:xfrm>
          <a:prstGeom prst="ellipse">
            <a:avLst/>
          </a:prstGeom>
          <a:solidFill>
            <a:srgbClr val="20B4D6"/>
          </a:solidFill>
          <a:ln w="12700">
            <a:solidFill>
              <a:srgbClr val="20B4D6"/>
            </a:solidFill>
            <a:prstDash val="solid"/>
          </a:ln>
        </p:spPr>
        <p:txBody>
          <a:bodyPr/>
          <a:lstStyle/>
          <a:p>
            <a:endParaRPr lang="en-GB"/>
          </a:p>
        </p:txBody>
      </p:sp>
      <p:sp>
        <p:nvSpPr>
          <p:cNvPr id="22" name="Text 20"/>
          <p:cNvSpPr/>
          <p:nvPr/>
        </p:nvSpPr>
        <p:spPr>
          <a:xfrm>
            <a:off x="6236208" y="4178808"/>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3" name="Text 21"/>
          <p:cNvSpPr/>
          <p:nvPr/>
        </p:nvSpPr>
        <p:spPr>
          <a:xfrm>
            <a:off x="6812280" y="4078224"/>
            <a:ext cx="4297680" cy="493776"/>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Calculate the left-tail p-value.</a:t>
            </a:r>
            <a:endParaRPr lang="en-US" sz="1400" dirty="0"/>
          </a:p>
        </p:txBody>
      </p:sp>
      <p:sp>
        <p:nvSpPr>
          <p:cNvPr id="24" name="Shape 22"/>
          <p:cNvSpPr/>
          <p:nvPr/>
        </p:nvSpPr>
        <p:spPr>
          <a:xfrm>
            <a:off x="6236208" y="4901184"/>
            <a:ext cx="384048" cy="384048"/>
          </a:xfrm>
          <a:prstGeom prst="ellipse">
            <a:avLst/>
          </a:prstGeom>
          <a:solidFill>
            <a:srgbClr val="D71920"/>
          </a:solidFill>
          <a:ln w="12700">
            <a:solidFill>
              <a:srgbClr val="D71920"/>
            </a:solidFill>
            <a:prstDash val="solid"/>
          </a:ln>
        </p:spPr>
        <p:txBody>
          <a:bodyPr/>
          <a:lstStyle/>
          <a:p>
            <a:endParaRPr lang="en-GB"/>
          </a:p>
        </p:txBody>
      </p:sp>
      <p:sp>
        <p:nvSpPr>
          <p:cNvPr id="25" name="Text 23"/>
          <p:cNvSpPr/>
          <p:nvPr/>
        </p:nvSpPr>
        <p:spPr>
          <a:xfrm>
            <a:off x="6236208" y="4965192"/>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6" name="Text 24"/>
          <p:cNvSpPr/>
          <p:nvPr/>
        </p:nvSpPr>
        <p:spPr>
          <a:xfrm>
            <a:off x="6812280" y="4864608"/>
            <a:ext cx="4297680" cy="493776"/>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State the conclusion in the context of the motel’s claim.</a:t>
            </a:r>
            <a:endParaRPr lang="en-US" sz="1400" dirty="0"/>
          </a:p>
        </p:txBody>
      </p:sp>
      <p:sp>
        <p:nvSpPr>
          <p:cNvPr id="27" name="Text 25"/>
          <p:cNvSpPr/>
          <p:nvPr/>
        </p:nvSpPr>
        <p:spPr>
          <a:xfrm>
            <a:off x="6400800" y="5806440"/>
            <a:ext cx="4526280" cy="292608"/>
          </a:xfrm>
          <a:prstGeom prst="rect">
            <a:avLst/>
          </a:prstGeom>
          <a:noFill/>
          <a:ln/>
        </p:spPr>
        <p:txBody>
          <a:bodyPr wrap="square" lIns="0" tIns="0" rIns="0" bIns="0" rtlCol="0" anchor="ctr"/>
          <a:lstStyle/>
          <a:p>
            <a:pPr marL="0" indent="0" algn="ctr">
              <a:buNone/>
            </a:pPr>
            <a:r>
              <a:rPr lang="en-US" sz="1300" b="1" dirty="0">
                <a:solidFill>
                  <a:srgbClr val="00566B"/>
                </a:solidFill>
              </a:rPr>
              <a:t>Now the direction of H₁ points to the left.</a:t>
            </a:r>
            <a:endParaRPr lang="en-US" sz="1300" dirty="0"/>
          </a:p>
        </p:txBody>
      </p:sp>
      <p:sp>
        <p:nvSpPr>
          <p:cNvPr id="28"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ys med mønster">
  <a:themeElements>
    <a:clrScheme name="UiT Norges arktiske universitet">
      <a:dk1>
        <a:sysClr val="windowText" lastClr="000000"/>
      </a:dk1>
      <a:lt1>
        <a:sysClr val="window" lastClr="FFFFFF"/>
      </a:lt1>
      <a:dk2>
        <a:srgbClr val="00617F"/>
      </a:dk2>
      <a:lt2>
        <a:srgbClr val="A6BBC8"/>
      </a:lt2>
      <a:accent1>
        <a:srgbClr val="007396"/>
      </a:accent1>
      <a:accent2>
        <a:srgbClr val="CB333B"/>
      </a:accent2>
      <a:accent3>
        <a:srgbClr val="F2A900"/>
      </a:accent3>
      <a:accent4>
        <a:srgbClr val="009CB6"/>
      </a:accent4>
      <a:accent5>
        <a:srgbClr val="DE7C00"/>
      </a:accent5>
      <a:accent6>
        <a:srgbClr val="59B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C7057D0-6097-44F4-A2E5-70A5DCBAA566}" vid="{2719B6C5-9A54-423D-86A4-95EF36B6C8EF}"/>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6103</Words>
  <Application>Microsoft Office PowerPoint</Application>
  <PresentationFormat>Widescreen</PresentationFormat>
  <Paragraphs>567</Paragraphs>
  <Slides>47</Slides>
  <Notes>46</Notes>
  <HiddenSlides>0</HiddenSlides>
  <MMClips>0</MMClips>
  <ScaleCrop>false</ScaleCrop>
  <HeadingPairs>
    <vt:vector size="6" baseType="variant">
      <vt:variant>
        <vt:lpstr>Brukte skrifter</vt:lpstr>
      </vt:variant>
      <vt:variant>
        <vt:i4>5</vt:i4>
      </vt:variant>
      <vt:variant>
        <vt:lpstr>Tema</vt:lpstr>
      </vt:variant>
      <vt:variant>
        <vt:i4>2</vt:i4>
      </vt:variant>
      <vt:variant>
        <vt:lpstr>Lysbildetitler</vt:lpstr>
      </vt:variant>
      <vt:variant>
        <vt:i4>47</vt:i4>
      </vt:variant>
    </vt:vector>
  </HeadingPairs>
  <TitlesOfParts>
    <vt:vector size="54" baseType="lpstr">
      <vt:lpstr>Aptos</vt:lpstr>
      <vt:lpstr>Aptos Display</vt:lpstr>
      <vt:lpstr>Aptos Mono</vt:lpstr>
      <vt:lpstr>Arial</vt:lpstr>
      <vt:lpstr>Cambria Math</vt:lpstr>
      <vt:lpstr>Office Theme</vt:lpstr>
      <vt:lpstr>Lys med mønster</vt:lpstr>
      <vt:lpstr>PowerPoint-presentasjon</vt:lpstr>
      <vt:lpstr>Results from food data</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Company>UiT The Arctic University of Norway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How certain are we?</dc:title>
  <dc:subject>SOK-3081 Chapter 3: Interval Estimation and Hypothesis Testing</dc:subject>
  <dc:creator>Eirik Eriksen Heen</dc:creator>
  <cp:lastModifiedBy>Eirik Eriksen Heen</cp:lastModifiedBy>
  <cp:revision>1</cp:revision>
  <dcterms:created xsi:type="dcterms:W3CDTF">2026-09-22T06:30:11Z</dcterms:created>
  <dcterms:modified xsi:type="dcterms:W3CDTF">2026-09-22T09:34:54Z</dcterms:modified>
</cp:coreProperties>
</file>